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6"/>
  </p:notesMasterIdLst>
  <p:handoutMasterIdLst>
    <p:handoutMasterId r:id="rId33"/>
  </p:handoutMasterIdLst>
  <p:sldIdLst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</p:sldIdLst>
  <p:sldSz cx="12192000" cy="6858000" type="screen16x9"/>
  <p:notesSz cx="6858000" cy="9144000"/>
  <p:embeddedFontLst>
    <p:embeddedFont>
      <p:font typeface="Gilroy" panose="00000400000000000000" charset="0"/>
      <p:regular r:id="rId37"/>
    </p:embeddedFont>
    <p:embeddedFont>
      <p:font typeface="DM Serif Display" charset="0"/>
      <p:regular r:id="rId38"/>
      <p:italic r:id="rId39"/>
    </p:embeddedFont>
    <p:embeddedFont>
      <p:font typeface="Arial Rounded MT Bold" panose="020F0704030504030204" charset="0"/>
      <p:regular r:id="rId40"/>
    </p:embeddedFont>
    <p:embeddedFont>
      <p:font typeface="Arial Black" panose="020B0A04020102020204" charset="0"/>
      <p:bold r:id="rId4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92" userDrawn="1">
          <p15:clr>
            <a:srgbClr val="A4A3A4"/>
          </p15:clr>
        </p15:guide>
        <p15:guide id="4" pos="7242" userDrawn="1">
          <p15:clr>
            <a:srgbClr val="A4A3A4"/>
          </p15:clr>
        </p15:guide>
        <p15:guide id="5" orient="horz" pos="438" userDrawn="1">
          <p15:clr>
            <a:srgbClr val="A4A3A4"/>
          </p15:clr>
        </p15:guide>
        <p15:guide id="6" orient="horz" pos="861" userDrawn="1">
          <p15:clr>
            <a:srgbClr val="A4A3A4"/>
          </p15:clr>
        </p15:guide>
        <p15:guide id="7" orient="horz" pos="3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1195"/>
    <a:srgbClr val="1A3497"/>
    <a:srgbClr val="1B56A6"/>
    <a:srgbClr val="AF2EE2"/>
    <a:srgbClr val="030452"/>
    <a:srgbClr val="C44BAD"/>
    <a:srgbClr val="1B7FC0"/>
    <a:srgbClr val="E653AD"/>
    <a:srgbClr val="06023D"/>
    <a:srgbClr val="0204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374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348" y="78"/>
      </p:cViewPr>
      <p:guideLst>
        <p:guide orient="horz" pos="2160"/>
        <p:guide pos="3840"/>
        <p:guide pos="492"/>
        <p:guide pos="7242"/>
        <p:guide orient="horz" pos="438"/>
        <p:guide orient="horz" pos="861"/>
        <p:guide orient="horz" pos="39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font" Target="fonts/font5.fntdata"/><Relationship Id="rId40" Type="http://schemas.openxmlformats.org/officeDocument/2006/relationships/font" Target="fonts/font4.fntdata"/><Relationship Id="rId4" Type="http://schemas.openxmlformats.org/officeDocument/2006/relationships/slide" Target="slides/slide2.xml"/><Relationship Id="rId39" Type="http://schemas.openxmlformats.org/officeDocument/2006/relationships/font" Target="fonts/font3.fntdata"/><Relationship Id="rId38" Type="http://schemas.openxmlformats.org/officeDocument/2006/relationships/font" Target="fonts/font2.fntdata"/><Relationship Id="rId37" Type="http://schemas.openxmlformats.org/officeDocument/2006/relationships/font" Target="fonts/font1.fntdata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65103760"/>
        <c:axId val="965110600"/>
      </c:barChart>
      <c:catAx>
        <c:axId val="9651037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65110600"/>
        <c:crosses val="autoZero"/>
        <c:auto val="1"/>
        <c:lblAlgn val="ctr"/>
        <c:lblOffset val="100"/>
        <c:noMultiLvlLbl val="0"/>
      </c:catAx>
      <c:valAx>
        <c:axId val="9651106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65103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ecc0592-a4da-43e5-8b64-a7b05bd2698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48819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Arial" panose="020B0604020202020204" pitchFamily="34" charset="0"/>
                <a:ea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48820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48821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Arial" panose="020B0604020202020204" pitchFamily="34" charset="0"/>
                <a:ea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104881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1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endParaRPr lang="zh-CN" altLang="en-US"/>
          </a:p>
        </p:txBody>
      </p:sp>
      <p:sp>
        <p:nvSpPr>
          <p:cNvPr id="104881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1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104881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/>
      <p:sp>
        <p:nvSpPr>
          <p:cNvPr id="1048709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1048710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96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859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9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8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88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78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9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9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9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79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79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9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9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99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800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0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802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0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0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80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6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6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7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2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07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08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80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1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81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77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778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7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8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78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8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8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72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77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7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7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6.xml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tags" Target="../tags/tag27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tags" Target="../tags/tag28.xml"/><Relationship Id="rId1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0.png"/><Relationship Id="rId1" Type="http://schemas.openxmlformats.org/officeDocument/2006/relationships/image" Target="../media/image3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1" Type="http://schemas.openxmlformats.org/officeDocument/2006/relationships/image" Target="../media/image4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4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1" Type="http://schemas.openxmlformats.org/officeDocument/2006/relationships/image" Target="../media/image44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文本框 11"/>
          <p:cNvSpPr txBox="1"/>
          <p:nvPr/>
        </p:nvSpPr>
        <p:spPr>
          <a:xfrm>
            <a:off x="673519" y="348000"/>
            <a:ext cx="1304596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tr-TR" altLang="en-US" sz="1200" dirty="0">
                <a:solidFill>
                  <a:schemeClr val="bg1"/>
                </a:solidFill>
                <a:latin typeface="+mj-lt"/>
              </a:rPr>
              <a:t>H</a:t>
            </a:r>
            <a:r>
              <a:rPr lang="en-US" altLang="en-GB" sz="1200" dirty="0">
                <a:solidFill>
                  <a:schemeClr val="bg1"/>
                </a:solidFill>
                <a:latin typeface="+mj-lt"/>
              </a:rPr>
              <a:t>uggingface</a:t>
            </a:r>
            <a:endParaRPr lang="en-US" altLang="en-GB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48622" name="文本框 6"/>
          <p:cNvSpPr txBox="1"/>
          <p:nvPr/>
        </p:nvSpPr>
        <p:spPr>
          <a:xfrm>
            <a:off x="2593431" y="4599711"/>
            <a:ext cx="4714077" cy="701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ctr"/>
            <a:r>
              <a:rPr lang="tr-TR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Cenk Darihan  / Sezai Ağırtaş / Uğur Alıci / Furkan Türkoğlu</a:t>
            </a:r>
            <a:endParaRPr lang="tr-TR" altLang="en-US" sz="18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sp>
        <p:nvSpPr>
          <p:cNvPr id="1048623" name="文本框 1"/>
          <p:cNvSpPr txBox="1"/>
          <p:nvPr/>
        </p:nvSpPr>
        <p:spPr>
          <a:xfrm>
            <a:off x="2534285" y="1122045"/>
            <a:ext cx="7319645" cy="25298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ctr"/>
            <a:r>
              <a:rPr lang="en-US" altLang="en-GB" sz="4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B</a:t>
            </a:r>
            <a:r>
              <a:rPr lang="en-US" altLang="en-US" sz="4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ö</a:t>
            </a:r>
            <a:r>
              <a:rPr lang="en-US" altLang="en-GB" sz="4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l</a:t>
            </a:r>
            <a:r>
              <a:rPr lang="en-US" altLang="en-US" sz="4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ü</a:t>
            </a:r>
            <a:r>
              <a:rPr lang="en-US" altLang="en-GB" sz="4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m 3: Haz</a:t>
            </a:r>
            <a:r>
              <a:rPr lang="en-US" altLang="en-US" sz="4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ı</a:t>
            </a:r>
            <a:r>
              <a:rPr lang="en-US" altLang="en-GB" sz="4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r Bir Modeli </a:t>
            </a:r>
            <a:endParaRPr lang="en-US" altLang="en-GB" sz="48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fontAlgn="ctr"/>
            <a:r>
              <a:rPr lang="en-US" altLang="en-US" sz="4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İ</a:t>
            </a:r>
            <a:r>
              <a:rPr lang="en-US" altLang="en-GB" sz="4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nce Ayarlama (Fine-tuning)</a:t>
            </a:r>
            <a:endParaRPr lang="en-US" altLang="en-GB" sz="48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sp>
        <p:nvSpPr>
          <p:cNvPr id="1048624" name="文本框 99"/>
          <p:cNvSpPr txBox="1"/>
          <p:nvPr/>
        </p:nvSpPr>
        <p:spPr>
          <a:xfrm>
            <a:off x="616585" y="1910715"/>
            <a:ext cx="1064895" cy="73342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fontAlgn="ctr"/>
            <a:r>
              <a:rPr lang="en-US" altLang="zh-CN" sz="40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0</a:t>
            </a:r>
            <a:r>
              <a:rPr lang="tr-TR" altLang="en-US" sz="40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3</a:t>
            </a:r>
            <a:endParaRPr lang="tr-TR" altLang="en-US" sz="40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fontAlgn="ctr"/>
            <a:endParaRPr lang="tr-TR" altLang="en-US" sz="40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文本框 11"/>
          <p:cNvSpPr txBox="1"/>
          <p:nvPr/>
        </p:nvSpPr>
        <p:spPr>
          <a:xfrm>
            <a:off x="859805" y="534462"/>
            <a:ext cx="3384619" cy="14376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4800" b="0" i="0" u="none" strike="noStrike">
                <a:solidFill>
                  <a:schemeClr val="bg1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n-US" altLang="en-US" sz="4000" dirty="0">
                <a:solidFill>
                  <a:srgbClr val="FFFFFF"/>
                </a:solidFill>
                <a:ea typeface="Arial" panose="020B0604020202020204" pitchFamily="34" charset="0"/>
              </a:rPr>
              <a:t>İÇİ</a:t>
            </a:r>
            <a:r>
              <a:rPr lang="en-US" altLang="en-GB" sz="4000" dirty="0">
                <a:solidFill>
                  <a:srgbClr val="FFFFFF"/>
                </a:solidFill>
                <a:ea typeface="Arial" panose="020B0604020202020204" pitchFamily="34" charset="0"/>
              </a:rPr>
              <a:t>NDEK</a:t>
            </a:r>
            <a:r>
              <a:rPr lang="en-US" altLang="en-US" sz="4000" dirty="0">
                <a:solidFill>
                  <a:srgbClr val="FFFFFF"/>
                </a:solidFill>
                <a:ea typeface="Arial" panose="020B0604020202020204" pitchFamily="34" charset="0"/>
              </a:rPr>
              <a:t>İ</a:t>
            </a:r>
            <a:r>
              <a:rPr lang="en-US" altLang="en-GB" sz="4000" dirty="0">
                <a:solidFill>
                  <a:srgbClr val="FFFFFF"/>
                </a:solidFill>
                <a:ea typeface="Arial" panose="020B0604020202020204" pitchFamily="34" charset="0"/>
              </a:rPr>
              <a:t>LER</a:t>
            </a:r>
            <a:endParaRPr lang="en-US" altLang="en-GB" sz="4000" dirty="0">
              <a:ea typeface="Arial" panose="020B0604020202020204" pitchFamily="34" charset="0"/>
            </a:endParaRPr>
          </a:p>
          <a:p>
            <a:endParaRPr lang="en-US" altLang="en-GB" sz="4000" dirty="0">
              <a:ea typeface="Arial" panose="020B0604020202020204" pitchFamily="34" charset="0"/>
            </a:endParaRPr>
          </a:p>
        </p:txBody>
      </p:sp>
      <p:grpSp>
        <p:nvGrpSpPr>
          <p:cNvPr id="56" name="组合 77"/>
          <p:cNvGrpSpPr/>
          <p:nvPr>
            <p:custDataLst>
              <p:tags r:id="rId2"/>
            </p:custDataLst>
          </p:nvPr>
        </p:nvGrpSpPr>
        <p:grpSpPr>
          <a:xfrm>
            <a:off x="366808" y="2827656"/>
            <a:ext cx="6861647" cy="3054811"/>
            <a:chOff x="338868" y="2952206"/>
            <a:chExt cx="6861647" cy="3054811"/>
          </a:xfrm>
        </p:grpSpPr>
        <p:sp>
          <p:nvSpPr>
            <p:cNvPr id="1048629" name="矩形: 圆角 62"/>
            <p:cNvSpPr/>
            <p:nvPr>
              <p:custDataLst>
                <p:tags r:id="rId3"/>
              </p:custDataLst>
            </p:nvPr>
          </p:nvSpPr>
          <p:spPr>
            <a:xfrm>
              <a:off x="338868" y="2952206"/>
              <a:ext cx="3552190" cy="746760"/>
            </a:xfrm>
            <a:prstGeom prst="roundRect">
              <a:avLst>
                <a:gd name="adj" fmla="val 34285"/>
              </a:avLst>
            </a:prstGeom>
            <a:solidFill>
              <a:srgbClr val="0B1654">
                <a:alpha val="64000"/>
              </a:srgbClr>
            </a:solidFill>
            <a:ln w="15875">
              <a:solidFill>
                <a:srgbClr val="38BDF8">
                  <a:alpha val="55000"/>
                </a:srgbClr>
              </a:solidFill>
            </a:ln>
            <a:effectLst>
              <a:outerShdw blurRad="203200" dist="50800" dir="5400000" algn="t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48630" name="文本框 9"/>
            <p:cNvSpPr txBox="1"/>
            <p:nvPr>
              <p:custDataLst>
                <p:tags r:id="rId4"/>
              </p:custDataLst>
            </p:nvPr>
          </p:nvSpPr>
          <p:spPr>
            <a:xfrm>
              <a:off x="1569498" y="3114131"/>
              <a:ext cx="2080260" cy="4019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noAutofit/>
            </a:bodyPr>
            <a:lstStyle>
              <a:defPPr>
                <a:defRPr lang="zh-CN"/>
              </a:defPPr>
              <a:lvl1pPr fontAlgn="ctr">
                <a:defRPr sz="4800" b="0" i="0" u="none" strike="noStrike">
                  <a:solidFill>
                    <a:srgbClr val="000000"/>
                  </a:solidFill>
                  <a:effectLst/>
                  <a:latin typeface="+mj-lt"/>
                  <a:ea typeface="Microsoft YaHei" panose="020B0503020204020204" pitchFamily="34" charset="-122"/>
                </a:defRPr>
              </a:lvl1pPr>
            </a:lstStyle>
            <a:p>
              <a:r>
                <a:rPr lang="en-US" altLang="en-GB" sz="2000" dirty="0">
                  <a:solidFill>
                    <a:srgbClr val="FFFFFF"/>
                  </a:solidFill>
                  <a:ea typeface="Gilroy" panose="00000400000000000000" charset="0"/>
                </a:rPr>
                <a:t>Giri</a:t>
              </a:r>
              <a:r>
                <a:rPr lang="en-US" altLang="en-US" sz="2000" dirty="0">
                  <a:solidFill>
                    <a:srgbClr val="FFFFFF"/>
                  </a:solidFill>
                  <a:ea typeface="Gilroy" panose="00000400000000000000" charset="0"/>
                </a:rPr>
                <a:t>ş</a:t>
              </a:r>
              <a:endParaRPr lang="en-US" altLang="en-US" sz="2000" dirty="0">
                <a:solidFill>
                  <a:srgbClr val="1A3497"/>
                </a:solidFill>
                <a:ea typeface="Gilroy" panose="00000400000000000000" charset="0"/>
              </a:endParaRPr>
            </a:p>
          </p:txBody>
        </p:sp>
        <p:sp>
          <p:nvSpPr>
            <p:cNvPr id="1048631" name="椭圆 75"/>
            <p:cNvSpPr/>
            <p:nvPr>
              <p:custDataLst>
                <p:tags r:id="rId5"/>
              </p:custDataLst>
            </p:nvPr>
          </p:nvSpPr>
          <p:spPr>
            <a:xfrm>
              <a:off x="482378" y="3042376"/>
              <a:ext cx="619125" cy="552450"/>
            </a:xfrm>
            <a:prstGeom prst="ellipse">
              <a:avLst/>
            </a:prstGeom>
            <a:solidFill>
              <a:srgbClr val="7C3AED"/>
            </a:solidFill>
            <a:ln w="19050">
              <a:solidFill>
                <a:srgbClr val="C4B5FD">
                  <a:alpha val="80000"/>
                </a:srgbClr>
              </a:solidFill>
            </a:ln>
            <a:effectLst>
              <a:outerShdw blurRad="50800" dist="38100" dir="2700000" algn="tl" rotWithShape="0">
                <a:srgbClr val="1B7FC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48632" name="文本框 76"/>
            <p:cNvSpPr txBox="1"/>
            <p:nvPr>
              <p:custDataLst>
                <p:tags r:id="rId6"/>
              </p:custDataLst>
            </p:nvPr>
          </p:nvSpPr>
          <p:spPr>
            <a:xfrm>
              <a:off x="482378" y="3156041"/>
              <a:ext cx="619760" cy="3244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noAutofit/>
            </a:bodyPr>
            <a:lstStyle>
              <a:defPPr>
                <a:defRPr lang="zh-CN"/>
              </a:defPPr>
              <a:lvl1pPr fontAlgn="ctr">
                <a:defRPr sz="4800" b="0" i="0" u="none" strike="noStrike">
                  <a:solidFill>
                    <a:schemeClr val="bg1"/>
                  </a:solidFill>
                  <a:effectLst/>
                  <a:latin typeface="+mj-lt"/>
                  <a:ea typeface="Microsoft YaHei" panose="020B0503020204020204" pitchFamily="34" charset="-122"/>
                </a:defRPr>
              </a:lvl1pPr>
            </a:lstStyle>
            <a:p>
              <a:pPr algn="ctr"/>
              <a:r>
                <a:rPr lang="tr-TR" altLang="en-US" sz="1800" dirty="0">
                  <a:solidFill>
                    <a:srgbClr val="FFFFFF"/>
                  </a:solidFill>
                  <a:ea typeface="Arial" panose="020B0604020202020204" pitchFamily="34" charset="0"/>
                </a:rPr>
                <a:t>3.1</a:t>
              </a:r>
              <a:endParaRPr lang="tr-TR" altLang="en-US" sz="1800" dirty="0">
                <a:ea typeface="Arial" panose="020B0604020202020204" pitchFamily="34" charset="0"/>
              </a:endParaRPr>
            </a:p>
          </p:txBody>
        </p:sp>
        <p:sp>
          <p:nvSpPr>
            <p:cNvPr id="1048633" name="文本框 7"/>
            <p:cNvSpPr txBox="1"/>
            <p:nvPr/>
          </p:nvSpPr>
          <p:spPr>
            <a:xfrm flipV="1">
              <a:off x="1025303" y="5214711"/>
              <a:ext cx="659765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noAutofit/>
            </a:bodyPr>
            <a:lstStyle>
              <a:defPPr>
                <a:defRPr lang="zh-CN"/>
              </a:defPPr>
              <a:lvl1pPr fontAlgn="ctr">
                <a:defRPr sz="4800" b="0" i="0" u="none" strike="noStrike">
                  <a:solidFill>
                    <a:schemeClr val="bg1"/>
                  </a:solidFill>
                  <a:effectLst/>
                  <a:latin typeface="+mj-lt"/>
                  <a:ea typeface="Microsoft YaHei" panose="020B0503020204020204" pitchFamily="34" charset="-122"/>
                </a:defRPr>
              </a:lvl1pPr>
            </a:lstStyle>
            <a:p>
              <a:pPr algn="ctr"/>
              <a:endParaRPr lang="zh-CN" altLang="en-US" sz="3600" dirty="0">
                <a:ea typeface="Arial" panose="020B0604020202020204" pitchFamily="34" charset="0"/>
              </a:endParaRPr>
            </a:p>
          </p:txBody>
        </p:sp>
        <p:sp>
          <p:nvSpPr>
            <p:cNvPr id="1048634" name="文本框 12"/>
            <p:cNvSpPr txBox="1"/>
            <p:nvPr/>
          </p:nvSpPr>
          <p:spPr>
            <a:xfrm>
              <a:off x="6540676" y="5305978"/>
              <a:ext cx="659839" cy="70103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ctr">
                <a:defRPr sz="4800" b="0" i="0" u="none" strike="noStrike">
                  <a:solidFill>
                    <a:schemeClr val="bg1"/>
                  </a:solidFill>
                  <a:effectLst/>
                  <a:latin typeface="+mj-lt"/>
                  <a:ea typeface="Microsoft YaHei" panose="020B0503020204020204" pitchFamily="34" charset="-122"/>
                </a:defRPr>
              </a:lvl1pPr>
            </a:lstStyle>
            <a:p>
              <a:pPr algn="ctr"/>
              <a:endParaRPr lang="zh-CN" altLang="en-US" sz="3600" dirty="0">
                <a:ea typeface="Arial" panose="020B0604020202020204" pitchFamily="34" charset="0"/>
              </a:endParaRPr>
            </a:p>
          </p:txBody>
        </p:sp>
      </p:grpSp>
      <p:sp>
        <p:nvSpPr>
          <p:cNvPr id="1048635" name="矩形: 圆角 62"/>
          <p:cNvSpPr/>
          <p:nvPr>
            <p:custDataLst>
              <p:tags r:id="rId7"/>
            </p:custDataLst>
          </p:nvPr>
        </p:nvSpPr>
        <p:spPr>
          <a:xfrm>
            <a:off x="366808" y="5126991"/>
            <a:ext cx="3552190" cy="746760"/>
          </a:xfrm>
          <a:prstGeom prst="roundRect">
            <a:avLst>
              <a:gd name="adj" fmla="val 34285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36" name="文本框 9"/>
          <p:cNvSpPr txBox="1"/>
          <p:nvPr>
            <p:custDataLst>
              <p:tags r:id="rId8"/>
            </p:custDataLst>
          </p:nvPr>
        </p:nvSpPr>
        <p:spPr>
          <a:xfrm>
            <a:off x="1228090" y="5288915"/>
            <a:ext cx="2449830" cy="40195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fontAlgn="ctr">
              <a:defRPr sz="48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n-US" altLang="en-GB" sz="1400" dirty="0">
                <a:solidFill>
                  <a:srgbClr val="FFFFFF"/>
                </a:solidFill>
                <a:ea typeface="Gilroy" panose="00000400000000000000" charset="0"/>
              </a:rPr>
              <a:t>Tam e</a:t>
            </a:r>
            <a:r>
              <a:rPr lang="en-US" altLang="en-US" sz="1400" dirty="0">
                <a:solidFill>
                  <a:srgbClr val="FFFFFF"/>
                </a:solidFill>
                <a:ea typeface="Gilroy" panose="00000400000000000000" charset="0"/>
              </a:rPr>
              <a:t>ğ</a:t>
            </a:r>
            <a:r>
              <a:rPr lang="en-US" altLang="en-GB" sz="1400" dirty="0">
                <a:solidFill>
                  <a:srgbClr val="FFFFFF"/>
                </a:solidFill>
                <a:ea typeface="Gilroy" panose="00000400000000000000" charset="0"/>
              </a:rPr>
              <a:t>itim d</a:t>
            </a:r>
            <a:r>
              <a:rPr lang="en-US" altLang="en-US" sz="1400" dirty="0">
                <a:solidFill>
                  <a:srgbClr val="FFFFFF"/>
                </a:solidFill>
                <a:ea typeface="Gilroy" panose="00000400000000000000" charset="0"/>
              </a:rPr>
              <a:t>ö</a:t>
            </a:r>
            <a:r>
              <a:rPr lang="en-US" altLang="en-GB" sz="1400" dirty="0">
                <a:solidFill>
                  <a:srgbClr val="FFFFFF"/>
                </a:solidFill>
                <a:ea typeface="Gilroy" panose="00000400000000000000" charset="0"/>
              </a:rPr>
              <a:t>ng</a:t>
            </a:r>
            <a:r>
              <a:rPr lang="en-US" altLang="en-US" sz="1400" dirty="0">
                <a:solidFill>
                  <a:srgbClr val="FFFFFF"/>
                </a:solidFill>
                <a:ea typeface="Gilroy" panose="00000400000000000000" charset="0"/>
              </a:rPr>
              <a:t>ü</a:t>
            </a:r>
            <a:r>
              <a:rPr lang="en-US" altLang="en-GB" sz="1400" dirty="0">
                <a:solidFill>
                  <a:srgbClr val="FFFFFF"/>
                </a:solidFill>
                <a:ea typeface="Gilroy" panose="00000400000000000000" charset="0"/>
              </a:rPr>
              <a:t>s</a:t>
            </a:r>
            <a:r>
              <a:rPr lang="en-US" altLang="en-US" sz="1400" dirty="0">
                <a:solidFill>
                  <a:srgbClr val="FFFFFF"/>
                </a:solidFill>
                <a:ea typeface="Gilroy" panose="00000400000000000000" charset="0"/>
              </a:rPr>
              <a:t>ü</a:t>
            </a:r>
            <a:r>
              <a:rPr lang="en-US" altLang="en-GB" sz="1400" dirty="0">
                <a:solidFill>
                  <a:srgbClr val="FFFFFF"/>
                </a:solidFill>
                <a:ea typeface="Gilroy" panose="00000400000000000000" charset="0"/>
              </a:rPr>
              <a:t> ve Accelerate</a:t>
            </a:r>
            <a:endParaRPr lang="en-US" altLang="en-GB" sz="1400" dirty="0">
              <a:solidFill>
                <a:srgbClr val="1A3497"/>
              </a:solidFill>
              <a:ea typeface="Gilroy" panose="00000400000000000000" charset="0"/>
            </a:endParaRPr>
          </a:p>
        </p:txBody>
      </p:sp>
      <p:sp>
        <p:nvSpPr>
          <p:cNvPr id="1048637" name="椭圆 75"/>
          <p:cNvSpPr/>
          <p:nvPr>
            <p:custDataLst>
              <p:tags r:id="rId9"/>
            </p:custDataLst>
          </p:nvPr>
        </p:nvSpPr>
        <p:spPr>
          <a:xfrm>
            <a:off x="510318" y="5217161"/>
            <a:ext cx="619125" cy="55245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C4B5FD">
                <a:alpha val="80000"/>
              </a:srgbClr>
            </a:solidFill>
          </a:ln>
          <a:effectLst>
            <a:outerShdw blurRad="50800" dist="38100" dir="2700000" algn="tl" rotWithShape="0">
              <a:srgbClr val="1B7F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38" name="文本框 76"/>
          <p:cNvSpPr txBox="1"/>
          <p:nvPr>
            <p:custDataLst>
              <p:tags r:id="rId10"/>
            </p:custDataLst>
          </p:nvPr>
        </p:nvSpPr>
        <p:spPr>
          <a:xfrm>
            <a:off x="510318" y="5330826"/>
            <a:ext cx="619760" cy="32448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fontAlgn="ctr">
              <a:defRPr sz="4800" b="0" i="0" u="none" strike="noStrike">
                <a:solidFill>
                  <a:schemeClr val="bg1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tr-TR" altLang="en-US" sz="1800" dirty="0">
                <a:solidFill>
                  <a:srgbClr val="FFFFFF"/>
                </a:solidFill>
                <a:ea typeface="Arial" panose="020B0604020202020204" pitchFamily="34" charset="0"/>
              </a:rPr>
              <a:t>3.4</a:t>
            </a:r>
            <a:endParaRPr lang="tr-TR" altLang="en-US" sz="1800" dirty="0">
              <a:ea typeface="Arial" panose="020B0604020202020204" pitchFamily="34" charset="0"/>
            </a:endParaRPr>
          </a:p>
        </p:txBody>
      </p:sp>
      <p:sp>
        <p:nvSpPr>
          <p:cNvPr id="1048639" name="矩形: 圆角 62"/>
          <p:cNvSpPr/>
          <p:nvPr>
            <p:custDataLst>
              <p:tags r:id="rId11"/>
            </p:custDataLst>
          </p:nvPr>
        </p:nvSpPr>
        <p:spPr>
          <a:xfrm>
            <a:off x="4320953" y="2834641"/>
            <a:ext cx="3552190" cy="746760"/>
          </a:xfrm>
          <a:prstGeom prst="roundRect">
            <a:avLst>
              <a:gd name="adj" fmla="val 34285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40" name="文本框 9"/>
          <p:cNvSpPr txBox="1"/>
          <p:nvPr>
            <p:custDataLst>
              <p:tags r:id="rId12"/>
            </p:custDataLst>
          </p:nvPr>
        </p:nvSpPr>
        <p:spPr>
          <a:xfrm>
            <a:off x="5171440" y="2996565"/>
            <a:ext cx="2460625" cy="40195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fontAlgn="ctr">
              <a:defRPr sz="48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n-US" altLang="en-GB" sz="1400" dirty="0">
                <a:solidFill>
                  <a:srgbClr val="FFFFFF"/>
                </a:solidFill>
                <a:ea typeface="Gilroy" panose="00000400000000000000" charset="0"/>
              </a:rPr>
              <a:t>Veri </a:t>
            </a:r>
            <a:r>
              <a:rPr lang="en-US" altLang="en-US" sz="1400" dirty="0">
                <a:solidFill>
                  <a:srgbClr val="FFFFFF"/>
                </a:solidFill>
                <a:ea typeface="Gilroy" panose="00000400000000000000" charset="0"/>
              </a:rPr>
              <a:t>İş</a:t>
            </a:r>
            <a:r>
              <a:rPr lang="en-US" altLang="en-GB" sz="1400" dirty="0">
                <a:solidFill>
                  <a:srgbClr val="FFFFFF"/>
                </a:solidFill>
                <a:ea typeface="Gilroy" panose="00000400000000000000" charset="0"/>
              </a:rPr>
              <a:t>leme: Hugging Face ile BERT ve MRPC </a:t>
            </a:r>
            <a:r>
              <a:rPr lang="en-US" altLang="en-US" sz="1400" dirty="0">
                <a:solidFill>
                  <a:srgbClr val="FFFFFF"/>
                </a:solidFill>
                <a:ea typeface="Gilroy" panose="00000400000000000000" charset="0"/>
              </a:rPr>
              <a:t>Ö</a:t>
            </a:r>
            <a:r>
              <a:rPr lang="en-US" altLang="en-GB" sz="1400" dirty="0">
                <a:solidFill>
                  <a:srgbClr val="FFFFFF"/>
                </a:solidFill>
                <a:ea typeface="Gilroy" panose="00000400000000000000" charset="0"/>
              </a:rPr>
              <a:t>rne</a:t>
            </a:r>
            <a:r>
              <a:rPr lang="en-US" altLang="en-US" sz="1400" dirty="0">
                <a:solidFill>
                  <a:srgbClr val="FFFFFF"/>
                </a:solidFill>
                <a:ea typeface="Gilroy" panose="00000400000000000000" charset="0"/>
              </a:rPr>
              <a:t>ğ</a:t>
            </a:r>
            <a:r>
              <a:rPr lang="en-US" altLang="en-GB" sz="1400" dirty="0">
                <a:solidFill>
                  <a:srgbClr val="FFFFFF"/>
                </a:solidFill>
                <a:ea typeface="Gilroy" panose="00000400000000000000" charset="0"/>
              </a:rPr>
              <a:t>i</a:t>
            </a:r>
            <a:endParaRPr lang="en-US" altLang="en-GB" sz="1400" dirty="0">
              <a:solidFill>
                <a:srgbClr val="1A3497"/>
              </a:solidFill>
              <a:ea typeface="Gilroy" panose="00000400000000000000" charset="0"/>
            </a:endParaRPr>
          </a:p>
        </p:txBody>
      </p:sp>
      <p:sp>
        <p:nvSpPr>
          <p:cNvPr id="1048641" name="椭圆 75"/>
          <p:cNvSpPr/>
          <p:nvPr>
            <p:custDataLst>
              <p:tags r:id="rId13"/>
            </p:custDataLst>
          </p:nvPr>
        </p:nvSpPr>
        <p:spPr>
          <a:xfrm>
            <a:off x="4464463" y="2924811"/>
            <a:ext cx="619125" cy="55245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C4B5FD">
                <a:alpha val="80000"/>
              </a:srgbClr>
            </a:solidFill>
          </a:ln>
          <a:effectLst>
            <a:outerShdw blurRad="50800" dist="38100" dir="2700000" algn="tl" rotWithShape="0">
              <a:srgbClr val="1B7F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42" name="文本框 76"/>
          <p:cNvSpPr txBox="1"/>
          <p:nvPr>
            <p:custDataLst>
              <p:tags r:id="rId14"/>
            </p:custDataLst>
          </p:nvPr>
        </p:nvSpPr>
        <p:spPr>
          <a:xfrm>
            <a:off x="4464463" y="3038476"/>
            <a:ext cx="619760" cy="32448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fontAlgn="ctr">
              <a:defRPr sz="4800" b="0" i="0" u="none" strike="noStrike">
                <a:solidFill>
                  <a:schemeClr val="bg1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tr-TR" altLang="en-US" sz="1800" dirty="0">
                <a:solidFill>
                  <a:srgbClr val="FFFFFF"/>
                </a:solidFill>
                <a:ea typeface="Arial" panose="020B0604020202020204" pitchFamily="34" charset="0"/>
              </a:rPr>
              <a:t>3.2</a:t>
            </a:r>
            <a:endParaRPr lang="tr-TR" altLang="en-US" sz="1800" dirty="0">
              <a:ea typeface="Arial" panose="020B0604020202020204" pitchFamily="34" charset="0"/>
            </a:endParaRPr>
          </a:p>
        </p:txBody>
      </p:sp>
      <p:sp>
        <p:nvSpPr>
          <p:cNvPr id="1048643" name="矩形: 圆角 62"/>
          <p:cNvSpPr/>
          <p:nvPr>
            <p:custDataLst>
              <p:tags r:id="rId15"/>
            </p:custDataLst>
          </p:nvPr>
        </p:nvSpPr>
        <p:spPr>
          <a:xfrm>
            <a:off x="8275098" y="2834641"/>
            <a:ext cx="3552190" cy="746760"/>
          </a:xfrm>
          <a:prstGeom prst="roundRect">
            <a:avLst>
              <a:gd name="adj" fmla="val 34285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44" name="文本框 9"/>
          <p:cNvSpPr txBox="1"/>
          <p:nvPr>
            <p:custDataLst>
              <p:tags r:id="rId16"/>
            </p:custDataLst>
          </p:nvPr>
        </p:nvSpPr>
        <p:spPr>
          <a:xfrm>
            <a:off x="9209405" y="2953385"/>
            <a:ext cx="2352040" cy="40195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fontAlgn="ctr">
              <a:defRPr sz="48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n-US" altLang="en-GB" sz="1600" dirty="0">
                <a:solidFill>
                  <a:srgbClr val="FFFFFF"/>
                </a:solidFill>
                <a:ea typeface="Gilroy" panose="00000400000000000000" charset="0"/>
              </a:rPr>
              <a:t>Trainer API ile model e</a:t>
            </a:r>
            <a:r>
              <a:rPr lang="en-US" altLang="en-US" sz="1600" dirty="0">
                <a:solidFill>
                  <a:srgbClr val="FFFFFF"/>
                </a:solidFill>
                <a:ea typeface="Gilroy" panose="00000400000000000000" charset="0"/>
              </a:rPr>
              <a:t>ğ</a:t>
            </a:r>
            <a:r>
              <a:rPr lang="en-US" altLang="en-GB" sz="1600" dirty="0">
                <a:solidFill>
                  <a:srgbClr val="FFFFFF"/>
                </a:solidFill>
                <a:ea typeface="Gilroy" panose="00000400000000000000" charset="0"/>
              </a:rPr>
              <a:t>itimi</a:t>
            </a:r>
            <a:endParaRPr lang="en-US" altLang="en-GB" sz="1600" dirty="0">
              <a:solidFill>
                <a:srgbClr val="1A3497"/>
              </a:solidFill>
              <a:ea typeface="Gilroy" panose="00000400000000000000" charset="0"/>
            </a:endParaRPr>
          </a:p>
        </p:txBody>
      </p:sp>
      <p:sp>
        <p:nvSpPr>
          <p:cNvPr id="1048645" name="椭圆 75"/>
          <p:cNvSpPr/>
          <p:nvPr>
            <p:custDataLst>
              <p:tags r:id="rId17"/>
            </p:custDataLst>
          </p:nvPr>
        </p:nvSpPr>
        <p:spPr>
          <a:xfrm>
            <a:off x="8418608" y="2924811"/>
            <a:ext cx="619125" cy="55245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C4B5FD">
                <a:alpha val="80000"/>
              </a:srgbClr>
            </a:solidFill>
          </a:ln>
          <a:effectLst>
            <a:outerShdw blurRad="50800" dist="38100" dir="2700000" algn="tl" rotWithShape="0">
              <a:srgbClr val="1B7F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46" name="文本框 76"/>
          <p:cNvSpPr txBox="1"/>
          <p:nvPr>
            <p:custDataLst>
              <p:tags r:id="rId18"/>
            </p:custDataLst>
          </p:nvPr>
        </p:nvSpPr>
        <p:spPr>
          <a:xfrm>
            <a:off x="8440198" y="3038476"/>
            <a:ext cx="619760" cy="32448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fontAlgn="ctr">
              <a:defRPr sz="4800" b="0" i="0" u="none" strike="noStrike">
                <a:solidFill>
                  <a:schemeClr val="bg1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tr-TR" altLang="en-US" sz="1800" dirty="0">
                <a:solidFill>
                  <a:srgbClr val="FFFFFF"/>
                </a:solidFill>
                <a:ea typeface="Arial" panose="020B0604020202020204" pitchFamily="34" charset="0"/>
              </a:rPr>
              <a:t>3.3</a:t>
            </a:r>
            <a:endParaRPr lang="tr-TR" altLang="en-US" sz="1800" dirty="0">
              <a:ea typeface="Arial" panose="020B0604020202020204" pitchFamily="34" charset="0"/>
            </a:endParaRPr>
          </a:p>
        </p:txBody>
      </p:sp>
      <p:sp>
        <p:nvSpPr>
          <p:cNvPr id="1048647" name="矩形: 圆角 62"/>
          <p:cNvSpPr/>
          <p:nvPr>
            <p:custDataLst>
              <p:tags r:id="rId19"/>
            </p:custDataLst>
          </p:nvPr>
        </p:nvSpPr>
        <p:spPr>
          <a:xfrm>
            <a:off x="4330478" y="5126991"/>
            <a:ext cx="3552190" cy="746760"/>
          </a:xfrm>
          <a:prstGeom prst="roundRect">
            <a:avLst>
              <a:gd name="adj" fmla="val 34285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48" name="文本框 9"/>
          <p:cNvSpPr txBox="1"/>
          <p:nvPr>
            <p:custDataLst>
              <p:tags r:id="rId20"/>
            </p:custDataLst>
          </p:nvPr>
        </p:nvSpPr>
        <p:spPr>
          <a:xfrm>
            <a:off x="5264785" y="5288915"/>
            <a:ext cx="2376805" cy="40195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fontAlgn="ctr">
              <a:defRPr sz="48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n-US" altLang="en-GB" sz="1600" dirty="0">
                <a:solidFill>
                  <a:srgbClr val="FFFFFF"/>
                </a:solidFill>
                <a:ea typeface="Gilroy" panose="00000400000000000000" charset="0"/>
              </a:rPr>
              <a:t> </a:t>
            </a:r>
            <a:r>
              <a:rPr lang="en-US" altLang="en-US" sz="1600" dirty="0">
                <a:solidFill>
                  <a:srgbClr val="FFFFFF"/>
                </a:solidFill>
                <a:ea typeface="Gilroy" panose="00000400000000000000" charset="0"/>
              </a:rPr>
              <a:t>Ö</a:t>
            </a:r>
            <a:r>
              <a:rPr lang="en-US" altLang="en-US" sz="1600" dirty="0">
                <a:solidFill>
                  <a:srgbClr val="FFFFFF"/>
                </a:solidFill>
                <a:ea typeface="Gilroy" panose="00000400000000000000" charset="0"/>
              </a:rPr>
              <a:t>ğ</a:t>
            </a:r>
            <a:r>
              <a:rPr lang="en-US" altLang="en-GB" sz="1600" dirty="0">
                <a:solidFill>
                  <a:srgbClr val="FFFFFF"/>
                </a:solidFill>
                <a:ea typeface="Gilroy" panose="00000400000000000000" charset="0"/>
              </a:rPr>
              <a:t>renme e</a:t>
            </a:r>
            <a:r>
              <a:rPr lang="en-US" altLang="en-US" sz="1600" dirty="0">
                <a:solidFill>
                  <a:srgbClr val="FFFFFF"/>
                </a:solidFill>
                <a:ea typeface="Gilroy" panose="00000400000000000000" charset="0"/>
              </a:rPr>
              <a:t>ğ</a:t>
            </a:r>
            <a:r>
              <a:rPr lang="en-US" altLang="en-GB" sz="1600" dirty="0">
                <a:solidFill>
                  <a:srgbClr val="FFFFFF"/>
                </a:solidFill>
                <a:ea typeface="Gilroy" panose="00000400000000000000" charset="0"/>
              </a:rPr>
              <a:t>rilerini anlama</a:t>
            </a:r>
            <a:endParaRPr lang="en-US" altLang="en-GB" sz="1600" dirty="0">
              <a:solidFill>
                <a:srgbClr val="1A3497"/>
              </a:solidFill>
              <a:ea typeface="Gilroy" panose="00000400000000000000" charset="0"/>
            </a:endParaRPr>
          </a:p>
        </p:txBody>
      </p:sp>
      <p:sp>
        <p:nvSpPr>
          <p:cNvPr id="1048649" name="椭圆 75"/>
          <p:cNvSpPr/>
          <p:nvPr>
            <p:custDataLst>
              <p:tags r:id="rId21"/>
            </p:custDataLst>
          </p:nvPr>
        </p:nvSpPr>
        <p:spPr>
          <a:xfrm>
            <a:off x="4473988" y="5217161"/>
            <a:ext cx="619125" cy="55245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C4B5FD">
                <a:alpha val="80000"/>
              </a:srgbClr>
            </a:solidFill>
          </a:ln>
          <a:effectLst>
            <a:outerShdw blurRad="50800" dist="38100" dir="2700000" algn="tl" rotWithShape="0">
              <a:srgbClr val="1B7F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50" name="文本框 76"/>
          <p:cNvSpPr txBox="1"/>
          <p:nvPr>
            <p:custDataLst>
              <p:tags r:id="rId22"/>
            </p:custDataLst>
          </p:nvPr>
        </p:nvSpPr>
        <p:spPr>
          <a:xfrm>
            <a:off x="4473988" y="5330826"/>
            <a:ext cx="619760" cy="32448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fontAlgn="ctr">
              <a:defRPr sz="4800" b="0" i="0" u="none" strike="noStrike">
                <a:solidFill>
                  <a:schemeClr val="bg1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tr-TR" altLang="en-US" sz="1800" dirty="0">
                <a:solidFill>
                  <a:srgbClr val="FFFFFF"/>
                </a:solidFill>
                <a:ea typeface="Arial" panose="020B0604020202020204" pitchFamily="34" charset="0"/>
              </a:rPr>
              <a:t>3.5</a:t>
            </a:r>
            <a:endParaRPr lang="tr-TR" altLang="en-US" sz="1800" dirty="0">
              <a:ea typeface="Arial" panose="020B0604020202020204" pitchFamily="34" charset="0"/>
            </a:endParaRPr>
          </a:p>
        </p:txBody>
      </p:sp>
      <p:sp>
        <p:nvSpPr>
          <p:cNvPr id="1048651" name="矩形: 圆角 62"/>
          <p:cNvSpPr/>
          <p:nvPr>
            <p:custDataLst>
              <p:tags r:id="rId23"/>
            </p:custDataLst>
          </p:nvPr>
        </p:nvSpPr>
        <p:spPr>
          <a:xfrm>
            <a:off x="8250333" y="5126991"/>
            <a:ext cx="3552190" cy="746760"/>
          </a:xfrm>
          <a:prstGeom prst="roundRect">
            <a:avLst>
              <a:gd name="adj" fmla="val 34285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52" name="文本框 9"/>
          <p:cNvSpPr txBox="1"/>
          <p:nvPr>
            <p:custDataLst>
              <p:tags r:id="rId24"/>
            </p:custDataLst>
          </p:nvPr>
        </p:nvSpPr>
        <p:spPr>
          <a:xfrm>
            <a:off x="9480963" y="5288916"/>
            <a:ext cx="2080260" cy="40195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fontAlgn="ctr">
              <a:defRPr sz="48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n-US" altLang="en-GB" sz="2000" dirty="0">
                <a:solidFill>
                  <a:srgbClr val="FFFFFF"/>
                </a:solidFill>
                <a:ea typeface="Gilroy" panose="00000400000000000000" charset="0"/>
              </a:rPr>
              <a:t>B</a:t>
            </a:r>
            <a:r>
              <a:rPr lang="en-US" altLang="en-US" sz="2000" dirty="0">
                <a:solidFill>
                  <a:srgbClr val="FFFFFF"/>
                </a:solidFill>
                <a:ea typeface="Gilroy" panose="00000400000000000000" charset="0"/>
              </a:rPr>
              <a:t>ö</a:t>
            </a:r>
            <a:r>
              <a:rPr lang="en-US" altLang="en-GB" sz="2000" dirty="0">
                <a:solidFill>
                  <a:srgbClr val="FFFFFF"/>
                </a:solidFill>
                <a:ea typeface="Gilroy" panose="00000400000000000000" charset="0"/>
              </a:rPr>
              <a:t>l</a:t>
            </a:r>
            <a:r>
              <a:rPr lang="en-US" altLang="en-US" sz="2000" dirty="0">
                <a:solidFill>
                  <a:srgbClr val="FFFFFF"/>
                </a:solidFill>
                <a:ea typeface="Gilroy" panose="00000400000000000000" charset="0"/>
              </a:rPr>
              <a:t>ü</a:t>
            </a:r>
            <a:r>
              <a:rPr lang="en-US" altLang="en-GB" sz="2000" dirty="0">
                <a:solidFill>
                  <a:srgbClr val="FFFFFF"/>
                </a:solidFill>
                <a:ea typeface="Gilroy" panose="00000400000000000000" charset="0"/>
              </a:rPr>
              <a:t>m </a:t>
            </a:r>
            <a:r>
              <a:rPr lang="en-US" altLang="en-US" sz="2000" dirty="0">
                <a:solidFill>
                  <a:srgbClr val="FFFFFF"/>
                </a:solidFill>
                <a:ea typeface="Gilroy" panose="00000400000000000000" charset="0"/>
              </a:rPr>
              <a:t>ö</a:t>
            </a:r>
            <a:r>
              <a:rPr lang="en-US" altLang="en-GB" sz="2000" dirty="0">
                <a:solidFill>
                  <a:srgbClr val="FFFFFF"/>
                </a:solidFill>
                <a:ea typeface="Gilroy" panose="00000400000000000000" charset="0"/>
              </a:rPr>
              <a:t>zeti</a:t>
            </a:r>
            <a:endParaRPr lang="en-US" altLang="en-GB" sz="2000" dirty="0">
              <a:solidFill>
                <a:srgbClr val="1A3497"/>
              </a:solidFill>
              <a:ea typeface="Gilroy" panose="00000400000000000000" charset="0"/>
            </a:endParaRPr>
          </a:p>
        </p:txBody>
      </p:sp>
      <p:sp>
        <p:nvSpPr>
          <p:cNvPr id="1048653" name="椭圆 75"/>
          <p:cNvSpPr/>
          <p:nvPr>
            <p:custDataLst>
              <p:tags r:id="rId25"/>
            </p:custDataLst>
          </p:nvPr>
        </p:nvSpPr>
        <p:spPr>
          <a:xfrm>
            <a:off x="8393843" y="5217161"/>
            <a:ext cx="619125" cy="55245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C4B5FD">
                <a:alpha val="80000"/>
              </a:srgbClr>
            </a:solidFill>
          </a:ln>
          <a:effectLst>
            <a:outerShdw blurRad="50800" dist="38100" dir="2700000" algn="tl" rotWithShape="0">
              <a:srgbClr val="1B7F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54" name="文本框 76"/>
          <p:cNvSpPr txBox="1"/>
          <p:nvPr>
            <p:custDataLst>
              <p:tags r:id="rId26"/>
            </p:custDataLst>
          </p:nvPr>
        </p:nvSpPr>
        <p:spPr>
          <a:xfrm>
            <a:off x="8393843" y="5330826"/>
            <a:ext cx="619760" cy="32448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fontAlgn="ctr">
              <a:defRPr sz="4800" b="0" i="0" u="none" strike="noStrike">
                <a:solidFill>
                  <a:schemeClr val="bg1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tr-TR" altLang="en-US" sz="1800" dirty="0">
                <a:solidFill>
                  <a:srgbClr val="FFFFFF"/>
                </a:solidFill>
                <a:ea typeface="Arial" panose="020B0604020202020204" pitchFamily="34" charset="0"/>
              </a:rPr>
              <a:t>3.6</a:t>
            </a:r>
            <a:endParaRPr lang="tr-TR" altLang="en-US" sz="1800" dirty="0"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Round Diagonal Corner Rectangle 9"/>
          <p:cNvSpPr/>
          <p:nvPr/>
        </p:nvSpPr>
        <p:spPr>
          <a:xfrm>
            <a:off x="6403340" y="2588260"/>
            <a:ext cx="4814570" cy="2706370"/>
          </a:xfrm>
          <a:prstGeom prst="roundRect">
            <a:avLst>
              <a:gd name="adj" fmla="val 9460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656" name="Round Diagonal Corner Rectangle 8"/>
          <p:cNvSpPr/>
          <p:nvPr/>
        </p:nvSpPr>
        <p:spPr>
          <a:xfrm>
            <a:off x="967105" y="1824990"/>
            <a:ext cx="4814570" cy="2706370"/>
          </a:xfrm>
          <a:prstGeom prst="roundRect">
            <a:avLst>
              <a:gd name="adj" fmla="val 9460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657" name="文本框 6"/>
          <p:cNvSpPr txBox="1"/>
          <p:nvPr/>
        </p:nvSpPr>
        <p:spPr>
          <a:xfrm>
            <a:off x="1074609" y="2395626"/>
            <a:ext cx="4714077" cy="10058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ctr"/>
            <a:r>
              <a:rPr lang="tr-TR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Bu kısımda h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az</a:t>
            </a:r>
            <a:r>
              <a:rPr lang="en-U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ı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r bir modeli, kendi </a:t>
            </a:r>
            <a:r>
              <a:rPr lang="en-U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ö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zel </a:t>
            </a:r>
            <a:endParaRPr lang="en-US" altLang="en-GB" sz="18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fontAlgn="ctr"/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problemimizi </a:t>
            </a:r>
            <a:r>
              <a:rPr lang="en-U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ç</a:t>
            </a:r>
            <a:r>
              <a:rPr lang="en-U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ö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zecek </a:t>
            </a:r>
            <a:r>
              <a:rPr lang="en-U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ş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ekilde nas</a:t>
            </a:r>
            <a:r>
              <a:rPr lang="en-U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ı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l yeniden</a:t>
            </a:r>
            <a:r>
              <a:rPr lang="tr-TR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 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e</a:t>
            </a:r>
            <a:r>
              <a:rPr lang="en-U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ğ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it</a:t>
            </a:r>
            <a:r>
              <a:rPr lang="tr-TR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eceğimizi görücez.</a:t>
            </a:r>
            <a:endParaRPr lang="tr-TR" altLang="en-US" sz="18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sp>
        <p:nvSpPr>
          <p:cNvPr id="1048658" name="文本框 2"/>
          <p:cNvSpPr txBox="1"/>
          <p:nvPr/>
        </p:nvSpPr>
        <p:spPr>
          <a:xfrm>
            <a:off x="6636385" y="3030220"/>
            <a:ext cx="4225925" cy="4343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en-GB" sz="2000" b="1" dirty="0">
                <a:solidFill>
                  <a:schemeClr val="bg1"/>
                </a:solidFill>
              </a:rPr>
              <a:t>G</a:t>
            </a:r>
            <a:r>
              <a:rPr lang="en-US" altLang="en-US" sz="2000" b="1" dirty="0">
                <a:solidFill>
                  <a:schemeClr val="bg1"/>
                </a:solidFill>
              </a:rPr>
              <a:t>ü</a:t>
            </a:r>
            <a:r>
              <a:rPr lang="en-US" altLang="en-GB" sz="2000" b="1" dirty="0">
                <a:solidFill>
                  <a:schemeClr val="bg1"/>
                </a:solidFill>
              </a:rPr>
              <a:t>n</a:t>
            </a:r>
            <a:r>
              <a:rPr lang="en-US" altLang="en-US" sz="2000" b="1" dirty="0">
                <a:solidFill>
                  <a:schemeClr val="bg1"/>
                </a:solidFill>
              </a:rPr>
              <a:t>ü</a:t>
            </a:r>
            <a:r>
              <a:rPr lang="en-US" altLang="en-GB" sz="2000" b="1" dirty="0">
                <a:solidFill>
                  <a:schemeClr val="bg1"/>
                </a:solidFill>
              </a:rPr>
              <a:t>n Sonunda Ne Elde Edece</a:t>
            </a:r>
            <a:r>
              <a:rPr lang="en-US" altLang="en-US" sz="2000" b="1" dirty="0">
                <a:solidFill>
                  <a:schemeClr val="bg1"/>
                </a:solidFill>
              </a:rPr>
              <a:t>ğ</a:t>
            </a:r>
            <a:r>
              <a:rPr lang="en-US" altLang="en-GB" sz="2000" b="1" dirty="0">
                <a:solidFill>
                  <a:schemeClr val="bg1"/>
                </a:solidFill>
              </a:rPr>
              <a:t>iz?</a:t>
            </a:r>
            <a:endParaRPr lang="en-US" altLang="en-GB" sz="2000" b="1" dirty="0">
              <a:solidFill>
                <a:schemeClr val="bg1"/>
              </a:solidFill>
            </a:endParaRPr>
          </a:p>
        </p:txBody>
      </p:sp>
      <p:sp>
        <p:nvSpPr>
          <p:cNvPr id="1048659" name="文本框 24"/>
          <p:cNvSpPr txBox="1"/>
          <p:nvPr/>
        </p:nvSpPr>
        <p:spPr>
          <a:xfrm>
            <a:off x="1005840" y="548640"/>
            <a:ext cx="5486400" cy="100584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fontAlgn="ctr"/>
            <a:r>
              <a:rPr lang="tr-TR" altLang="en-US" sz="54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3.1 Giriş</a:t>
            </a:r>
            <a:endParaRPr lang="tr-TR" altLang="en-US" sz="54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sp>
        <p:nvSpPr>
          <p:cNvPr id="1048660" name="文本框 2"/>
          <p:cNvSpPr txBox="1"/>
          <p:nvPr/>
        </p:nvSpPr>
        <p:spPr>
          <a:xfrm>
            <a:off x="6980555" y="3622675"/>
            <a:ext cx="4225925" cy="1209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en-GB" sz="1600" b="1" dirty="0">
                <a:solidFill>
                  <a:schemeClr val="bg1"/>
                </a:solidFill>
              </a:rPr>
              <a:t>T</a:t>
            </a:r>
            <a:r>
              <a:rPr lang="en-US" altLang="en-US" sz="1600" b="1" dirty="0">
                <a:solidFill>
                  <a:schemeClr val="bg1"/>
                </a:solidFill>
              </a:rPr>
              <a:t>ü</a:t>
            </a:r>
            <a:r>
              <a:rPr lang="en-US" altLang="en-GB" sz="1600" b="1" dirty="0">
                <a:solidFill>
                  <a:schemeClr val="bg1"/>
                </a:solidFill>
              </a:rPr>
              <a:t>m bu ad</a:t>
            </a:r>
            <a:r>
              <a:rPr lang="en-US" altLang="en-US" sz="1600" b="1" dirty="0">
                <a:solidFill>
                  <a:schemeClr val="bg1"/>
                </a:solidFill>
              </a:rPr>
              <a:t>ı</a:t>
            </a:r>
            <a:r>
              <a:rPr lang="en-US" altLang="en-GB" sz="1600" b="1" dirty="0">
                <a:solidFill>
                  <a:schemeClr val="bg1"/>
                </a:solidFill>
              </a:rPr>
              <a:t>mlar</a:t>
            </a:r>
            <a:r>
              <a:rPr lang="en-US" altLang="en-US" sz="1600" b="1" dirty="0">
                <a:solidFill>
                  <a:schemeClr val="bg1"/>
                </a:solidFill>
              </a:rPr>
              <a:t>ı</a:t>
            </a:r>
            <a:r>
              <a:rPr lang="en-US" altLang="en-GB" sz="1600" b="1" dirty="0">
                <a:solidFill>
                  <a:schemeClr val="bg1"/>
                </a:solidFill>
              </a:rPr>
              <a:t> tamamlad</a:t>
            </a:r>
            <a:r>
              <a:rPr lang="en-US" altLang="en-US" sz="1600" b="1" dirty="0">
                <a:solidFill>
                  <a:schemeClr val="bg1"/>
                </a:solidFill>
              </a:rPr>
              <a:t>ığı</a:t>
            </a:r>
            <a:r>
              <a:rPr lang="en-US" altLang="en-GB" sz="1600" b="1" dirty="0">
                <a:solidFill>
                  <a:schemeClr val="bg1"/>
                </a:solidFill>
              </a:rPr>
              <a:t>m</a:t>
            </a:r>
            <a:r>
              <a:rPr lang="en-US" altLang="en-US" sz="1600" b="1" dirty="0">
                <a:solidFill>
                  <a:schemeClr val="bg1"/>
                </a:solidFill>
              </a:rPr>
              <a:t>ı</a:t>
            </a:r>
            <a:r>
              <a:rPr lang="en-US" altLang="en-GB" sz="1600" b="1" dirty="0">
                <a:solidFill>
                  <a:schemeClr val="bg1"/>
                </a:solidFill>
              </a:rPr>
              <a:t>zda, pop</a:t>
            </a:r>
            <a:r>
              <a:rPr lang="en-US" altLang="en-US" sz="1600" b="1" dirty="0">
                <a:solidFill>
                  <a:schemeClr val="bg1"/>
                </a:solidFill>
              </a:rPr>
              <a:t>ü</a:t>
            </a:r>
            <a:r>
              <a:rPr lang="en-US" altLang="en-GB" sz="1600" b="1" dirty="0">
                <a:solidFill>
                  <a:schemeClr val="bg1"/>
                </a:solidFill>
              </a:rPr>
              <a:t>ler bir dil modeli olan BERT'i, metin s</a:t>
            </a:r>
            <a:r>
              <a:rPr lang="en-US" altLang="en-US" sz="1600" b="1" dirty="0">
                <a:solidFill>
                  <a:schemeClr val="bg1"/>
                </a:solidFill>
              </a:rPr>
              <a:t>ı</a:t>
            </a:r>
            <a:r>
              <a:rPr lang="en-US" altLang="en-GB" sz="1600" b="1" dirty="0">
                <a:solidFill>
                  <a:schemeClr val="bg1"/>
                </a:solidFill>
              </a:rPr>
              <a:t>n</a:t>
            </a:r>
            <a:r>
              <a:rPr lang="en-US" altLang="en-US" sz="1600" b="1" dirty="0">
                <a:solidFill>
                  <a:schemeClr val="bg1"/>
                </a:solidFill>
              </a:rPr>
              <a:t>ı</a:t>
            </a:r>
            <a:r>
              <a:rPr lang="en-US" altLang="en-GB" sz="1600" b="1" dirty="0">
                <a:solidFill>
                  <a:schemeClr val="bg1"/>
                </a:solidFill>
              </a:rPr>
              <a:t>fland</a:t>
            </a:r>
            <a:r>
              <a:rPr lang="en-US" altLang="en-US" sz="1600" b="1" dirty="0">
                <a:solidFill>
                  <a:schemeClr val="bg1"/>
                </a:solidFill>
              </a:rPr>
              <a:t>ı</a:t>
            </a:r>
            <a:r>
              <a:rPr lang="en-US" altLang="en-GB" sz="1600" b="1" dirty="0">
                <a:solidFill>
                  <a:schemeClr val="bg1"/>
                </a:solidFill>
              </a:rPr>
              <a:t>rma </a:t>
            </a:r>
            <a:endParaRPr lang="en-US" altLang="en-GB" sz="1600" b="1" dirty="0">
              <a:solidFill>
                <a:schemeClr val="bg1"/>
              </a:solidFill>
            </a:endParaRPr>
          </a:p>
          <a:p>
            <a:r>
              <a:rPr lang="en-US" altLang="en-GB" sz="1600" b="1" dirty="0">
                <a:solidFill>
                  <a:schemeClr val="bg1"/>
                </a:solidFill>
              </a:rPr>
              <a:t>g</a:t>
            </a:r>
            <a:r>
              <a:rPr lang="en-US" altLang="en-US" sz="1600" b="1" dirty="0">
                <a:solidFill>
                  <a:schemeClr val="bg1"/>
                </a:solidFill>
              </a:rPr>
              <a:t>ö</a:t>
            </a:r>
            <a:r>
              <a:rPr lang="en-US" altLang="en-GB" sz="1600" b="1" dirty="0">
                <a:solidFill>
                  <a:schemeClr val="bg1"/>
                </a:solidFill>
              </a:rPr>
              <a:t>revi i</a:t>
            </a:r>
            <a:r>
              <a:rPr lang="en-US" altLang="en-US" sz="1600" b="1" dirty="0">
                <a:solidFill>
                  <a:schemeClr val="bg1"/>
                </a:solidFill>
              </a:rPr>
              <a:t>ç</a:t>
            </a:r>
            <a:r>
              <a:rPr lang="en-US" altLang="en-GB" sz="1600" b="1" dirty="0">
                <a:solidFill>
                  <a:schemeClr val="bg1"/>
                </a:solidFill>
              </a:rPr>
              <a:t>in bizzat e</a:t>
            </a:r>
            <a:r>
              <a:rPr lang="en-US" altLang="en-US" sz="1600" b="1" dirty="0">
                <a:solidFill>
                  <a:schemeClr val="bg1"/>
                </a:solidFill>
              </a:rPr>
              <a:t>ğ</a:t>
            </a:r>
            <a:r>
              <a:rPr lang="en-US" altLang="en-GB" sz="1600" b="1" dirty="0">
                <a:solidFill>
                  <a:schemeClr val="bg1"/>
                </a:solidFill>
              </a:rPr>
              <a:t>itmi</a:t>
            </a:r>
            <a:r>
              <a:rPr lang="en-US" altLang="en-US" sz="1600" b="1" dirty="0">
                <a:solidFill>
                  <a:schemeClr val="bg1"/>
                </a:solidFill>
              </a:rPr>
              <a:t>ş</a:t>
            </a:r>
            <a:r>
              <a:rPr lang="en-US" altLang="en-GB" sz="1600" b="1" dirty="0">
                <a:solidFill>
                  <a:schemeClr val="bg1"/>
                </a:solidFill>
              </a:rPr>
              <a:t> olaca</a:t>
            </a:r>
            <a:r>
              <a:rPr lang="en-US" altLang="en-US" sz="1600" b="1" dirty="0">
                <a:solidFill>
                  <a:schemeClr val="bg1"/>
                </a:solidFill>
              </a:rPr>
              <a:t>ğı</a:t>
            </a:r>
            <a:r>
              <a:rPr lang="en-US" altLang="en-GB" sz="1600" b="1" dirty="0">
                <a:solidFill>
                  <a:schemeClr val="bg1"/>
                </a:solidFill>
              </a:rPr>
              <a:t>z.</a:t>
            </a:r>
            <a:endParaRPr lang="en-US" altLang="en-GB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文本框 6"/>
          <p:cNvSpPr txBox="1"/>
          <p:nvPr/>
        </p:nvSpPr>
        <p:spPr>
          <a:xfrm>
            <a:off x="2081530" y="603885"/>
            <a:ext cx="8833485" cy="11582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en-GB" sz="32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Veri </a:t>
            </a:r>
            <a:r>
              <a:rPr lang="en-US" altLang="en-US" sz="32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İş</a:t>
            </a:r>
            <a:r>
              <a:rPr lang="en-US" altLang="en-GB" sz="32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leme: Hugging Face ile BERT ve MRPC </a:t>
            </a:r>
            <a:endParaRPr lang="en-US" altLang="en-GB" sz="3200" dirty="0">
              <a:solidFill>
                <a:schemeClr val="bg1"/>
              </a:solidFill>
              <a:latin typeface="+mj-lt"/>
              <a:ea typeface="Gilroy" panose="00000400000000000000" charset="0"/>
            </a:endParaRPr>
          </a:p>
          <a:p>
            <a:r>
              <a:rPr lang="en-US" altLang="en-US" sz="32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Ö</a:t>
            </a:r>
            <a:r>
              <a:rPr lang="en-US" altLang="en-GB" sz="32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rne</a:t>
            </a:r>
            <a:r>
              <a:rPr lang="en-US" altLang="en-US" sz="32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ğ</a:t>
            </a:r>
            <a:r>
              <a:rPr lang="tr-TR" sz="32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i</a:t>
            </a:r>
            <a:endParaRPr lang="tr-TR" sz="3200" dirty="0">
              <a:solidFill>
                <a:schemeClr val="bg1"/>
              </a:solidFill>
              <a:latin typeface="+mj-lt"/>
              <a:ea typeface="Gilroy" panose="00000400000000000000" charset="0"/>
            </a:endParaRPr>
          </a:p>
        </p:txBody>
      </p:sp>
      <p:sp>
        <p:nvSpPr>
          <p:cNvPr id="1048662" name="矩形: 圆角 10"/>
          <p:cNvSpPr/>
          <p:nvPr/>
        </p:nvSpPr>
        <p:spPr>
          <a:xfrm>
            <a:off x="1645920" y="2103120"/>
            <a:ext cx="8869680" cy="4206240"/>
          </a:xfrm>
          <a:prstGeom prst="roundRect">
            <a:avLst>
              <a:gd name="adj" fmla="val 6086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048663" name="文本框 6"/>
          <p:cNvSpPr txBox="1"/>
          <p:nvPr/>
        </p:nvSpPr>
        <p:spPr>
          <a:xfrm>
            <a:off x="542290" y="266700"/>
            <a:ext cx="2052955" cy="74041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r>
              <a:rPr lang="tr-TR" sz="44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3.2</a:t>
            </a:r>
            <a:endParaRPr lang="tr-TR" sz="4400" dirty="0">
              <a:solidFill>
                <a:schemeClr val="bg1"/>
              </a:solidFill>
              <a:latin typeface="+mj-lt"/>
              <a:ea typeface="Gilroy" panose="00000400000000000000" charset="0"/>
            </a:endParaRPr>
          </a:p>
        </p:txBody>
      </p:sp>
      <p:pic>
        <p:nvPicPr>
          <p:cNvPr id="2097158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286000"/>
            <a:ext cx="8321040" cy="3749039"/>
          </a:xfrm>
          <a:prstGeom prst="roundRect">
            <a:avLst>
              <a:gd name="adj" fmla="val 6000"/>
            </a:avLst>
          </a:prstGeom>
          <a:ln w="19050">
            <a:solidFill>
              <a:srgbClr val="38BDF8">
                <a:alpha val="70000"/>
              </a:srgbClr>
            </a:solidFill>
          </a:ln>
          <a:effectLst>
            <a:outerShdw blurRad="190500" dist="38100" dir="5400000" algn="t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Flowchart: Connector 3"/>
          <p:cNvSpPr/>
          <p:nvPr/>
        </p:nvSpPr>
        <p:spPr>
          <a:xfrm>
            <a:off x="1289685" y="2193290"/>
            <a:ext cx="4225925" cy="3925570"/>
          </a:xfrm>
          <a:prstGeom prst="roundRect">
            <a:avLst>
              <a:gd name="adj" fmla="val 6522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665" name="文本框 4"/>
          <p:cNvSpPr txBox="1"/>
          <p:nvPr/>
        </p:nvSpPr>
        <p:spPr>
          <a:xfrm>
            <a:off x="3917315" y="722630"/>
            <a:ext cx="4877435" cy="7645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en-GB" sz="4000" dirty="0">
                <a:solidFill>
                  <a:srgbClr val="FFFFFF"/>
                </a:solidFill>
                <a:latin typeface="+mj-lt"/>
                <a:ea typeface="Gilroy" panose="00000400000000000000" charset="0"/>
              </a:rPr>
              <a:t>B</a:t>
            </a:r>
            <a:r>
              <a:rPr lang="en-US" altLang="en-US" sz="4000" dirty="0">
                <a:solidFill>
                  <a:srgbClr val="FFFFFF"/>
                </a:solidFill>
                <a:latin typeface="+mj-lt"/>
                <a:ea typeface="Gilroy" panose="00000400000000000000" charset="0"/>
              </a:rPr>
              <a:t>ö</a:t>
            </a:r>
            <a:r>
              <a:rPr lang="en-US" altLang="en-GB" sz="4000" dirty="0">
                <a:solidFill>
                  <a:srgbClr val="FFFFFF"/>
                </a:solidFill>
                <a:latin typeface="+mj-lt"/>
                <a:ea typeface="Gilroy" panose="00000400000000000000" charset="0"/>
              </a:rPr>
              <a:t>l</a:t>
            </a:r>
            <a:r>
              <a:rPr lang="en-US" altLang="en-US" sz="4000" dirty="0">
                <a:solidFill>
                  <a:srgbClr val="FFFFFF"/>
                </a:solidFill>
                <a:latin typeface="+mj-lt"/>
                <a:ea typeface="Gilroy" panose="00000400000000000000" charset="0"/>
              </a:rPr>
              <a:t>ü</a:t>
            </a:r>
            <a:r>
              <a:rPr lang="en-US" altLang="en-GB" sz="4000" dirty="0">
                <a:solidFill>
                  <a:srgbClr val="FFFFFF"/>
                </a:solidFill>
                <a:latin typeface="+mj-lt"/>
                <a:ea typeface="Gilroy" panose="00000400000000000000" charset="0"/>
              </a:rPr>
              <a:t>m</a:t>
            </a:r>
            <a:r>
              <a:rPr lang="en-US" altLang="en-US" sz="4000" dirty="0">
                <a:solidFill>
                  <a:srgbClr val="FFFFFF"/>
                </a:solidFill>
                <a:latin typeface="+mj-lt"/>
                <a:ea typeface="Gilroy" panose="00000400000000000000" charset="0"/>
              </a:rPr>
              <a:t>ü</a:t>
            </a:r>
            <a:r>
              <a:rPr lang="en-US" altLang="en-GB" sz="4000" dirty="0">
                <a:solidFill>
                  <a:srgbClr val="FFFFFF"/>
                </a:solidFill>
                <a:latin typeface="+mj-lt"/>
                <a:ea typeface="Gilroy" panose="00000400000000000000" charset="0"/>
              </a:rPr>
              <a:t>n Amac</a:t>
            </a:r>
            <a:r>
              <a:rPr lang="en-US" altLang="en-US" sz="4000" dirty="0">
                <a:solidFill>
                  <a:srgbClr val="FFFFFF"/>
                </a:solidFill>
                <a:latin typeface="+mj-lt"/>
                <a:ea typeface="Gilroy" panose="00000400000000000000" charset="0"/>
              </a:rPr>
              <a:t>ı</a:t>
            </a:r>
            <a:endParaRPr lang="en-US" altLang="en-US" sz="4000" dirty="0">
              <a:solidFill>
                <a:schemeClr val="tx1"/>
              </a:solidFill>
              <a:latin typeface="+mj-lt"/>
              <a:ea typeface="Gilroy" panose="00000400000000000000" charset="0"/>
            </a:endParaRPr>
          </a:p>
        </p:txBody>
      </p:sp>
      <p:sp>
        <p:nvSpPr>
          <p:cNvPr id="1048666" name="Text Box 2"/>
          <p:cNvSpPr txBox="1"/>
          <p:nvPr/>
        </p:nvSpPr>
        <p:spPr>
          <a:xfrm>
            <a:off x="1474470" y="3531870"/>
            <a:ext cx="4041140" cy="18059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Ö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nceki b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ö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l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ü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mde modeli sadece 2 c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ü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mleyle e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ğ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itmi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ş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tik. Bu iyi sonu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ç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 vermez. Bu b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ö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l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ü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mde </a:t>
            </a:r>
            <a:endParaRPr lang="en-US" altLang="en-GB" sz="2000" b="1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ger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ç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ek bir veri seti haz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ı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rlamay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ı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ö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ğ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reniyoruz.</a:t>
            </a:r>
            <a:endParaRPr lang="en-US" altLang="en-GB" sz="2000" b="1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Parallelogram 11"/>
          <p:cNvSpPr/>
          <p:nvPr/>
        </p:nvSpPr>
        <p:spPr>
          <a:xfrm>
            <a:off x="274320" y="1875155"/>
            <a:ext cx="11640312" cy="3556635"/>
          </a:xfrm>
          <a:prstGeom prst="roundRect">
            <a:avLst>
              <a:gd name="adj" fmla="val 7198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668" name="Round Diagonal Corner Rectangle 7"/>
          <p:cNvSpPr/>
          <p:nvPr/>
        </p:nvSpPr>
        <p:spPr>
          <a:xfrm>
            <a:off x="3590925" y="548005"/>
            <a:ext cx="4423410" cy="1212215"/>
          </a:xfrm>
          <a:prstGeom prst="roundRect">
            <a:avLst>
              <a:gd name="adj" fmla="val 21121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669" name="文本框 10"/>
          <p:cNvSpPr txBox="1"/>
          <p:nvPr/>
        </p:nvSpPr>
        <p:spPr>
          <a:xfrm>
            <a:off x="3966210" y="810895"/>
            <a:ext cx="4047490" cy="7645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en-GB" sz="40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MRPC Veri Seti</a:t>
            </a:r>
            <a:endParaRPr lang="en-US" altLang="en-GB" sz="4000" dirty="0">
              <a:solidFill>
                <a:schemeClr val="bg1"/>
              </a:solidFill>
              <a:latin typeface="+mj-lt"/>
              <a:ea typeface="Gilroy" panose="00000400000000000000" charset="0"/>
            </a:endParaRPr>
          </a:p>
        </p:txBody>
      </p:sp>
      <p:sp>
        <p:nvSpPr>
          <p:cNvPr id="1048670" name="Text Box 8"/>
          <p:cNvSpPr txBox="1"/>
          <p:nvPr/>
        </p:nvSpPr>
        <p:spPr>
          <a:xfrm>
            <a:off x="1077595" y="2069465"/>
            <a:ext cx="9824720" cy="3472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800" b="1">
                <a:solidFill>
                  <a:srgbClr val="FFFFFF"/>
                </a:solidFill>
              </a:rPr>
              <a:t>• MRPC = Microsoft Research Paraphrase Corpus</a:t>
            </a:r>
            <a:endParaRPr lang="en-US" altLang="en-GB" sz="2800" b="1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en-US" altLang="en-GB" sz="2800" b="1">
                <a:solidFill>
                  <a:srgbClr val="FFFFFF"/>
                </a:solidFill>
              </a:rPr>
              <a:t>• 5.801 c</a:t>
            </a:r>
            <a:r>
              <a:rPr lang="en-US" altLang="en-US" sz="2800" b="1">
                <a:solidFill>
                  <a:srgbClr val="FFFFFF"/>
                </a:solidFill>
              </a:rPr>
              <a:t>ü</a:t>
            </a:r>
            <a:r>
              <a:rPr lang="en-US" altLang="en-GB" sz="2800" b="1">
                <a:solidFill>
                  <a:srgbClr val="FFFFFF"/>
                </a:solidFill>
              </a:rPr>
              <a:t>mle </a:t>
            </a:r>
            <a:r>
              <a:rPr lang="en-US" altLang="en-US" sz="2800" b="1">
                <a:solidFill>
                  <a:srgbClr val="FFFFFF"/>
                </a:solidFill>
              </a:rPr>
              <a:t>ç</a:t>
            </a:r>
            <a:r>
              <a:rPr lang="en-US" altLang="en-GB" sz="2800" b="1">
                <a:solidFill>
                  <a:srgbClr val="FFFFFF"/>
                </a:solidFill>
              </a:rPr>
              <a:t>ifti i</a:t>
            </a:r>
            <a:r>
              <a:rPr lang="en-US" altLang="en-US" sz="2800" b="1">
                <a:solidFill>
                  <a:srgbClr val="FFFFFF"/>
                </a:solidFill>
              </a:rPr>
              <a:t>ç</a:t>
            </a:r>
            <a:r>
              <a:rPr lang="en-US" altLang="en-GB" sz="2800" b="1">
                <a:solidFill>
                  <a:srgbClr val="FFFFFF"/>
                </a:solidFill>
              </a:rPr>
              <a:t>erir.</a:t>
            </a:r>
            <a:endParaRPr lang="en-US" altLang="en-GB" sz="2800" b="1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en-US" altLang="en-GB" sz="2800" b="1">
                <a:solidFill>
                  <a:srgbClr val="FFFFFF"/>
                </a:solidFill>
              </a:rPr>
              <a:t>• Etiket: </a:t>
            </a:r>
            <a:r>
              <a:rPr lang="en-US" altLang="en-US" sz="2800" b="1">
                <a:solidFill>
                  <a:srgbClr val="FFFFFF"/>
                </a:solidFill>
              </a:rPr>
              <a:t>İ</a:t>
            </a:r>
            <a:r>
              <a:rPr lang="en-US" altLang="en-GB" sz="2800" b="1">
                <a:solidFill>
                  <a:srgbClr val="FFFFFF"/>
                </a:solidFill>
              </a:rPr>
              <a:t>ki c</a:t>
            </a:r>
            <a:r>
              <a:rPr lang="en-US" altLang="en-US" sz="2800" b="1">
                <a:solidFill>
                  <a:srgbClr val="FFFFFF"/>
                </a:solidFill>
              </a:rPr>
              <a:t>ü</a:t>
            </a:r>
            <a:r>
              <a:rPr lang="en-US" altLang="en-GB" sz="2800" b="1">
                <a:solidFill>
                  <a:srgbClr val="FFFFFF"/>
                </a:solidFill>
              </a:rPr>
              <a:t>mle ayn</a:t>
            </a:r>
            <a:r>
              <a:rPr lang="en-US" altLang="en-US" sz="2800" b="1">
                <a:solidFill>
                  <a:srgbClr val="FFFFFF"/>
                </a:solidFill>
              </a:rPr>
              <a:t>ı</a:t>
            </a:r>
            <a:r>
              <a:rPr lang="en-US" altLang="en-GB" sz="2800" b="1">
                <a:solidFill>
                  <a:srgbClr val="FFFFFF"/>
                </a:solidFill>
              </a:rPr>
              <a:t> anlama geliyor mu? (paraphrase)</a:t>
            </a:r>
            <a:endParaRPr lang="en-US" altLang="en-GB" sz="2800" b="1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en-US" altLang="en-GB" sz="2800" b="1">
                <a:solidFill>
                  <a:srgbClr val="FFFFFF"/>
                </a:solidFill>
              </a:rPr>
              <a:t>• GLUE benchmark'</a:t>
            </a:r>
            <a:r>
              <a:rPr lang="en-US" altLang="en-US" sz="2800" b="1">
                <a:solidFill>
                  <a:srgbClr val="FFFFFF"/>
                </a:solidFill>
              </a:rPr>
              <a:t>ı</a:t>
            </a:r>
            <a:r>
              <a:rPr lang="en-US" altLang="en-GB" sz="2800" b="1">
                <a:solidFill>
                  <a:srgbClr val="FFFFFF"/>
                </a:solidFill>
              </a:rPr>
              <a:t>n</a:t>
            </a:r>
            <a:r>
              <a:rPr lang="en-US" altLang="en-US" sz="2800" b="1">
                <a:solidFill>
                  <a:srgbClr val="FFFFFF"/>
                </a:solidFill>
              </a:rPr>
              <a:t>ı</a:t>
            </a:r>
            <a:r>
              <a:rPr lang="en-US" altLang="en-GB" sz="2800" b="1">
                <a:solidFill>
                  <a:srgbClr val="FFFFFF"/>
                </a:solidFill>
              </a:rPr>
              <a:t>n 10 g</a:t>
            </a:r>
            <a:r>
              <a:rPr lang="en-US" altLang="en-US" sz="2800" b="1">
                <a:solidFill>
                  <a:srgbClr val="FFFFFF"/>
                </a:solidFill>
              </a:rPr>
              <a:t>ö</a:t>
            </a:r>
            <a:r>
              <a:rPr lang="en-US" altLang="en-GB" sz="2800" b="1">
                <a:solidFill>
                  <a:srgbClr val="FFFFFF"/>
                </a:solidFill>
              </a:rPr>
              <a:t>revinden biridir. GLUE, modelleri 10 farkl</a:t>
            </a:r>
            <a:r>
              <a:rPr lang="en-US" altLang="en-US" sz="2800" b="1">
                <a:solidFill>
                  <a:srgbClr val="FFFFFF"/>
                </a:solidFill>
              </a:rPr>
              <a:t>ı</a:t>
            </a:r>
            <a:r>
              <a:rPr lang="en-US" altLang="en-GB" sz="2800" b="1">
                <a:solidFill>
                  <a:srgbClr val="FFFFFF"/>
                </a:solidFill>
              </a:rPr>
              <a:t> metin s</a:t>
            </a:r>
            <a:r>
              <a:rPr lang="en-US" altLang="en-US" sz="2800" b="1">
                <a:solidFill>
                  <a:srgbClr val="FFFFFF"/>
                </a:solidFill>
              </a:rPr>
              <a:t>ı</a:t>
            </a:r>
            <a:r>
              <a:rPr lang="en-US" altLang="en-GB" sz="2800" b="1">
                <a:solidFill>
                  <a:srgbClr val="FFFFFF"/>
                </a:solidFill>
              </a:rPr>
              <a:t>n</a:t>
            </a:r>
            <a:r>
              <a:rPr lang="en-US" altLang="en-US" sz="2800" b="1">
                <a:solidFill>
                  <a:srgbClr val="FFFFFF"/>
                </a:solidFill>
              </a:rPr>
              <a:t>ı</a:t>
            </a:r>
            <a:r>
              <a:rPr lang="en-US" altLang="en-GB" sz="2800" b="1">
                <a:solidFill>
                  <a:srgbClr val="FFFFFF"/>
                </a:solidFill>
              </a:rPr>
              <a:t>fland</a:t>
            </a:r>
            <a:r>
              <a:rPr lang="en-US" altLang="en-US" sz="2800" b="1">
                <a:solidFill>
                  <a:srgbClr val="FFFFFF"/>
                </a:solidFill>
              </a:rPr>
              <a:t>ı</a:t>
            </a:r>
            <a:r>
              <a:rPr lang="en-US" altLang="en-GB" sz="2800" b="1">
                <a:solidFill>
                  <a:srgbClr val="FFFFFF"/>
                </a:solidFill>
              </a:rPr>
              <a:t>rma</a:t>
            </a:r>
            <a:endParaRPr lang="en-US" altLang="en-GB" sz="2800" b="1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en-US" altLang="en-GB" sz="2800" b="1">
                <a:solidFill>
                  <a:srgbClr val="FFFFFF"/>
                </a:solidFill>
              </a:rPr>
              <a:t>g</a:t>
            </a:r>
            <a:r>
              <a:rPr lang="en-US" altLang="en-US" sz="2800" b="1">
                <a:solidFill>
                  <a:srgbClr val="FFFFFF"/>
                </a:solidFill>
              </a:rPr>
              <a:t>ö</a:t>
            </a:r>
            <a:r>
              <a:rPr lang="en-US" altLang="en-GB" sz="2800" b="1">
                <a:solidFill>
                  <a:srgbClr val="FFFFFF"/>
                </a:solidFill>
              </a:rPr>
              <a:t>revinde </a:t>
            </a:r>
            <a:r>
              <a:rPr lang="en-US" altLang="en-US" sz="2800" b="1">
                <a:solidFill>
                  <a:srgbClr val="FFFFFF"/>
                </a:solidFill>
              </a:rPr>
              <a:t>ö</a:t>
            </a:r>
            <a:r>
              <a:rPr lang="en-US" altLang="en-GB" sz="2800" b="1">
                <a:solidFill>
                  <a:srgbClr val="FFFFFF"/>
                </a:solidFill>
              </a:rPr>
              <a:t>l</a:t>
            </a:r>
            <a:r>
              <a:rPr lang="en-US" altLang="en-US" sz="2800" b="1">
                <a:solidFill>
                  <a:srgbClr val="FFFFFF"/>
                </a:solidFill>
              </a:rPr>
              <a:t>ç</a:t>
            </a:r>
            <a:r>
              <a:rPr lang="en-US" altLang="en-GB" sz="2800" b="1">
                <a:solidFill>
                  <a:srgbClr val="FFFFFF"/>
                </a:solidFill>
              </a:rPr>
              <a:t>en akademik bir test setidir. </a:t>
            </a:r>
            <a:endParaRPr lang="en-US" altLang="en-GB" sz="2800" b="1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en-US" altLang="en-GB" sz="2800" b="1">
                <a:solidFill>
                  <a:srgbClr val="FFFFFF"/>
                </a:solidFill>
              </a:rPr>
              <a:t>• K</a:t>
            </a:r>
            <a:r>
              <a:rPr lang="en-US" altLang="en-US" sz="2800" b="1">
                <a:solidFill>
                  <a:srgbClr val="FFFFFF"/>
                </a:solidFill>
              </a:rPr>
              <a:t>ü</a:t>
            </a:r>
            <a:r>
              <a:rPr lang="en-US" altLang="en-US" sz="2800" b="1">
                <a:solidFill>
                  <a:srgbClr val="FFFFFF"/>
                </a:solidFill>
              </a:rPr>
              <a:t>ç</a:t>
            </a:r>
            <a:r>
              <a:rPr lang="en-US" altLang="en-US" sz="2800" b="1">
                <a:solidFill>
                  <a:srgbClr val="FFFFFF"/>
                </a:solidFill>
              </a:rPr>
              <a:t>ü</a:t>
            </a:r>
            <a:r>
              <a:rPr lang="en-US" altLang="en-GB" sz="2800" b="1">
                <a:solidFill>
                  <a:srgbClr val="FFFFFF"/>
                </a:solidFill>
              </a:rPr>
              <a:t>k oldu</a:t>
            </a:r>
            <a:r>
              <a:rPr lang="en-US" altLang="en-US" sz="2800" b="1">
                <a:solidFill>
                  <a:srgbClr val="FFFFFF"/>
                </a:solidFill>
              </a:rPr>
              <a:t>ğ</a:t>
            </a:r>
            <a:r>
              <a:rPr lang="en-US" altLang="en-GB" sz="2800" b="1">
                <a:solidFill>
                  <a:srgbClr val="FFFFFF"/>
                </a:solidFill>
              </a:rPr>
              <a:t>u i</a:t>
            </a:r>
            <a:r>
              <a:rPr lang="en-US" altLang="en-US" sz="2800" b="1">
                <a:solidFill>
                  <a:srgbClr val="FFFFFF"/>
                </a:solidFill>
              </a:rPr>
              <a:t>ç</a:t>
            </a:r>
            <a:r>
              <a:rPr lang="en-US" altLang="en-GB" sz="2800" b="1">
                <a:solidFill>
                  <a:srgbClr val="FFFFFF"/>
                </a:solidFill>
              </a:rPr>
              <a:t>in denemeye uygundur.</a:t>
            </a:r>
            <a:endParaRPr lang="en-US" altLang="en-GB" sz="2800" b="1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Panel"/>
          <p:cNvSpPr/>
          <p:nvPr/>
        </p:nvSpPr>
        <p:spPr>
          <a:xfrm>
            <a:off x="365760" y="2240280"/>
            <a:ext cx="5394960" cy="2286000"/>
          </a:xfrm>
          <a:prstGeom prst="roundRect">
            <a:avLst>
              <a:gd name="adj" fmla="val 11200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txBody>
          <a:bodyPr/>
          <a:p>
            <a:endParaRPr lang="tr-TR"/>
          </a:p>
        </p:txBody>
      </p:sp>
      <p:sp>
        <p:nvSpPr>
          <p:cNvPr id="1048672" name="Panel"/>
          <p:cNvSpPr/>
          <p:nvPr/>
        </p:nvSpPr>
        <p:spPr>
          <a:xfrm>
            <a:off x="6126480" y="1005840"/>
            <a:ext cx="5760720" cy="5120640"/>
          </a:xfrm>
          <a:prstGeom prst="roundRect">
            <a:avLst>
              <a:gd name="adj" fmla="val 5000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txBody>
          <a:bodyPr/>
          <a:p>
            <a:endParaRPr lang="tr-TR"/>
          </a:p>
        </p:txBody>
      </p:sp>
      <p:sp>
        <p:nvSpPr>
          <p:cNvPr id="1048673" name="文本框 6"/>
          <p:cNvSpPr txBox="1"/>
          <p:nvPr/>
        </p:nvSpPr>
        <p:spPr>
          <a:xfrm>
            <a:off x="547370" y="455295"/>
            <a:ext cx="4757420" cy="1437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en-GB" sz="40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Veri Setini Hub'dan Y</a:t>
            </a:r>
            <a:r>
              <a:rPr lang="en-US" altLang="en-US" sz="40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ü</a:t>
            </a:r>
            <a:r>
              <a:rPr lang="en-US" altLang="en-GB" sz="40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kleme</a:t>
            </a:r>
            <a:endParaRPr lang="en-US" altLang="en-GB" sz="4000" dirty="0">
              <a:solidFill>
                <a:schemeClr val="bg1"/>
              </a:solidFill>
              <a:latin typeface="+mj-lt"/>
              <a:ea typeface="Gilroy" panose="00000400000000000000" charset="0"/>
            </a:endParaRPr>
          </a:p>
        </p:txBody>
      </p:sp>
      <p:graphicFrame>
        <p:nvGraphicFramePr>
          <p:cNvPr id="4194304" name="图表 25"/>
          <p:cNvGraphicFramePr/>
          <p:nvPr/>
        </p:nvGraphicFramePr>
        <p:xfrm>
          <a:off x="4418059" y="3703361"/>
          <a:ext cx="3895166" cy="725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2097159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45" y="2435225"/>
            <a:ext cx="4878070" cy="814705"/>
          </a:xfrm>
          <a:prstGeom prst="roundRect">
            <a:avLst>
              <a:gd name="adj" fmla="val 6000"/>
            </a:avLst>
          </a:prstGeom>
          <a:ln w="19050">
            <a:solidFill>
              <a:srgbClr val="38BDF8">
                <a:alpha val="70000"/>
              </a:srgbClr>
            </a:solidFill>
          </a:ln>
          <a:effectLst>
            <a:outerShdw blurRad="1905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1048674" name="Text Box 12"/>
          <p:cNvSpPr txBox="1"/>
          <p:nvPr/>
        </p:nvSpPr>
        <p:spPr>
          <a:xfrm>
            <a:off x="916305" y="3703320"/>
            <a:ext cx="4215130" cy="640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rgbClr val="FFFFFF"/>
                </a:solidFill>
              </a:rPr>
              <a:t>"glue" = veri seti ailesi, "mrpc" = GLUE i</a:t>
            </a:r>
            <a:r>
              <a:rPr lang="en-US" altLang="en-US" b="1">
                <a:solidFill>
                  <a:srgbClr val="FFFFFF"/>
                </a:solidFill>
              </a:rPr>
              <a:t>ç</a:t>
            </a:r>
            <a:r>
              <a:rPr lang="en-US" altLang="en-GB" b="1">
                <a:solidFill>
                  <a:srgbClr val="FFFFFF"/>
                </a:solidFill>
              </a:rPr>
              <a:t>indeki g</a:t>
            </a:r>
            <a:r>
              <a:rPr lang="en-US" altLang="en-US" b="1">
                <a:solidFill>
                  <a:srgbClr val="FFFFFF"/>
                </a:solidFill>
              </a:rPr>
              <a:t>ö</a:t>
            </a:r>
            <a:r>
              <a:rPr lang="en-US" altLang="en-GB" b="1">
                <a:solidFill>
                  <a:srgbClr val="FFFFFF"/>
                </a:solidFill>
              </a:rPr>
              <a:t>rev.</a:t>
            </a:r>
            <a:endParaRPr lang="en-US" altLang="en-GB" b="1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48675" name="Text Box 13"/>
          <p:cNvSpPr txBox="1"/>
          <p:nvPr/>
        </p:nvSpPr>
        <p:spPr>
          <a:xfrm>
            <a:off x="6388735" y="1270635"/>
            <a:ext cx="48260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" b="1">
                <a:solidFill>
                  <a:srgbClr val="FFFFFF"/>
                </a:solidFill>
              </a:rPr>
              <a:t>Sonu</a:t>
            </a:r>
            <a:r>
              <a:rPr lang="en-US" altLang="en-US" sz="1600" b="1">
                <a:solidFill>
                  <a:srgbClr val="FFFFFF"/>
                </a:solidFill>
              </a:rPr>
              <a:t>ç</a:t>
            </a:r>
            <a:r>
              <a:rPr lang="en-US" altLang="en-GB" sz="1600" b="1">
                <a:solidFill>
                  <a:srgbClr val="FFFFFF"/>
                </a:solidFill>
              </a:rPr>
              <a:t> bir DatasetDict'tir (3 b</a:t>
            </a:r>
            <a:r>
              <a:rPr lang="en-US" altLang="en-US" sz="1600" b="1">
                <a:solidFill>
                  <a:srgbClr val="FFFFFF"/>
                </a:solidFill>
              </a:rPr>
              <a:t>ö</a:t>
            </a:r>
            <a:r>
              <a:rPr lang="en-US" altLang="en-GB" sz="1600" b="1">
                <a:solidFill>
                  <a:srgbClr val="FFFFFF"/>
                </a:solidFill>
              </a:rPr>
              <a:t>l</a:t>
            </a:r>
            <a:r>
              <a:rPr lang="en-US" altLang="en-US" sz="1600" b="1">
                <a:solidFill>
                  <a:srgbClr val="FFFFFF"/>
                </a:solidFill>
              </a:rPr>
              <a:t>ü</a:t>
            </a:r>
            <a:r>
              <a:rPr lang="en-US" altLang="en-GB" sz="1600" b="1">
                <a:solidFill>
                  <a:srgbClr val="FFFFFF"/>
                </a:solidFill>
              </a:rPr>
              <a:t>ml</a:t>
            </a:r>
            <a:r>
              <a:rPr lang="en-US" altLang="en-US" sz="1600" b="1">
                <a:solidFill>
                  <a:srgbClr val="FFFFFF"/>
                </a:solidFill>
              </a:rPr>
              <a:t>ü</a:t>
            </a:r>
            <a:r>
              <a:rPr lang="en-US" altLang="en-GB" sz="1600" b="1">
                <a:solidFill>
                  <a:srgbClr val="FFFFFF"/>
                </a:solidFill>
              </a:rPr>
              <a:t> s</a:t>
            </a:r>
            <a:r>
              <a:rPr lang="en-US" altLang="en-US" sz="1600" b="1">
                <a:solidFill>
                  <a:srgbClr val="FFFFFF"/>
                </a:solidFill>
              </a:rPr>
              <a:t>ö</a:t>
            </a:r>
            <a:r>
              <a:rPr lang="en-US" altLang="en-GB" sz="1600" b="1">
                <a:solidFill>
                  <a:srgbClr val="FFFFFF"/>
                </a:solidFill>
              </a:rPr>
              <a:t>zl</a:t>
            </a:r>
            <a:r>
              <a:rPr lang="en-US" altLang="en-US" sz="1600" b="1">
                <a:solidFill>
                  <a:srgbClr val="FFFFFF"/>
                </a:solidFill>
              </a:rPr>
              <a:t>ü</a:t>
            </a:r>
            <a:r>
              <a:rPr lang="en-US" altLang="en-GB" sz="1600" b="1">
                <a:solidFill>
                  <a:srgbClr val="FFFFFF"/>
                </a:solidFill>
              </a:rPr>
              <a:t>k):</a:t>
            </a:r>
            <a:endParaRPr lang="en-US" altLang="en-GB" sz="1600" b="1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4194305" name="Table 14"/>
          <p:cNvGraphicFramePr/>
          <p:nvPr>
            <p:custDataLst>
              <p:tags r:id="rId4"/>
            </p:custDataLst>
          </p:nvPr>
        </p:nvGraphicFramePr>
        <p:xfrm>
          <a:off x="6387465" y="2573020"/>
          <a:ext cx="5383530" cy="160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510"/>
                <a:gridCol w="1794510"/>
                <a:gridCol w="1794510"/>
              </a:tblGrid>
              <a:tr h="4019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b="1">
                          <a:solidFill>
                            <a:srgbClr val="FFFFFF"/>
                          </a:solidFill>
                        </a:rPr>
                        <a:t>B</a:t>
                      </a:r>
                      <a:r>
                        <a:rPr lang="en-US" altLang="en-US" b="1">
                          <a:solidFill>
                            <a:srgbClr val="FFFFFF"/>
                          </a:solidFill>
                        </a:rPr>
                        <a:t>ö</a:t>
                      </a:r>
                      <a:r>
                        <a:rPr lang="en-US" altLang="en-GB" b="1">
                          <a:solidFill>
                            <a:srgbClr val="FFFFFF"/>
                          </a:solidFill>
                        </a:rPr>
                        <a:t>l</a:t>
                      </a:r>
                      <a:r>
                        <a:rPr lang="en-US" altLang="en-US" b="1">
                          <a:solidFill>
                            <a:srgbClr val="FFFFFF"/>
                          </a:solidFill>
                        </a:rPr>
                        <a:t>ü</a:t>
                      </a:r>
                      <a:r>
                        <a:rPr lang="en-US" altLang="en-GB" b="1">
                          <a:solidFill>
                            <a:srgbClr val="FFFFFF"/>
                          </a:solidFill>
                        </a:rPr>
                        <a:t>m </a:t>
                      </a:r>
                      <a:endParaRPr lang="en-US" altLang="en-GB"/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b="1">
                          <a:solidFill>
                            <a:srgbClr val="FFFFFF"/>
                          </a:solidFill>
                        </a:rPr>
                        <a:t> Sat</a:t>
                      </a:r>
                      <a:r>
                        <a:rPr lang="en-US" altLang="en-US" b="1">
                          <a:solidFill>
                            <a:srgbClr val="FFFFFF"/>
                          </a:solidFill>
                        </a:rPr>
                        <a:t>ı</a:t>
                      </a:r>
                      <a:r>
                        <a:rPr lang="en-US" altLang="en-GB" b="1">
                          <a:solidFill>
                            <a:srgbClr val="FFFFFF"/>
                          </a:solidFill>
                        </a:rPr>
                        <a:t>r </a:t>
                      </a:r>
                      <a:endParaRPr lang="en-US" altLang="en-GB"/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b="1">
                          <a:solidFill>
                            <a:srgbClr val="FFFFFF"/>
                          </a:solidFill>
                        </a:rPr>
                        <a:t>Ne i</a:t>
                      </a:r>
                      <a:r>
                        <a:rPr lang="en-US" altLang="en-US" b="1">
                          <a:solidFill>
                            <a:srgbClr val="FFFFFF"/>
                          </a:solidFill>
                        </a:rPr>
                        <a:t>ç</a:t>
                      </a:r>
                      <a:r>
                        <a:rPr lang="en-US" altLang="en-GB" b="1">
                          <a:solidFill>
                            <a:srgbClr val="FFFFFF"/>
                          </a:solidFill>
                        </a:rPr>
                        <a:t>in?</a:t>
                      </a:r>
                      <a:endParaRPr lang="en-US" altLang="en-GB"/>
                    </a:p>
                  </a:txBody>
                  <a:tcPr>
                    <a:solidFill>
                      <a:srgbClr val="0891B2"/>
                    </a:solidFill>
                  </a:tcPr>
                </a:tc>
              </a:tr>
              <a:tr h="4019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train</a:t>
                      </a:r>
                      <a:endParaRPr lang="en-US" altLang="en-GB"/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 3.668 </a:t>
                      </a:r>
                      <a:endParaRPr lang="en-US" altLang="en-GB"/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 E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ğ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itim</a:t>
                      </a:r>
                      <a:endParaRPr lang="en-US" altLang="en-GB"/>
                    </a:p>
                  </a:txBody>
                  <a:tcPr>
                    <a:solidFill>
                      <a:srgbClr val="EAF6FB"/>
                    </a:solidFill>
                  </a:tcPr>
                </a:tc>
              </a:tr>
              <a:tr h="4019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validation </a:t>
                      </a:r>
                      <a:endParaRPr lang="en-US" altLang="en-GB"/>
                    </a:p>
                  </a:txBody>
                  <a:tcPr>
                    <a:solidFill>
                      <a:srgbClr val="CFE8F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408 </a:t>
                      </a:r>
                      <a:endParaRPr lang="en-US" altLang="en-GB"/>
                    </a:p>
                  </a:txBody>
                  <a:tcPr>
                    <a:solidFill>
                      <a:srgbClr val="CFE8F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E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ğ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itim s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ı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ras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ı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nda kontrol</a:t>
                      </a:r>
                      <a:endParaRPr lang="en-US" altLang="en-GB"/>
                    </a:p>
                  </a:txBody>
                  <a:tcPr>
                    <a:solidFill>
                      <a:srgbClr val="CFE8F3"/>
                    </a:solidFill>
                  </a:tcPr>
                </a:tc>
              </a:tr>
              <a:tr h="4019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test </a:t>
                      </a:r>
                      <a:endParaRPr lang="en-US" altLang="en-GB"/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 1.725 </a:t>
                      </a:r>
                      <a:endParaRPr lang="en-US" altLang="en-GB"/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Son de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ğ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erlendirme</a:t>
                      </a:r>
                      <a:endParaRPr lang="en-US" altLang="en-GB"/>
                    </a:p>
                  </a:txBody>
                  <a:tcPr>
                    <a:solidFill>
                      <a:srgbClr val="EA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Rounded Rectangle 7"/>
          <p:cNvSpPr/>
          <p:nvPr/>
        </p:nvSpPr>
        <p:spPr>
          <a:xfrm>
            <a:off x="458470" y="742315"/>
            <a:ext cx="11037570" cy="4751070"/>
          </a:xfrm>
          <a:prstGeom prst="roundRect">
            <a:avLst>
              <a:gd name="adj" fmla="val 5388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677" name="文本框 6"/>
          <p:cNvSpPr txBox="1"/>
          <p:nvPr/>
        </p:nvSpPr>
        <p:spPr>
          <a:xfrm>
            <a:off x="1027430" y="3823335"/>
            <a:ext cx="7568565" cy="10058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ctr"/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Etiketler: Zaten say</a:t>
            </a:r>
            <a:r>
              <a:rPr lang="en-U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ı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 oldu</a:t>
            </a:r>
            <a:r>
              <a:rPr lang="en-U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ğ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u i</a:t>
            </a:r>
            <a:r>
              <a:rPr lang="en-U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ç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in ek i</a:t>
            </a:r>
            <a:r>
              <a:rPr lang="en-U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ş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lem gerekmez.</a:t>
            </a:r>
            <a:endParaRPr lang="en-US" altLang="en-GB" sz="18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fontAlgn="ctr"/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• 0 = not_equivalent (ayn</a:t>
            </a:r>
            <a:r>
              <a:rPr lang="en-U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ı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 anlamda de</a:t>
            </a:r>
            <a:r>
              <a:rPr lang="en-U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ğ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il) </a:t>
            </a:r>
            <a:endParaRPr lang="en-US" altLang="en-GB" sz="18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fontAlgn="ctr"/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• 1 = equivalent (ayn</a:t>
            </a:r>
            <a:r>
              <a:rPr lang="en-U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ı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 anlamda)</a:t>
            </a:r>
            <a:endParaRPr lang="en-US" altLang="en-GB" sz="18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sp>
        <p:nvSpPr>
          <p:cNvPr id="1048678" name="文本框 1"/>
          <p:cNvSpPr txBox="1"/>
          <p:nvPr/>
        </p:nvSpPr>
        <p:spPr>
          <a:xfrm>
            <a:off x="924560" y="1821180"/>
            <a:ext cx="9520555" cy="3708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Veri ~/.cache/huggingface/datasets klas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ö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r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ü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ne indirilir (HF_HOME ile de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ğ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i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ş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tirilebilir)</a:t>
            </a:r>
            <a:endParaRPr lang="en-US" altLang="en-GB" sz="1600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  <a:sym typeface="+mn-ea"/>
            </a:endParaRPr>
          </a:p>
        </p:txBody>
      </p:sp>
      <p:sp>
        <p:nvSpPr>
          <p:cNvPr id="1048679" name="文本框 24"/>
          <p:cNvSpPr txBox="1"/>
          <p:nvPr/>
        </p:nvSpPr>
        <p:spPr>
          <a:xfrm>
            <a:off x="1027430" y="1041400"/>
            <a:ext cx="8524875" cy="77978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fontAlgn="ctr"/>
            <a:r>
              <a:rPr lang="en-US" altLang="en-GB" sz="20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S</a:t>
            </a:r>
            <a:r>
              <a:rPr lang="en-US" altLang="en-US" sz="20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ü</a:t>
            </a:r>
            <a:r>
              <a:rPr lang="en-US" altLang="en-GB" sz="20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tunlar: sentence1, sentence2, label, idx</a:t>
            </a:r>
            <a:endParaRPr lang="en-US" altLang="en-GB" sz="20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fontAlgn="ctr"/>
            <a:endParaRPr lang="en-US" altLang="en-GB" sz="40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pic>
        <p:nvPicPr>
          <p:cNvPr id="2097160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55" y="2552700"/>
            <a:ext cx="9753600" cy="876300"/>
          </a:xfrm>
          <a:prstGeom prst="roundRect">
            <a:avLst>
              <a:gd name="adj" fmla="val 6000"/>
            </a:avLst>
          </a:prstGeom>
          <a:ln w="19050">
            <a:solidFill>
              <a:srgbClr val="38BDF8">
                <a:alpha val="70000"/>
              </a:srgbClr>
            </a:solidFill>
          </a:ln>
          <a:effectLst>
            <a:outerShdw blurRad="190500" dist="38100" dir="5400000" algn="t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Panel"/>
          <p:cNvSpPr/>
          <p:nvPr/>
        </p:nvSpPr>
        <p:spPr>
          <a:xfrm>
            <a:off x="320040" y="1188720"/>
            <a:ext cx="5440680" cy="5394960"/>
          </a:xfrm>
          <a:prstGeom prst="roundRect">
            <a:avLst>
              <a:gd name="adj" fmla="val 4745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txBody>
          <a:bodyPr/>
          <a:p>
            <a:endParaRPr lang="tr-TR"/>
          </a:p>
        </p:txBody>
      </p:sp>
      <p:sp>
        <p:nvSpPr>
          <p:cNvPr id="1048681" name="矩形: 圆角 5"/>
          <p:cNvSpPr/>
          <p:nvPr/>
        </p:nvSpPr>
        <p:spPr>
          <a:xfrm>
            <a:off x="5943600" y="1188720"/>
            <a:ext cx="5943600" cy="5394960"/>
          </a:xfrm>
          <a:prstGeom prst="roundRect">
            <a:avLst>
              <a:gd name="adj" fmla="val 4745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048682" name="Round Diagonal Corner Rectangle 3"/>
          <p:cNvSpPr/>
          <p:nvPr/>
        </p:nvSpPr>
        <p:spPr>
          <a:xfrm>
            <a:off x="2377440" y="274320"/>
            <a:ext cx="6949440" cy="822960"/>
          </a:xfrm>
          <a:prstGeom prst="roundRect">
            <a:avLst>
              <a:gd name="adj" fmla="val 31111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683" name="矩形: 圆角 4"/>
          <p:cNvSpPr/>
          <p:nvPr/>
        </p:nvSpPr>
        <p:spPr>
          <a:xfrm>
            <a:off x="7557770" y="3568700"/>
            <a:ext cx="3409950" cy="2633345"/>
          </a:xfrm>
          <a:prstGeom prst="roundRect">
            <a:avLst>
              <a:gd name="adj" fmla="val 9722"/>
            </a:avLst>
          </a:prstGeom>
          <a:solidFill>
            <a:srgbClr val="2A1478">
              <a:alpha val="70000"/>
            </a:srgbClr>
          </a:solidFill>
          <a:ln w="15875">
            <a:solidFill>
              <a:srgbClr val="A78BFA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b="1" dirty="0">
                <a:solidFill>
                  <a:srgbClr val="FFFFFF"/>
                </a:solidFill>
              </a:rPr>
              <a:t>token_type_ids neden var?</a:t>
            </a:r>
            <a:endParaRPr lang="en-US" altLang="en-GB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altLang="en-GB" b="1" dirty="0">
                <a:solidFill>
                  <a:srgbClr val="FFFFFF"/>
                </a:solidFill>
              </a:rPr>
              <a:t>BERT </a:t>
            </a:r>
            <a:r>
              <a:rPr lang="en-US" altLang="en-US" b="1" dirty="0">
                <a:solidFill>
                  <a:srgbClr val="FFFFFF"/>
                </a:solidFill>
              </a:rPr>
              <a:t>ö</a:t>
            </a:r>
            <a:r>
              <a:rPr lang="en-US" altLang="en-GB" b="1" dirty="0">
                <a:solidFill>
                  <a:srgbClr val="FFFFFF"/>
                </a:solidFill>
              </a:rPr>
              <a:t>n e</a:t>
            </a:r>
            <a:r>
              <a:rPr lang="en-US" altLang="en-US" b="1" dirty="0">
                <a:solidFill>
                  <a:srgbClr val="FFFFFF"/>
                </a:solidFill>
              </a:rPr>
              <a:t>ğ</a:t>
            </a:r>
            <a:r>
              <a:rPr lang="en-US" altLang="en-GB" b="1" dirty="0">
                <a:solidFill>
                  <a:srgbClr val="FFFFFF"/>
                </a:solidFill>
              </a:rPr>
              <a:t>itimde Next Sentence Prediction g</a:t>
            </a:r>
            <a:r>
              <a:rPr lang="en-US" altLang="en-US" b="1" dirty="0">
                <a:solidFill>
                  <a:srgbClr val="FFFFFF"/>
                </a:solidFill>
              </a:rPr>
              <a:t>ö</a:t>
            </a:r>
            <a:r>
              <a:rPr lang="en-US" altLang="en-GB" b="1" dirty="0">
                <a:solidFill>
                  <a:srgbClr val="FFFFFF"/>
                </a:solidFill>
              </a:rPr>
              <a:t>revini </a:t>
            </a:r>
            <a:r>
              <a:rPr lang="en-US" altLang="en-US" b="1" dirty="0">
                <a:solidFill>
                  <a:srgbClr val="FFFFFF"/>
                </a:solidFill>
              </a:rPr>
              <a:t>ö</a:t>
            </a:r>
            <a:r>
              <a:rPr lang="en-US" altLang="en-US" b="1" dirty="0">
                <a:solidFill>
                  <a:srgbClr val="FFFFFF"/>
                </a:solidFill>
              </a:rPr>
              <a:t>ğ</a:t>
            </a:r>
            <a:r>
              <a:rPr lang="en-US" altLang="en-GB" b="1" dirty="0">
                <a:solidFill>
                  <a:srgbClr val="FFFFFF"/>
                </a:solidFill>
              </a:rPr>
              <a:t>renmi</a:t>
            </a:r>
            <a:r>
              <a:rPr lang="en-US" altLang="en-US" b="1" dirty="0">
                <a:solidFill>
                  <a:srgbClr val="FFFFFF"/>
                </a:solidFill>
              </a:rPr>
              <a:t>ş</a:t>
            </a:r>
            <a:r>
              <a:rPr lang="en-US" altLang="en-GB" b="1" dirty="0">
                <a:solidFill>
                  <a:srgbClr val="FFFFFF"/>
                </a:solidFill>
              </a:rPr>
              <a:t>tir: "</a:t>
            </a:r>
            <a:r>
              <a:rPr lang="en-US" altLang="en-US" b="1" dirty="0">
                <a:solidFill>
                  <a:srgbClr val="FFFFFF"/>
                </a:solidFill>
              </a:rPr>
              <a:t>İ</a:t>
            </a:r>
            <a:r>
              <a:rPr lang="en-US" altLang="en-GB" b="1" dirty="0">
                <a:solidFill>
                  <a:srgbClr val="FFFFFF"/>
                </a:solidFill>
              </a:rPr>
              <a:t>kinci c</a:t>
            </a:r>
            <a:r>
              <a:rPr lang="en-US" altLang="en-US" b="1" dirty="0">
                <a:solidFill>
                  <a:srgbClr val="FFFFFF"/>
                </a:solidFill>
              </a:rPr>
              <a:t>ü</a:t>
            </a:r>
            <a:r>
              <a:rPr lang="en-US" altLang="en-GB" b="1" dirty="0">
                <a:solidFill>
                  <a:srgbClr val="FFFFFF"/>
                </a:solidFill>
              </a:rPr>
              <a:t>mle, birincinin </a:t>
            </a:r>
            <a:endParaRPr lang="en-US" altLang="en-GB" b="1" dirty="0"/>
          </a:p>
          <a:p>
            <a:pPr algn="ctr"/>
            <a:r>
              <a:rPr lang="en-US" altLang="en-GB" b="1" dirty="0">
                <a:solidFill>
                  <a:srgbClr val="FFFFFF"/>
                </a:solidFill>
              </a:rPr>
              <a:t>devam</a:t>
            </a:r>
            <a:r>
              <a:rPr lang="en-US" altLang="en-US" b="1" dirty="0">
                <a:solidFill>
                  <a:srgbClr val="FFFFFF"/>
                </a:solidFill>
              </a:rPr>
              <a:t>ı</a:t>
            </a:r>
            <a:r>
              <a:rPr lang="en-US" altLang="en-GB" b="1" dirty="0">
                <a:solidFill>
                  <a:srgbClr val="FFFFFF"/>
                </a:solidFill>
              </a:rPr>
              <a:t> m</a:t>
            </a:r>
            <a:r>
              <a:rPr lang="en-US" altLang="en-US" b="1" dirty="0">
                <a:solidFill>
                  <a:srgbClr val="FFFFFF"/>
                </a:solidFill>
              </a:rPr>
              <a:t>ı</a:t>
            </a:r>
            <a:r>
              <a:rPr lang="en-US" altLang="en-GB" b="1" dirty="0">
                <a:solidFill>
                  <a:srgbClr val="FFFFFF"/>
                </a:solidFill>
              </a:rPr>
              <a:t>?" Bu y</a:t>
            </a:r>
            <a:r>
              <a:rPr lang="en-US" altLang="en-US" b="1" dirty="0">
                <a:solidFill>
                  <a:srgbClr val="FFFFFF"/>
                </a:solidFill>
              </a:rPr>
              <a:t>ü</a:t>
            </a:r>
            <a:r>
              <a:rPr lang="en-US" altLang="en-GB" b="1" dirty="0">
                <a:solidFill>
                  <a:srgbClr val="FFFFFF"/>
                </a:solidFill>
              </a:rPr>
              <a:t>zden hangi c</a:t>
            </a:r>
            <a:r>
              <a:rPr lang="en-US" altLang="en-US" b="1" dirty="0">
                <a:solidFill>
                  <a:srgbClr val="FFFFFF"/>
                </a:solidFill>
              </a:rPr>
              <a:t>ü</a:t>
            </a:r>
            <a:r>
              <a:rPr lang="en-US" altLang="en-GB" b="1" dirty="0">
                <a:solidFill>
                  <a:srgbClr val="FFFFFF"/>
                </a:solidFill>
              </a:rPr>
              <a:t>mlenin hangisi oldu</a:t>
            </a:r>
            <a:r>
              <a:rPr lang="en-US" altLang="en-US" b="1" dirty="0">
                <a:solidFill>
                  <a:srgbClr val="FFFFFF"/>
                </a:solidFill>
              </a:rPr>
              <a:t>ğ</a:t>
            </a:r>
            <a:r>
              <a:rPr lang="en-US" altLang="en-GB" b="1" dirty="0">
                <a:solidFill>
                  <a:srgbClr val="FFFFFF"/>
                </a:solidFill>
              </a:rPr>
              <a:t>unu bilmesi gerekir.</a:t>
            </a:r>
            <a:endParaRPr lang="en-US" altLang="en-GB" b="1" dirty="0"/>
          </a:p>
        </p:txBody>
      </p:sp>
      <p:sp>
        <p:nvSpPr>
          <p:cNvPr id="1048684" name="文本框 1"/>
          <p:cNvSpPr txBox="1"/>
          <p:nvPr/>
        </p:nvSpPr>
        <p:spPr>
          <a:xfrm>
            <a:off x="2651760" y="457200"/>
            <a:ext cx="6400800" cy="6248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en-US" sz="3200" b="1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Ö</a:t>
            </a:r>
            <a:r>
              <a:rPr lang="en-US" altLang="en-GB" sz="3200" b="1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n </a:t>
            </a:r>
            <a:r>
              <a:rPr lang="en-US" altLang="en-US" sz="3200" b="1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İş</a:t>
            </a:r>
            <a:r>
              <a:rPr lang="en-US" altLang="en-GB" sz="3200" b="1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leme (Preprocessing)</a:t>
            </a:r>
            <a:endParaRPr lang="en-US" altLang="en-GB" sz="3200" b="1" dirty="0">
              <a:solidFill>
                <a:schemeClr val="bg1"/>
              </a:solidFill>
              <a:latin typeface="+mj-lt"/>
              <a:ea typeface="Gilroy" panose="00000400000000000000" charset="0"/>
            </a:endParaRPr>
          </a:p>
        </p:txBody>
      </p:sp>
      <p:sp>
        <p:nvSpPr>
          <p:cNvPr id="1048685" name="Text Box 9"/>
          <p:cNvSpPr txBox="1"/>
          <p:nvPr/>
        </p:nvSpPr>
        <p:spPr>
          <a:xfrm>
            <a:off x="530225" y="1239520"/>
            <a:ext cx="4964430" cy="701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FFFF"/>
                </a:solidFill>
              </a:rPr>
              <a:t>Neden gerekli?</a:t>
            </a:r>
            <a:r>
              <a:rPr lang="en-US" altLang="en-GB">
                <a:solidFill>
                  <a:srgbClr val="FFFFFF"/>
                </a:solidFill>
              </a:rPr>
              <a:t> </a:t>
            </a:r>
            <a:r>
              <a:rPr lang="en-US" altLang="en-GB" b="1">
                <a:solidFill>
                  <a:schemeClr val="bg1">
                    <a:lumMod val="95000"/>
                  </a:schemeClr>
                </a:solidFill>
              </a:rPr>
              <a:t>Model metni de</a:t>
            </a:r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ğ</a:t>
            </a:r>
            <a:r>
              <a:rPr lang="en-US" altLang="en-GB" b="1">
                <a:solidFill>
                  <a:schemeClr val="bg1">
                    <a:lumMod val="95000"/>
                  </a:schemeClr>
                </a:solidFill>
              </a:rPr>
              <a:t>il say</a:t>
            </a:r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ı</a:t>
            </a:r>
            <a:r>
              <a:rPr lang="en-US" altLang="en-GB" b="1">
                <a:solidFill>
                  <a:schemeClr val="bg1">
                    <a:lumMod val="95000"/>
                  </a:schemeClr>
                </a:solidFill>
              </a:rPr>
              <a:t>lar</a:t>
            </a:r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ı</a:t>
            </a:r>
            <a:r>
              <a:rPr lang="en-US" altLang="en-GB" b="1">
                <a:solidFill>
                  <a:schemeClr val="bg1">
                    <a:lumMod val="95000"/>
                  </a:schemeClr>
                </a:solidFill>
              </a:rPr>
              <a:t> anlar. Bu y</a:t>
            </a:r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ü</a:t>
            </a:r>
            <a:r>
              <a:rPr lang="en-US" altLang="en-GB" b="1">
                <a:solidFill>
                  <a:schemeClr val="bg1">
                    <a:lumMod val="95000"/>
                  </a:schemeClr>
                </a:solidFill>
              </a:rPr>
              <a:t>zden tokenizer kullan</a:t>
            </a:r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ı</a:t>
            </a:r>
            <a:r>
              <a:rPr lang="en-US" altLang="en-GB" b="1">
                <a:solidFill>
                  <a:schemeClr val="bg1">
                    <a:lumMod val="95000"/>
                  </a:schemeClr>
                </a:solidFill>
              </a:rPr>
              <a:t>l</a:t>
            </a:r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ı</a:t>
            </a:r>
            <a:r>
              <a:rPr lang="en-US" altLang="en-GB" b="1">
                <a:solidFill>
                  <a:schemeClr val="bg1">
                    <a:lumMod val="95000"/>
                  </a:schemeClr>
                </a:solidFill>
              </a:rPr>
              <a:t>r</a:t>
            </a:r>
            <a:r>
              <a:rPr lang="en-US" altLang="en-GB">
                <a:solidFill>
                  <a:schemeClr val="bg1">
                    <a:lumMod val="95000"/>
                  </a:schemeClr>
                </a:solidFill>
              </a:rPr>
              <a:t>.</a:t>
            </a:r>
            <a:endParaRPr lang="en-US" altLang="en-GB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48686" name="Text Box 10"/>
          <p:cNvSpPr txBox="1"/>
          <p:nvPr/>
        </p:nvSpPr>
        <p:spPr>
          <a:xfrm>
            <a:off x="495300" y="2125980"/>
            <a:ext cx="4999355" cy="10058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FFFF"/>
                </a:solidFill>
              </a:rPr>
              <a:t>Sorun:</a:t>
            </a:r>
            <a:r>
              <a:rPr lang="en-US" altLang="en-GB">
                <a:solidFill>
                  <a:srgbClr val="FFFFFF"/>
                </a:solidFill>
              </a:rPr>
              <a:t> </a:t>
            </a:r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İ</a:t>
            </a:r>
            <a:r>
              <a:rPr lang="en-US" altLang="en-GB" b="1">
                <a:solidFill>
                  <a:schemeClr val="bg1">
                    <a:lumMod val="95000"/>
                  </a:schemeClr>
                </a:solidFill>
              </a:rPr>
              <a:t>ki c</a:t>
            </a:r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ü</a:t>
            </a:r>
            <a:r>
              <a:rPr lang="en-US" altLang="en-GB" b="1">
                <a:solidFill>
                  <a:schemeClr val="bg1">
                    <a:lumMod val="95000"/>
                  </a:schemeClr>
                </a:solidFill>
              </a:rPr>
              <a:t>mleyi ayr</a:t>
            </a:r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ı</a:t>
            </a:r>
            <a:r>
              <a:rPr lang="en-US" altLang="en-GB" b="1">
                <a:solidFill>
                  <a:schemeClr val="bg1">
                    <a:lumMod val="95000"/>
                  </a:schemeClr>
                </a:solidFill>
              </a:rPr>
              <a:t> ayr</a:t>
            </a:r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ı</a:t>
            </a:r>
            <a:r>
              <a:rPr lang="en-US" altLang="en-GB" b="1">
                <a:solidFill>
                  <a:schemeClr val="bg1">
                    <a:lumMod val="95000"/>
                  </a:schemeClr>
                </a:solidFill>
              </a:rPr>
              <a:t> tokenize edersek model bunlar</a:t>
            </a:r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ı</a:t>
            </a:r>
            <a:r>
              <a:rPr lang="en-US" altLang="en-GB" b="1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ç</a:t>
            </a:r>
            <a:r>
              <a:rPr lang="en-US" altLang="en-GB" b="1">
                <a:solidFill>
                  <a:schemeClr val="bg1">
                    <a:lumMod val="95000"/>
                  </a:schemeClr>
                </a:solidFill>
              </a:rPr>
              <a:t>ift olarak anlayamaz. </a:t>
            </a:r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Ç</a:t>
            </a:r>
            <a:r>
              <a:rPr lang="en-US" altLang="en-GB" b="1">
                <a:solidFill>
                  <a:schemeClr val="bg1">
                    <a:lumMod val="95000"/>
                  </a:schemeClr>
                </a:solidFill>
              </a:rPr>
              <a:t>ift olarak verilmelidir:</a:t>
            </a:r>
            <a:endParaRPr lang="en-US" altLang="en-GB" b="1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097161" name="Picture 21" descr="11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40" y="3216275"/>
            <a:ext cx="5006340" cy="687705"/>
          </a:xfrm>
          <a:prstGeom prst="roundRect">
            <a:avLst>
              <a:gd name="adj" fmla="val 6000"/>
            </a:avLst>
          </a:prstGeom>
          <a:ln w="19050">
            <a:solidFill>
              <a:srgbClr val="38BDF8">
                <a:alpha val="70000"/>
              </a:srgbClr>
            </a:solidFill>
          </a:ln>
          <a:effectLst>
            <a:outerShdw blurRad="1905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1048687" name="Text Box 23"/>
          <p:cNvSpPr txBox="1"/>
          <p:nvPr/>
        </p:nvSpPr>
        <p:spPr>
          <a:xfrm>
            <a:off x="657225" y="4061460"/>
            <a:ext cx="21247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200" b="1">
                <a:solidFill>
                  <a:schemeClr val="bg1">
                    <a:lumMod val="95000"/>
                  </a:schemeClr>
                </a:solidFill>
              </a:rPr>
              <a:t>Çı</a:t>
            </a:r>
            <a:r>
              <a:rPr lang="en-US" altLang="en-GB" sz="1200" b="1">
                <a:solidFill>
                  <a:schemeClr val="bg1">
                    <a:lumMod val="95000"/>
                  </a:schemeClr>
                </a:solidFill>
              </a:rPr>
              <a:t>kt</a:t>
            </a:r>
            <a:r>
              <a:rPr lang="en-US" altLang="en-US" sz="1200" b="1">
                <a:solidFill>
                  <a:schemeClr val="bg1">
                    <a:lumMod val="95000"/>
                  </a:schemeClr>
                </a:solidFill>
              </a:rPr>
              <a:t>ı</a:t>
            </a:r>
            <a:r>
              <a:rPr lang="en-US" altLang="en-GB" sz="1200" b="1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en-US" sz="1200" b="1">
                <a:solidFill>
                  <a:schemeClr val="bg1">
                    <a:lumMod val="95000"/>
                  </a:schemeClr>
                </a:solidFill>
              </a:rPr>
              <a:t>ü</a:t>
            </a:r>
            <a:r>
              <a:rPr lang="en-US" altLang="en-US" sz="1200" b="1">
                <a:solidFill>
                  <a:schemeClr val="bg1">
                    <a:lumMod val="95000"/>
                  </a:schemeClr>
                </a:solidFill>
              </a:rPr>
              <a:t>ç</a:t>
            </a:r>
            <a:r>
              <a:rPr lang="en-US" altLang="en-GB" sz="1200" b="1">
                <a:solidFill>
                  <a:schemeClr val="bg1">
                    <a:lumMod val="95000"/>
                  </a:schemeClr>
                </a:solidFill>
              </a:rPr>
              <a:t> anahtar i</a:t>
            </a:r>
            <a:r>
              <a:rPr lang="en-US" altLang="en-US" sz="1200" b="1">
                <a:solidFill>
                  <a:schemeClr val="bg1">
                    <a:lumMod val="95000"/>
                  </a:schemeClr>
                </a:solidFill>
              </a:rPr>
              <a:t>ç</a:t>
            </a:r>
            <a:r>
              <a:rPr lang="en-US" altLang="en-GB" sz="1200" b="1">
                <a:solidFill>
                  <a:schemeClr val="bg1">
                    <a:lumMod val="95000"/>
                  </a:schemeClr>
                </a:solidFill>
              </a:rPr>
              <a:t>erir:</a:t>
            </a:r>
            <a:endParaRPr lang="en-US" altLang="en-GB" sz="1200" b="1">
              <a:solidFill>
                <a:schemeClr val="bg1">
                  <a:lumMod val="95000"/>
                </a:schemeClr>
              </a:solidFill>
            </a:endParaRPr>
          </a:p>
        </p:txBody>
      </p:sp>
      <p:graphicFrame>
        <p:nvGraphicFramePr>
          <p:cNvPr id="4194306" name="Table 24"/>
          <p:cNvGraphicFramePr/>
          <p:nvPr>
            <p:custDataLst>
              <p:tags r:id="rId3"/>
            </p:custDataLst>
          </p:nvPr>
        </p:nvGraphicFramePr>
        <p:xfrm>
          <a:off x="789305" y="4494530"/>
          <a:ext cx="4790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145"/>
                <a:gridCol w="312229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b="1">
                          <a:solidFill>
                            <a:srgbClr val="FFFFFF"/>
                          </a:solidFill>
                        </a:rPr>
                        <a:t>Anahtar</a:t>
                      </a:r>
                      <a:endParaRPr lang="en-US" altLang="en-GB"/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b="1">
                          <a:solidFill>
                            <a:srgbClr val="FFFFFF"/>
                          </a:solidFill>
                        </a:rPr>
                        <a:t>G</a:t>
                      </a:r>
                      <a:r>
                        <a:rPr lang="en-US" altLang="en-US" b="1">
                          <a:solidFill>
                            <a:srgbClr val="FFFFFF"/>
                          </a:solidFill>
                        </a:rPr>
                        <a:t>ö</a:t>
                      </a:r>
                      <a:r>
                        <a:rPr lang="en-US" altLang="en-GB" b="1">
                          <a:solidFill>
                            <a:srgbClr val="FFFFFF"/>
                          </a:solidFill>
                        </a:rPr>
                        <a:t>revi</a:t>
                      </a:r>
                      <a:endParaRPr lang="en-US" altLang="en-GB"/>
                    </a:p>
                  </a:txBody>
                  <a:tcPr>
                    <a:solidFill>
                      <a:srgbClr val="0891B2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input_ids</a:t>
                      </a:r>
                      <a:endParaRPr lang="en-US" altLang="en-GB"/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Her token'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ı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n say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ı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sal kar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şı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l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ığı</a:t>
                      </a:r>
                      <a:endParaRPr lang="en-US" altLang="en-US"/>
                    </a:p>
                  </a:txBody>
                  <a:tcPr>
                    <a:solidFill>
                      <a:srgbClr val="EAF6FB"/>
                    </a:solidFill>
                  </a:tcPr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attention_mask </a:t>
                      </a:r>
                      <a:endParaRPr lang="en-US" altLang="en-GB"/>
                    </a:p>
                  </a:txBody>
                  <a:tcPr>
                    <a:solidFill>
                      <a:srgbClr val="CFE8F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1 = ger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ç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ek token, 0 = padding (yok say)</a:t>
                      </a:r>
                      <a:endParaRPr lang="en-US" altLang="en-GB"/>
                    </a:p>
                  </a:txBody>
                  <a:tcPr>
                    <a:solidFill>
                      <a:srgbClr val="CFE8F3"/>
                    </a:solidFill>
                  </a:tcPr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token_type_ids </a:t>
                      </a:r>
                      <a:endParaRPr lang="en-US" altLang="en-GB"/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Token hangi c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ü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mleye ait? (0 = 1. c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ü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mle, 1 = 2. c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ü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mle)</a:t>
                      </a:r>
                      <a:endParaRPr lang="en-US" altLang="en-GB"/>
                    </a:p>
                  </a:txBody>
                  <a:tcPr>
                    <a:solidFill>
                      <a:srgbClr val="EAF6FB"/>
                    </a:solidFill>
                  </a:tcPr>
                </a:tc>
              </a:tr>
            </a:tbl>
          </a:graphicData>
        </a:graphic>
      </p:graphicFrame>
      <p:sp>
        <p:nvSpPr>
          <p:cNvPr id="1048688" name="Text Box 25"/>
          <p:cNvSpPr txBox="1"/>
          <p:nvPr/>
        </p:nvSpPr>
        <p:spPr>
          <a:xfrm>
            <a:off x="6568440" y="1344295"/>
            <a:ext cx="4399280" cy="12090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" b="1">
                <a:solidFill>
                  <a:schemeClr val="bg1">
                    <a:lumMod val="95000"/>
                  </a:schemeClr>
                </a:solidFill>
              </a:rPr>
              <a:t>BERT'in bekledi</a:t>
            </a:r>
            <a:r>
              <a:rPr lang="en-US" altLang="en-US" sz="1600" b="1">
                <a:solidFill>
                  <a:schemeClr val="bg1">
                    <a:lumMod val="95000"/>
                  </a:schemeClr>
                </a:solidFill>
              </a:rPr>
              <a:t>ğ</a:t>
            </a:r>
            <a:r>
              <a:rPr lang="en-US" altLang="en-GB" sz="1600" b="1">
                <a:solidFill>
                  <a:schemeClr val="bg1">
                    <a:lumMod val="95000"/>
                  </a:schemeClr>
                </a:solidFill>
              </a:rPr>
              <a:t>i bi</a:t>
            </a:r>
            <a:r>
              <a:rPr lang="en-US" altLang="en-US" sz="1600" b="1">
                <a:solidFill>
                  <a:schemeClr val="bg1">
                    <a:lumMod val="95000"/>
                  </a:schemeClr>
                </a:solidFill>
              </a:rPr>
              <a:t>ç</a:t>
            </a:r>
            <a:r>
              <a:rPr lang="en-US" altLang="en-GB" sz="1600" b="1">
                <a:solidFill>
                  <a:schemeClr val="bg1">
                    <a:lumMod val="95000"/>
                  </a:schemeClr>
                </a:solidFill>
              </a:rPr>
              <a:t>im:</a:t>
            </a:r>
            <a:endParaRPr lang="en-US" altLang="en-GB" sz="1600" b="1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GB" sz="1600" b="1">
                <a:solidFill>
                  <a:schemeClr val="bg1">
                    <a:lumMod val="95000"/>
                  </a:schemeClr>
                </a:solidFill>
              </a:rPr>
              <a:t>[CLS] c</a:t>
            </a:r>
            <a:r>
              <a:rPr lang="en-US" altLang="en-US" sz="1600" b="1">
                <a:solidFill>
                  <a:schemeClr val="bg1">
                    <a:lumMod val="95000"/>
                  </a:schemeClr>
                </a:solidFill>
              </a:rPr>
              <a:t>ü</a:t>
            </a:r>
            <a:r>
              <a:rPr lang="en-US" altLang="en-GB" sz="1600" b="1">
                <a:solidFill>
                  <a:schemeClr val="bg1">
                    <a:lumMod val="95000"/>
                  </a:schemeClr>
                </a:solidFill>
              </a:rPr>
              <a:t>mle1 [SEP] c</a:t>
            </a:r>
            <a:r>
              <a:rPr lang="en-US" altLang="en-US" sz="1600" b="1">
                <a:solidFill>
                  <a:schemeClr val="bg1">
                    <a:lumMod val="95000"/>
                  </a:schemeClr>
                </a:solidFill>
              </a:rPr>
              <a:t>ü</a:t>
            </a:r>
            <a:r>
              <a:rPr lang="en-US" altLang="en-GB" sz="1600" b="1">
                <a:solidFill>
                  <a:schemeClr val="bg1">
                    <a:lumMod val="95000"/>
                  </a:schemeClr>
                </a:solidFill>
              </a:rPr>
              <a:t>mle2 [SEP]</a:t>
            </a:r>
            <a:endParaRPr lang="en-US" altLang="en-GB" sz="1600" b="1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GB" sz="1600" b="1">
                <a:solidFill>
                  <a:schemeClr val="bg1">
                    <a:lumMod val="95000"/>
                  </a:schemeClr>
                </a:solidFill>
              </a:rPr>
              <a:t>• [CLS] = ba</a:t>
            </a:r>
            <a:r>
              <a:rPr lang="en-US" altLang="en-US" sz="1600" b="1">
                <a:solidFill>
                  <a:schemeClr val="bg1">
                    <a:lumMod val="95000"/>
                  </a:schemeClr>
                </a:solidFill>
              </a:rPr>
              <a:t>ş</a:t>
            </a:r>
            <a:r>
              <a:rPr lang="en-US" altLang="en-GB" sz="1600" b="1">
                <a:solidFill>
                  <a:schemeClr val="bg1">
                    <a:lumMod val="95000"/>
                  </a:schemeClr>
                </a:solidFill>
              </a:rPr>
              <a:t>lang</a:t>
            </a:r>
            <a:r>
              <a:rPr lang="en-US" altLang="en-US" sz="1600" b="1">
                <a:solidFill>
                  <a:schemeClr val="bg1">
                    <a:lumMod val="95000"/>
                  </a:schemeClr>
                </a:solidFill>
              </a:rPr>
              <a:t>ıç</a:t>
            </a:r>
            <a:r>
              <a:rPr lang="en-US" altLang="en-GB" sz="1600" b="1">
                <a:solidFill>
                  <a:schemeClr val="bg1">
                    <a:lumMod val="95000"/>
                  </a:schemeClr>
                </a:solidFill>
              </a:rPr>
              <a:t> i</a:t>
            </a:r>
            <a:r>
              <a:rPr lang="en-US" altLang="en-US" sz="1600" b="1">
                <a:solidFill>
                  <a:schemeClr val="bg1">
                    <a:lumMod val="95000"/>
                  </a:schemeClr>
                </a:solidFill>
              </a:rPr>
              <a:t>ş</a:t>
            </a:r>
            <a:r>
              <a:rPr lang="en-US" altLang="en-GB" sz="1600" b="1">
                <a:solidFill>
                  <a:schemeClr val="bg1">
                    <a:lumMod val="95000"/>
                  </a:schemeClr>
                </a:solidFill>
              </a:rPr>
              <a:t>areti</a:t>
            </a:r>
            <a:endParaRPr lang="en-US" altLang="en-GB" sz="1600" b="1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en-GB" sz="1600" b="1">
                <a:solidFill>
                  <a:schemeClr val="bg1">
                    <a:lumMod val="95000"/>
                  </a:schemeClr>
                </a:solidFill>
              </a:rPr>
              <a:t>• [SEP] = c</a:t>
            </a:r>
            <a:r>
              <a:rPr lang="en-US" altLang="en-US" sz="1600" b="1">
                <a:solidFill>
                  <a:schemeClr val="bg1">
                    <a:lumMod val="95000"/>
                  </a:schemeClr>
                </a:solidFill>
              </a:rPr>
              <a:t>ü</a:t>
            </a:r>
            <a:r>
              <a:rPr lang="en-US" altLang="en-GB" sz="1600" b="1">
                <a:solidFill>
                  <a:schemeClr val="bg1">
                    <a:lumMod val="95000"/>
                  </a:schemeClr>
                </a:solidFill>
              </a:rPr>
              <a:t>mleleri ay</a:t>
            </a:r>
            <a:r>
              <a:rPr lang="en-US" altLang="en-US" sz="1600" b="1">
                <a:solidFill>
                  <a:schemeClr val="bg1">
                    <a:lumMod val="95000"/>
                  </a:schemeClr>
                </a:solidFill>
              </a:rPr>
              <a:t>ı</a:t>
            </a:r>
            <a:r>
              <a:rPr lang="en-US" altLang="en-GB" sz="1600" b="1">
                <a:solidFill>
                  <a:schemeClr val="bg1">
                    <a:lumMod val="95000"/>
                  </a:schemeClr>
                </a:solidFill>
              </a:rPr>
              <a:t>ran i</a:t>
            </a:r>
            <a:r>
              <a:rPr lang="en-US" altLang="en-US" sz="1600" b="1">
                <a:solidFill>
                  <a:schemeClr val="bg1">
                    <a:lumMod val="95000"/>
                  </a:schemeClr>
                </a:solidFill>
              </a:rPr>
              <a:t>ş</a:t>
            </a:r>
            <a:r>
              <a:rPr lang="en-US" altLang="en-GB" sz="1600" b="1">
                <a:solidFill>
                  <a:schemeClr val="bg1">
                    <a:lumMod val="95000"/>
                  </a:schemeClr>
                </a:solidFill>
              </a:rPr>
              <a:t>aret</a:t>
            </a:r>
            <a:endParaRPr lang="en-US" altLang="en-GB" sz="1600" b="1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097162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335" y="2804160"/>
            <a:ext cx="5690870" cy="412115"/>
          </a:xfrm>
          <a:prstGeom prst="roundRect">
            <a:avLst>
              <a:gd name="adj" fmla="val 6000"/>
            </a:avLst>
          </a:prstGeom>
          <a:ln w="19050">
            <a:solidFill>
              <a:srgbClr val="38BDF8">
                <a:alpha val="70000"/>
              </a:srgbClr>
            </a:solidFill>
          </a:ln>
          <a:effectLst>
            <a:outerShdw blurRad="190500" dist="38100" dir="5400000" algn="t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文本框 6"/>
          <p:cNvSpPr txBox="1"/>
          <p:nvPr/>
        </p:nvSpPr>
        <p:spPr>
          <a:xfrm>
            <a:off x="2647315" y="448945"/>
            <a:ext cx="5922010" cy="91821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r>
              <a:rPr lang="en-US" altLang="en-GB" sz="40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T</a:t>
            </a:r>
            <a:r>
              <a:rPr lang="en-US" altLang="en-US" sz="40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ü</a:t>
            </a:r>
            <a:r>
              <a:rPr lang="en-US" altLang="en-GB" sz="40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m Veri Setini </a:t>
            </a:r>
            <a:r>
              <a:rPr lang="en-US" altLang="en-US" sz="40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İş</a:t>
            </a:r>
            <a:r>
              <a:rPr lang="en-US" altLang="en-GB" sz="40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leme</a:t>
            </a:r>
            <a:endParaRPr lang="en-US" altLang="en-GB" sz="4000" dirty="0">
              <a:solidFill>
                <a:schemeClr val="bg1"/>
              </a:solidFill>
              <a:latin typeface="+mj-lt"/>
              <a:ea typeface="Gilroy" panose="00000400000000000000" charset="0"/>
            </a:endParaRPr>
          </a:p>
        </p:txBody>
      </p:sp>
      <p:sp>
        <p:nvSpPr>
          <p:cNvPr id="1048690" name="任意多边形: 形状 11"/>
          <p:cNvSpPr/>
          <p:nvPr/>
        </p:nvSpPr>
        <p:spPr>
          <a:xfrm>
            <a:off x="447040" y="1228090"/>
            <a:ext cx="11374120" cy="4977130"/>
          </a:xfrm>
          <a:prstGeom prst="roundRect">
            <a:avLst>
              <a:gd name="adj" fmla="val 5144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dirty="0"/>
          </a:p>
        </p:txBody>
      </p:sp>
      <p:sp>
        <p:nvSpPr>
          <p:cNvPr id="1048691" name="Text Box 3"/>
          <p:cNvSpPr txBox="1"/>
          <p:nvPr/>
        </p:nvSpPr>
        <p:spPr>
          <a:xfrm>
            <a:off x="781685" y="1367155"/>
            <a:ext cx="4479925" cy="8407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>
                <a:solidFill>
                  <a:srgbClr val="FBBF24"/>
                </a:solidFill>
              </a:rPr>
              <a:t>Y</a:t>
            </a:r>
            <a:r>
              <a:rPr lang="en-US" altLang="en-US" sz="2400" b="1">
                <a:solidFill>
                  <a:srgbClr val="FBBF24"/>
                </a:solidFill>
              </a:rPr>
              <a:t>ö</a:t>
            </a:r>
            <a:r>
              <a:rPr lang="en-US" altLang="en-GB" sz="2400" b="1">
                <a:solidFill>
                  <a:srgbClr val="FBBF24"/>
                </a:solidFill>
              </a:rPr>
              <a:t>ntem 1 (</a:t>
            </a:r>
            <a:r>
              <a:rPr lang="en-US" altLang="en-US" sz="2400" b="1">
                <a:solidFill>
                  <a:srgbClr val="FBBF24"/>
                </a:solidFill>
              </a:rPr>
              <a:t>ö</a:t>
            </a:r>
            <a:r>
              <a:rPr lang="en-US" altLang="en-GB" sz="2400" b="1">
                <a:solidFill>
                  <a:srgbClr val="FBBF24"/>
                </a:solidFill>
              </a:rPr>
              <a:t>nerilmez): </a:t>
            </a:r>
            <a:r>
              <a:rPr lang="en-US" altLang="en-GB" sz="2000" b="1">
                <a:solidFill>
                  <a:srgbClr val="FFFFFF"/>
                </a:solidFill>
              </a:rPr>
              <a:t>Tokenizer'a t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m veriyi birden vermek.</a:t>
            </a:r>
            <a:endParaRPr lang="en-US" altLang="en-GB" sz="2000" b="1">
              <a:solidFill>
                <a:schemeClr val="tx1"/>
              </a:solidFill>
            </a:endParaRPr>
          </a:p>
        </p:txBody>
      </p:sp>
      <p:pic>
        <p:nvPicPr>
          <p:cNvPr id="2097163" name="Picture 23"/>
          <p:cNvPicPr>
            <a:picLocks noChangeAspect="1"/>
          </p:cNvPicPr>
          <p:nvPr/>
        </p:nvPicPr>
        <p:blipFill>
          <a:blip r:embed="rId2"/>
          <a:srcRect t="-21" r="43027" b="21"/>
          <a:stretch>
            <a:fillRect/>
          </a:stretch>
        </p:blipFill>
        <p:spPr>
          <a:xfrm>
            <a:off x="654050" y="2680970"/>
            <a:ext cx="4734560" cy="1495425"/>
          </a:xfrm>
          <a:prstGeom prst="roundRect">
            <a:avLst>
              <a:gd name="adj" fmla="val 6000"/>
            </a:avLst>
          </a:prstGeom>
          <a:ln w="19050">
            <a:solidFill>
              <a:srgbClr val="38BDF8">
                <a:alpha val="70000"/>
              </a:srgbClr>
            </a:solidFill>
          </a:ln>
          <a:effectLst>
            <a:outerShdw blurRad="1905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1048692" name="Text Box 27"/>
          <p:cNvSpPr txBox="1"/>
          <p:nvPr/>
        </p:nvSpPr>
        <p:spPr>
          <a:xfrm>
            <a:off x="5803900" y="3792220"/>
            <a:ext cx="5426710" cy="18059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rgbClr val="FBBF24"/>
                </a:solidFill>
              </a:rPr>
              <a:t>Dezavantajlar</a:t>
            </a:r>
            <a:r>
              <a:rPr lang="en-US" altLang="en-US" sz="2000" b="1">
                <a:solidFill>
                  <a:srgbClr val="FBBF24"/>
                </a:solidFill>
              </a:rPr>
              <a:t>ı</a:t>
            </a:r>
            <a:r>
              <a:rPr lang="en-US" altLang="en-GB" sz="2000" b="1">
                <a:solidFill>
                  <a:srgbClr val="FBBF24"/>
                </a:solidFill>
              </a:rPr>
              <a:t>:</a:t>
            </a:r>
            <a:endParaRPr lang="en-US" altLang="en-GB" sz="2000" b="1">
              <a:solidFill>
                <a:schemeClr val="accent2"/>
              </a:solidFill>
            </a:endParaRPr>
          </a:p>
          <a:p>
            <a:r>
              <a:rPr lang="en-US" altLang="en-GB" sz="2000" b="1">
                <a:solidFill>
                  <a:srgbClr val="FFFFFF"/>
                </a:solidFill>
              </a:rPr>
              <a:t>• Sonu</a:t>
            </a:r>
            <a:r>
              <a:rPr lang="en-US" altLang="en-US" sz="2000" b="1">
                <a:solidFill>
                  <a:srgbClr val="FFFFFF"/>
                </a:solidFill>
              </a:rPr>
              <a:t>ç</a:t>
            </a:r>
            <a:r>
              <a:rPr lang="en-US" altLang="en-GB" sz="2000" b="1">
                <a:solidFill>
                  <a:srgbClr val="FFFFFF"/>
                </a:solidFill>
              </a:rPr>
              <a:t> d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z bir s</a:t>
            </a:r>
            <a:r>
              <a:rPr lang="en-US" altLang="en-US" sz="2000" b="1">
                <a:solidFill>
                  <a:srgbClr val="FFFFFF"/>
                </a:solidFill>
              </a:rPr>
              <a:t>ö</a:t>
            </a:r>
            <a:r>
              <a:rPr lang="en-US" altLang="en-GB" sz="2000" b="1">
                <a:solidFill>
                  <a:srgbClr val="FFFFFF"/>
                </a:solidFill>
              </a:rPr>
              <a:t>zl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kt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r, veri seti yap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s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 kaybolur.</a:t>
            </a:r>
            <a:endParaRPr lang="en-US" altLang="en-GB" sz="2000" b="1"/>
          </a:p>
          <a:p>
            <a:r>
              <a:rPr lang="en-US" altLang="en-GB" sz="2000" b="1">
                <a:solidFill>
                  <a:srgbClr val="FFFFFF"/>
                </a:solidFill>
              </a:rPr>
              <a:t>• T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m veriyi RAM'e y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kler, b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y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k veride sorun </a:t>
            </a:r>
            <a:r>
              <a:rPr lang="en-US" altLang="en-US" sz="2000" b="1">
                <a:solidFill>
                  <a:srgbClr val="FFFFFF"/>
                </a:solidFill>
              </a:rPr>
              <a:t>çı</a:t>
            </a:r>
            <a:r>
              <a:rPr lang="en-US" altLang="en-GB" sz="2000" b="1">
                <a:solidFill>
                  <a:srgbClr val="FFFFFF"/>
                </a:solidFill>
              </a:rPr>
              <a:t>kar</a:t>
            </a:r>
            <a:endParaRPr lang="en-US" altLang="en-GB" sz="20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Panel"/>
          <p:cNvSpPr/>
          <p:nvPr/>
        </p:nvSpPr>
        <p:spPr>
          <a:xfrm>
            <a:off x="731520" y="1325880"/>
            <a:ext cx="10698480" cy="4892040"/>
          </a:xfrm>
          <a:prstGeom prst="roundRect">
            <a:avLst>
              <a:gd name="adj" fmla="val 5233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txBody>
          <a:bodyPr/>
          <a:p>
            <a:endParaRPr lang="tr-TR"/>
          </a:p>
        </p:txBody>
      </p:sp>
      <p:sp>
        <p:nvSpPr>
          <p:cNvPr id="1048694" name="文本框 53"/>
          <p:cNvSpPr txBox="1"/>
          <p:nvPr/>
        </p:nvSpPr>
        <p:spPr>
          <a:xfrm>
            <a:off x="1097280" y="640080"/>
            <a:ext cx="9966960" cy="6248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en-GB" sz="32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Y</a:t>
            </a:r>
            <a:r>
              <a:rPr lang="en-US" altLang="en-US" sz="32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ö</a:t>
            </a:r>
            <a:r>
              <a:rPr lang="en-US" altLang="en-GB" sz="32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ntem 2 (</a:t>
            </a:r>
            <a:r>
              <a:rPr lang="en-US" altLang="en-US" sz="32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ö</a:t>
            </a:r>
            <a:r>
              <a:rPr lang="en-US" altLang="en-GB" sz="32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nerilen): Dataset.map()</a:t>
            </a:r>
            <a:endParaRPr lang="en-US" altLang="en-GB" sz="3200" dirty="0">
              <a:solidFill>
                <a:schemeClr val="bg1"/>
              </a:solidFill>
              <a:latin typeface="+mj-lt"/>
              <a:ea typeface="Gilroy" panose="00000400000000000000" charset="0"/>
            </a:endParaRPr>
          </a:p>
        </p:txBody>
      </p:sp>
      <p:pic>
        <p:nvPicPr>
          <p:cNvPr id="209716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340" y="1440815"/>
            <a:ext cx="9753600" cy="1219200"/>
          </a:xfrm>
          <a:prstGeom prst="roundRect">
            <a:avLst>
              <a:gd name="adj" fmla="val 6000"/>
            </a:avLst>
          </a:prstGeom>
          <a:ln w="19050">
            <a:solidFill>
              <a:srgbClr val="38BDF8">
                <a:alpha val="70000"/>
              </a:srgbClr>
            </a:solidFill>
          </a:ln>
          <a:effectLst>
            <a:outerShdw blurRad="1905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1048695" name="Text Box 23"/>
          <p:cNvSpPr txBox="1"/>
          <p:nvPr/>
        </p:nvSpPr>
        <p:spPr>
          <a:xfrm>
            <a:off x="1069340" y="2818765"/>
            <a:ext cx="9790430" cy="35204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chemeClr val="bg1"/>
                </a:solidFill>
              </a:rPr>
              <a:t>• map() fonksiyonu her elemana verdi</a:t>
            </a:r>
            <a:r>
              <a:rPr lang="en-US" altLang="en-US" sz="2000" b="1">
                <a:solidFill>
                  <a:schemeClr val="bg1"/>
                </a:solidFill>
              </a:rPr>
              <a:t>ğ</a:t>
            </a:r>
            <a:r>
              <a:rPr lang="en-US" altLang="en-GB" sz="2000" b="1">
                <a:solidFill>
                  <a:schemeClr val="bg1"/>
                </a:solidFill>
              </a:rPr>
              <a:t>imiz fonksiyonu uygular.</a:t>
            </a:r>
            <a:endParaRPr lang="en-US" altLang="en-GB" sz="2000" b="1">
              <a:solidFill>
                <a:schemeClr val="bg1"/>
              </a:solidFill>
            </a:endParaRPr>
          </a:p>
          <a:p>
            <a:r>
              <a:rPr lang="en-US" altLang="en-GB" sz="2000" b="1">
                <a:solidFill>
                  <a:schemeClr val="bg1"/>
                </a:solidFill>
              </a:rPr>
              <a:t>• Veri diskte (Apache Arrow format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nda) kal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r, RAM </a:t>
            </a:r>
            <a:r>
              <a:rPr lang="en-US" altLang="en-US" sz="2000" b="1">
                <a:solidFill>
                  <a:schemeClr val="bg1"/>
                </a:solidFill>
              </a:rPr>
              <a:t>ş</a:t>
            </a:r>
            <a:r>
              <a:rPr lang="en-US" altLang="en-GB" sz="2000" b="1">
                <a:solidFill>
                  <a:schemeClr val="bg1"/>
                </a:solidFill>
              </a:rPr>
              <a:t>i</a:t>
            </a:r>
            <a:r>
              <a:rPr lang="en-US" altLang="en-US" sz="2000" b="1">
                <a:solidFill>
                  <a:schemeClr val="bg1"/>
                </a:solidFill>
              </a:rPr>
              <a:t>ş</a:t>
            </a:r>
            <a:r>
              <a:rPr lang="en-US" altLang="en-GB" sz="2000" b="1">
                <a:solidFill>
                  <a:schemeClr val="bg1"/>
                </a:solidFill>
              </a:rPr>
              <a:t>mez.</a:t>
            </a:r>
            <a:endParaRPr lang="en-US" altLang="en-GB" sz="2000" b="1">
              <a:solidFill>
                <a:schemeClr val="bg1"/>
              </a:solidFill>
            </a:endParaRPr>
          </a:p>
          <a:p>
            <a:r>
              <a:rPr lang="en-US" altLang="en-GB" sz="2000" b="1">
                <a:solidFill>
                  <a:schemeClr val="bg1"/>
                </a:solidFill>
              </a:rPr>
              <a:t>• batched=True </a:t>
            </a:r>
            <a:r>
              <a:rPr lang="en-US" altLang="en-US" sz="2000" b="1">
                <a:solidFill>
                  <a:schemeClr val="bg1"/>
                </a:solidFill>
              </a:rPr>
              <a:t>→</a:t>
            </a:r>
            <a:r>
              <a:rPr lang="en-US" altLang="en-GB" sz="2000" b="1">
                <a:solidFill>
                  <a:schemeClr val="bg1"/>
                </a:solidFill>
              </a:rPr>
              <a:t> </a:t>
            </a:r>
            <a:r>
              <a:rPr lang="en-US" altLang="en-US" sz="2000" b="1">
                <a:solidFill>
                  <a:schemeClr val="bg1"/>
                </a:solidFill>
              </a:rPr>
              <a:t>Ö</a:t>
            </a:r>
            <a:r>
              <a:rPr lang="en-US" altLang="en-GB" sz="2000" b="1">
                <a:solidFill>
                  <a:schemeClr val="bg1"/>
                </a:solidFill>
              </a:rPr>
              <a:t>rnekler toplu i</a:t>
            </a:r>
            <a:r>
              <a:rPr lang="en-US" altLang="en-US" sz="2000" b="1">
                <a:solidFill>
                  <a:schemeClr val="bg1"/>
                </a:solidFill>
              </a:rPr>
              <a:t>ş</a:t>
            </a:r>
            <a:r>
              <a:rPr lang="en-US" altLang="en-GB" sz="2000" b="1">
                <a:solidFill>
                  <a:schemeClr val="bg1"/>
                </a:solidFill>
              </a:rPr>
              <a:t>lenir, </a:t>
            </a:r>
            <a:r>
              <a:rPr lang="en-US" altLang="en-US" sz="2000" b="1">
                <a:solidFill>
                  <a:schemeClr val="bg1"/>
                </a:solidFill>
              </a:rPr>
              <a:t>ç</a:t>
            </a:r>
            <a:r>
              <a:rPr lang="en-US" altLang="en-GB" sz="2000" b="1">
                <a:solidFill>
                  <a:schemeClr val="bg1"/>
                </a:solidFill>
              </a:rPr>
              <a:t>ok daha h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zl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d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r (arkadaki Rust tabanl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 tokenizer</a:t>
            </a:r>
            <a:endParaRPr lang="en-US" altLang="en-GB" sz="2000" b="1">
              <a:solidFill>
                <a:schemeClr val="bg1"/>
              </a:solidFill>
            </a:endParaRPr>
          </a:p>
          <a:p>
            <a:r>
              <a:rPr lang="en-US" altLang="en-US" sz="2000" b="1">
                <a:solidFill>
                  <a:schemeClr val="bg1"/>
                </a:solidFill>
              </a:rPr>
              <a:t>ç</a:t>
            </a:r>
            <a:r>
              <a:rPr lang="en-US" altLang="en-GB" sz="2000" b="1">
                <a:solidFill>
                  <a:schemeClr val="bg1"/>
                </a:solidFill>
              </a:rPr>
              <a:t>ok veriyle h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zl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 </a:t>
            </a:r>
            <a:r>
              <a:rPr lang="en-US" altLang="en-US" sz="2000" b="1">
                <a:solidFill>
                  <a:schemeClr val="bg1"/>
                </a:solidFill>
              </a:rPr>
              <a:t>ç</a:t>
            </a:r>
            <a:r>
              <a:rPr lang="en-US" altLang="en-GB" sz="2000" b="1">
                <a:solidFill>
                  <a:schemeClr val="bg1"/>
                </a:solidFill>
              </a:rPr>
              <a:t>al</a:t>
            </a:r>
            <a:r>
              <a:rPr lang="en-US" altLang="en-US" sz="2000" b="1">
                <a:solidFill>
                  <a:schemeClr val="bg1"/>
                </a:solidFill>
              </a:rPr>
              <a:t>ışı</a:t>
            </a:r>
            <a:r>
              <a:rPr lang="en-US" altLang="en-GB" sz="2000" b="1">
                <a:solidFill>
                  <a:schemeClr val="bg1"/>
                </a:solidFill>
              </a:rPr>
              <a:t>r).</a:t>
            </a:r>
            <a:endParaRPr lang="en-US" altLang="en-GB" sz="2000" b="1">
              <a:solidFill>
                <a:schemeClr val="bg1"/>
              </a:solidFill>
            </a:endParaRPr>
          </a:p>
          <a:p>
            <a:r>
              <a:rPr lang="en-US" altLang="en-GB" sz="2000" b="1">
                <a:solidFill>
                  <a:schemeClr val="bg1"/>
                </a:solidFill>
              </a:rPr>
              <a:t>• Sonu</a:t>
            </a:r>
            <a:r>
              <a:rPr lang="en-US" altLang="en-US" sz="2000" b="1">
                <a:solidFill>
                  <a:schemeClr val="bg1"/>
                </a:solidFill>
              </a:rPr>
              <a:t>ç</a:t>
            </a:r>
            <a:r>
              <a:rPr lang="en-US" altLang="en-GB" sz="2000" b="1">
                <a:solidFill>
                  <a:schemeClr val="bg1"/>
                </a:solidFill>
              </a:rPr>
              <a:t>ta veri setine yeni s</a:t>
            </a:r>
            <a:r>
              <a:rPr lang="en-US" altLang="en-US" sz="2000" b="1">
                <a:solidFill>
                  <a:schemeClr val="bg1"/>
                </a:solidFill>
              </a:rPr>
              <a:t>ü</a:t>
            </a:r>
            <a:r>
              <a:rPr lang="en-US" altLang="en-GB" sz="2000" b="1">
                <a:solidFill>
                  <a:schemeClr val="bg1"/>
                </a:solidFill>
              </a:rPr>
              <a:t>tunlar eklenir: input_ids, attention_mask, token_type_ids.</a:t>
            </a:r>
            <a:endParaRPr lang="en-US" altLang="en-GB" sz="2000" b="1">
              <a:solidFill>
                <a:schemeClr val="bg1"/>
              </a:solidFill>
            </a:endParaRPr>
          </a:p>
          <a:p>
            <a:r>
              <a:rPr lang="en-US" altLang="en-GB" sz="2000" b="1">
                <a:solidFill>
                  <a:schemeClr val="bg1"/>
                </a:solidFill>
              </a:rPr>
              <a:t>• Padding burada bilin</a:t>
            </a:r>
            <a:r>
              <a:rPr lang="en-US" altLang="en-US" sz="2000" b="1">
                <a:solidFill>
                  <a:schemeClr val="bg1"/>
                </a:solidFill>
              </a:rPr>
              <a:t>ç</a:t>
            </a:r>
            <a:r>
              <a:rPr lang="en-US" altLang="en-GB" sz="2000" b="1">
                <a:solidFill>
                  <a:schemeClr val="bg1"/>
                </a:solidFill>
              </a:rPr>
              <a:t>li olarak yap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lmad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 (a</a:t>
            </a:r>
            <a:r>
              <a:rPr lang="en-US" altLang="en-US" sz="2000" b="1">
                <a:solidFill>
                  <a:schemeClr val="bg1"/>
                </a:solidFill>
              </a:rPr>
              <a:t>ş</a:t>
            </a:r>
            <a:r>
              <a:rPr lang="en-US" altLang="en-GB" sz="2000" b="1">
                <a:solidFill>
                  <a:schemeClr val="bg1"/>
                </a:solidFill>
              </a:rPr>
              <a:t>a</a:t>
            </a:r>
            <a:r>
              <a:rPr lang="en-US" altLang="en-US" sz="2000" b="1">
                <a:solidFill>
                  <a:schemeClr val="bg1"/>
                </a:solidFill>
              </a:rPr>
              <a:t>ğı</a:t>
            </a:r>
            <a:r>
              <a:rPr lang="en-US" altLang="en-GB" sz="2000" b="1">
                <a:solidFill>
                  <a:schemeClr val="bg1"/>
                </a:solidFill>
              </a:rPr>
              <a:t>da a</a:t>
            </a:r>
            <a:r>
              <a:rPr lang="en-US" altLang="en-US" sz="2000" b="1">
                <a:solidFill>
                  <a:schemeClr val="bg1"/>
                </a:solidFill>
              </a:rPr>
              <a:t>çı</a:t>
            </a:r>
            <a:r>
              <a:rPr lang="en-US" altLang="en-GB" sz="2000" b="1">
                <a:solidFill>
                  <a:schemeClr val="bg1"/>
                </a:solidFill>
              </a:rPr>
              <a:t>klan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yor).</a:t>
            </a:r>
            <a:endParaRPr lang="en-US" altLang="en-GB" sz="2000" b="1">
              <a:solidFill>
                <a:schemeClr val="bg1"/>
              </a:solidFill>
            </a:endParaRPr>
          </a:p>
          <a:p>
            <a:r>
              <a:rPr lang="en-US" altLang="en-GB" sz="2000" b="1">
                <a:solidFill>
                  <a:schemeClr val="bg1"/>
                </a:solidFill>
              </a:rPr>
              <a:t>• </a:t>
            </a:r>
            <a:r>
              <a:rPr lang="en-US" altLang="en-US" sz="2000" b="1">
                <a:solidFill>
                  <a:schemeClr val="bg1"/>
                </a:solidFill>
              </a:rPr>
              <a:t>İ</a:t>
            </a:r>
            <a:r>
              <a:rPr lang="en-US" altLang="en-GB" sz="2000" b="1">
                <a:solidFill>
                  <a:schemeClr val="bg1"/>
                </a:solidFill>
              </a:rPr>
              <a:t>ste</a:t>
            </a:r>
            <a:r>
              <a:rPr lang="en-US" altLang="en-US" sz="2000" b="1">
                <a:solidFill>
                  <a:schemeClr val="bg1"/>
                </a:solidFill>
              </a:rPr>
              <a:t>ğ</a:t>
            </a:r>
            <a:r>
              <a:rPr lang="en-US" altLang="en-GB" sz="2000" b="1">
                <a:solidFill>
                  <a:schemeClr val="bg1"/>
                </a:solidFill>
              </a:rPr>
              <a:t>e ba</a:t>
            </a:r>
            <a:r>
              <a:rPr lang="en-US" altLang="en-US" sz="2000" b="1">
                <a:solidFill>
                  <a:schemeClr val="bg1"/>
                </a:solidFill>
              </a:rPr>
              <a:t>ğ</a:t>
            </a:r>
            <a:r>
              <a:rPr lang="en-US" altLang="en-GB" sz="2000" b="1">
                <a:solidFill>
                  <a:schemeClr val="bg1"/>
                </a:solidFill>
              </a:rPr>
              <a:t>l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: num_proc ile </a:t>
            </a:r>
            <a:r>
              <a:rPr lang="en-US" altLang="en-US" sz="2000" b="1">
                <a:solidFill>
                  <a:schemeClr val="bg1"/>
                </a:solidFill>
              </a:rPr>
              <a:t>ç</a:t>
            </a:r>
            <a:r>
              <a:rPr lang="en-US" altLang="en-GB" sz="2000" b="1">
                <a:solidFill>
                  <a:schemeClr val="bg1"/>
                </a:solidFill>
              </a:rPr>
              <a:t>oklu i</a:t>
            </a:r>
            <a:r>
              <a:rPr lang="en-US" altLang="en-US" sz="2000" b="1">
                <a:solidFill>
                  <a:schemeClr val="bg1"/>
                </a:solidFill>
              </a:rPr>
              <a:t>ş</a:t>
            </a:r>
            <a:r>
              <a:rPr lang="en-US" altLang="en-GB" sz="2000" b="1">
                <a:solidFill>
                  <a:schemeClr val="bg1"/>
                </a:solidFill>
              </a:rPr>
              <a:t>lemci kullan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labilir (h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zl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 tokenizer'da gerek yok).</a:t>
            </a:r>
            <a:endParaRPr lang="en-US" altLang="en-GB" sz="2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Flowchart: Alternate Process 13"/>
          <p:cNvSpPr/>
          <p:nvPr/>
        </p:nvSpPr>
        <p:spPr>
          <a:xfrm>
            <a:off x="274320" y="927100"/>
            <a:ext cx="6892290" cy="3371215"/>
          </a:xfrm>
          <a:prstGeom prst="roundRect">
            <a:avLst>
              <a:gd name="adj" fmla="val 7594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697" name="文本框 6"/>
          <p:cNvSpPr txBox="1"/>
          <p:nvPr/>
        </p:nvSpPr>
        <p:spPr>
          <a:xfrm>
            <a:off x="829310" y="1256030"/>
            <a:ext cx="4703445" cy="10058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ctr"/>
            <a:r>
              <a:rPr lang="en-US" altLang="en-GB" sz="1800" b="0" i="0" u="none" strike="noStrike" dirty="0">
                <a:solidFill>
                  <a:srgbClr val="FBBF24"/>
                </a:solidFill>
                <a:effectLst/>
                <a:latin typeface="+mj-lt"/>
                <a:ea typeface="Arial" panose="020B0604020202020204" pitchFamily="34" charset="0"/>
              </a:rPr>
              <a:t>Problem: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 C</a:t>
            </a:r>
            <a:r>
              <a:rPr lang="en-U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ü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mleler farkl</a:t>
            </a:r>
            <a:r>
              <a:rPr lang="en-U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ı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 uzunlukta, ama bir batch i</a:t>
            </a:r>
            <a:r>
              <a:rPr lang="en-U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ç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indeki </a:t>
            </a:r>
            <a:r>
              <a:rPr lang="en-U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ö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rnekler ayn</a:t>
            </a:r>
            <a:r>
              <a:rPr lang="en-U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ı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 uzunlukta olmal</a:t>
            </a:r>
            <a:r>
              <a:rPr lang="en-U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ı</a:t>
            </a:r>
            <a:r>
              <a:rPr lang="en-US" altLang="en-GB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.</a:t>
            </a:r>
            <a:endParaRPr lang="en-US" altLang="en-GB" sz="18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sp>
        <p:nvSpPr>
          <p:cNvPr id="1048698" name="Rectangles 14"/>
          <p:cNvSpPr/>
          <p:nvPr/>
        </p:nvSpPr>
        <p:spPr>
          <a:xfrm>
            <a:off x="7466330" y="2820670"/>
            <a:ext cx="4387215" cy="1708785"/>
          </a:xfrm>
          <a:prstGeom prst="roundRect">
            <a:avLst>
              <a:gd name="adj" fmla="val 14983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699" name="文本框 24"/>
          <p:cNvSpPr txBox="1"/>
          <p:nvPr/>
        </p:nvSpPr>
        <p:spPr>
          <a:xfrm>
            <a:off x="3291840" y="320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ctr"/>
            <a:r>
              <a:rPr lang="en-US" altLang="en-GB" sz="2800" b="1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Dinamik Padding</a:t>
            </a:r>
            <a:endParaRPr lang="en-US" altLang="en-GB" sz="2800" b="1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sp>
        <p:nvSpPr>
          <p:cNvPr id="1048700" name="Rectangles 15"/>
          <p:cNvSpPr/>
          <p:nvPr/>
        </p:nvSpPr>
        <p:spPr>
          <a:xfrm>
            <a:off x="4649470" y="4458335"/>
            <a:ext cx="7203440" cy="1708785"/>
          </a:xfrm>
          <a:prstGeom prst="roundRect">
            <a:avLst>
              <a:gd name="adj" fmla="val 14983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graphicFrame>
        <p:nvGraphicFramePr>
          <p:cNvPr id="4194307" name="Table 5"/>
          <p:cNvGraphicFramePr/>
          <p:nvPr>
            <p:custDataLst>
              <p:tags r:id="rId2"/>
            </p:custDataLst>
          </p:nvPr>
        </p:nvGraphicFramePr>
        <p:xfrm>
          <a:off x="304800" y="2189480"/>
          <a:ext cx="6503670" cy="193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1450"/>
                <a:gridCol w="379222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b="1">
                          <a:solidFill>
                            <a:srgbClr val="FFFFFF"/>
                          </a:solidFill>
                        </a:rPr>
                        <a:t>Y</a:t>
                      </a:r>
                      <a:r>
                        <a:rPr lang="en-US" altLang="en-US" b="1">
                          <a:solidFill>
                            <a:srgbClr val="FFFFFF"/>
                          </a:solidFill>
                        </a:rPr>
                        <a:t>ö</a:t>
                      </a:r>
                      <a:r>
                        <a:rPr lang="en-US" altLang="en-GB" b="1">
                          <a:solidFill>
                            <a:srgbClr val="FFFFFF"/>
                          </a:solidFill>
                        </a:rPr>
                        <a:t>ntem</a:t>
                      </a:r>
                      <a:endParaRPr lang="en-US" altLang="en-GB"/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b="1">
                          <a:solidFill>
                            <a:srgbClr val="FFFFFF"/>
                          </a:solidFill>
                        </a:rPr>
                        <a:t> A</a:t>
                      </a:r>
                      <a:r>
                        <a:rPr lang="en-US" altLang="en-US" b="1">
                          <a:solidFill>
                            <a:srgbClr val="FFFFFF"/>
                          </a:solidFill>
                        </a:rPr>
                        <a:t>çı</a:t>
                      </a:r>
                      <a:r>
                        <a:rPr lang="en-US" altLang="en-GB" b="1">
                          <a:solidFill>
                            <a:srgbClr val="FFFFFF"/>
                          </a:solidFill>
                        </a:rPr>
                        <a:t>klama</a:t>
                      </a:r>
                      <a:endParaRPr lang="en-US" altLang="en-GB"/>
                    </a:p>
                  </a:txBody>
                  <a:tcPr>
                    <a:solidFill>
                      <a:srgbClr val="0891B2"/>
                    </a:solidFill>
                  </a:tcPr>
                </a:tc>
              </a:tr>
              <a:tr h="3924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Sabit padding </a:t>
                      </a:r>
                      <a:endParaRPr lang="en-US" altLang="en-GB"/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T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ü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m veriyi en uzun 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ö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rne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ğ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e g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ö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re doldur 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→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ç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ok bo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ş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 token, yava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ş</a:t>
                      </a:r>
                      <a:endParaRPr lang="en-US" altLang="en-US"/>
                    </a:p>
                  </a:txBody>
                  <a:tcPr>
                    <a:solidFill>
                      <a:srgbClr val="EAF6FB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Dinamik padding 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✔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 </a:t>
                      </a:r>
                      <a:endParaRPr lang="en-US" altLang="en-GB"/>
                    </a:p>
                  </a:txBody>
                  <a:tcPr>
                    <a:solidFill>
                      <a:srgbClr val="CFE8F3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Her batch'i sadece kendi i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ç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indeki en uzun 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ö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rne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ğ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e g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ö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re doldur 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→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 h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ı</a:t>
                      </a:r>
                      <a:r>
                        <a:rPr lang="en-US" altLang="en-GB">
                          <a:solidFill>
                            <a:srgbClr val="0B1B3A"/>
                          </a:solidFill>
                        </a:rPr>
                        <a:t>zl</a:t>
                      </a:r>
                      <a:r>
                        <a:rPr lang="en-US" altLang="en-US">
                          <a:solidFill>
                            <a:srgbClr val="0B1B3A"/>
                          </a:solidFill>
                        </a:rPr>
                        <a:t>ı</a:t>
                      </a:r>
                      <a:endParaRPr lang="en-US" altLang="en-US"/>
                    </a:p>
                  </a:txBody>
                  <a:tcPr>
                    <a:solidFill>
                      <a:srgbClr val="CFE8F3"/>
                    </a:solidFill>
                  </a:tcPr>
                </a:tc>
              </a:tr>
            </a:tbl>
          </a:graphicData>
        </a:graphic>
      </p:graphicFrame>
      <p:sp>
        <p:nvSpPr>
          <p:cNvPr id="1048701" name="Horizontal Scroll 7"/>
          <p:cNvSpPr/>
          <p:nvPr/>
        </p:nvSpPr>
        <p:spPr>
          <a:xfrm>
            <a:off x="7905115" y="779145"/>
            <a:ext cx="3324860" cy="1581785"/>
          </a:xfrm>
          <a:prstGeom prst="roundRect">
            <a:avLst>
              <a:gd name="adj" fmla="val 16186"/>
            </a:avLst>
          </a:prstGeom>
          <a:solidFill>
            <a:srgbClr val="3A1E08">
              <a:alpha val="72000"/>
            </a:srgbClr>
          </a:solidFill>
          <a:ln w="15875">
            <a:solidFill>
              <a:srgbClr val="FBBF24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702" name="Text Box 8"/>
          <p:cNvSpPr txBox="1"/>
          <p:nvPr/>
        </p:nvSpPr>
        <p:spPr>
          <a:xfrm>
            <a:off x="8355330" y="1146175"/>
            <a:ext cx="2874645" cy="9296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" b="1">
                <a:solidFill>
                  <a:srgbClr val="FFFFFF"/>
                </a:solidFill>
              </a:rPr>
              <a:t>Not: TPU kullan</a:t>
            </a:r>
            <a:r>
              <a:rPr lang="en-US" altLang="en-US" sz="1600" b="1">
                <a:solidFill>
                  <a:srgbClr val="FFFFFF"/>
                </a:solidFill>
              </a:rPr>
              <a:t>ı</a:t>
            </a:r>
            <a:r>
              <a:rPr lang="en-US" altLang="en-GB" sz="1600" b="1">
                <a:solidFill>
                  <a:srgbClr val="FFFFFF"/>
                </a:solidFill>
              </a:rPr>
              <a:t>l</a:t>
            </a:r>
            <a:r>
              <a:rPr lang="en-US" altLang="en-US" sz="1600" b="1">
                <a:solidFill>
                  <a:srgbClr val="FFFFFF"/>
                </a:solidFill>
              </a:rPr>
              <a:t>ı</a:t>
            </a:r>
            <a:r>
              <a:rPr lang="en-US" altLang="en-GB" sz="1600" b="1">
                <a:solidFill>
                  <a:srgbClr val="FFFFFF"/>
                </a:solidFill>
              </a:rPr>
              <a:t>yorsa sorun </a:t>
            </a:r>
            <a:r>
              <a:rPr lang="en-US" altLang="en-US" sz="1600" b="1">
                <a:solidFill>
                  <a:srgbClr val="FFFFFF"/>
                </a:solidFill>
              </a:rPr>
              <a:t>çı</a:t>
            </a:r>
            <a:r>
              <a:rPr lang="en-US" altLang="en-GB" sz="1600" b="1">
                <a:solidFill>
                  <a:srgbClr val="FFFFFF"/>
                </a:solidFill>
              </a:rPr>
              <a:t>kabilir, </a:t>
            </a:r>
            <a:r>
              <a:rPr lang="en-US" altLang="en-US" sz="1600" b="1">
                <a:solidFill>
                  <a:srgbClr val="FFFFFF"/>
                </a:solidFill>
              </a:rPr>
              <a:t>ç</a:t>
            </a:r>
            <a:r>
              <a:rPr lang="en-US" altLang="en-US" sz="1600" b="1">
                <a:solidFill>
                  <a:srgbClr val="FFFFFF"/>
                </a:solidFill>
              </a:rPr>
              <a:t>ü</a:t>
            </a:r>
            <a:r>
              <a:rPr lang="en-US" altLang="en-GB" sz="1600" b="1">
                <a:solidFill>
                  <a:srgbClr val="FFFFFF"/>
                </a:solidFill>
              </a:rPr>
              <a:t>nk</a:t>
            </a:r>
            <a:r>
              <a:rPr lang="en-US" altLang="en-US" sz="1600" b="1">
                <a:solidFill>
                  <a:srgbClr val="FFFFFF"/>
                </a:solidFill>
              </a:rPr>
              <a:t>ü</a:t>
            </a:r>
            <a:r>
              <a:rPr lang="en-US" altLang="en-GB" sz="1600" b="1">
                <a:solidFill>
                  <a:srgbClr val="FFFFFF"/>
                </a:solidFill>
              </a:rPr>
              <a:t> TPU sabit boyut tercih eder.</a:t>
            </a:r>
            <a:endParaRPr lang="en-US" altLang="en-GB" sz="1600" b="1"/>
          </a:p>
        </p:txBody>
      </p:sp>
      <p:sp>
        <p:nvSpPr>
          <p:cNvPr id="1048703" name="Text Box 9"/>
          <p:cNvSpPr txBox="1"/>
          <p:nvPr/>
        </p:nvSpPr>
        <p:spPr>
          <a:xfrm>
            <a:off x="7455535" y="2978150"/>
            <a:ext cx="3959860" cy="1310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Collate function: </a:t>
            </a:r>
            <a:r>
              <a:rPr lang="en-US" altLang="en-US" b="1">
                <a:solidFill>
                  <a:schemeClr val="bg1"/>
                </a:solidFill>
              </a:rPr>
              <a:t>Ö</a:t>
            </a:r>
            <a:r>
              <a:rPr lang="en-US" altLang="en-GB" b="1">
                <a:solidFill>
                  <a:schemeClr val="bg1"/>
                </a:solidFill>
              </a:rPr>
              <a:t>rnekleri bir araya getirip batch 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Hugging Face bunun i</a:t>
            </a:r>
            <a:r>
              <a:rPr lang="en-US" altLang="en-US" b="1">
                <a:solidFill>
                  <a:schemeClr val="bg1"/>
                </a:solidFill>
              </a:rPr>
              <a:t>ç</a:t>
            </a:r>
            <a:r>
              <a:rPr lang="en-US" altLang="en-GB" b="1">
                <a:solidFill>
                  <a:schemeClr val="bg1"/>
                </a:solidFill>
              </a:rPr>
              <a:t>in haz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r bir ara</a:t>
            </a:r>
            <a:r>
              <a:rPr lang="en-US" altLang="en-US" b="1">
                <a:solidFill>
                  <a:schemeClr val="bg1"/>
                </a:solidFill>
              </a:rPr>
              <a:t>ç</a:t>
            </a:r>
            <a:r>
              <a:rPr lang="en-US" altLang="en-GB" b="1">
                <a:solidFill>
                  <a:schemeClr val="bg1"/>
                </a:solidFill>
              </a:rPr>
              <a:t> sunar:</a:t>
            </a:r>
            <a:endParaRPr lang="en-US" altLang="en-GB" b="1">
              <a:solidFill>
                <a:schemeClr val="bg1"/>
              </a:solidFill>
            </a:endParaRPr>
          </a:p>
        </p:txBody>
      </p:sp>
      <p:pic>
        <p:nvPicPr>
          <p:cNvPr id="2097165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980" y="4546600"/>
            <a:ext cx="6711950" cy="871855"/>
          </a:xfrm>
          <a:prstGeom prst="roundRect">
            <a:avLst>
              <a:gd name="adj" fmla="val 6000"/>
            </a:avLst>
          </a:prstGeom>
          <a:ln w="19050">
            <a:solidFill>
              <a:srgbClr val="38BDF8">
                <a:alpha val="70000"/>
              </a:srgbClr>
            </a:solidFill>
          </a:ln>
          <a:effectLst>
            <a:outerShdw blurRad="1905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1048704" name="Text Box 12"/>
          <p:cNvSpPr txBox="1"/>
          <p:nvPr/>
        </p:nvSpPr>
        <p:spPr>
          <a:xfrm>
            <a:off x="4649470" y="5521960"/>
            <a:ext cx="6904355" cy="7010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Tokenizer'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 al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r; hangi padding token'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n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 kullanaca</a:t>
            </a:r>
            <a:r>
              <a:rPr lang="en-US" altLang="en-US" b="1">
                <a:solidFill>
                  <a:schemeClr val="bg1"/>
                </a:solidFill>
              </a:rPr>
              <a:t>ğı</a:t>
            </a:r>
            <a:r>
              <a:rPr lang="en-US" altLang="en-GB" b="1">
                <a:solidFill>
                  <a:schemeClr val="bg1"/>
                </a:solidFill>
              </a:rPr>
              <a:t>n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 ve padding'in sa</a:t>
            </a:r>
            <a:r>
              <a:rPr lang="en-US" altLang="en-US" b="1">
                <a:solidFill>
                  <a:schemeClr val="bg1"/>
                </a:solidFill>
              </a:rPr>
              <a:t>ğ</a:t>
            </a:r>
            <a:r>
              <a:rPr lang="en-US" altLang="en-GB" b="1">
                <a:solidFill>
                  <a:schemeClr val="bg1"/>
                </a:solidFill>
              </a:rPr>
              <a:t>a m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 sola m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 yap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laca</a:t>
            </a:r>
            <a:r>
              <a:rPr lang="en-US" altLang="en-US" b="1">
                <a:solidFill>
                  <a:schemeClr val="bg1"/>
                </a:solidFill>
              </a:rPr>
              <a:t>ğı</a:t>
            </a:r>
            <a:r>
              <a:rPr lang="en-US" altLang="en-GB" b="1">
                <a:solidFill>
                  <a:schemeClr val="bg1"/>
                </a:solidFill>
              </a:rPr>
              <a:t>n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 bili</a:t>
            </a:r>
            <a:r>
              <a:rPr lang="tr-TR" altLang="en-US" b="1">
                <a:solidFill>
                  <a:schemeClr val="bg1"/>
                </a:solidFill>
              </a:rPr>
              <a:t>r.</a:t>
            </a:r>
            <a:endParaRPr lang="tr-TR" altLang="en-US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Panel"/>
          <p:cNvSpPr/>
          <p:nvPr/>
        </p:nvSpPr>
        <p:spPr>
          <a:xfrm>
            <a:off x="365760" y="365760"/>
            <a:ext cx="11430000" cy="6035040"/>
          </a:xfrm>
          <a:prstGeom prst="roundRect">
            <a:avLst>
              <a:gd name="adj" fmla="val 4242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txBody>
          <a:bodyPr/>
          <a:p>
            <a:endParaRPr lang="tr-TR"/>
          </a:p>
        </p:txBody>
      </p:sp>
      <p:sp>
        <p:nvSpPr>
          <p:cNvPr id="1048706" name="文本框 12"/>
          <p:cNvSpPr txBox="1"/>
          <p:nvPr/>
        </p:nvSpPr>
        <p:spPr>
          <a:xfrm>
            <a:off x="642811" y="787091"/>
            <a:ext cx="1559369" cy="4343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ctr"/>
            <a:r>
              <a:rPr lang="en-US" altLang="en-GB" sz="2000" b="1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Deneme:</a:t>
            </a:r>
            <a:endParaRPr lang="en-US" altLang="en-GB" sz="2000" b="1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pic>
        <p:nvPicPr>
          <p:cNvPr id="2097166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" y="1450975"/>
            <a:ext cx="6725920" cy="801370"/>
          </a:xfrm>
          <a:prstGeom prst="roundRect">
            <a:avLst>
              <a:gd name="adj" fmla="val 6000"/>
            </a:avLst>
          </a:prstGeom>
          <a:ln w="19050">
            <a:solidFill>
              <a:srgbClr val="38BDF8">
                <a:alpha val="70000"/>
              </a:srgbClr>
            </a:solidFill>
          </a:ln>
          <a:effectLst>
            <a:outerShdw blurRad="1905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1048707" name="Text Box 10"/>
          <p:cNvSpPr txBox="1"/>
          <p:nvPr/>
        </p:nvSpPr>
        <p:spPr>
          <a:xfrm>
            <a:off x="815340" y="2407285"/>
            <a:ext cx="1034161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• </a:t>
            </a:r>
            <a:r>
              <a:rPr lang="en-US" altLang="en-US" b="1">
                <a:solidFill>
                  <a:schemeClr val="bg1"/>
                </a:solidFill>
              </a:rPr>
              <a:t>İ</a:t>
            </a:r>
            <a:r>
              <a:rPr lang="en-US" altLang="en-GB" b="1">
                <a:solidFill>
                  <a:schemeClr val="bg1"/>
                </a:solidFill>
              </a:rPr>
              <a:t>lk 8 </a:t>
            </a:r>
            <a:r>
              <a:rPr lang="en-US" altLang="en-US" b="1">
                <a:solidFill>
                  <a:schemeClr val="bg1"/>
                </a:solidFill>
              </a:rPr>
              <a:t>ö</a:t>
            </a:r>
            <a:r>
              <a:rPr lang="en-US" altLang="en-GB" b="1">
                <a:solidFill>
                  <a:schemeClr val="bg1"/>
                </a:solidFill>
              </a:rPr>
              <a:t>rne</a:t>
            </a:r>
            <a:r>
              <a:rPr lang="en-US" altLang="en-US" b="1">
                <a:solidFill>
                  <a:schemeClr val="bg1"/>
                </a:solidFill>
              </a:rPr>
              <a:t>ğ</a:t>
            </a:r>
            <a:r>
              <a:rPr lang="en-US" altLang="en-GB" b="1">
                <a:solidFill>
                  <a:schemeClr val="bg1"/>
                </a:solidFill>
              </a:rPr>
              <a:t>in uzunluklar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 32 ile 67 aras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nda de</a:t>
            </a:r>
            <a:r>
              <a:rPr lang="en-US" altLang="en-US" b="1">
                <a:solidFill>
                  <a:schemeClr val="bg1"/>
                </a:solidFill>
              </a:rPr>
              <a:t>ğ</a:t>
            </a:r>
            <a:r>
              <a:rPr lang="en-US" altLang="en-GB" b="1">
                <a:solidFill>
                  <a:schemeClr val="bg1"/>
                </a:solidFill>
              </a:rPr>
              <a:t>i</a:t>
            </a:r>
            <a:r>
              <a:rPr lang="en-US" altLang="en-US" b="1">
                <a:solidFill>
                  <a:schemeClr val="bg1"/>
                </a:solidFill>
              </a:rPr>
              <a:t>ş</a:t>
            </a:r>
            <a:r>
              <a:rPr lang="en-US" altLang="en-GB" b="1">
                <a:solidFill>
                  <a:schemeClr val="bg1"/>
                </a:solidFill>
              </a:rPr>
              <a:t>iyor.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• idx, sentence1, sentence2 s</a:t>
            </a:r>
            <a:r>
              <a:rPr lang="en-US" altLang="en-US" b="1">
                <a:solidFill>
                  <a:schemeClr val="bg1"/>
                </a:solidFill>
              </a:rPr>
              <a:t>ü</a:t>
            </a:r>
            <a:r>
              <a:rPr lang="en-US" altLang="en-GB" b="1">
                <a:solidFill>
                  <a:schemeClr val="bg1"/>
                </a:solidFill>
              </a:rPr>
              <a:t>tunlar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 silindi, </a:t>
            </a:r>
            <a:r>
              <a:rPr lang="en-US" altLang="en-US" b="1">
                <a:solidFill>
                  <a:schemeClr val="bg1"/>
                </a:solidFill>
              </a:rPr>
              <a:t>ç</a:t>
            </a:r>
            <a:r>
              <a:rPr lang="en-US" altLang="en-US" b="1">
                <a:solidFill>
                  <a:schemeClr val="bg1"/>
                </a:solidFill>
              </a:rPr>
              <a:t>ü</a:t>
            </a:r>
            <a:r>
              <a:rPr lang="en-US" altLang="en-GB" b="1">
                <a:solidFill>
                  <a:schemeClr val="bg1"/>
                </a:solidFill>
              </a:rPr>
              <a:t>nk</a:t>
            </a:r>
            <a:r>
              <a:rPr lang="en-US" altLang="en-US" b="1">
                <a:solidFill>
                  <a:schemeClr val="bg1"/>
                </a:solidFill>
              </a:rPr>
              <a:t>ü</a:t>
            </a:r>
            <a:r>
              <a:rPr lang="en-US" altLang="en-GB" b="1">
                <a:solidFill>
                  <a:schemeClr val="bg1"/>
                </a:solidFill>
              </a:rPr>
              <a:t> i</a:t>
            </a:r>
            <a:r>
              <a:rPr lang="en-US" altLang="en-US" b="1">
                <a:solidFill>
                  <a:schemeClr val="bg1"/>
                </a:solidFill>
              </a:rPr>
              <a:t>ç</a:t>
            </a:r>
            <a:r>
              <a:rPr lang="en-US" altLang="en-GB" b="1">
                <a:solidFill>
                  <a:schemeClr val="bg1"/>
                </a:solidFill>
              </a:rPr>
              <a:t>lerinde metin var ve metinden tens</a:t>
            </a:r>
            <a:r>
              <a:rPr lang="en-US" altLang="en-US" b="1">
                <a:solidFill>
                  <a:schemeClr val="bg1"/>
                </a:solidFill>
              </a:rPr>
              <a:t>ö</a:t>
            </a:r>
            <a:r>
              <a:rPr lang="en-US" altLang="en-GB" b="1">
                <a:solidFill>
                  <a:schemeClr val="bg1"/>
                </a:solidFill>
              </a:rPr>
              <a:t>r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(say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 matrisi) olu</a:t>
            </a:r>
            <a:r>
              <a:rPr lang="en-US" altLang="en-US" b="1">
                <a:solidFill>
                  <a:schemeClr val="bg1"/>
                </a:solidFill>
              </a:rPr>
              <a:t>ş</a:t>
            </a:r>
            <a:r>
              <a:rPr lang="en-US" altLang="en-GB" b="1">
                <a:solidFill>
                  <a:schemeClr val="bg1"/>
                </a:solidFill>
              </a:rPr>
              <a:t>turulamaz.</a:t>
            </a:r>
            <a:endParaRPr lang="en-US" altLang="en-GB" b="1">
              <a:solidFill>
                <a:schemeClr val="bg1"/>
              </a:solidFill>
            </a:endParaRPr>
          </a:p>
        </p:txBody>
      </p:sp>
      <p:pic>
        <p:nvPicPr>
          <p:cNvPr id="2097167" name="Picture 13"/>
          <p:cNvPicPr>
            <a:picLocks noChangeAspect="1"/>
          </p:cNvPicPr>
          <p:nvPr/>
        </p:nvPicPr>
        <p:blipFill>
          <a:blip r:embed="rId3"/>
          <a:srcRect r="29351"/>
          <a:stretch>
            <a:fillRect/>
          </a:stretch>
        </p:blipFill>
        <p:spPr>
          <a:xfrm>
            <a:off x="815340" y="3898900"/>
            <a:ext cx="4371340" cy="1534795"/>
          </a:xfrm>
          <a:prstGeom prst="roundRect">
            <a:avLst>
              <a:gd name="adj" fmla="val 6000"/>
            </a:avLst>
          </a:prstGeom>
          <a:ln w="19050">
            <a:solidFill>
              <a:srgbClr val="38BDF8">
                <a:alpha val="70000"/>
              </a:srgbClr>
            </a:solidFill>
          </a:ln>
          <a:effectLst>
            <a:outerShdw blurRad="1905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1048708" name="Text Box 17"/>
          <p:cNvSpPr txBox="1"/>
          <p:nvPr/>
        </p:nvSpPr>
        <p:spPr>
          <a:xfrm>
            <a:off x="5654675" y="3789680"/>
            <a:ext cx="6217285" cy="19202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• Hepsi batch i</a:t>
            </a:r>
            <a:r>
              <a:rPr lang="en-US" altLang="en-US" b="1">
                <a:solidFill>
                  <a:schemeClr val="bg1"/>
                </a:solidFill>
              </a:rPr>
              <a:t>ç</a:t>
            </a:r>
            <a:r>
              <a:rPr lang="en-US" altLang="en-GB" b="1">
                <a:solidFill>
                  <a:schemeClr val="bg1"/>
                </a:solidFill>
              </a:rPr>
              <a:t>indeki en uzun </a:t>
            </a:r>
            <a:r>
              <a:rPr lang="en-US" altLang="en-US" b="1">
                <a:solidFill>
                  <a:schemeClr val="bg1"/>
                </a:solidFill>
              </a:rPr>
              <a:t>ö</a:t>
            </a:r>
            <a:r>
              <a:rPr lang="en-US" altLang="en-GB" b="1">
                <a:solidFill>
                  <a:schemeClr val="bg1"/>
                </a:solidFill>
              </a:rPr>
              <a:t>rne</a:t>
            </a:r>
            <a:r>
              <a:rPr lang="en-US" altLang="en-US" b="1">
                <a:solidFill>
                  <a:schemeClr val="bg1"/>
                </a:solidFill>
              </a:rPr>
              <a:t>ğ</a:t>
            </a:r>
            <a:r>
              <a:rPr lang="en-US" altLang="en-GB" b="1">
                <a:solidFill>
                  <a:schemeClr val="bg1"/>
                </a:solidFill>
              </a:rPr>
              <a:t>e g</a:t>
            </a:r>
            <a:r>
              <a:rPr lang="en-US" altLang="en-US" b="1">
                <a:solidFill>
                  <a:schemeClr val="bg1"/>
                </a:solidFill>
              </a:rPr>
              <a:t>ö</a:t>
            </a:r>
            <a:r>
              <a:rPr lang="en-US" altLang="en-GB" b="1">
                <a:solidFill>
                  <a:schemeClr val="bg1"/>
                </a:solidFill>
              </a:rPr>
              <a:t>re 67'ye doldu.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• [8, 67] = 8 </a:t>
            </a:r>
            <a:r>
              <a:rPr lang="en-US" altLang="en-US" b="1">
                <a:solidFill>
                  <a:schemeClr val="bg1"/>
                </a:solidFill>
              </a:rPr>
              <a:t>ö</a:t>
            </a:r>
            <a:r>
              <a:rPr lang="en-US" altLang="en-GB" b="1">
                <a:solidFill>
                  <a:schemeClr val="bg1"/>
                </a:solidFill>
              </a:rPr>
              <a:t>rnek </a:t>
            </a:r>
            <a:r>
              <a:rPr lang="en-US" altLang="en-US" b="1">
                <a:solidFill>
                  <a:schemeClr val="bg1"/>
                </a:solidFill>
              </a:rPr>
              <a:t>×</a:t>
            </a:r>
            <a:r>
              <a:rPr lang="en-US" altLang="en-GB" b="1">
                <a:solidFill>
                  <a:schemeClr val="bg1"/>
                </a:solidFill>
              </a:rPr>
              <a:t> 67 token.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• label s</a:t>
            </a:r>
            <a:r>
              <a:rPr lang="en-US" altLang="en-US" b="1">
                <a:solidFill>
                  <a:schemeClr val="bg1"/>
                </a:solidFill>
              </a:rPr>
              <a:t>ü</a:t>
            </a:r>
            <a:r>
              <a:rPr lang="en-US" altLang="en-GB" b="1">
                <a:solidFill>
                  <a:schemeClr val="bg1"/>
                </a:solidFill>
              </a:rPr>
              <a:t>tunu otomatik olarak labels ad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n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 ald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 (modelin bekledi</a:t>
            </a:r>
            <a:r>
              <a:rPr lang="en-US" altLang="en-US" b="1">
                <a:solidFill>
                  <a:schemeClr val="bg1"/>
                </a:solidFill>
              </a:rPr>
              <a:t>ğ</a:t>
            </a:r>
            <a:r>
              <a:rPr lang="en-US" altLang="en-GB" b="1">
                <a:solidFill>
                  <a:schemeClr val="bg1"/>
                </a:solidFill>
              </a:rPr>
              <a:t>i isim).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Art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k ham metinden modelin i</a:t>
            </a:r>
            <a:r>
              <a:rPr lang="en-US" altLang="en-US" b="1">
                <a:solidFill>
                  <a:schemeClr val="bg1"/>
                </a:solidFill>
              </a:rPr>
              <a:t>ş</a:t>
            </a:r>
            <a:r>
              <a:rPr lang="en-US" altLang="en-GB" b="1">
                <a:solidFill>
                  <a:schemeClr val="bg1"/>
                </a:solidFill>
              </a:rPr>
              <a:t>leyebilece</a:t>
            </a:r>
            <a:r>
              <a:rPr lang="en-US" altLang="en-US" b="1">
                <a:solidFill>
                  <a:schemeClr val="bg1"/>
                </a:solidFill>
              </a:rPr>
              <a:t>ğ</a:t>
            </a:r>
            <a:r>
              <a:rPr lang="en-US" altLang="en-GB" b="1">
                <a:solidFill>
                  <a:schemeClr val="bg1"/>
                </a:solidFill>
              </a:rPr>
              <a:t>i batch'lere ula</a:t>
            </a:r>
            <a:r>
              <a:rPr lang="en-US" altLang="en-US" b="1">
                <a:solidFill>
                  <a:schemeClr val="bg1"/>
                </a:solidFill>
              </a:rPr>
              <a:t>ş</a:t>
            </a:r>
            <a:r>
              <a:rPr lang="en-US" altLang="en-GB" b="1">
                <a:solidFill>
                  <a:schemeClr val="bg1"/>
                </a:solidFill>
              </a:rPr>
              <a:t>t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k, fine-tuning'e haz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r</a:t>
            </a:r>
            <a:r>
              <a:rPr lang="en-US" altLang="en-US" b="1">
                <a:solidFill>
                  <a:schemeClr val="bg1"/>
                </a:solidFill>
              </a:rPr>
              <a:t>ı</a:t>
            </a:r>
            <a:r>
              <a:rPr lang="en-US" altLang="en-GB" b="1">
                <a:solidFill>
                  <a:schemeClr val="bg1"/>
                </a:solidFill>
              </a:rPr>
              <a:t>z.</a:t>
            </a:r>
            <a:endParaRPr lang="en-US" altLang="en-GB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Text Box 8"/>
          <p:cNvSpPr txBox="1"/>
          <p:nvPr/>
        </p:nvSpPr>
        <p:spPr>
          <a:xfrm>
            <a:off x="3402965" y="416560"/>
            <a:ext cx="5770880" cy="5613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tr-TR" altLang="en-US" sz="2800" b="1">
                <a:solidFill>
                  <a:schemeClr val="accent2"/>
                </a:solidFill>
              </a:rPr>
              <a:t>3.3 </a:t>
            </a:r>
            <a:r>
              <a:rPr lang="en-US" altLang="en-GB" sz="2800" b="1">
                <a:solidFill>
                  <a:schemeClr val="accent2"/>
                </a:solidFill>
              </a:rPr>
              <a:t>Trainer API ile model e</a:t>
            </a:r>
            <a:r>
              <a:rPr lang="en-US" altLang="en-US" sz="2800" b="1">
                <a:solidFill>
                  <a:schemeClr val="accent2"/>
                </a:solidFill>
              </a:rPr>
              <a:t>ğ</a:t>
            </a:r>
            <a:r>
              <a:rPr lang="en-US" altLang="en-GB" sz="2800" b="1">
                <a:solidFill>
                  <a:schemeClr val="accent2"/>
                </a:solidFill>
              </a:rPr>
              <a:t>itimi</a:t>
            </a:r>
            <a:endParaRPr lang="en-US" altLang="en-GB" sz="2800" b="1">
              <a:solidFill>
                <a:schemeClr val="accent2"/>
              </a:solidFill>
            </a:endParaRPr>
          </a:p>
        </p:txBody>
      </p:sp>
      <p:sp>
        <p:nvSpPr>
          <p:cNvPr id="1048712" name="Flowchart: Process 9"/>
          <p:cNvSpPr/>
          <p:nvPr/>
        </p:nvSpPr>
        <p:spPr>
          <a:xfrm>
            <a:off x="695325" y="1554480"/>
            <a:ext cx="3175000" cy="3865245"/>
          </a:xfrm>
          <a:prstGeom prst="roundRect">
            <a:avLst>
              <a:gd name="adj" fmla="val 8064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713" name="Text Box 19"/>
          <p:cNvSpPr txBox="1"/>
          <p:nvPr/>
        </p:nvSpPr>
        <p:spPr>
          <a:xfrm>
            <a:off x="954405" y="1960880"/>
            <a:ext cx="2783840" cy="2824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000" b="1">
                <a:solidFill>
                  <a:srgbClr val="FFFFFF"/>
                </a:solidFill>
              </a:rPr>
              <a:t>T</a:t>
            </a:r>
            <a:r>
              <a:rPr lang="en-US" altLang="en-GB" sz="2400" b="1">
                <a:solidFill>
                  <a:srgbClr val="FFFFFF"/>
                </a:solidFill>
              </a:rPr>
              <a:t>rainer, haz</a:t>
            </a:r>
            <a:r>
              <a:rPr lang="en-US" altLang="en-US" sz="2400" b="1">
                <a:solidFill>
                  <a:srgbClr val="FFFFFF"/>
                </a:solidFill>
              </a:rPr>
              <a:t>ı</a:t>
            </a:r>
            <a:r>
              <a:rPr lang="en-US" altLang="en-GB" sz="2400" b="1">
                <a:solidFill>
                  <a:srgbClr val="FFFFFF"/>
                </a:solidFill>
              </a:rPr>
              <a:t>r bir modeli kendi verimizle e</a:t>
            </a:r>
            <a:r>
              <a:rPr lang="en-US" altLang="en-US" sz="2400" b="1">
                <a:solidFill>
                  <a:srgbClr val="FFFFFF"/>
                </a:solidFill>
              </a:rPr>
              <a:t>ğ</a:t>
            </a:r>
            <a:r>
              <a:rPr lang="en-US" altLang="en-GB" sz="2400" b="1">
                <a:solidFill>
                  <a:srgbClr val="FFFFFF"/>
                </a:solidFill>
              </a:rPr>
              <a:t>itmemizi (fine-tuning </a:t>
            </a:r>
            <a:endParaRPr lang="en-US" altLang="en-GB" sz="2400" b="1"/>
          </a:p>
          <a:p>
            <a:r>
              <a:rPr lang="en-US" altLang="en-GB" sz="2400" b="1">
                <a:solidFill>
                  <a:srgbClr val="FFFFFF"/>
                </a:solidFill>
              </a:rPr>
              <a:t>yapmam</a:t>
            </a:r>
            <a:r>
              <a:rPr lang="en-US" altLang="en-US" sz="2400" b="1">
                <a:solidFill>
                  <a:srgbClr val="FFFFFF"/>
                </a:solidFill>
              </a:rPr>
              <a:t>ı</a:t>
            </a:r>
            <a:r>
              <a:rPr lang="en-US" altLang="en-GB" sz="2400" b="1">
                <a:solidFill>
                  <a:srgbClr val="FFFFFF"/>
                </a:solidFill>
              </a:rPr>
              <a:t>z</a:t>
            </a:r>
            <a:r>
              <a:rPr lang="en-US" altLang="en-US" sz="2400" b="1">
                <a:solidFill>
                  <a:srgbClr val="FFFFFF"/>
                </a:solidFill>
              </a:rPr>
              <a:t>ı</a:t>
            </a:r>
            <a:r>
              <a:rPr lang="en-US" altLang="en-GB" sz="2400" b="1">
                <a:solidFill>
                  <a:srgbClr val="FFFFFF"/>
                </a:solidFill>
              </a:rPr>
              <a:t>) kolayla</a:t>
            </a:r>
            <a:r>
              <a:rPr lang="en-US" altLang="en-US" sz="2400" b="1">
                <a:solidFill>
                  <a:srgbClr val="FFFFFF"/>
                </a:solidFill>
              </a:rPr>
              <a:t>ş</a:t>
            </a:r>
            <a:r>
              <a:rPr lang="en-US" altLang="en-GB" sz="2400" b="1">
                <a:solidFill>
                  <a:srgbClr val="FFFFFF"/>
                </a:solidFill>
              </a:rPr>
              <a:t>t</a:t>
            </a:r>
            <a:r>
              <a:rPr lang="en-US" altLang="en-US" sz="2400" b="1">
                <a:solidFill>
                  <a:srgbClr val="FFFFFF"/>
                </a:solidFill>
              </a:rPr>
              <a:t>ı</a:t>
            </a:r>
            <a:r>
              <a:rPr lang="en-US" altLang="en-GB" sz="2400" b="1">
                <a:solidFill>
                  <a:srgbClr val="FFFFFF"/>
                </a:solidFill>
              </a:rPr>
              <a:t>ran haz</a:t>
            </a:r>
            <a:r>
              <a:rPr lang="en-US" altLang="en-US" sz="2400" b="1">
                <a:solidFill>
                  <a:srgbClr val="FFFFFF"/>
                </a:solidFill>
              </a:rPr>
              <a:t>ı</a:t>
            </a:r>
            <a:r>
              <a:rPr lang="en-US" altLang="en-GB" sz="2400" b="1">
                <a:solidFill>
                  <a:srgbClr val="FFFFFF"/>
                </a:solidFill>
              </a:rPr>
              <a:t>r bir s</a:t>
            </a:r>
            <a:r>
              <a:rPr lang="en-US" altLang="en-US" sz="2400" b="1">
                <a:solidFill>
                  <a:srgbClr val="FFFFFF"/>
                </a:solidFill>
              </a:rPr>
              <a:t>ı</a:t>
            </a:r>
            <a:r>
              <a:rPr lang="en-US" altLang="en-GB" sz="2400" b="1">
                <a:solidFill>
                  <a:srgbClr val="FFFFFF"/>
                </a:solidFill>
              </a:rPr>
              <a:t>n</a:t>
            </a:r>
            <a:r>
              <a:rPr lang="en-US" altLang="en-US" sz="2400" b="1">
                <a:solidFill>
                  <a:srgbClr val="FFFFFF"/>
                </a:solidFill>
              </a:rPr>
              <a:t>ı</a:t>
            </a:r>
            <a:r>
              <a:rPr lang="en-US" altLang="en-GB" sz="2400" b="1">
                <a:solidFill>
                  <a:srgbClr val="FFFFFF"/>
                </a:solidFill>
              </a:rPr>
              <a:t>ft</a:t>
            </a:r>
            <a:r>
              <a:rPr lang="en-US" altLang="en-US" sz="2400" b="1">
                <a:solidFill>
                  <a:srgbClr val="FFFFFF"/>
                </a:solidFill>
              </a:rPr>
              <a:t>ı</a:t>
            </a:r>
            <a:r>
              <a:rPr lang="en-US" altLang="en-GB" sz="2400" b="1">
                <a:solidFill>
                  <a:srgbClr val="FFFFFF"/>
                </a:solidFill>
              </a:rPr>
              <a:t>r.</a:t>
            </a:r>
            <a:endParaRPr lang="en-US" altLang="en-GB" sz="2400" b="1"/>
          </a:p>
        </p:txBody>
      </p:sp>
      <p:sp>
        <p:nvSpPr>
          <p:cNvPr id="1048714" name="Rounded Rectangle 26"/>
          <p:cNvSpPr/>
          <p:nvPr/>
        </p:nvSpPr>
        <p:spPr>
          <a:xfrm>
            <a:off x="4446905" y="1547173"/>
            <a:ext cx="3519170" cy="4975546"/>
          </a:xfrm>
          <a:prstGeom prst="roundRect">
            <a:avLst>
              <a:gd name="adj" fmla="val 7275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715" name="Rounded Rectangle 27"/>
          <p:cNvSpPr/>
          <p:nvPr/>
        </p:nvSpPr>
        <p:spPr>
          <a:xfrm>
            <a:off x="8312150" y="1417320"/>
            <a:ext cx="3199765" cy="5105400"/>
          </a:xfrm>
          <a:prstGeom prst="roundRect">
            <a:avLst>
              <a:gd name="adj" fmla="val 8001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716" name="Text Box 32"/>
          <p:cNvSpPr txBox="1"/>
          <p:nvPr/>
        </p:nvSpPr>
        <p:spPr>
          <a:xfrm rot="2775">
            <a:off x="4780605" y="1657296"/>
            <a:ext cx="3015600" cy="1120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rgbClr val="FBBF24"/>
                </a:solidFill>
              </a:rPr>
              <a:t>Ad</a:t>
            </a:r>
            <a:r>
              <a:rPr lang="en-US" altLang="en-US" sz="2000" b="1">
                <a:solidFill>
                  <a:srgbClr val="FBBF24"/>
                </a:solidFill>
              </a:rPr>
              <a:t>ı</a:t>
            </a:r>
            <a:r>
              <a:rPr lang="en-US" altLang="en-GB" sz="2000" b="1">
                <a:solidFill>
                  <a:srgbClr val="FBBF24"/>
                </a:solidFill>
              </a:rPr>
              <a:t>m 1:</a:t>
            </a:r>
            <a:r>
              <a:rPr lang="en-US" altLang="en-GB" sz="2000" b="1">
                <a:solidFill>
                  <a:srgbClr val="FFFFFF"/>
                </a:solidFill>
              </a:rPr>
              <a:t> TrainingArguments (E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itim Arg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manlar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)</a:t>
            </a:r>
            <a:endParaRPr lang="en-US" altLang="en-GB" sz="2000" b="1">
              <a:solidFill>
                <a:schemeClr val="tx1"/>
              </a:solidFill>
            </a:endParaRPr>
          </a:p>
        </p:txBody>
      </p:sp>
      <p:sp>
        <p:nvSpPr>
          <p:cNvPr id="1048717" name="Text Box 33"/>
          <p:cNvSpPr txBox="1"/>
          <p:nvPr/>
        </p:nvSpPr>
        <p:spPr>
          <a:xfrm>
            <a:off x="4735195" y="2951480"/>
            <a:ext cx="307848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rgbClr val="FFFFFF"/>
                </a:solidFill>
              </a:rPr>
              <a:t>TrainingArguments, e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itimin t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m ayarlar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n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 tek yerde toplayan s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n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ft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r. </a:t>
            </a:r>
            <a:endParaRPr lang="en-US" altLang="en-GB" sz="2000" b="1"/>
          </a:p>
          <a:p>
            <a:r>
              <a:rPr lang="en-US" altLang="en-GB" sz="2000" b="1">
                <a:solidFill>
                  <a:srgbClr val="FFFFFF"/>
                </a:solidFill>
              </a:rPr>
              <a:t>Zorunlu olan tek </a:t>
            </a:r>
            <a:r>
              <a:rPr lang="en-US" altLang="en-US" sz="2000" b="1">
                <a:solidFill>
                  <a:srgbClr val="FFFFFF"/>
                </a:solidFill>
              </a:rPr>
              <a:t>ş</a:t>
            </a:r>
            <a:r>
              <a:rPr lang="en-US" altLang="en-GB" sz="2000" b="1">
                <a:solidFill>
                  <a:srgbClr val="FFFFFF"/>
                </a:solidFill>
              </a:rPr>
              <a:t>ey e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itilen modelin kaydedilece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i klas</a:t>
            </a:r>
            <a:r>
              <a:rPr lang="en-US" altLang="en-US" sz="2000" b="1">
                <a:solidFill>
                  <a:srgbClr val="FFFFFF"/>
                </a:solidFill>
              </a:rPr>
              <a:t>ö</a:t>
            </a:r>
            <a:r>
              <a:rPr lang="en-US" altLang="en-GB" sz="2000" b="1">
                <a:solidFill>
                  <a:srgbClr val="FFFFFF"/>
                </a:solidFill>
              </a:rPr>
              <a:t>r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n ad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d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r; di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er </a:t>
            </a:r>
            <a:endParaRPr lang="en-US" altLang="en-GB" sz="2000" b="1"/>
          </a:p>
          <a:p>
            <a:r>
              <a:rPr lang="en-US" altLang="en-GB" sz="2000" b="1">
                <a:solidFill>
                  <a:srgbClr val="FFFFFF"/>
                </a:solidFill>
              </a:rPr>
              <a:t>ayarlar i</a:t>
            </a:r>
            <a:r>
              <a:rPr lang="en-US" altLang="en-US" sz="2000" b="1">
                <a:solidFill>
                  <a:srgbClr val="FFFFFF"/>
                </a:solidFill>
              </a:rPr>
              <a:t>ç</a:t>
            </a:r>
            <a:r>
              <a:rPr lang="en-US" altLang="en-GB" sz="2000" b="1">
                <a:solidFill>
                  <a:srgbClr val="FFFFFF"/>
                </a:solidFill>
              </a:rPr>
              <a:t>in varsay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lan de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erler yeterlidir.</a:t>
            </a:r>
            <a:endParaRPr lang="en-US" altLang="en-GB" sz="2000" b="1"/>
          </a:p>
        </p:txBody>
      </p:sp>
      <p:sp>
        <p:nvSpPr>
          <p:cNvPr id="1048718" name="Text Box 34"/>
          <p:cNvSpPr txBox="1"/>
          <p:nvPr/>
        </p:nvSpPr>
        <p:spPr>
          <a:xfrm>
            <a:off x="8449310" y="1656080"/>
            <a:ext cx="3062605" cy="7772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rgbClr val="FBBF24"/>
                </a:solidFill>
              </a:rPr>
              <a:t>Ad</a:t>
            </a:r>
            <a:r>
              <a:rPr lang="en-US" altLang="en-US" sz="2000" b="1">
                <a:solidFill>
                  <a:srgbClr val="FBBF24"/>
                </a:solidFill>
              </a:rPr>
              <a:t>ı</a:t>
            </a:r>
            <a:r>
              <a:rPr lang="en-US" altLang="en-GB" sz="2000" b="1">
                <a:solidFill>
                  <a:srgbClr val="FBBF24"/>
                </a:solidFill>
              </a:rPr>
              <a:t>m 2:</a:t>
            </a:r>
            <a:r>
              <a:rPr lang="en-US" altLang="en-GB" sz="2000" b="1">
                <a:solidFill>
                  <a:srgbClr val="FFFFFF"/>
                </a:solidFill>
              </a:rPr>
              <a:t> Modeli tan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mlama</a:t>
            </a:r>
            <a:endParaRPr lang="en-US" altLang="en-GB" sz="2000" b="1">
              <a:solidFill>
                <a:schemeClr val="tx1"/>
              </a:solidFill>
            </a:endParaRPr>
          </a:p>
        </p:txBody>
      </p:sp>
      <p:sp>
        <p:nvSpPr>
          <p:cNvPr id="1048719" name="Text Box 35"/>
          <p:cNvSpPr txBox="1"/>
          <p:nvPr/>
        </p:nvSpPr>
        <p:spPr>
          <a:xfrm>
            <a:off x="8438515" y="2677160"/>
            <a:ext cx="2819400" cy="21488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rgbClr val="FFFFFF"/>
                </a:solidFill>
              </a:rPr>
              <a:t>Bu ad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mda, c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mle </a:t>
            </a:r>
            <a:r>
              <a:rPr lang="en-US" altLang="en-US" sz="2000" b="1">
                <a:solidFill>
                  <a:srgbClr val="FFFFFF"/>
                </a:solidFill>
              </a:rPr>
              <a:t>ç</a:t>
            </a:r>
            <a:r>
              <a:rPr lang="en-US" altLang="en-GB" sz="2000" b="1">
                <a:solidFill>
                  <a:srgbClr val="FFFFFF"/>
                </a:solidFill>
              </a:rPr>
              <a:t>iftlerini iki gruptan birine (ayn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 anlamda / farkl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 </a:t>
            </a:r>
            <a:r>
              <a:rPr lang="en-US" altLang="en-GB" sz="2000" b="1">
                <a:solidFill>
                  <a:srgbClr val="FFFFFF"/>
                </a:solidFill>
              </a:rPr>
              <a:t>anlamda)</a:t>
            </a:r>
            <a:r>
              <a:rPr lang="en-US" altLang="en-GB" sz="2000" b="1">
                <a:solidFill>
                  <a:srgbClr val="FFFFFF"/>
                </a:solidFill>
              </a:rPr>
              <a:t> </a:t>
            </a:r>
            <a:r>
              <a:rPr lang="en-US" altLang="en-GB" sz="2000" b="1">
                <a:solidFill>
                  <a:srgbClr val="FFFFFF"/>
                </a:solidFill>
              </a:rPr>
              <a:t>ay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racak </a:t>
            </a:r>
            <a:r>
              <a:rPr lang="tr-TR" altLang="en-US" sz="2000" b="1">
                <a:solidFill>
                  <a:srgbClr val="FFFFFF"/>
                </a:solidFill>
              </a:rPr>
              <a:t>BERT </a:t>
            </a:r>
            <a:r>
              <a:rPr lang="en-US" altLang="en-GB" sz="2000" b="1">
                <a:solidFill>
                  <a:srgbClr val="FFFFFF"/>
                </a:solidFill>
              </a:rPr>
              <a:t>modeli</a:t>
            </a:r>
            <a:r>
              <a:rPr lang="tr-TR" altLang="en-US" sz="2000" b="1">
                <a:solidFill>
                  <a:srgbClr val="FFFFFF"/>
                </a:solidFill>
              </a:rPr>
              <a:t>ni </a:t>
            </a:r>
            <a:r>
              <a:rPr lang="en-US" altLang="en-GB" sz="2000" b="1">
                <a:solidFill>
                  <a:srgbClr val="FFFFFF"/>
                </a:solidFill>
              </a:rPr>
              <a:t>y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kl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yoruz</a:t>
            </a:r>
            <a:r>
              <a:rPr lang="tr-TR" altLang="en-US" sz="2000" b="1">
                <a:solidFill>
                  <a:srgbClr val="FFFFFF"/>
                </a:solidFill>
              </a:rPr>
              <a:t>.</a:t>
            </a:r>
            <a:endParaRPr lang="en-US" altLang="en-GB" sz="20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Flowchart: Process 1"/>
          <p:cNvSpPr/>
          <p:nvPr>
            <p:custDataLst>
              <p:tags r:id="rId2"/>
            </p:custDataLst>
          </p:nvPr>
        </p:nvSpPr>
        <p:spPr>
          <a:xfrm>
            <a:off x="1001395" y="937260"/>
            <a:ext cx="4267200" cy="5181600"/>
          </a:xfrm>
          <a:prstGeom prst="roundRect">
            <a:avLst>
              <a:gd name="adj" fmla="val 6000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721" name="Flowchart: Process 2"/>
          <p:cNvSpPr/>
          <p:nvPr>
            <p:custDataLst>
              <p:tags r:id="rId3"/>
            </p:custDataLst>
          </p:nvPr>
        </p:nvSpPr>
        <p:spPr>
          <a:xfrm>
            <a:off x="6923405" y="937260"/>
            <a:ext cx="4267200" cy="5181600"/>
          </a:xfrm>
          <a:prstGeom prst="roundRect">
            <a:avLst>
              <a:gd name="adj" fmla="val 6000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722" name="Text Box 4"/>
          <p:cNvSpPr txBox="1"/>
          <p:nvPr>
            <p:custDataLst>
              <p:tags r:id="rId4"/>
            </p:custDataLst>
          </p:nvPr>
        </p:nvSpPr>
        <p:spPr>
          <a:xfrm>
            <a:off x="1428750" y="1303020"/>
            <a:ext cx="3566160" cy="4343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rgbClr val="FBBF24"/>
                </a:solidFill>
              </a:rPr>
              <a:t>Ad</a:t>
            </a:r>
            <a:r>
              <a:rPr lang="en-US" altLang="en-US" sz="2000" b="1">
                <a:solidFill>
                  <a:srgbClr val="FBBF24"/>
                </a:solidFill>
              </a:rPr>
              <a:t>ı</a:t>
            </a:r>
            <a:r>
              <a:rPr lang="en-US" altLang="en-GB" sz="2000" b="1">
                <a:solidFill>
                  <a:srgbClr val="FBBF24"/>
                </a:solidFill>
              </a:rPr>
              <a:t>m 3: </a:t>
            </a:r>
            <a:r>
              <a:rPr lang="en-US" altLang="en-GB" sz="2000" b="1">
                <a:solidFill>
                  <a:srgbClr val="FFFFFF"/>
                </a:solidFill>
              </a:rPr>
              <a:t>Trainer'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 tan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mlama</a:t>
            </a:r>
            <a:endParaRPr lang="en-US" altLang="en-GB" sz="2000" b="1"/>
          </a:p>
        </p:txBody>
      </p:sp>
      <p:sp>
        <p:nvSpPr>
          <p:cNvPr id="1048723" name="Text Box 12"/>
          <p:cNvSpPr txBox="1"/>
          <p:nvPr>
            <p:custDataLst>
              <p:tags r:id="rId5"/>
            </p:custDataLst>
          </p:nvPr>
        </p:nvSpPr>
        <p:spPr>
          <a:xfrm>
            <a:off x="1367790" y="2019300"/>
            <a:ext cx="3489960" cy="3168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000" b="1">
                <a:solidFill>
                  <a:srgbClr val="FFFFFF"/>
                </a:solidFill>
              </a:rPr>
              <a:t>Haz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rlad</a:t>
            </a:r>
            <a:r>
              <a:rPr lang="en-US" altLang="en-US" sz="2000" b="1">
                <a:solidFill>
                  <a:srgbClr val="FFFFFF"/>
                </a:solidFill>
              </a:rPr>
              <a:t>ığı</a:t>
            </a:r>
            <a:r>
              <a:rPr lang="en-US" altLang="en-GB" sz="2000" b="1">
                <a:solidFill>
                  <a:srgbClr val="FFFFFF"/>
                </a:solidFill>
              </a:rPr>
              <a:t>m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z model, ayarlar ve veri setlerini Trainer'a veririz</a:t>
            </a:r>
            <a:r>
              <a:rPr lang="en-US" altLang="en-GB" sz="2000">
                <a:solidFill>
                  <a:srgbClr val="FFFFFF"/>
                </a:solidFill>
              </a:rPr>
              <a:t>. 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 b="1">
                <a:solidFill>
                  <a:srgbClr val="FFFFFF"/>
                </a:solidFill>
              </a:rPr>
              <a:t>B</a:t>
            </a:r>
            <a:r>
              <a:rPr lang="en-US" altLang="en-US" sz="2000" b="1">
                <a:solidFill>
                  <a:srgbClr val="FFFFFF"/>
                </a:solidFill>
              </a:rPr>
              <a:t>ö</a:t>
            </a:r>
            <a:r>
              <a:rPr lang="en-US" altLang="en-GB" sz="2000" b="1">
                <a:solidFill>
                  <a:srgbClr val="FFFFFF"/>
                </a:solidFill>
              </a:rPr>
              <a:t>ylece Trainer, hangi verilerle e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itim yapaca</a:t>
            </a:r>
            <a:r>
              <a:rPr lang="en-US" altLang="en-US" sz="2000" b="1">
                <a:solidFill>
                  <a:srgbClr val="FFFFFF"/>
                </a:solidFill>
              </a:rPr>
              <a:t>ğı</a:t>
            </a:r>
            <a:r>
              <a:rPr lang="en-US" altLang="en-GB" sz="2000" b="1">
                <a:solidFill>
                  <a:srgbClr val="FFFFFF"/>
                </a:solidFill>
              </a:rPr>
              <a:t>n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 ve hangi verilerle modelin ba</a:t>
            </a:r>
            <a:r>
              <a:rPr lang="en-US" altLang="en-US" sz="2000" b="1">
                <a:solidFill>
                  <a:srgbClr val="FFFFFF"/>
                </a:solidFill>
              </a:rPr>
              <a:t>ş</a:t>
            </a:r>
            <a:r>
              <a:rPr lang="en-US" altLang="en-GB" sz="2000" b="1">
                <a:solidFill>
                  <a:srgbClr val="FFFFFF"/>
                </a:solidFill>
              </a:rPr>
              <a:t>ar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s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n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 kontrol edece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ini bili</a:t>
            </a:r>
            <a:r>
              <a:rPr lang="en-US" altLang="en-GB" sz="2000" b="1">
                <a:solidFill>
                  <a:srgbClr val="FFFFFF"/>
                </a:solidFill>
              </a:rPr>
              <a:t>r</a:t>
            </a:r>
            <a:r>
              <a:rPr lang="en-US" altLang="en-GB" sz="2000" b="1">
                <a:solidFill>
                  <a:srgbClr val="FFFFFF"/>
                </a:solidFill>
              </a:rPr>
              <a:t>.</a:t>
            </a:r>
            <a:endParaRPr lang="tr-TR" altLang="en-US" sz="2000" b="1"/>
          </a:p>
        </p:txBody>
      </p:sp>
      <p:sp>
        <p:nvSpPr>
          <p:cNvPr id="1048724" name="Text Box 21"/>
          <p:cNvSpPr txBox="1"/>
          <p:nvPr>
            <p:custDataLst>
              <p:tags r:id="rId6"/>
            </p:custDataLst>
          </p:nvPr>
        </p:nvSpPr>
        <p:spPr>
          <a:xfrm>
            <a:off x="7453630" y="1303020"/>
            <a:ext cx="3566160" cy="4343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rgbClr val="FBBF24"/>
                </a:solidFill>
              </a:rPr>
              <a:t>Ad</a:t>
            </a:r>
            <a:r>
              <a:rPr lang="en-US" altLang="en-US" sz="2000" b="1">
                <a:solidFill>
                  <a:srgbClr val="FBBF24"/>
                </a:solidFill>
              </a:rPr>
              <a:t>ı</a:t>
            </a:r>
            <a:r>
              <a:rPr lang="en-US" altLang="en-GB" sz="2000" b="1">
                <a:solidFill>
                  <a:srgbClr val="FBBF24"/>
                </a:solidFill>
              </a:rPr>
              <a:t>m </a:t>
            </a:r>
            <a:r>
              <a:rPr lang="tr-TR" altLang="en-US" sz="2000" b="1">
                <a:solidFill>
                  <a:srgbClr val="FBBF24"/>
                </a:solidFill>
              </a:rPr>
              <a:t>4</a:t>
            </a:r>
            <a:r>
              <a:rPr lang="en-US" altLang="en-GB" sz="2000" b="1">
                <a:solidFill>
                  <a:srgbClr val="FBBF24"/>
                </a:solidFill>
              </a:rPr>
              <a:t>: </a:t>
            </a:r>
            <a:r>
              <a:rPr lang="en-US" altLang="en-GB" sz="2000" b="1">
                <a:solidFill>
                  <a:srgbClr val="FFFFFF"/>
                </a:solidFill>
              </a:rPr>
              <a:t>E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itimi ba</a:t>
            </a:r>
            <a:r>
              <a:rPr lang="en-US" altLang="en-US" sz="2000" b="1">
                <a:solidFill>
                  <a:srgbClr val="FFFFFF"/>
                </a:solidFill>
              </a:rPr>
              <a:t>ş</a:t>
            </a:r>
            <a:r>
              <a:rPr lang="en-US" altLang="en-GB" sz="2000" b="1">
                <a:solidFill>
                  <a:srgbClr val="FFFFFF"/>
                </a:solidFill>
              </a:rPr>
              <a:t>latma</a:t>
            </a:r>
            <a:endParaRPr lang="en-US" altLang="en-GB" sz="2000" b="1"/>
          </a:p>
        </p:txBody>
      </p:sp>
      <p:sp>
        <p:nvSpPr>
          <p:cNvPr id="1048725" name="Text Box 22"/>
          <p:cNvSpPr txBox="1"/>
          <p:nvPr>
            <p:custDataLst>
              <p:tags r:id="rId7"/>
            </p:custDataLst>
          </p:nvPr>
        </p:nvSpPr>
        <p:spPr>
          <a:xfrm>
            <a:off x="7539990" y="2186940"/>
            <a:ext cx="3200400" cy="35204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rgbClr val="FFFFFF"/>
                </a:solidFill>
              </a:rPr>
              <a:t>train() komutu e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itimi ba</a:t>
            </a:r>
            <a:r>
              <a:rPr lang="en-US" altLang="en-US" sz="2000" b="1">
                <a:solidFill>
                  <a:srgbClr val="FFFFFF"/>
                </a:solidFill>
              </a:rPr>
              <a:t>ş</a:t>
            </a:r>
            <a:r>
              <a:rPr lang="en-US" altLang="en-GB" sz="2000" b="1">
                <a:solidFill>
                  <a:srgbClr val="FFFFFF"/>
                </a:solidFill>
              </a:rPr>
              <a:t>lat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r, ancak ekranda yaln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zca loss de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erini </a:t>
            </a:r>
            <a:endParaRPr lang="en-US" altLang="en-GB" sz="2000" b="1"/>
          </a:p>
          <a:p>
            <a:r>
              <a:rPr lang="en-US" altLang="en-GB" sz="2000" b="1">
                <a:solidFill>
                  <a:srgbClr val="FFFFFF"/>
                </a:solidFill>
              </a:rPr>
              <a:t>g</a:t>
            </a:r>
            <a:r>
              <a:rPr lang="en-US" altLang="en-US" sz="2000" b="1">
                <a:solidFill>
                  <a:srgbClr val="FFFFFF"/>
                </a:solidFill>
              </a:rPr>
              <a:t>ö</a:t>
            </a:r>
            <a:r>
              <a:rPr lang="en-US" altLang="en-GB" sz="2000" b="1">
                <a:solidFill>
                  <a:srgbClr val="FFFFFF"/>
                </a:solidFill>
              </a:rPr>
              <a:t>sterir. Modelin ger</a:t>
            </a:r>
            <a:r>
              <a:rPr lang="en-US" altLang="en-US" sz="2000" b="1">
                <a:solidFill>
                  <a:srgbClr val="FFFFFF"/>
                </a:solidFill>
              </a:rPr>
              <a:t>ç</a:t>
            </a:r>
            <a:r>
              <a:rPr lang="en-US" altLang="en-GB" sz="2000" b="1">
                <a:solidFill>
                  <a:srgbClr val="FFFFFF"/>
                </a:solidFill>
              </a:rPr>
              <a:t>ekten ne kadar ba</a:t>
            </a:r>
            <a:r>
              <a:rPr lang="en-US" altLang="en-US" sz="2000" b="1">
                <a:solidFill>
                  <a:srgbClr val="FFFFFF"/>
                </a:solidFill>
              </a:rPr>
              <a:t>ş</a:t>
            </a:r>
            <a:r>
              <a:rPr lang="en-US" altLang="en-GB" sz="2000" b="1">
                <a:solidFill>
                  <a:srgbClr val="FFFFFF"/>
                </a:solidFill>
              </a:rPr>
              <a:t>ar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l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 oldu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unu g</a:t>
            </a:r>
            <a:r>
              <a:rPr lang="en-US" altLang="en-US" sz="2000" b="1">
                <a:solidFill>
                  <a:srgbClr val="FFFFFF"/>
                </a:solidFill>
              </a:rPr>
              <a:t>ö</a:t>
            </a:r>
            <a:r>
              <a:rPr lang="en-US" altLang="en-GB" sz="2000" b="1">
                <a:solidFill>
                  <a:srgbClr val="FFFFFF"/>
                </a:solidFill>
              </a:rPr>
              <a:t>rmek i</a:t>
            </a:r>
            <a:r>
              <a:rPr lang="en-US" altLang="en-US" sz="2000" b="1">
                <a:solidFill>
                  <a:srgbClr val="FFFFFF"/>
                </a:solidFill>
              </a:rPr>
              <a:t>ç</a:t>
            </a:r>
            <a:r>
              <a:rPr lang="en-US" altLang="en-GB" sz="2000" b="1">
                <a:solidFill>
                  <a:srgbClr val="FFFFFF"/>
                </a:solidFill>
              </a:rPr>
              <a:t>in bir </a:t>
            </a:r>
            <a:endParaRPr lang="en-US" altLang="en-GB" sz="2000" b="1"/>
          </a:p>
          <a:p>
            <a:r>
              <a:rPr lang="en-US" altLang="en-GB" sz="2000" b="1">
                <a:solidFill>
                  <a:srgbClr val="FFFFFF"/>
                </a:solidFill>
              </a:rPr>
              <a:t>evaluation ayar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 ve bir metrik fonksiyonu eklememiz gerekir.</a:t>
            </a:r>
            <a:endParaRPr lang="en-US" altLang="en-GB" sz="2000" b="1"/>
          </a:p>
        </p:txBody>
      </p:sp>
      <p:pic>
        <p:nvPicPr>
          <p:cNvPr id="2097168" name="Picture 2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t="11081" b="12162"/>
          <a:stretch>
            <a:fillRect/>
          </a:stretch>
        </p:blipFill>
        <p:spPr>
          <a:xfrm>
            <a:off x="7539990" y="5492115"/>
            <a:ext cx="2780665" cy="541020"/>
          </a:xfrm>
          <a:prstGeom prst="roundRect">
            <a:avLst>
              <a:gd name="adj" fmla="val 6000"/>
            </a:avLst>
          </a:prstGeom>
          <a:ln w="19050">
            <a:solidFill>
              <a:srgbClr val="38BDF8">
                <a:alpha val="70000"/>
              </a:srgbClr>
            </a:solidFill>
          </a:ln>
          <a:effectLst>
            <a:outerShdw blurRad="190500" dist="38100" dir="5400000" algn="t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Round Same Side Corner Rectangle 5"/>
          <p:cNvSpPr/>
          <p:nvPr/>
        </p:nvSpPr>
        <p:spPr>
          <a:xfrm>
            <a:off x="758190" y="497840"/>
            <a:ext cx="10864215" cy="5607685"/>
          </a:xfrm>
          <a:prstGeom prst="roundRect">
            <a:avLst>
              <a:gd name="adj" fmla="val 4565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727" name="Text Box 7"/>
          <p:cNvSpPr txBox="1"/>
          <p:nvPr/>
        </p:nvSpPr>
        <p:spPr>
          <a:xfrm>
            <a:off x="3531870" y="619125"/>
            <a:ext cx="4706620" cy="551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400" b="1">
                <a:solidFill>
                  <a:srgbClr val="FBBF24"/>
                </a:solidFill>
              </a:rPr>
              <a:t>Evaluation (De</a:t>
            </a:r>
            <a:r>
              <a:rPr lang="en-US" altLang="en-US" sz="2400" b="1">
                <a:solidFill>
                  <a:srgbClr val="FBBF24"/>
                </a:solidFill>
              </a:rPr>
              <a:t>ğ</a:t>
            </a:r>
            <a:r>
              <a:rPr lang="en-US" altLang="en-GB" sz="2400" b="1">
                <a:solidFill>
                  <a:srgbClr val="FBBF24"/>
                </a:solidFill>
              </a:rPr>
              <a:t>erlendirme)</a:t>
            </a:r>
            <a:endParaRPr lang="en-US" altLang="en-GB" sz="2400" b="1">
              <a:solidFill>
                <a:schemeClr val="accent2"/>
              </a:solidFill>
            </a:endParaRPr>
          </a:p>
        </p:txBody>
      </p:sp>
      <p:sp>
        <p:nvSpPr>
          <p:cNvPr id="1048728" name="Text Box 8"/>
          <p:cNvSpPr txBox="1"/>
          <p:nvPr/>
        </p:nvSpPr>
        <p:spPr>
          <a:xfrm>
            <a:off x="1215390" y="1367155"/>
            <a:ext cx="7574915" cy="2471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400" b="1">
                <a:solidFill>
                  <a:srgbClr val="FFFFFF"/>
                </a:solidFill>
              </a:rPr>
              <a:t>predict() komutu, validation set i</a:t>
            </a:r>
            <a:r>
              <a:rPr lang="en-US" altLang="en-US" sz="2400" b="1">
                <a:solidFill>
                  <a:srgbClr val="FFFFFF"/>
                </a:solidFill>
              </a:rPr>
              <a:t>ç</a:t>
            </a:r>
            <a:r>
              <a:rPr lang="en-US" altLang="en-GB" sz="2400" b="1">
                <a:solidFill>
                  <a:srgbClr val="FFFFFF"/>
                </a:solidFill>
              </a:rPr>
              <a:t>in modelin tahminlerini </a:t>
            </a:r>
            <a:r>
              <a:rPr lang="en-US" altLang="en-US" sz="2400" b="1">
                <a:solidFill>
                  <a:srgbClr val="FFFFFF"/>
                </a:solidFill>
              </a:rPr>
              <a:t>ü</a:t>
            </a:r>
            <a:r>
              <a:rPr lang="en-US" altLang="en-GB" sz="2400" b="1">
                <a:solidFill>
                  <a:srgbClr val="FFFFFF"/>
                </a:solidFill>
              </a:rPr>
              <a:t>retir. Her </a:t>
            </a:r>
            <a:endParaRPr lang="en-US" altLang="en-GB" sz="2400" b="1"/>
          </a:p>
          <a:p>
            <a:r>
              <a:rPr lang="en-US" altLang="en-US" sz="2400" b="1">
                <a:solidFill>
                  <a:srgbClr val="FFFFFF"/>
                </a:solidFill>
              </a:rPr>
              <a:t>ö</a:t>
            </a:r>
            <a:r>
              <a:rPr lang="en-US" altLang="en-GB" sz="2400" b="1">
                <a:solidFill>
                  <a:srgbClr val="FFFFFF"/>
                </a:solidFill>
              </a:rPr>
              <a:t>rnekte en y</a:t>
            </a:r>
            <a:r>
              <a:rPr lang="en-US" altLang="en-US" sz="2400" b="1">
                <a:solidFill>
                  <a:srgbClr val="FFFFFF"/>
                </a:solidFill>
              </a:rPr>
              <a:t>ü</a:t>
            </a:r>
            <a:r>
              <a:rPr lang="en-US" altLang="en-GB" sz="2400" b="1">
                <a:solidFill>
                  <a:srgbClr val="FFFFFF"/>
                </a:solidFill>
              </a:rPr>
              <a:t>ksek skora sahip etiket modelin tahmini olur; bu tahminleri </a:t>
            </a:r>
            <a:endParaRPr lang="en-US" altLang="en-GB" sz="2400" b="1"/>
          </a:p>
          <a:p>
            <a:r>
              <a:rPr lang="en-US" altLang="en-GB" sz="2400" b="1">
                <a:solidFill>
                  <a:srgbClr val="FFFFFF"/>
                </a:solidFill>
              </a:rPr>
              <a:t>ger</a:t>
            </a:r>
            <a:r>
              <a:rPr lang="en-US" altLang="en-US" sz="2400" b="1">
                <a:solidFill>
                  <a:srgbClr val="FFFFFF"/>
                </a:solidFill>
              </a:rPr>
              <a:t>ç</a:t>
            </a:r>
            <a:r>
              <a:rPr lang="en-US" altLang="en-GB" sz="2400" b="1">
                <a:solidFill>
                  <a:srgbClr val="FFFFFF"/>
                </a:solidFill>
              </a:rPr>
              <a:t>ek etiketlerle kar</a:t>
            </a:r>
            <a:r>
              <a:rPr lang="en-US" altLang="en-US" sz="2400" b="1">
                <a:solidFill>
                  <a:srgbClr val="FFFFFF"/>
                </a:solidFill>
              </a:rPr>
              <a:t>şı</a:t>
            </a:r>
            <a:r>
              <a:rPr lang="en-US" altLang="en-GB" sz="2400" b="1">
                <a:solidFill>
                  <a:srgbClr val="FFFFFF"/>
                </a:solidFill>
              </a:rPr>
              <a:t>la</a:t>
            </a:r>
            <a:r>
              <a:rPr lang="en-US" altLang="en-US" sz="2400" b="1">
                <a:solidFill>
                  <a:srgbClr val="FFFFFF"/>
                </a:solidFill>
              </a:rPr>
              <a:t>ş</a:t>
            </a:r>
            <a:r>
              <a:rPr lang="en-US" altLang="en-GB" sz="2400" b="1">
                <a:solidFill>
                  <a:srgbClr val="FFFFFF"/>
                </a:solidFill>
              </a:rPr>
              <a:t>t</a:t>
            </a:r>
            <a:r>
              <a:rPr lang="en-US" altLang="en-US" sz="2400" b="1">
                <a:solidFill>
                  <a:srgbClr val="FFFFFF"/>
                </a:solidFill>
              </a:rPr>
              <a:t>ı</a:t>
            </a:r>
            <a:r>
              <a:rPr lang="en-US" altLang="en-GB" sz="2400" b="1">
                <a:solidFill>
                  <a:srgbClr val="FFFFFF"/>
                </a:solidFill>
              </a:rPr>
              <a:t>rarak accuracy ve F1 de</a:t>
            </a:r>
            <a:r>
              <a:rPr lang="en-US" altLang="en-US" sz="2400" b="1">
                <a:solidFill>
                  <a:srgbClr val="FFFFFF"/>
                </a:solidFill>
              </a:rPr>
              <a:t>ğ</a:t>
            </a:r>
            <a:r>
              <a:rPr lang="en-US" altLang="en-GB" sz="2400" b="1">
                <a:solidFill>
                  <a:srgbClr val="FFFFFF"/>
                </a:solidFill>
              </a:rPr>
              <a:t>erlerini hesaplar</a:t>
            </a:r>
            <a:r>
              <a:rPr lang="en-US" altLang="en-US" sz="2400" b="1">
                <a:solidFill>
                  <a:srgbClr val="FFFFFF"/>
                </a:solidFill>
              </a:rPr>
              <a:t>ı</a:t>
            </a:r>
            <a:r>
              <a:rPr lang="en-US" altLang="en-GB" sz="2400" b="1">
                <a:solidFill>
                  <a:srgbClr val="FFFFFF"/>
                </a:solidFill>
              </a:rPr>
              <a:t>z.</a:t>
            </a:r>
            <a:endParaRPr lang="en-US" altLang="en-GB" sz="2400" b="1"/>
          </a:p>
        </p:txBody>
      </p:sp>
      <p:pic>
        <p:nvPicPr>
          <p:cNvPr id="209716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90" y="4231640"/>
            <a:ext cx="7407910" cy="1620520"/>
          </a:xfrm>
          <a:prstGeom prst="roundRect">
            <a:avLst>
              <a:gd name="adj" fmla="val 6000"/>
            </a:avLst>
          </a:prstGeom>
          <a:ln w="19050">
            <a:solidFill>
              <a:srgbClr val="38BDF8">
                <a:alpha val="70000"/>
              </a:srgbClr>
            </a:solidFill>
          </a:ln>
          <a:effectLst>
            <a:outerShdw blurRad="1905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1048729" name="Text Box 10"/>
          <p:cNvSpPr txBox="1"/>
          <p:nvPr/>
        </p:nvSpPr>
        <p:spPr>
          <a:xfrm>
            <a:off x="8942070" y="4375785"/>
            <a:ext cx="2423160" cy="16154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FFFF"/>
                </a:solidFill>
              </a:rPr>
              <a:t>Modelimiz validation set'te %85,78 accuracy ve 89,97 F1 de</a:t>
            </a:r>
            <a:r>
              <a:rPr lang="en-US" altLang="en-US" b="1">
                <a:solidFill>
                  <a:srgbClr val="FFFFFF"/>
                </a:solidFill>
              </a:rPr>
              <a:t>ğ</a:t>
            </a:r>
            <a:r>
              <a:rPr lang="en-US" altLang="en-GB" b="1">
                <a:solidFill>
                  <a:srgbClr val="FFFFFF"/>
                </a:solidFill>
              </a:rPr>
              <a:t>erine </a:t>
            </a:r>
            <a:endParaRPr lang="en-US" altLang="en-GB" b="1"/>
          </a:p>
          <a:p>
            <a:r>
              <a:rPr lang="en-US" altLang="en-GB" b="1">
                <a:solidFill>
                  <a:srgbClr val="FFFFFF"/>
                </a:solidFill>
              </a:rPr>
              <a:t>ula</a:t>
            </a:r>
            <a:r>
              <a:rPr lang="en-US" altLang="en-US" b="1">
                <a:solidFill>
                  <a:srgbClr val="FFFFFF"/>
                </a:solidFill>
              </a:rPr>
              <a:t>ş</a:t>
            </a:r>
            <a:r>
              <a:rPr lang="en-US" altLang="en-GB" b="1">
                <a:solidFill>
                  <a:srgbClr val="FFFFFF"/>
                </a:solidFill>
              </a:rPr>
              <a:t>t</a:t>
            </a:r>
            <a:r>
              <a:rPr lang="en-US" altLang="en-US" b="1">
                <a:solidFill>
                  <a:srgbClr val="FFFFFF"/>
                </a:solidFill>
              </a:rPr>
              <a:t>ı</a:t>
            </a:r>
            <a:r>
              <a:rPr lang="en-US" altLang="en-GB" b="1">
                <a:solidFill>
                  <a:srgbClr val="FFFFFF"/>
                </a:solidFill>
              </a:rPr>
              <a:t>;</a:t>
            </a:r>
            <a:endParaRPr lang="en-US" altLang="en-GB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Text Box 1"/>
          <p:cNvSpPr txBox="1"/>
          <p:nvPr/>
        </p:nvSpPr>
        <p:spPr>
          <a:xfrm>
            <a:off x="849630" y="556260"/>
            <a:ext cx="4754880" cy="9042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tr-TR" altLang="en-US" sz="2400" b="1">
                <a:solidFill>
                  <a:schemeClr val="bg1"/>
                </a:solidFill>
              </a:rPr>
              <a:t>C</a:t>
            </a:r>
            <a:r>
              <a:rPr lang="en-US" altLang="en-GB" sz="2400" b="1">
                <a:solidFill>
                  <a:schemeClr val="bg1"/>
                </a:solidFill>
              </a:rPr>
              <a:t>ompute_metrics ile </a:t>
            </a:r>
            <a:r>
              <a:rPr lang="tr-TR" altLang="en-US" sz="2400" b="1">
                <a:solidFill>
                  <a:schemeClr val="bg1"/>
                </a:solidFill>
              </a:rPr>
              <a:t>O</a:t>
            </a:r>
            <a:r>
              <a:rPr lang="en-US" altLang="en-GB" sz="2400" b="1">
                <a:solidFill>
                  <a:schemeClr val="bg1"/>
                </a:solidFill>
              </a:rPr>
              <a:t>tomatik </a:t>
            </a:r>
            <a:r>
              <a:rPr lang="tr-TR" altLang="en-US" sz="2400" b="1">
                <a:solidFill>
                  <a:schemeClr val="bg1"/>
                </a:solidFill>
              </a:rPr>
              <a:t>E</a:t>
            </a:r>
            <a:r>
              <a:rPr lang="en-US" altLang="en-GB" sz="2400" b="1">
                <a:solidFill>
                  <a:schemeClr val="bg1"/>
                </a:solidFill>
              </a:rPr>
              <a:t>valuation (</a:t>
            </a:r>
            <a:r>
              <a:rPr lang="tr-TR" altLang="en-US" sz="2400" b="1">
                <a:solidFill>
                  <a:schemeClr val="bg1"/>
                </a:solidFill>
              </a:rPr>
              <a:t>D</a:t>
            </a:r>
            <a:r>
              <a:rPr lang="en-US" altLang="en-GB" sz="2400" b="1">
                <a:solidFill>
                  <a:schemeClr val="bg1"/>
                </a:solidFill>
              </a:rPr>
              <a:t>e</a:t>
            </a:r>
            <a:r>
              <a:rPr lang="en-US" altLang="en-US" sz="2400" b="1">
                <a:solidFill>
                  <a:schemeClr val="bg1"/>
                </a:solidFill>
              </a:rPr>
              <a:t>ğ</a:t>
            </a:r>
            <a:r>
              <a:rPr lang="en-US" altLang="en-GB" sz="2400" b="1">
                <a:solidFill>
                  <a:schemeClr val="bg1"/>
                </a:solidFill>
              </a:rPr>
              <a:t>erlendirme)</a:t>
            </a:r>
            <a:endParaRPr lang="en-US" altLang="en-GB" sz="2400" b="1">
              <a:solidFill>
                <a:schemeClr val="bg1"/>
              </a:solidFill>
            </a:endParaRPr>
          </a:p>
        </p:txBody>
      </p:sp>
      <p:sp>
        <p:nvSpPr>
          <p:cNvPr id="1048731" name="Rounded Rectangle 2"/>
          <p:cNvSpPr/>
          <p:nvPr/>
        </p:nvSpPr>
        <p:spPr>
          <a:xfrm>
            <a:off x="1062990" y="1821180"/>
            <a:ext cx="3901440" cy="4556760"/>
          </a:xfrm>
          <a:prstGeom prst="roundRect">
            <a:avLst>
              <a:gd name="adj" fmla="val 6562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732" name="Text Box 3"/>
          <p:cNvSpPr txBox="1"/>
          <p:nvPr/>
        </p:nvSpPr>
        <p:spPr>
          <a:xfrm>
            <a:off x="1474470" y="2202180"/>
            <a:ext cx="3154680" cy="3749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>
                <a:solidFill>
                  <a:srgbClr val="FFFFFF"/>
                </a:solidFill>
              </a:rPr>
              <a:t>Bu hesaplamalar</a:t>
            </a:r>
            <a:r>
              <a:rPr lang="en-US" altLang="en-US" sz="2400" b="1">
                <a:solidFill>
                  <a:srgbClr val="FFFFFF"/>
                </a:solidFill>
              </a:rPr>
              <a:t>ı</a:t>
            </a:r>
            <a:r>
              <a:rPr lang="en-US" altLang="en-GB" sz="2400" b="1">
                <a:solidFill>
                  <a:srgbClr val="FFFFFF"/>
                </a:solidFill>
              </a:rPr>
              <a:t> bir fonksiyonun i</a:t>
            </a:r>
            <a:r>
              <a:rPr lang="en-US" altLang="en-US" sz="2400" b="1">
                <a:solidFill>
                  <a:srgbClr val="FFFFFF"/>
                </a:solidFill>
              </a:rPr>
              <a:t>ç</a:t>
            </a:r>
            <a:r>
              <a:rPr lang="en-US" altLang="en-GB" sz="2400" b="1">
                <a:solidFill>
                  <a:srgbClr val="FFFFFF"/>
                </a:solidFill>
              </a:rPr>
              <a:t>ine koyup Trainer'a verirsek, model </a:t>
            </a:r>
            <a:endParaRPr lang="en-US" altLang="en-GB" sz="2400" b="1"/>
          </a:p>
          <a:p>
            <a:r>
              <a:rPr lang="en-US" altLang="en-GB" sz="2400" b="1">
                <a:solidFill>
                  <a:srgbClr val="FFFFFF"/>
                </a:solidFill>
              </a:rPr>
              <a:t>her epoch sonunda kendili</a:t>
            </a:r>
            <a:r>
              <a:rPr lang="en-US" altLang="en-US" sz="2400" b="1">
                <a:solidFill>
                  <a:srgbClr val="FFFFFF"/>
                </a:solidFill>
              </a:rPr>
              <a:t>ğ</a:t>
            </a:r>
            <a:r>
              <a:rPr lang="en-US" altLang="en-GB" sz="2400" b="1">
                <a:solidFill>
                  <a:srgbClr val="FFFFFF"/>
                </a:solidFill>
              </a:rPr>
              <a:t>inden de</a:t>
            </a:r>
            <a:r>
              <a:rPr lang="en-US" altLang="en-US" sz="2400" b="1">
                <a:solidFill>
                  <a:srgbClr val="FFFFFF"/>
                </a:solidFill>
              </a:rPr>
              <a:t>ğ</a:t>
            </a:r>
            <a:r>
              <a:rPr lang="en-US" altLang="en-GB" sz="2400" b="1">
                <a:solidFill>
                  <a:srgbClr val="FFFFFF"/>
                </a:solidFill>
              </a:rPr>
              <a:t>erlendirilir ve sonu</a:t>
            </a:r>
            <a:r>
              <a:rPr lang="en-US" altLang="en-US" sz="2400" b="1">
                <a:solidFill>
                  <a:srgbClr val="FFFFFF"/>
                </a:solidFill>
              </a:rPr>
              <a:t>ç</a:t>
            </a:r>
            <a:r>
              <a:rPr lang="en-US" altLang="en-GB" sz="2400" b="1">
                <a:solidFill>
                  <a:srgbClr val="FFFFFF"/>
                </a:solidFill>
              </a:rPr>
              <a:t>lar ekrana </a:t>
            </a:r>
            <a:endParaRPr lang="en-US" altLang="en-GB" sz="2400" b="1"/>
          </a:p>
          <a:p>
            <a:r>
              <a:rPr lang="en-US" altLang="en-GB" sz="2400" b="1">
                <a:solidFill>
                  <a:srgbClr val="FFFFFF"/>
                </a:solidFill>
              </a:rPr>
              <a:t>yaz</a:t>
            </a:r>
            <a:r>
              <a:rPr lang="en-US" altLang="en-US" sz="2400" b="1">
                <a:solidFill>
                  <a:srgbClr val="FFFFFF"/>
                </a:solidFill>
              </a:rPr>
              <a:t>ı</a:t>
            </a:r>
            <a:r>
              <a:rPr lang="en-US" altLang="en-GB" sz="2400" b="1">
                <a:solidFill>
                  <a:srgbClr val="FFFFFF"/>
                </a:solidFill>
              </a:rPr>
              <a:t>l</a:t>
            </a:r>
            <a:r>
              <a:rPr lang="en-US" altLang="en-US" sz="2400" b="1">
                <a:solidFill>
                  <a:srgbClr val="FFFFFF"/>
                </a:solidFill>
              </a:rPr>
              <a:t>ı</a:t>
            </a:r>
            <a:r>
              <a:rPr lang="en-US" altLang="en-GB" sz="2400" b="1">
                <a:solidFill>
                  <a:srgbClr val="FFFFFF"/>
                </a:solidFill>
              </a:rPr>
              <a:t>r</a:t>
            </a:r>
            <a:endParaRPr lang="en-US" altLang="en-GB" sz="2400" b="1"/>
          </a:p>
        </p:txBody>
      </p:sp>
      <p:sp>
        <p:nvSpPr>
          <p:cNvPr id="1048733" name="Text Box 8"/>
          <p:cNvSpPr txBox="1"/>
          <p:nvPr/>
        </p:nvSpPr>
        <p:spPr>
          <a:xfrm>
            <a:off x="6960870" y="556260"/>
            <a:ext cx="4495800" cy="9042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>
                <a:solidFill>
                  <a:schemeClr val="bg1"/>
                </a:solidFill>
              </a:rPr>
              <a:t>Advanced Features (</a:t>
            </a:r>
            <a:r>
              <a:rPr lang="en-US" altLang="en-US" sz="2400" b="1">
                <a:solidFill>
                  <a:schemeClr val="bg1"/>
                </a:solidFill>
              </a:rPr>
              <a:t>İ</a:t>
            </a:r>
            <a:r>
              <a:rPr lang="en-US" altLang="en-GB" sz="2400" b="1">
                <a:solidFill>
                  <a:schemeClr val="bg1"/>
                </a:solidFill>
              </a:rPr>
              <a:t>leri d</a:t>
            </a:r>
            <a:r>
              <a:rPr lang="en-US" altLang="en-US" sz="2400" b="1">
                <a:solidFill>
                  <a:schemeClr val="bg1"/>
                </a:solidFill>
              </a:rPr>
              <a:t>ü</a:t>
            </a:r>
            <a:r>
              <a:rPr lang="en-US" altLang="en-GB" sz="2400" b="1">
                <a:solidFill>
                  <a:schemeClr val="bg1"/>
                </a:solidFill>
              </a:rPr>
              <a:t>zey </a:t>
            </a:r>
            <a:r>
              <a:rPr lang="en-US" altLang="en-US" sz="2400" b="1">
                <a:solidFill>
                  <a:schemeClr val="bg1"/>
                </a:solidFill>
              </a:rPr>
              <a:t>ö</a:t>
            </a:r>
            <a:r>
              <a:rPr lang="en-US" altLang="en-GB" sz="2400" b="1">
                <a:solidFill>
                  <a:schemeClr val="bg1"/>
                </a:solidFill>
              </a:rPr>
              <a:t>zellikler)</a:t>
            </a:r>
            <a:endParaRPr lang="en-US" altLang="en-GB" sz="2400" b="1">
              <a:solidFill>
                <a:schemeClr val="bg1"/>
              </a:solidFill>
            </a:endParaRPr>
          </a:p>
        </p:txBody>
      </p:sp>
      <p:sp>
        <p:nvSpPr>
          <p:cNvPr id="1048734" name="Rounded Rectangle 14"/>
          <p:cNvSpPr/>
          <p:nvPr/>
        </p:nvSpPr>
        <p:spPr>
          <a:xfrm>
            <a:off x="6828790" y="1821180"/>
            <a:ext cx="3901440" cy="4556760"/>
          </a:xfrm>
          <a:prstGeom prst="roundRect">
            <a:avLst>
              <a:gd name="adj" fmla="val 6562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735" name="Text Box 17"/>
          <p:cNvSpPr txBox="1"/>
          <p:nvPr/>
        </p:nvSpPr>
        <p:spPr>
          <a:xfrm>
            <a:off x="7098030" y="2019300"/>
            <a:ext cx="3413760" cy="35204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rgbClr val="FFFFFF"/>
                </a:solidFill>
              </a:rPr>
              <a:t>Trainer, e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itimi daha h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zl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 ve verimli h</a:t>
            </a:r>
            <a:r>
              <a:rPr lang="en-US" altLang="en-US" sz="2000" b="1">
                <a:solidFill>
                  <a:srgbClr val="FFFFFF"/>
                </a:solidFill>
              </a:rPr>
              <a:t>â</a:t>
            </a:r>
            <a:r>
              <a:rPr lang="en-US" altLang="en-GB" sz="2000" b="1">
                <a:solidFill>
                  <a:srgbClr val="FFFFFF"/>
                </a:solidFill>
              </a:rPr>
              <a:t>le getiren baz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 ek </a:t>
            </a:r>
            <a:r>
              <a:rPr lang="en-US" altLang="en-US" sz="2000" b="1">
                <a:solidFill>
                  <a:srgbClr val="FFFFFF"/>
                </a:solidFill>
              </a:rPr>
              <a:t>ö</a:t>
            </a:r>
            <a:r>
              <a:rPr lang="en-US" altLang="en-GB" sz="2000" b="1">
                <a:solidFill>
                  <a:srgbClr val="FFFFFF"/>
                </a:solidFill>
              </a:rPr>
              <a:t>zelliklere de sahiptir. </a:t>
            </a:r>
            <a:r>
              <a:rPr lang="en-US" altLang="en-US" sz="2000" b="1">
                <a:solidFill>
                  <a:srgbClr val="FFFFFF"/>
                </a:solidFill>
              </a:rPr>
              <a:t>Ö</a:t>
            </a:r>
            <a:r>
              <a:rPr lang="en-US" altLang="en-GB" sz="2000" b="1">
                <a:solidFill>
                  <a:srgbClr val="FFFFFF"/>
                </a:solidFill>
              </a:rPr>
              <a:t>rne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in mixed precision bellek kullan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m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n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 azaltabilir, gradient accumulation ise GPU belle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i s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n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rl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 oldu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unda daha b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y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k batch'lerle e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itim yapmaya yard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mc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 olabilir.</a:t>
            </a:r>
            <a:endParaRPr lang="en-US" altLang="en-GB" sz="2000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Text Box 2"/>
          <p:cNvSpPr txBox="1"/>
          <p:nvPr/>
        </p:nvSpPr>
        <p:spPr>
          <a:xfrm>
            <a:off x="1452245" y="556895"/>
            <a:ext cx="5078095" cy="5613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800" b="1">
                <a:solidFill>
                  <a:srgbClr val="FBBF24"/>
                </a:solidFill>
              </a:rPr>
              <a:t> Tam e</a:t>
            </a:r>
            <a:r>
              <a:rPr lang="en-US" altLang="en-US" sz="2800" b="1">
                <a:solidFill>
                  <a:srgbClr val="FBBF24"/>
                </a:solidFill>
              </a:rPr>
              <a:t>ğ</a:t>
            </a:r>
            <a:r>
              <a:rPr lang="en-US" altLang="en-GB" sz="2800" b="1">
                <a:solidFill>
                  <a:srgbClr val="FBBF24"/>
                </a:solidFill>
              </a:rPr>
              <a:t>itim d</a:t>
            </a:r>
            <a:r>
              <a:rPr lang="en-US" altLang="en-US" sz="2800" b="1">
                <a:solidFill>
                  <a:srgbClr val="FBBF24"/>
                </a:solidFill>
              </a:rPr>
              <a:t>ö</a:t>
            </a:r>
            <a:r>
              <a:rPr lang="en-US" altLang="en-GB" sz="2800" b="1">
                <a:solidFill>
                  <a:srgbClr val="FBBF24"/>
                </a:solidFill>
              </a:rPr>
              <a:t>ng</a:t>
            </a:r>
            <a:r>
              <a:rPr lang="en-US" altLang="en-US" sz="2800" b="1">
                <a:solidFill>
                  <a:srgbClr val="FBBF24"/>
                </a:solidFill>
              </a:rPr>
              <a:t>ü</a:t>
            </a:r>
            <a:r>
              <a:rPr lang="en-US" altLang="en-GB" sz="2800" b="1">
                <a:solidFill>
                  <a:srgbClr val="FBBF24"/>
                </a:solidFill>
              </a:rPr>
              <a:t>s</a:t>
            </a:r>
            <a:r>
              <a:rPr lang="en-US" altLang="en-US" sz="2800" b="1">
                <a:solidFill>
                  <a:srgbClr val="FBBF24"/>
                </a:solidFill>
              </a:rPr>
              <a:t>ü</a:t>
            </a:r>
            <a:endParaRPr lang="en-US" altLang="en-US" sz="2800" b="1">
              <a:solidFill>
                <a:schemeClr val="accent2"/>
              </a:solidFill>
            </a:endParaRPr>
          </a:p>
        </p:txBody>
      </p:sp>
      <p:sp>
        <p:nvSpPr>
          <p:cNvPr id="1048737" name="Text Box 3"/>
          <p:cNvSpPr txBox="1"/>
          <p:nvPr/>
        </p:nvSpPr>
        <p:spPr>
          <a:xfrm>
            <a:off x="964565" y="1730375"/>
            <a:ext cx="3733800" cy="2834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chemeClr val="bg1"/>
                </a:solidFill>
              </a:rPr>
              <a:t>Bu b</a:t>
            </a:r>
            <a:r>
              <a:rPr lang="en-US" altLang="en-US" sz="2000" b="1">
                <a:solidFill>
                  <a:schemeClr val="bg1"/>
                </a:solidFill>
              </a:rPr>
              <a:t>ö</a:t>
            </a:r>
            <a:r>
              <a:rPr lang="en-US" altLang="en-GB" sz="2000" b="1">
                <a:solidFill>
                  <a:schemeClr val="bg1"/>
                </a:solidFill>
              </a:rPr>
              <a:t>l</a:t>
            </a:r>
            <a:r>
              <a:rPr lang="en-US" altLang="en-US" sz="2000" b="1">
                <a:solidFill>
                  <a:schemeClr val="bg1"/>
                </a:solidFill>
              </a:rPr>
              <a:t>ü</a:t>
            </a:r>
            <a:r>
              <a:rPr lang="en-US" altLang="en-GB" sz="2000" b="1">
                <a:solidFill>
                  <a:schemeClr val="bg1"/>
                </a:solidFill>
              </a:rPr>
              <a:t>mde ayn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 e</a:t>
            </a:r>
            <a:r>
              <a:rPr lang="en-US" altLang="en-US" sz="2000" b="1">
                <a:solidFill>
                  <a:schemeClr val="bg1"/>
                </a:solidFill>
              </a:rPr>
              <a:t>ğ</a:t>
            </a:r>
            <a:r>
              <a:rPr lang="en-US" altLang="en-GB" sz="2000" b="1">
                <a:solidFill>
                  <a:schemeClr val="bg1"/>
                </a:solidFill>
              </a:rPr>
              <a:t>itimi Trainer kullanmadan, PyTorch ile kendi training </a:t>
            </a:r>
            <a:endParaRPr lang="en-US" altLang="en-GB" sz="2000" b="1">
              <a:solidFill>
                <a:schemeClr val="bg1"/>
              </a:solidFill>
            </a:endParaRPr>
          </a:p>
          <a:p>
            <a:r>
              <a:rPr lang="en-US" altLang="en-GB" sz="2000" b="1">
                <a:solidFill>
                  <a:schemeClr val="bg1"/>
                </a:solidFill>
              </a:rPr>
              <a:t>loop'umuzu yazarak yap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yoruz. Bu y</a:t>
            </a:r>
            <a:r>
              <a:rPr lang="en-US" altLang="en-US" sz="2000" b="1">
                <a:solidFill>
                  <a:schemeClr val="bg1"/>
                </a:solidFill>
              </a:rPr>
              <a:t>ö</a:t>
            </a:r>
            <a:r>
              <a:rPr lang="en-US" altLang="en-GB" sz="2000" b="1">
                <a:solidFill>
                  <a:schemeClr val="bg1"/>
                </a:solidFill>
              </a:rPr>
              <a:t>ntem, e</a:t>
            </a:r>
            <a:r>
              <a:rPr lang="en-US" altLang="en-US" sz="2000" b="1">
                <a:solidFill>
                  <a:schemeClr val="bg1"/>
                </a:solidFill>
              </a:rPr>
              <a:t>ğ</a:t>
            </a:r>
            <a:r>
              <a:rPr lang="en-US" altLang="en-GB" sz="2000" b="1">
                <a:solidFill>
                  <a:schemeClr val="bg1"/>
                </a:solidFill>
              </a:rPr>
              <a:t>itimin her ad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m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n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 kendimiz </a:t>
            </a:r>
            <a:endParaRPr lang="en-US" altLang="en-GB" sz="2000" b="1">
              <a:solidFill>
                <a:schemeClr val="bg1"/>
              </a:solidFill>
            </a:endParaRPr>
          </a:p>
          <a:p>
            <a:r>
              <a:rPr lang="en-US" altLang="en-GB" sz="2000" b="1">
                <a:solidFill>
                  <a:schemeClr val="bg1"/>
                </a:solidFill>
              </a:rPr>
              <a:t>kontrol etmek istedi</a:t>
            </a:r>
            <a:r>
              <a:rPr lang="en-US" altLang="en-US" sz="2000" b="1">
                <a:solidFill>
                  <a:schemeClr val="bg1"/>
                </a:solidFill>
              </a:rPr>
              <a:t>ğ</a:t>
            </a:r>
            <a:r>
              <a:rPr lang="en-US" altLang="en-GB" sz="2000" b="1">
                <a:solidFill>
                  <a:schemeClr val="bg1"/>
                </a:solidFill>
              </a:rPr>
              <a:t>imizde i</a:t>
            </a:r>
            <a:r>
              <a:rPr lang="en-US" altLang="en-US" sz="2000" b="1">
                <a:solidFill>
                  <a:schemeClr val="bg1"/>
                </a:solidFill>
              </a:rPr>
              <a:t>ş</a:t>
            </a:r>
            <a:r>
              <a:rPr lang="en-US" altLang="en-GB" sz="2000" b="1">
                <a:solidFill>
                  <a:schemeClr val="bg1"/>
                </a:solidFill>
              </a:rPr>
              <a:t>e yarar.</a:t>
            </a:r>
            <a:endParaRPr lang="en-US" altLang="en-GB" sz="2000" b="1">
              <a:solidFill>
                <a:schemeClr val="bg1"/>
              </a:solidFill>
            </a:endParaRPr>
          </a:p>
        </p:txBody>
      </p:sp>
      <p:sp>
        <p:nvSpPr>
          <p:cNvPr id="1048738" name="Text Box 4"/>
          <p:cNvSpPr txBox="1"/>
          <p:nvPr/>
        </p:nvSpPr>
        <p:spPr>
          <a:xfrm>
            <a:off x="398780" y="556895"/>
            <a:ext cx="933450" cy="7010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tr-TR" altLang="en-US" sz="3600" b="1">
                <a:solidFill>
                  <a:schemeClr val="bg1"/>
                </a:solidFill>
              </a:rPr>
              <a:t>3.4</a:t>
            </a:r>
            <a:endParaRPr lang="tr-TR" altLang="en-US" sz="3600" b="1">
              <a:solidFill>
                <a:schemeClr val="bg1"/>
              </a:solidFill>
            </a:endParaRPr>
          </a:p>
        </p:txBody>
      </p:sp>
      <p:sp>
        <p:nvSpPr>
          <p:cNvPr id="1048739" name="Pentagon 1"/>
          <p:cNvSpPr/>
          <p:nvPr/>
        </p:nvSpPr>
        <p:spPr>
          <a:xfrm>
            <a:off x="5799455" y="795020"/>
            <a:ext cx="6115177" cy="5512435"/>
          </a:xfrm>
          <a:prstGeom prst="roundRect">
            <a:avLst>
              <a:gd name="adj" fmla="val 4644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740" name="Text Box 5"/>
          <p:cNvSpPr txBox="1"/>
          <p:nvPr/>
        </p:nvSpPr>
        <p:spPr>
          <a:xfrm>
            <a:off x="6163945" y="1031240"/>
            <a:ext cx="3265805" cy="4978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>
                <a:solidFill>
                  <a:srgbClr val="FBBF24"/>
                </a:solidFill>
              </a:rPr>
              <a:t>E</a:t>
            </a:r>
            <a:r>
              <a:rPr lang="en-US" altLang="en-US" sz="2400" b="1">
                <a:solidFill>
                  <a:srgbClr val="FBBF24"/>
                </a:solidFill>
              </a:rPr>
              <a:t>ğ</a:t>
            </a:r>
            <a:r>
              <a:rPr lang="en-US" altLang="en-GB" sz="2400" b="1">
                <a:solidFill>
                  <a:srgbClr val="FBBF24"/>
                </a:solidFill>
              </a:rPr>
              <a:t>itime haz</a:t>
            </a:r>
            <a:r>
              <a:rPr lang="en-US" altLang="en-US" sz="2400" b="1">
                <a:solidFill>
                  <a:srgbClr val="FBBF24"/>
                </a:solidFill>
              </a:rPr>
              <a:t>ı</a:t>
            </a:r>
            <a:r>
              <a:rPr lang="en-US" altLang="en-GB" sz="2400" b="1">
                <a:solidFill>
                  <a:srgbClr val="FBBF24"/>
                </a:solidFill>
              </a:rPr>
              <a:t>rl</a:t>
            </a:r>
            <a:r>
              <a:rPr lang="en-US" altLang="en-US" sz="2400" b="1">
                <a:solidFill>
                  <a:srgbClr val="FBBF24"/>
                </a:solidFill>
              </a:rPr>
              <a:t>ı</a:t>
            </a:r>
            <a:r>
              <a:rPr lang="en-US" altLang="en-GB" sz="2400" b="1">
                <a:solidFill>
                  <a:srgbClr val="FBBF24"/>
                </a:solidFill>
              </a:rPr>
              <a:t>k</a:t>
            </a:r>
            <a:endParaRPr lang="en-US" altLang="en-GB" sz="2400" b="1">
              <a:solidFill>
                <a:schemeClr val="accent2"/>
              </a:solidFill>
            </a:endParaRPr>
          </a:p>
        </p:txBody>
      </p:sp>
      <p:sp>
        <p:nvSpPr>
          <p:cNvPr id="1048741" name="Text Box 6"/>
          <p:cNvSpPr txBox="1"/>
          <p:nvPr/>
        </p:nvSpPr>
        <p:spPr>
          <a:xfrm>
            <a:off x="5975350" y="2037715"/>
            <a:ext cx="4460240" cy="2148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chemeClr val="bg1"/>
                </a:solidFill>
              </a:rPr>
              <a:t>Trainer'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n bizim yerimize yapt</a:t>
            </a:r>
            <a:r>
              <a:rPr lang="en-US" altLang="en-US" sz="2000" b="1">
                <a:solidFill>
                  <a:schemeClr val="bg1"/>
                </a:solidFill>
              </a:rPr>
              <a:t>ığı</a:t>
            </a:r>
            <a:r>
              <a:rPr lang="en-US" altLang="en-GB" sz="2000" b="1">
                <a:solidFill>
                  <a:schemeClr val="bg1"/>
                </a:solidFill>
              </a:rPr>
              <a:t> </a:t>
            </a:r>
            <a:r>
              <a:rPr lang="en-US" altLang="en-US" sz="2000" b="1">
                <a:solidFill>
                  <a:schemeClr val="bg1"/>
                </a:solidFill>
              </a:rPr>
              <a:t>ü</a:t>
            </a:r>
            <a:r>
              <a:rPr lang="en-US" altLang="en-US" sz="2000" b="1">
                <a:solidFill>
                  <a:schemeClr val="bg1"/>
                </a:solidFill>
              </a:rPr>
              <a:t>ç</a:t>
            </a:r>
            <a:r>
              <a:rPr lang="en-US" altLang="en-GB" sz="2000" b="1">
                <a:solidFill>
                  <a:schemeClr val="bg1"/>
                </a:solidFill>
              </a:rPr>
              <a:t> i</a:t>
            </a:r>
            <a:r>
              <a:rPr lang="en-US" altLang="en-US" sz="2000" b="1">
                <a:solidFill>
                  <a:schemeClr val="bg1"/>
                </a:solidFill>
              </a:rPr>
              <a:t>ş</a:t>
            </a:r>
            <a:r>
              <a:rPr lang="en-US" altLang="en-GB" sz="2000" b="1">
                <a:solidFill>
                  <a:schemeClr val="bg1"/>
                </a:solidFill>
              </a:rPr>
              <a:t>i </a:t>
            </a:r>
            <a:r>
              <a:rPr lang="en-US" altLang="en-US" sz="2000" b="1">
                <a:solidFill>
                  <a:schemeClr val="bg1"/>
                </a:solidFill>
              </a:rPr>
              <a:t>ş</a:t>
            </a:r>
            <a:r>
              <a:rPr lang="en-US" altLang="en-GB" sz="2000" b="1">
                <a:solidFill>
                  <a:schemeClr val="bg1"/>
                </a:solidFill>
              </a:rPr>
              <a:t>imdi elle yapmam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z gerekir: </a:t>
            </a:r>
            <a:endParaRPr lang="en-US" altLang="en-GB" sz="2000" b="1">
              <a:solidFill>
                <a:schemeClr val="bg1"/>
              </a:solidFill>
            </a:endParaRPr>
          </a:p>
          <a:p>
            <a:r>
              <a:rPr lang="en-US" altLang="en-GB" sz="2000" b="1">
                <a:solidFill>
                  <a:schemeClr val="bg1"/>
                </a:solidFill>
              </a:rPr>
              <a:t>modelin kullanmad</a:t>
            </a:r>
            <a:r>
              <a:rPr lang="en-US" altLang="en-US" sz="2000" b="1">
                <a:solidFill>
                  <a:schemeClr val="bg1"/>
                </a:solidFill>
              </a:rPr>
              <a:t>ığı</a:t>
            </a:r>
            <a:r>
              <a:rPr lang="en-US" altLang="en-GB" sz="2000" b="1">
                <a:solidFill>
                  <a:schemeClr val="bg1"/>
                </a:solidFill>
              </a:rPr>
              <a:t> s</a:t>
            </a:r>
            <a:r>
              <a:rPr lang="en-US" altLang="en-US" sz="2000" b="1">
                <a:solidFill>
                  <a:schemeClr val="bg1"/>
                </a:solidFill>
              </a:rPr>
              <a:t>ü</a:t>
            </a:r>
            <a:r>
              <a:rPr lang="en-US" altLang="en-GB" sz="2000" b="1">
                <a:solidFill>
                  <a:schemeClr val="bg1"/>
                </a:solidFill>
              </a:rPr>
              <a:t>tunlar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 silmek, label s</a:t>
            </a:r>
            <a:r>
              <a:rPr lang="en-US" altLang="en-US" sz="2000" b="1">
                <a:solidFill>
                  <a:schemeClr val="bg1"/>
                </a:solidFill>
              </a:rPr>
              <a:t>ü</a:t>
            </a:r>
            <a:r>
              <a:rPr lang="en-US" altLang="en-GB" sz="2000" b="1">
                <a:solidFill>
                  <a:schemeClr val="bg1"/>
                </a:solidFill>
              </a:rPr>
              <a:t>tununun ad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n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 labels </a:t>
            </a:r>
            <a:endParaRPr lang="en-US" altLang="en-GB" sz="2000" b="1">
              <a:solidFill>
                <a:schemeClr val="bg1"/>
              </a:solidFill>
            </a:endParaRPr>
          </a:p>
          <a:p>
            <a:r>
              <a:rPr lang="en-US" altLang="en-GB" sz="2000" b="1">
                <a:solidFill>
                  <a:schemeClr val="bg1"/>
                </a:solidFill>
              </a:rPr>
              <a:t>yapmak ve veriyi PyTorch tens</a:t>
            </a:r>
            <a:r>
              <a:rPr lang="en-US" altLang="en-US" sz="2000" b="1">
                <a:solidFill>
                  <a:schemeClr val="bg1"/>
                </a:solidFill>
              </a:rPr>
              <a:t>ö</a:t>
            </a:r>
            <a:r>
              <a:rPr lang="en-US" altLang="en-GB" sz="2000" b="1">
                <a:solidFill>
                  <a:schemeClr val="bg1"/>
                </a:solidFill>
              </a:rPr>
              <a:t>rlerine </a:t>
            </a:r>
            <a:r>
              <a:rPr lang="en-US" altLang="en-US" sz="2000" b="1">
                <a:solidFill>
                  <a:schemeClr val="bg1"/>
                </a:solidFill>
              </a:rPr>
              <a:t>ç</a:t>
            </a:r>
            <a:r>
              <a:rPr lang="en-US" altLang="en-GB" sz="2000" b="1">
                <a:solidFill>
                  <a:schemeClr val="bg1"/>
                </a:solidFill>
              </a:rPr>
              <a:t>evirmek</a:t>
            </a:r>
            <a:endParaRPr lang="en-US" altLang="en-GB" sz="2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Rounded Rectangle 3"/>
          <p:cNvSpPr/>
          <p:nvPr/>
        </p:nvSpPr>
        <p:spPr>
          <a:xfrm>
            <a:off x="746760" y="685800"/>
            <a:ext cx="4472940" cy="5486400"/>
          </a:xfrm>
          <a:prstGeom prst="roundRect">
            <a:avLst>
              <a:gd name="adj" fmla="val 5724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743" name="Text Box 9"/>
          <p:cNvSpPr txBox="1"/>
          <p:nvPr/>
        </p:nvSpPr>
        <p:spPr>
          <a:xfrm>
            <a:off x="1586230" y="947420"/>
            <a:ext cx="3055620" cy="6248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3200" b="1">
                <a:solidFill>
                  <a:srgbClr val="FBBF24"/>
                </a:solidFill>
              </a:rPr>
              <a:t>DataLoader</a:t>
            </a:r>
            <a:endParaRPr lang="en-US" altLang="en-GB" sz="3200" b="1">
              <a:solidFill>
                <a:schemeClr val="accent2"/>
              </a:solidFill>
            </a:endParaRPr>
          </a:p>
        </p:txBody>
      </p:sp>
      <p:sp>
        <p:nvSpPr>
          <p:cNvPr id="1048744" name="Text Box 17"/>
          <p:cNvSpPr txBox="1"/>
          <p:nvPr/>
        </p:nvSpPr>
        <p:spPr>
          <a:xfrm>
            <a:off x="1270635" y="1821815"/>
            <a:ext cx="3550285" cy="3342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>
                <a:solidFill>
                  <a:schemeClr val="bg1"/>
                </a:solidFill>
              </a:rPr>
              <a:t>DataLoader, e</a:t>
            </a:r>
            <a:r>
              <a:rPr lang="en-US" altLang="en-US" sz="2400" b="1">
                <a:solidFill>
                  <a:schemeClr val="bg1"/>
                </a:solidFill>
              </a:rPr>
              <a:t>ğ</a:t>
            </a:r>
            <a:r>
              <a:rPr lang="en-US" altLang="en-GB" sz="2400" b="1">
                <a:solidFill>
                  <a:schemeClr val="bg1"/>
                </a:solidFill>
              </a:rPr>
              <a:t>itim verilerini k</a:t>
            </a:r>
            <a:r>
              <a:rPr lang="en-US" altLang="en-US" sz="2400" b="1">
                <a:solidFill>
                  <a:schemeClr val="bg1"/>
                </a:solidFill>
              </a:rPr>
              <a:t>ü</a:t>
            </a:r>
            <a:r>
              <a:rPr lang="en-US" altLang="en-US" sz="2400" b="1">
                <a:solidFill>
                  <a:schemeClr val="bg1"/>
                </a:solidFill>
              </a:rPr>
              <a:t>ç</a:t>
            </a:r>
            <a:r>
              <a:rPr lang="en-US" altLang="en-US" sz="2400" b="1">
                <a:solidFill>
                  <a:schemeClr val="bg1"/>
                </a:solidFill>
              </a:rPr>
              <a:t>ü</a:t>
            </a:r>
            <a:r>
              <a:rPr lang="en-US" altLang="en-GB" sz="2400" b="1">
                <a:solidFill>
                  <a:schemeClr val="bg1"/>
                </a:solidFill>
              </a:rPr>
              <a:t>k gruplar h</a:t>
            </a:r>
            <a:r>
              <a:rPr lang="en-US" altLang="en-US" sz="2400" b="1">
                <a:solidFill>
                  <a:schemeClr val="bg1"/>
                </a:solidFill>
              </a:rPr>
              <a:t>â</a:t>
            </a:r>
            <a:r>
              <a:rPr lang="en-US" altLang="en-GB" sz="2400" b="1">
                <a:solidFill>
                  <a:schemeClr val="bg1"/>
                </a:solidFill>
              </a:rPr>
              <a:t>linde modele aktaran bir ara</a:t>
            </a:r>
            <a:r>
              <a:rPr lang="en-US" altLang="en-US" sz="2400" b="1">
                <a:solidFill>
                  <a:schemeClr val="bg1"/>
                </a:solidFill>
              </a:rPr>
              <a:t>ç</a:t>
            </a:r>
            <a:r>
              <a:rPr lang="en-US" altLang="en-GB" sz="2400" b="1">
                <a:solidFill>
                  <a:schemeClr val="bg1"/>
                </a:solidFill>
              </a:rPr>
              <a:t>t</a:t>
            </a:r>
            <a:r>
              <a:rPr lang="en-US" altLang="en-US" sz="2400" b="1">
                <a:solidFill>
                  <a:schemeClr val="bg1"/>
                </a:solidFill>
              </a:rPr>
              <a:t>ı</a:t>
            </a:r>
            <a:r>
              <a:rPr lang="en-US" altLang="en-GB" sz="2400" b="1">
                <a:solidFill>
                  <a:schemeClr val="bg1"/>
                </a:solidFill>
              </a:rPr>
              <a:t>r. Verileri bu </a:t>
            </a:r>
            <a:r>
              <a:rPr lang="en-US" altLang="en-US" sz="2400" b="1">
                <a:solidFill>
                  <a:schemeClr val="bg1"/>
                </a:solidFill>
              </a:rPr>
              <a:t>ş</a:t>
            </a:r>
            <a:r>
              <a:rPr lang="en-US" altLang="en-GB" sz="2400" b="1">
                <a:solidFill>
                  <a:schemeClr val="bg1"/>
                </a:solidFill>
              </a:rPr>
              <a:t>ekilde i</a:t>
            </a:r>
            <a:r>
              <a:rPr lang="en-US" altLang="en-US" sz="2400" b="1">
                <a:solidFill>
                  <a:schemeClr val="bg1"/>
                </a:solidFill>
              </a:rPr>
              <a:t>ş</a:t>
            </a:r>
            <a:r>
              <a:rPr lang="en-US" altLang="en-GB" sz="2400" b="1">
                <a:solidFill>
                  <a:schemeClr val="bg1"/>
                </a:solidFill>
              </a:rPr>
              <a:t>lemek, </a:t>
            </a:r>
            <a:r>
              <a:rPr lang="en-US" altLang="en-US" sz="2400" b="1">
                <a:solidFill>
                  <a:schemeClr val="bg1"/>
                </a:solidFill>
              </a:rPr>
              <a:t>ö</a:t>
            </a:r>
            <a:r>
              <a:rPr lang="en-US" altLang="en-GB" sz="2400" b="1">
                <a:solidFill>
                  <a:schemeClr val="bg1"/>
                </a:solidFill>
              </a:rPr>
              <a:t>zellikle b</a:t>
            </a:r>
            <a:r>
              <a:rPr lang="en-US" altLang="en-US" sz="2400" b="1">
                <a:solidFill>
                  <a:schemeClr val="bg1"/>
                </a:solidFill>
              </a:rPr>
              <a:t>ü</a:t>
            </a:r>
            <a:r>
              <a:rPr lang="en-US" altLang="en-GB" sz="2400" b="1">
                <a:solidFill>
                  <a:schemeClr val="bg1"/>
                </a:solidFill>
              </a:rPr>
              <a:t>y</a:t>
            </a:r>
            <a:r>
              <a:rPr lang="en-US" altLang="en-US" sz="2400" b="1">
                <a:solidFill>
                  <a:schemeClr val="bg1"/>
                </a:solidFill>
              </a:rPr>
              <a:t>ü</a:t>
            </a:r>
            <a:r>
              <a:rPr lang="en-US" altLang="en-GB" sz="2400" b="1">
                <a:solidFill>
                  <a:schemeClr val="bg1"/>
                </a:solidFill>
              </a:rPr>
              <a:t>k veri setlerinde e</a:t>
            </a:r>
            <a:r>
              <a:rPr lang="en-US" altLang="en-US" sz="2400" b="1">
                <a:solidFill>
                  <a:schemeClr val="bg1"/>
                </a:solidFill>
              </a:rPr>
              <a:t>ğ</a:t>
            </a:r>
            <a:r>
              <a:rPr lang="en-US" altLang="en-GB" sz="2400" b="1">
                <a:solidFill>
                  <a:schemeClr val="bg1"/>
                </a:solidFill>
              </a:rPr>
              <a:t>itim s</a:t>
            </a:r>
            <a:r>
              <a:rPr lang="en-US" altLang="en-US" sz="2400" b="1">
                <a:solidFill>
                  <a:schemeClr val="bg1"/>
                </a:solidFill>
              </a:rPr>
              <a:t>ü</a:t>
            </a:r>
            <a:r>
              <a:rPr lang="en-US" altLang="en-GB" sz="2400" b="1">
                <a:solidFill>
                  <a:schemeClr val="bg1"/>
                </a:solidFill>
              </a:rPr>
              <a:t>recini daha d</a:t>
            </a:r>
            <a:r>
              <a:rPr lang="en-US" altLang="en-US" sz="2400" b="1">
                <a:solidFill>
                  <a:schemeClr val="bg1"/>
                </a:solidFill>
              </a:rPr>
              <a:t>ü</a:t>
            </a:r>
            <a:r>
              <a:rPr lang="en-US" altLang="en-GB" sz="2400" b="1">
                <a:solidFill>
                  <a:schemeClr val="bg1"/>
                </a:solidFill>
              </a:rPr>
              <a:t>zenli h</a:t>
            </a:r>
            <a:r>
              <a:rPr lang="en-US" altLang="en-US" sz="2400" b="1">
                <a:solidFill>
                  <a:schemeClr val="bg1"/>
                </a:solidFill>
              </a:rPr>
              <a:t>â</a:t>
            </a:r>
            <a:r>
              <a:rPr lang="en-US" altLang="en-GB" sz="2400" b="1">
                <a:solidFill>
                  <a:schemeClr val="bg1"/>
                </a:solidFill>
              </a:rPr>
              <a:t>le getirir</a:t>
            </a:r>
            <a:endParaRPr lang="en-US" altLang="en-GB" sz="2400" b="1">
              <a:solidFill>
                <a:schemeClr val="bg1"/>
              </a:solidFill>
            </a:endParaRPr>
          </a:p>
        </p:txBody>
      </p:sp>
      <p:sp>
        <p:nvSpPr>
          <p:cNvPr id="1048745" name="Rounded Rectangle 18"/>
          <p:cNvSpPr/>
          <p:nvPr/>
        </p:nvSpPr>
        <p:spPr>
          <a:xfrm>
            <a:off x="6780530" y="685800"/>
            <a:ext cx="4472940" cy="5486400"/>
          </a:xfrm>
          <a:prstGeom prst="roundRect">
            <a:avLst>
              <a:gd name="adj" fmla="val 5724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746" name="Text Box 19"/>
          <p:cNvSpPr txBox="1"/>
          <p:nvPr/>
        </p:nvSpPr>
        <p:spPr>
          <a:xfrm>
            <a:off x="7401560" y="947420"/>
            <a:ext cx="3413125" cy="9042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>
                <a:solidFill>
                  <a:srgbClr val="FBBF24"/>
                </a:solidFill>
              </a:rPr>
              <a:t>Model, optimizer ve scheduler</a:t>
            </a:r>
            <a:endParaRPr lang="en-US" altLang="en-GB" sz="2400" b="1">
              <a:solidFill>
                <a:schemeClr val="accent2"/>
              </a:solidFill>
            </a:endParaRPr>
          </a:p>
        </p:txBody>
      </p:sp>
      <p:sp>
        <p:nvSpPr>
          <p:cNvPr id="1048747" name="Text Box 20"/>
          <p:cNvSpPr txBox="1"/>
          <p:nvPr/>
        </p:nvSpPr>
        <p:spPr>
          <a:xfrm>
            <a:off x="7412355" y="1979930"/>
            <a:ext cx="3517900" cy="38633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chemeClr val="bg1"/>
                </a:solidFill>
              </a:rPr>
              <a:t>Bu a</a:t>
            </a:r>
            <a:r>
              <a:rPr lang="en-US" altLang="en-US" sz="2000" b="1">
                <a:solidFill>
                  <a:schemeClr val="bg1"/>
                </a:solidFill>
              </a:rPr>
              <a:t>ş</a:t>
            </a:r>
            <a:r>
              <a:rPr lang="en-US" altLang="en-GB" sz="2000" b="1">
                <a:solidFill>
                  <a:schemeClr val="bg1"/>
                </a:solidFill>
              </a:rPr>
              <a:t>amada modelin a</a:t>
            </a:r>
            <a:r>
              <a:rPr lang="en-US" altLang="en-US" sz="2000" b="1">
                <a:solidFill>
                  <a:schemeClr val="bg1"/>
                </a:solidFill>
              </a:rPr>
              <a:t>ğı</a:t>
            </a:r>
            <a:r>
              <a:rPr lang="en-US" altLang="en-GB" sz="2000" b="1">
                <a:solidFill>
                  <a:schemeClr val="bg1"/>
                </a:solidFill>
              </a:rPr>
              <a:t>rl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klar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n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 g</a:t>
            </a:r>
            <a:r>
              <a:rPr lang="en-US" altLang="en-US" sz="2000" b="1">
                <a:solidFill>
                  <a:schemeClr val="bg1"/>
                </a:solidFill>
              </a:rPr>
              <a:t>ü</a:t>
            </a:r>
            <a:r>
              <a:rPr lang="en-US" altLang="en-GB" sz="2000" b="1">
                <a:solidFill>
                  <a:schemeClr val="bg1"/>
                </a:solidFill>
              </a:rPr>
              <a:t>ncelleyecek optimizer ve </a:t>
            </a:r>
            <a:r>
              <a:rPr lang="en-US" altLang="en-US" sz="2000" b="1">
                <a:solidFill>
                  <a:schemeClr val="bg1"/>
                </a:solidFill>
              </a:rPr>
              <a:t>ö</a:t>
            </a:r>
            <a:r>
              <a:rPr lang="en-US" altLang="en-US" sz="2000" b="1">
                <a:solidFill>
                  <a:schemeClr val="bg1"/>
                </a:solidFill>
              </a:rPr>
              <a:t>ğ</a:t>
            </a:r>
            <a:r>
              <a:rPr lang="en-US" altLang="en-GB" sz="2000" b="1">
                <a:solidFill>
                  <a:schemeClr val="bg1"/>
                </a:solidFill>
              </a:rPr>
              <a:t>renme h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z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n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 ayarlayacak scheduler kullan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yoruz. </a:t>
            </a:r>
            <a:r>
              <a:rPr lang="en-US" altLang="en-US" sz="2000" b="1">
                <a:solidFill>
                  <a:schemeClr val="bg1"/>
                </a:solidFill>
              </a:rPr>
              <a:t>Ö</a:t>
            </a:r>
            <a:r>
              <a:rPr lang="en-US" altLang="en-GB" sz="2000" b="1">
                <a:solidFill>
                  <a:schemeClr val="bg1"/>
                </a:solidFill>
              </a:rPr>
              <a:t>rne</a:t>
            </a:r>
            <a:r>
              <a:rPr lang="en-US" altLang="en-US" sz="2000" b="1">
                <a:solidFill>
                  <a:schemeClr val="bg1"/>
                </a:solidFill>
              </a:rPr>
              <a:t>ğ</a:t>
            </a:r>
            <a:r>
              <a:rPr lang="en-US" altLang="en-GB" sz="2000" b="1">
                <a:solidFill>
                  <a:schemeClr val="bg1"/>
                </a:solidFill>
              </a:rPr>
              <a:t>in AdamW, modelin hatas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n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 azaltmaya y</a:t>
            </a:r>
            <a:r>
              <a:rPr lang="en-US" altLang="en-US" sz="2000" b="1">
                <a:solidFill>
                  <a:schemeClr val="bg1"/>
                </a:solidFill>
              </a:rPr>
              <a:t>ö</a:t>
            </a:r>
            <a:r>
              <a:rPr lang="en-US" altLang="en-GB" sz="2000" b="1">
                <a:solidFill>
                  <a:schemeClr val="bg1"/>
                </a:solidFill>
              </a:rPr>
              <a:t>nelik a</a:t>
            </a:r>
            <a:r>
              <a:rPr lang="en-US" altLang="en-US" sz="2000" b="1">
                <a:solidFill>
                  <a:schemeClr val="bg1"/>
                </a:solidFill>
              </a:rPr>
              <a:t>ğı</a:t>
            </a:r>
            <a:r>
              <a:rPr lang="en-US" altLang="en-GB" sz="2000" b="1">
                <a:solidFill>
                  <a:schemeClr val="bg1"/>
                </a:solidFill>
              </a:rPr>
              <a:t>rl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k g</a:t>
            </a:r>
            <a:r>
              <a:rPr lang="en-US" altLang="en-US" sz="2000" b="1">
                <a:solidFill>
                  <a:schemeClr val="bg1"/>
                </a:solidFill>
              </a:rPr>
              <a:t>ü</a:t>
            </a:r>
            <a:r>
              <a:rPr lang="en-US" altLang="en-GB" sz="2000" b="1">
                <a:solidFill>
                  <a:schemeClr val="bg1"/>
                </a:solidFill>
              </a:rPr>
              <a:t>ncellemelerini yaparken scheduler </a:t>
            </a:r>
            <a:r>
              <a:rPr lang="en-US" altLang="en-US" sz="2000" b="1">
                <a:solidFill>
                  <a:schemeClr val="bg1"/>
                </a:solidFill>
              </a:rPr>
              <a:t>ö</a:t>
            </a:r>
            <a:r>
              <a:rPr lang="en-US" altLang="en-US" sz="2000" b="1">
                <a:solidFill>
                  <a:schemeClr val="bg1"/>
                </a:solidFill>
              </a:rPr>
              <a:t>ğ</a:t>
            </a:r>
            <a:r>
              <a:rPr lang="en-US" altLang="en-GB" sz="2000" b="1">
                <a:solidFill>
                  <a:schemeClr val="bg1"/>
                </a:solidFill>
              </a:rPr>
              <a:t>renme h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z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n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n e</a:t>
            </a:r>
            <a:r>
              <a:rPr lang="en-US" altLang="en-US" sz="2000" b="1">
                <a:solidFill>
                  <a:schemeClr val="bg1"/>
                </a:solidFill>
              </a:rPr>
              <a:t>ğ</a:t>
            </a:r>
            <a:r>
              <a:rPr lang="en-US" altLang="en-GB" sz="2000" b="1">
                <a:solidFill>
                  <a:schemeClr val="bg1"/>
                </a:solidFill>
              </a:rPr>
              <a:t>itim boyunca nas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l de</a:t>
            </a:r>
            <a:r>
              <a:rPr lang="en-US" altLang="en-US" sz="2000" b="1">
                <a:solidFill>
                  <a:schemeClr val="bg1"/>
                </a:solidFill>
              </a:rPr>
              <a:t>ğ</a:t>
            </a:r>
            <a:r>
              <a:rPr lang="en-US" altLang="en-GB" sz="2000" b="1">
                <a:solidFill>
                  <a:schemeClr val="bg1"/>
                </a:solidFill>
              </a:rPr>
              <a:t>i</a:t>
            </a:r>
            <a:r>
              <a:rPr lang="en-US" altLang="en-US" sz="2000" b="1">
                <a:solidFill>
                  <a:schemeClr val="bg1"/>
                </a:solidFill>
              </a:rPr>
              <a:t>ş</a:t>
            </a:r>
            <a:r>
              <a:rPr lang="en-US" altLang="en-GB" sz="2000" b="1">
                <a:solidFill>
                  <a:schemeClr val="bg1"/>
                </a:solidFill>
              </a:rPr>
              <a:t>ece</a:t>
            </a:r>
            <a:r>
              <a:rPr lang="en-US" altLang="en-US" sz="2000" b="1">
                <a:solidFill>
                  <a:schemeClr val="bg1"/>
                </a:solidFill>
              </a:rPr>
              <a:t>ğ</a:t>
            </a:r>
            <a:r>
              <a:rPr lang="en-US" altLang="en-GB" sz="2000" b="1">
                <a:solidFill>
                  <a:schemeClr val="bg1"/>
                </a:solidFill>
              </a:rPr>
              <a:t>ini belirler.</a:t>
            </a:r>
            <a:endParaRPr lang="en-US" altLang="en-GB" sz="2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8" name="Rounded Rectangle 5"/>
          <p:cNvSpPr/>
          <p:nvPr/>
        </p:nvSpPr>
        <p:spPr>
          <a:xfrm>
            <a:off x="2196465" y="526415"/>
            <a:ext cx="4291965" cy="3629025"/>
          </a:xfrm>
          <a:prstGeom prst="roundRect">
            <a:avLst>
              <a:gd name="adj" fmla="val 7055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749" name="Text Box 7"/>
          <p:cNvSpPr txBox="1"/>
          <p:nvPr/>
        </p:nvSpPr>
        <p:spPr>
          <a:xfrm>
            <a:off x="2905760" y="883920"/>
            <a:ext cx="3023235" cy="4978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>
                <a:solidFill>
                  <a:srgbClr val="FBBF24"/>
                </a:solidFill>
              </a:rPr>
              <a:t>GPU kullan</a:t>
            </a:r>
            <a:r>
              <a:rPr lang="en-US" altLang="en-US" sz="2400" b="1">
                <a:solidFill>
                  <a:srgbClr val="FBBF24"/>
                </a:solidFill>
              </a:rPr>
              <a:t>ı</a:t>
            </a:r>
            <a:r>
              <a:rPr lang="en-US" altLang="en-GB" sz="2400" b="1">
                <a:solidFill>
                  <a:srgbClr val="FBBF24"/>
                </a:solidFill>
              </a:rPr>
              <a:t>m</a:t>
            </a:r>
            <a:r>
              <a:rPr lang="en-US" altLang="en-US" sz="2400" b="1">
                <a:solidFill>
                  <a:srgbClr val="FBBF24"/>
                </a:solidFill>
              </a:rPr>
              <a:t>ı</a:t>
            </a:r>
            <a:endParaRPr lang="en-US" altLang="en-US" sz="2400" b="1">
              <a:solidFill>
                <a:schemeClr val="accent2"/>
              </a:solidFill>
            </a:endParaRPr>
          </a:p>
        </p:txBody>
      </p:sp>
      <p:sp>
        <p:nvSpPr>
          <p:cNvPr id="1048750" name="Text Box 9"/>
          <p:cNvSpPr txBox="1"/>
          <p:nvPr/>
        </p:nvSpPr>
        <p:spPr>
          <a:xfrm>
            <a:off x="2715895" y="1547495"/>
            <a:ext cx="3129280" cy="2148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chemeClr val="bg1"/>
                </a:solidFill>
              </a:rPr>
              <a:t>GPU varsa modeli ve verileri GPU'ya ta</a:t>
            </a:r>
            <a:r>
              <a:rPr lang="en-US" altLang="en-US" sz="2000" b="1">
                <a:solidFill>
                  <a:schemeClr val="bg1"/>
                </a:solidFill>
              </a:rPr>
              <a:t>şı</a:t>
            </a:r>
            <a:r>
              <a:rPr lang="en-US" altLang="en-GB" sz="2000" b="1">
                <a:solidFill>
                  <a:schemeClr val="bg1"/>
                </a:solidFill>
              </a:rPr>
              <a:t>r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z, </a:t>
            </a:r>
            <a:r>
              <a:rPr lang="en-US" altLang="en-US" sz="2000" b="1">
                <a:solidFill>
                  <a:schemeClr val="bg1"/>
                </a:solidFill>
              </a:rPr>
              <a:t>ç</a:t>
            </a:r>
            <a:r>
              <a:rPr lang="en-US" altLang="en-US" sz="2000" b="1">
                <a:solidFill>
                  <a:schemeClr val="bg1"/>
                </a:solidFill>
              </a:rPr>
              <a:t>ü</a:t>
            </a:r>
            <a:r>
              <a:rPr lang="en-US" altLang="en-GB" sz="2000" b="1">
                <a:solidFill>
                  <a:schemeClr val="bg1"/>
                </a:solidFill>
              </a:rPr>
              <a:t>nk</a:t>
            </a:r>
            <a:r>
              <a:rPr lang="en-US" altLang="en-US" sz="2000" b="1">
                <a:solidFill>
                  <a:schemeClr val="bg1"/>
                </a:solidFill>
              </a:rPr>
              <a:t>ü</a:t>
            </a:r>
            <a:r>
              <a:rPr lang="en-US" altLang="en-GB" sz="2000" b="1">
                <a:solidFill>
                  <a:schemeClr val="bg1"/>
                </a:solidFill>
              </a:rPr>
              <a:t> CPU'da e</a:t>
            </a:r>
            <a:r>
              <a:rPr lang="en-US" altLang="en-US" sz="2000" b="1">
                <a:solidFill>
                  <a:schemeClr val="bg1"/>
                </a:solidFill>
              </a:rPr>
              <a:t>ğ</a:t>
            </a:r>
            <a:r>
              <a:rPr lang="en-US" altLang="en-GB" sz="2000" b="1">
                <a:solidFill>
                  <a:schemeClr val="bg1"/>
                </a:solidFill>
              </a:rPr>
              <a:t>itim birka</a:t>
            </a:r>
            <a:r>
              <a:rPr lang="en-US" altLang="en-US" sz="2000" b="1">
                <a:solidFill>
                  <a:schemeClr val="bg1"/>
                </a:solidFill>
              </a:rPr>
              <a:t>ç</a:t>
            </a:r>
            <a:r>
              <a:rPr lang="en-US" altLang="en-GB" sz="2000" b="1">
                <a:solidFill>
                  <a:schemeClr val="bg1"/>
                </a:solidFill>
              </a:rPr>
              <a:t> </a:t>
            </a:r>
            <a:endParaRPr lang="en-US" altLang="en-GB" sz="2000" b="1">
              <a:solidFill>
                <a:schemeClr val="bg1"/>
              </a:solidFill>
            </a:endParaRPr>
          </a:p>
          <a:p>
            <a:r>
              <a:rPr lang="en-US" altLang="en-GB" sz="2000" b="1">
                <a:solidFill>
                  <a:schemeClr val="bg1"/>
                </a:solidFill>
              </a:rPr>
              <a:t>dakika yerine saatler s</a:t>
            </a:r>
            <a:r>
              <a:rPr lang="en-US" altLang="en-US" sz="2000" b="1">
                <a:solidFill>
                  <a:schemeClr val="bg1"/>
                </a:solidFill>
              </a:rPr>
              <a:t>ü</a:t>
            </a:r>
            <a:r>
              <a:rPr lang="en-US" altLang="en-GB" sz="2000" b="1">
                <a:solidFill>
                  <a:schemeClr val="bg1"/>
                </a:solidFill>
              </a:rPr>
              <a:t>rebilir.</a:t>
            </a:r>
            <a:endParaRPr lang="en-US" altLang="en-GB" sz="2000" b="1">
              <a:solidFill>
                <a:schemeClr val="bg1"/>
              </a:solidFill>
            </a:endParaRPr>
          </a:p>
        </p:txBody>
      </p:sp>
      <p:sp>
        <p:nvSpPr>
          <p:cNvPr id="1048751" name="Flowchart: Terminator 10"/>
          <p:cNvSpPr/>
          <p:nvPr/>
        </p:nvSpPr>
        <p:spPr>
          <a:xfrm>
            <a:off x="6912610" y="526415"/>
            <a:ext cx="4696460" cy="5654040"/>
          </a:xfrm>
          <a:prstGeom prst="roundRect">
            <a:avLst>
              <a:gd name="adj" fmla="val 5451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752" name="Text Box 12"/>
          <p:cNvSpPr txBox="1"/>
          <p:nvPr/>
        </p:nvSpPr>
        <p:spPr>
          <a:xfrm>
            <a:off x="7888605" y="757555"/>
            <a:ext cx="3086735" cy="9042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>
                <a:solidFill>
                  <a:srgbClr val="FBBF24"/>
                </a:solidFill>
              </a:rPr>
              <a:t>Training Loop (E</a:t>
            </a:r>
            <a:r>
              <a:rPr lang="en-US" altLang="en-US" sz="2400" b="1">
                <a:solidFill>
                  <a:srgbClr val="FBBF24"/>
                </a:solidFill>
              </a:rPr>
              <a:t>ğ</a:t>
            </a:r>
            <a:r>
              <a:rPr lang="en-US" altLang="en-GB" sz="2400" b="1">
                <a:solidFill>
                  <a:srgbClr val="FBBF24"/>
                </a:solidFill>
              </a:rPr>
              <a:t>itim d</a:t>
            </a:r>
            <a:r>
              <a:rPr lang="en-US" altLang="en-US" sz="2400" b="1">
                <a:solidFill>
                  <a:srgbClr val="FBBF24"/>
                </a:solidFill>
              </a:rPr>
              <a:t>ö</a:t>
            </a:r>
            <a:r>
              <a:rPr lang="en-US" altLang="en-GB" sz="2400" b="1">
                <a:solidFill>
                  <a:srgbClr val="FBBF24"/>
                </a:solidFill>
              </a:rPr>
              <a:t>ng</a:t>
            </a:r>
            <a:r>
              <a:rPr lang="en-US" altLang="en-US" sz="2400" b="1">
                <a:solidFill>
                  <a:srgbClr val="FBBF24"/>
                </a:solidFill>
              </a:rPr>
              <a:t>ü</a:t>
            </a:r>
            <a:r>
              <a:rPr lang="en-US" altLang="en-GB" sz="2400" b="1">
                <a:solidFill>
                  <a:srgbClr val="FBBF24"/>
                </a:solidFill>
              </a:rPr>
              <a:t>s</a:t>
            </a:r>
            <a:r>
              <a:rPr lang="en-US" altLang="en-US" sz="2400" b="1">
                <a:solidFill>
                  <a:srgbClr val="FBBF24"/>
                </a:solidFill>
              </a:rPr>
              <a:t>ü</a:t>
            </a:r>
            <a:r>
              <a:rPr lang="en-US" altLang="en-GB" sz="2400" b="1">
                <a:solidFill>
                  <a:srgbClr val="FBBF24"/>
                </a:solidFill>
              </a:rPr>
              <a:t>)</a:t>
            </a:r>
            <a:endParaRPr lang="en-US" altLang="en-GB" sz="2400" b="1">
              <a:solidFill>
                <a:schemeClr val="accent2"/>
              </a:solidFill>
            </a:endParaRPr>
          </a:p>
        </p:txBody>
      </p:sp>
      <p:sp>
        <p:nvSpPr>
          <p:cNvPr id="1048753" name="Text Box 13"/>
          <p:cNvSpPr txBox="1"/>
          <p:nvPr/>
        </p:nvSpPr>
        <p:spPr>
          <a:xfrm>
            <a:off x="7501255" y="1610995"/>
            <a:ext cx="3286760" cy="2491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rgbClr val="FFFFFF"/>
                </a:solidFill>
              </a:rPr>
              <a:t>Training loop'ta her batch i</a:t>
            </a:r>
            <a:r>
              <a:rPr lang="en-US" altLang="en-US" sz="2000" b="1">
                <a:solidFill>
                  <a:srgbClr val="FFFFFF"/>
                </a:solidFill>
              </a:rPr>
              <a:t>ç</a:t>
            </a:r>
            <a:r>
              <a:rPr lang="en-US" altLang="en-GB" sz="2000" b="1">
                <a:solidFill>
                  <a:srgbClr val="FFFFFF"/>
                </a:solidFill>
              </a:rPr>
              <a:t>in s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ras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yla hatay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 hesaplar, hatay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 geriye </a:t>
            </a:r>
            <a:endParaRPr lang="en-US" altLang="en-GB" sz="2000" b="1"/>
          </a:p>
          <a:p>
            <a:r>
              <a:rPr lang="en-US" altLang="en-GB" sz="2000" b="1">
                <a:solidFill>
                  <a:srgbClr val="FFFFFF"/>
                </a:solidFill>
              </a:rPr>
              <a:t>do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ru yayar, modeli g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nceller, learning rate'i ayarlar ve gradient'leri </a:t>
            </a:r>
            <a:endParaRPr lang="en-US" altLang="en-GB" sz="2000" b="1"/>
          </a:p>
          <a:p>
            <a:r>
              <a:rPr lang="en-US" altLang="en-GB" sz="2000" b="1">
                <a:solidFill>
                  <a:srgbClr val="FFFFFF"/>
                </a:solidFill>
              </a:rPr>
              <a:t>s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f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rlar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z.</a:t>
            </a:r>
            <a:endParaRPr lang="en-US" altLang="en-GB" sz="20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Rounded Rectangle 5"/>
          <p:cNvSpPr/>
          <p:nvPr/>
        </p:nvSpPr>
        <p:spPr>
          <a:xfrm>
            <a:off x="274320" y="526415"/>
            <a:ext cx="6214110" cy="5772150"/>
          </a:xfrm>
          <a:prstGeom prst="roundRect">
            <a:avLst>
              <a:gd name="adj" fmla="val 4435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755" name="Text Box 7"/>
          <p:cNvSpPr txBox="1"/>
          <p:nvPr/>
        </p:nvSpPr>
        <p:spPr>
          <a:xfrm>
            <a:off x="836930" y="883920"/>
            <a:ext cx="4098925" cy="9042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>
                <a:solidFill>
                  <a:srgbClr val="FBBF24"/>
                </a:solidFill>
              </a:rPr>
              <a:t>Evaluation Loop (De</a:t>
            </a:r>
            <a:r>
              <a:rPr lang="en-US" altLang="en-US" sz="2400" b="1">
                <a:solidFill>
                  <a:srgbClr val="FBBF24"/>
                </a:solidFill>
              </a:rPr>
              <a:t>ğ</a:t>
            </a:r>
            <a:r>
              <a:rPr lang="en-US" altLang="en-GB" sz="2400" b="1">
                <a:solidFill>
                  <a:srgbClr val="FBBF24"/>
                </a:solidFill>
              </a:rPr>
              <a:t>erlendirme d</a:t>
            </a:r>
            <a:r>
              <a:rPr lang="en-US" altLang="en-US" sz="2400" b="1">
                <a:solidFill>
                  <a:srgbClr val="FBBF24"/>
                </a:solidFill>
              </a:rPr>
              <a:t>ö</a:t>
            </a:r>
            <a:r>
              <a:rPr lang="en-US" altLang="en-GB" sz="2400" b="1">
                <a:solidFill>
                  <a:srgbClr val="FBBF24"/>
                </a:solidFill>
              </a:rPr>
              <a:t>ng</a:t>
            </a:r>
            <a:r>
              <a:rPr lang="en-US" altLang="en-US" sz="2400" b="1">
                <a:solidFill>
                  <a:srgbClr val="FBBF24"/>
                </a:solidFill>
              </a:rPr>
              <a:t>ü</a:t>
            </a:r>
            <a:r>
              <a:rPr lang="en-US" altLang="en-GB" sz="2400" b="1">
                <a:solidFill>
                  <a:srgbClr val="FBBF24"/>
                </a:solidFill>
              </a:rPr>
              <a:t>s</a:t>
            </a:r>
            <a:r>
              <a:rPr lang="en-US" altLang="en-US" sz="2400" b="1">
                <a:solidFill>
                  <a:srgbClr val="FBBF24"/>
                </a:solidFill>
              </a:rPr>
              <a:t>ü</a:t>
            </a:r>
            <a:r>
              <a:rPr lang="en-US" altLang="en-GB" sz="2400" b="1">
                <a:solidFill>
                  <a:srgbClr val="FBBF24"/>
                </a:solidFill>
              </a:rPr>
              <a:t>)</a:t>
            </a:r>
            <a:endParaRPr lang="en-US" altLang="en-GB" sz="2400" b="1">
              <a:solidFill>
                <a:schemeClr val="accent2"/>
              </a:solidFill>
            </a:endParaRPr>
          </a:p>
        </p:txBody>
      </p:sp>
      <p:sp>
        <p:nvSpPr>
          <p:cNvPr id="1048756" name="Text Box 9"/>
          <p:cNvSpPr txBox="1"/>
          <p:nvPr/>
        </p:nvSpPr>
        <p:spPr>
          <a:xfrm>
            <a:off x="562610" y="2264410"/>
            <a:ext cx="4958080" cy="2491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De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ğ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erlendirme d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ö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ng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ü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s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ü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nde modelin yeni tahminler 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ü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retmesini sa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ğ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l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yor ve sonu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ç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lar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 ger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ç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ek etiketlerle kar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şı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la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ş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t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r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yoruz. Bu a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ş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amada accuracy ve F1 gibi metriklerle modelin ba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ş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ar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s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n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 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ö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l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ç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ü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yoruz; modelin a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ğı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rl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klar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n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 g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ü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ncellemiyoruz.</a:t>
            </a:r>
            <a:endParaRPr lang="en-US" altLang="en-GB" sz="2000" b="1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048757" name="Flowchart: Terminator 10"/>
          <p:cNvSpPr/>
          <p:nvPr/>
        </p:nvSpPr>
        <p:spPr>
          <a:xfrm>
            <a:off x="6843395" y="274320"/>
            <a:ext cx="5003800" cy="6309360"/>
          </a:xfrm>
          <a:prstGeom prst="roundRect">
            <a:avLst>
              <a:gd name="adj" fmla="val 5116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758" name="Text Box 12"/>
          <p:cNvSpPr txBox="1"/>
          <p:nvPr/>
        </p:nvSpPr>
        <p:spPr>
          <a:xfrm>
            <a:off x="7888605" y="757555"/>
            <a:ext cx="3086735" cy="9042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>
                <a:solidFill>
                  <a:srgbClr val="FBBF24"/>
                </a:solidFill>
              </a:rPr>
              <a:t> Accelerate ile h</a:t>
            </a:r>
            <a:r>
              <a:rPr lang="en-US" altLang="en-US" sz="2400" b="1">
                <a:solidFill>
                  <a:srgbClr val="FBBF24"/>
                </a:solidFill>
              </a:rPr>
              <a:t>ı</a:t>
            </a:r>
            <a:r>
              <a:rPr lang="en-US" altLang="en-GB" sz="2400" b="1">
                <a:solidFill>
                  <a:srgbClr val="FBBF24"/>
                </a:solidFill>
              </a:rPr>
              <a:t>zland</a:t>
            </a:r>
            <a:r>
              <a:rPr lang="en-US" altLang="en-US" sz="2400" b="1">
                <a:solidFill>
                  <a:srgbClr val="FBBF24"/>
                </a:solidFill>
              </a:rPr>
              <a:t>ı</a:t>
            </a:r>
            <a:r>
              <a:rPr lang="en-US" altLang="en-GB" sz="2400" b="1">
                <a:solidFill>
                  <a:srgbClr val="FBBF24"/>
                </a:solidFill>
              </a:rPr>
              <a:t>rma</a:t>
            </a:r>
            <a:endParaRPr lang="en-US" altLang="en-GB" sz="2400" b="1">
              <a:solidFill>
                <a:schemeClr val="accent2"/>
              </a:solidFill>
            </a:endParaRPr>
          </a:p>
        </p:txBody>
      </p:sp>
      <p:sp>
        <p:nvSpPr>
          <p:cNvPr id="1048759" name="Text Box 13"/>
          <p:cNvSpPr txBox="1"/>
          <p:nvPr/>
        </p:nvSpPr>
        <p:spPr>
          <a:xfrm>
            <a:off x="7591425" y="2005330"/>
            <a:ext cx="3662045" cy="2834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Accelerate, e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ğ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itim kodunu birden fazla GPU veya TPU 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ü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zerinde 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ç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al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ış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t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rmay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 kolayla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ş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t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ran bir k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ü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t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ü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phanedir. B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ö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ylece 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ö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zellikle b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ü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y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ü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k modellerde e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ğ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itim i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ş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lemlerini farkl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 cihazlara da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ğı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tarak daha verimli 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ç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al</a:t>
            </a:r>
            <a:r>
              <a:rPr lang="en-US" altLang="en-US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ış</a:t>
            </a:r>
            <a:r>
              <a:rPr lang="en-US" altLang="en-GB" sz="2000" b="1">
                <a:solidFill>
                  <a:schemeClr val="bg1"/>
                </a:solidFill>
                <a:latin typeface="Arial Rounded MT Bold" panose="020F0704030504030204" charset="0"/>
                <a:cs typeface="Arial Rounded MT Bold" panose="020F0704030504030204" charset="0"/>
              </a:rPr>
              <a:t>abiliriz.</a:t>
            </a:r>
            <a:endParaRPr lang="en-US" altLang="en-GB" sz="2000" b="1">
              <a:solidFill>
                <a:schemeClr val="bg1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0" name="Text Box 3"/>
          <p:cNvSpPr txBox="1"/>
          <p:nvPr/>
        </p:nvSpPr>
        <p:spPr>
          <a:xfrm>
            <a:off x="964565" y="1730375"/>
            <a:ext cx="4590415" cy="18059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chemeClr val="bg1"/>
                </a:solidFill>
              </a:rPr>
              <a:t>Learning curve'ler, modelin e</a:t>
            </a:r>
            <a:r>
              <a:rPr lang="en-US" altLang="en-US" sz="2000" b="1">
                <a:solidFill>
                  <a:schemeClr val="bg1"/>
                </a:solidFill>
              </a:rPr>
              <a:t>ğ</a:t>
            </a:r>
            <a:r>
              <a:rPr lang="en-US" altLang="en-GB" sz="2000" b="1">
                <a:solidFill>
                  <a:schemeClr val="bg1"/>
                </a:solidFill>
              </a:rPr>
              <a:t>itim boyunca nas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l geli</a:t>
            </a:r>
            <a:r>
              <a:rPr lang="en-US" altLang="en-US" sz="2000" b="1">
                <a:solidFill>
                  <a:schemeClr val="bg1"/>
                </a:solidFill>
              </a:rPr>
              <a:t>ş</a:t>
            </a:r>
            <a:r>
              <a:rPr lang="en-US" altLang="en-GB" sz="2000" b="1">
                <a:solidFill>
                  <a:schemeClr val="bg1"/>
                </a:solidFill>
              </a:rPr>
              <a:t>ti</a:t>
            </a:r>
            <a:r>
              <a:rPr lang="en-US" altLang="en-US" sz="2000" b="1">
                <a:solidFill>
                  <a:schemeClr val="bg1"/>
                </a:solidFill>
              </a:rPr>
              <a:t>ğ</a:t>
            </a:r>
            <a:r>
              <a:rPr lang="en-US" altLang="en-GB" sz="2000" b="1">
                <a:solidFill>
                  <a:schemeClr val="bg1"/>
                </a:solidFill>
              </a:rPr>
              <a:t>ini g</a:t>
            </a:r>
            <a:r>
              <a:rPr lang="en-US" altLang="en-US" sz="2000" b="1">
                <a:solidFill>
                  <a:schemeClr val="bg1"/>
                </a:solidFill>
              </a:rPr>
              <a:t>ö</a:t>
            </a:r>
            <a:r>
              <a:rPr lang="en-US" altLang="en-GB" sz="2000" b="1">
                <a:solidFill>
                  <a:schemeClr val="bg1"/>
                </a:solidFill>
              </a:rPr>
              <a:t>steren </a:t>
            </a:r>
            <a:endParaRPr lang="en-US" altLang="en-GB" sz="2000" b="1">
              <a:solidFill>
                <a:schemeClr val="bg1"/>
              </a:solidFill>
            </a:endParaRPr>
          </a:p>
          <a:p>
            <a:r>
              <a:rPr lang="en-US" altLang="en-GB" sz="2000" b="1">
                <a:solidFill>
                  <a:schemeClr val="bg1"/>
                </a:solidFill>
              </a:rPr>
              <a:t>grafiklerdir. Bu grafiklere bakarak e</a:t>
            </a:r>
            <a:r>
              <a:rPr lang="en-US" altLang="en-US" sz="2000" b="1">
                <a:solidFill>
                  <a:schemeClr val="bg1"/>
                </a:solidFill>
              </a:rPr>
              <a:t>ğ</a:t>
            </a:r>
            <a:r>
              <a:rPr lang="en-US" altLang="en-GB" sz="2000" b="1">
                <a:solidFill>
                  <a:schemeClr val="bg1"/>
                </a:solidFill>
              </a:rPr>
              <a:t>itimdeki sorunlar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, performans </a:t>
            </a:r>
            <a:endParaRPr lang="en-US" altLang="en-GB" sz="2000" b="1">
              <a:solidFill>
                <a:schemeClr val="bg1"/>
              </a:solidFill>
            </a:endParaRPr>
          </a:p>
          <a:p>
            <a:r>
              <a:rPr lang="en-US" altLang="en-GB" sz="2000" b="1">
                <a:solidFill>
                  <a:schemeClr val="bg1"/>
                </a:solidFill>
              </a:rPr>
              <a:t>d</a:t>
            </a:r>
            <a:r>
              <a:rPr lang="en-US" altLang="en-US" sz="2000" b="1">
                <a:solidFill>
                  <a:schemeClr val="bg1"/>
                </a:solidFill>
              </a:rPr>
              <a:t>ü</a:t>
            </a:r>
            <a:r>
              <a:rPr lang="en-US" altLang="en-US" sz="2000" b="1">
                <a:solidFill>
                  <a:schemeClr val="bg1"/>
                </a:solidFill>
              </a:rPr>
              <a:t>ş</a:t>
            </a:r>
            <a:r>
              <a:rPr lang="en-US" altLang="en-GB" sz="2000" b="1">
                <a:solidFill>
                  <a:schemeClr val="bg1"/>
                </a:solidFill>
              </a:rPr>
              <a:t>meden </a:t>
            </a:r>
            <a:r>
              <a:rPr lang="en-US" altLang="en-US" sz="2000" b="1">
                <a:solidFill>
                  <a:schemeClr val="bg1"/>
                </a:solidFill>
              </a:rPr>
              <a:t>ö</a:t>
            </a:r>
            <a:r>
              <a:rPr lang="en-US" altLang="en-GB" sz="2000" b="1">
                <a:solidFill>
                  <a:schemeClr val="bg1"/>
                </a:solidFill>
              </a:rPr>
              <a:t>nce fark edebiliriz.</a:t>
            </a:r>
            <a:endParaRPr lang="en-US" altLang="en-GB" sz="2000" b="1">
              <a:solidFill>
                <a:schemeClr val="bg1"/>
              </a:solidFill>
            </a:endParaRPr>
          </a:p>
        </p:txBody>
      </p:sp>
      <p:sp>
        <p:nvSpPr>
          <p:cNvPr id="1048761" name="Pentagon 1"/>
          <p:cNvSpPr/>
          <p:nvPr/>
        </p:nvSpPr>
        <p:spPr>
          <a:xfrm>
            <a:off x="274320" y="293370"/>
            <a:ext cx="11640312" cy="1027430"/>
          </a:xfrm>
          <a:prstGeom prst="roundRect">
            <a:avLst>
              <a:gd name="adj" fmla="val 24919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762" name="Text Box 4"/>
          <p:cNvSpPr txBox="1"/>
          <p:nvPr/>
        </p:nvSpPr>
        <p:spPr>
          <a:xfrm>
            <a:off x="576580" y="386080"/>
            <a:ext cx="1069340" cy="770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tr-TR" altLang="en-US" sz="4800" b="1">
                <a:solidFill>
                  <a:schemeClr val="bg1"/>
                </a:solidFill>
              </a:rPr>
              <a:t>3.5</a:t>
            </a:r>
            <a:endParaRPr lang="tr-TR" altLang="en-US" sz="4800" b="1">
              <a:solidFill>
                <a:schemeClr val="bg1"/>
              </a:solidFill>
            </a:endParaRPr>
          </a:p>
        </p:txBody>
      </p:sp>
      <p:sp>
        <p:nvSpPr>
          <p:cNvPr id="1048763" name="Text Box 2"/>
          <p:cNvSpPr txBox="1"/>
          <p:nvPr/>
        </p:nvSpPr>
        <p:spPr>
          <a:xfrm>
            <a:off x="1645920" y="509905"/>
            <a:ext cx="5078095" cy="5613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>
                <a:solidFill>
                  <a:srgbClr val="FBBF24"/>
                </a:solidFill>
              </a:rPr>
              <a:t>Ö</a:t>
            </a:r>
            <a:r>
              <a:rPr lang="en-US" altLang="en-US" sz="2800" b="1">
                <a:solidFill>
                  <a:srgbClr val="FBBF24"/>
                </a:solidFill>
              </a:rPr>
              <a:t>ğ</a:t>
            </a:r>
            <a:r>
              <a:rPr lang="en-US" altLang="en-GB" sz="2800" b="1">
                <a:solidFill>
                  <a:srgbClr val="FBBF24"/>
                </a:solidFill>
              </a:rPr>
              <a:t>renme E</a:t>
            </a:r>
            <a:r>
              <a:rPr lang="en-US" altLang="en-US" sz="2800" b="1">
                <a:solidFill>
                  <a:srgbClr val="FBBF24"/>
                </a:solidFill>
              </a:rPr>
              <a:t>ğ</a:t>
            </a:r>
            <a:r>
              <a:rPr lang="en-US" altLang="en-GB" sz="2800" b="1">
                <a:solidFill>
                  <a:srgbClr val="FBBF24"/>
                </a:solidFill>
              </a:rPr>
              <a:t>rilerini Anlama</a:t>
            </a:r>
            <a:endParaRPr lang="en-US" altLang="en-GB" sz="2800" b="1">
              <a:solidFill>
                <a:schemeClr val="accent2"/>
              </a:solidFill>
            </a:endParaRPr>
          </a:p>
        </p:txBody>
      </p:sp>
      <p:sp>
        <p:nvSpPr>
          <p:cNvPr id="1048764" name="任意多边形: 形状 8"/>
          <p:cNvSpPr/>
          <p:nvPr/>
        </p:nvSpPr>
        <p:spPr>
          <a:xfrm>
            <a:off x="5799455" y="1858010"/>
            <a:ext cx="6115177" cy="4725670"/>
          </a:xfrm>
          <a:prstGeom prst="roundRect">
            <a:avLst>
              <a:gd name="adj" fmla="val 5417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dirty="0"/>
          </a:p>
        </p:txBody>
      </p:sp>
      <p:sp>
        <p:nvSpPr>
          <p:cNvPr id="1048765" name="Text Box 6"/>
          <p:cNvSpPr txBox="1"/>
          <p:nvPr/>
        </p:nvSpPr>
        <p:spPr>
          <a:xfrm>
            <a:off x="6096000" y="2642235"/>
            <a:ext cx="5697855" cy="1463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chemeClr val="bg1"/>
                </a:solidFill>
              </a:rPr>
              <a:t>Ba</a:t>
            </a:r>
            <a:r>
              <a:rPr lang="en-US" altLang="en-US" sz="2000" b="1">
                <a:solidFill>
                  <a:schemeClr val="bg1"/>
                </a:solidFill>
              </a:rPr>
              <a:t>ş</a:t>
            </a:r>
            <a:r>
              <a:rPr lang="en-US" altLang="en-GB" sz="2000" b="1">
                <a:solidFill>
                  <a:schemeClr val="bg1"/>
                </a:solidFill>
              </a:rPr>
              <a:t>ar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l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 bir e</a:t>
            </a:r>
            <a:r>
              <a:rPr lang="en-US" altLang="en-US" sz="2000" b="1">
                <a:solidFill>
                  <a:schemeClr val="bg1"/>
                </a:solidFill>
              </a:rPr>
              <a:t>ğ</a:t>
            </a:r>
            <a:r>
              <a:rPr lang="en-US" altLang="en-GB" sz="2000" b="1">
                <a:solidFill>
                  <a:schemeClr val="bg1"/>
                </a:solidFill>
              </a:rPr>
              <a:t>itimde loss </a:t>
            </a:r>
            <a:r>
              <a:rPr lang="en-US" altLang="en-US" sz="2000" b="1">
                <a:solidFill>
                  <a:schemeClr val="bg1"/>
                </a:solidFill>
              </a:rPr>
              <a:t>ö</a:t>
            </a:r>
            <a:r>
              <a:rPr lang="en-US" altLang="en-GB" sz="2000" b="1">
                <a:solidFill>
                  <a:schemeClr val="bg1"/>
                </a:solidFill>
              </a:rPr>
              <a:t>nce y</a:t>
            </a:r>
            <a:r>
              <a:rPr lang="en-US" altLang="en-US" sz="2000" b="1">
                <a:solidFill>
                  <a:schemeClr val="bg1"/>
                </a:solidFill>
              </a:rPr>
              <a:t>ü</a:t>
            </a:r>
            <a:r>
              <a:rPr lang="en-US" altLang="en-GB" sz="2000" b="1">
                <a:solidFill>
                  <a:schemeClr val="bg1"/>
                </a:solidFill>
              </a:rPr>
              <a:t>ksek ba</a:t>
            </a:r>
            <a:r>
              <a:rPr lang="en-US" altLang="en-US" sz="2000" b="1">
                <a:solidFill>
                  <a:schemeClr val="bg1"/>
                </a:solidFill>
              </a:rPr>
              <a:t>ş</a:t>
            </a:r>
            <a:r>
              <a:rPr lang="en-US" altLang="en-GB" sz="2000" b="1">
                <a:solidFill>
                  <a:schemeClr val="bg1"/>
                </a:solidFill>
              </a:rPr>
              <a:t>lar, e</a:t>
            </a:r>
            <a:r>
              <a:rPr lang="en-US" altLang="en-US" sz="2000" b="1">
                <a:solidFill>
                  <a:schemeClr val="bg1"/>
                </a:solidFill>
              </a:rPr>
              <a:t>ğ</a:t>
            </a:r>
            <a:r>
              <a:rPr lang="en-US" altLang="en-GB" sz="2000" b="1">
                <a:solidFill>
                  <a:schemeClr val="bg1"/>
                </a:solidFill>
              </a:rPr>
              <a:t>itim ilerledik</a:t>
            </a:r>
            <a:r>
              <a:rPr lang="en-US" altLang="en-US" sz="2000" b="1">
                <a:solidFill>
                  <a:schemeClr val="bg1"/>
                </a:solidFill>
              </a:rPr>
              <a:t>ç</a:t>
            </a:r>
            <a:r>
              <a:rPr lang="en-US" altLang="en-GB" sz="2000" b="1">
                <a:solidFill>
                  <a:schemeClr val="bg1"/>
                </a:solidFill>
              </a:rPr>
              <a:t>e d</a:t>
            </a:r>
            <a:r>
              <a:rPr lang="en-US" altLang="en-US" sz="2000" b="1">
                <a:solidFill>
                  <a:schemeClr val="bg1"/>
                </a:solidFill>
              </a:rPr>
              <a:t>ü</a:t>
            </a:r>
            <a:r>
              <a:rPr lang="en-US" altLang="en-US" sz="2000" b="1">
                <a:solidFill>
                  <a:schemeClr val="bg1"/>
                </a:solidFill>
              </a:rPr>
              <a:t>ş</a:t>
            </a:r>
            <a:r>
              <a:rPr lang="en-US" altLang="en-GB" sz="2000" b="1">
                <a:solidFill>
                  <a:schemeClr val="bg1"/>
                </a:solidFill>
              </a:rPr>
              <a:t>er ve </a:t>
            </a:r>
            <a:endParaRPr lang="en-US" altLang="en-GB" sz="2000" b="1">
              <a:solidFill>
                <a:schemeClr val="bg1"/>
              </a:solidFill>
            </a:endParaRPr>
          </a:p>
          <a:p>
            <a:r>
              <a:rPr lang="en-US" altLang="en-GB" sz="2000" b="1">
                <a:solidFill>
                  <a:schemeClr val="bg1"/>
                </a:solidFill>
              </a:rPr>
              <a:t>sonunda d</a:t>
            </a:r>
            <a:r>
              <a:rPr lang="en-US" altLang="en-US" sz="2000" b="1">
                <a:solidFill>
                  <a:schemeClr val="bg1"/>
                </a:solidFill>
              </a:rPr>
              <a:t>ü</a:t>
            </a:r>
            <a:r>
              <a:rPr lang="en-US" altLang="en-US" sz="2000" b="1">
                <a:solidFill>
                  <a:schemeClr val="bg1"/>
                </a:solidFill>
              </a:rPr>
              <a:t>ş</a:t>
            </a:r>
            <a:r>
              <a:rPr lang="en-US" altLang="en-US" sz="2000" b="1">
                <a:solidFill>
                  <a:schemeClr val="bg1"/>
                </a:solidFill>
              </a:rPr>
              <a:t>ü</a:t>
            </a:r>
            <a:r>
              <a:rPr lang="en-US" altLang="en-GB" sz="2000" b="1">
                <a:solidFill>
                  <a:schemeClr val="bg1"/>
                </a:solidFill>
              </a:rPr>
              <a:t>k bir de</a:t>
            </a:r>
            <a:r>
              <a:rPr lang="en-US" altLang="en-US" sz="2000" b="1">
                <a:solidFill>
                  <a:schemeClr val="bg1"/>
                </a:solidFill>
              </a:rPr>
              <a:t>ğ</a:t>
            </a:r>
            <a:r>
              <a:rPr lang="en-US" altLang="en-GB" sz="2000" b="1">
                <a:solidFill>
                  <a:schemeClr val="bg1"/>
                </a:solidFill>
              </a:rPr>
              <a:t>erde sabitlenir; buna convergence denir.</a:t>
            </a:r>
            <a:endParaRPr lang="en-US" altLang="en-GB" sz="2000" b="1">
              <a:solidFill>
                <a:schemeClr val="bg1"/>
              </a:solidFill>
            </a:endParaRPr>
          </a:p>
        </p:txBody>
      </p:sp>
      <p:sp>
        <p:nvSpPr>
          <p:cNvPr id="1048766" name="Text Box 5"/>
          <p:cNvSpPr txBox="1"/>
          <p:nvPr/>
        </p:nvSpPr>
        <p:spPr>
          <a:xfrm>
            <a:off x="7252335" y="1998980"/>
            <a:ext cx="3265805" cy="4978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>
                <a:solidFill>
                  <a:srgbClr val="FBBF24"/>
                </a:solidFill>
              </a:rPr>
              <a:t>Loss (Kay</a:t>
            </a:r>
            <a:r>
              <a:rPr lang="en-US" altLang="en-US" sz="2400" b="1">
                <a:solidFill>
                  <a:srgbClr val="FBBF24"/>
                </a:solidFill>
              </a:rPr>
              <a:t>ı</a:t>
            </a:r>
            <a:r>
              <a:rPr lang="en-US" altLang="en-GB" sz="2400" b="1">
                <a:solidFill>
                  <a:srgbClr val="FBBF24"/>
                </a:solidFill>
              </a:rPr>
              <a:t>p) e</a:t>
            </a:r>
            <a:r>
              <a:rPr lang="en-US" altLang="en-US" sz="2400" b="1">
                <a:solidFill>
                  <a:srgbClr val="FBBF24"/>
                </a:solidFill>
              </a:rPr>
              <a:t>ğ</a:t>
            </a:r>
            <a:r>
              <a:rPr lang="en-US" altLang="en-GB" sz="2400" b="1">
                <a:solidFill>
                  <a:srgbClr val="FBBF24"/>
                </a:solidFill>
              </a:rPr>
              <a:t>rileri</a:t>
            </a:r>
            <a:endParaRPr lang="en-US" altLang="en-GB" sz="2400" b="1">
              <a:solidFill>
                <a:schemeClr val="accent2"/>
              </a:solidFill>
            </a:endParaRPr>
          </a:p>
        </p:txBody>
      </p:sp>
      <p:pic>
        <p:nvPicPr>
          <p:cNvPr id="209717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730" y="3981450"/>
            <a:ext cx="3507740" cy="2443480"/>
          </a:xfrm>
          <a:prstGeom prst="roundRect">
            <a:avLst>
              <a:gd name="adj" fmla="val 6000"/>
            </a:avLst>
          </a:prstGeom>
          <a:ln w="19050">
            <a:solidFill>
              <a:srgbClr val="38BDF8">
                <a:alpha val="70000"/>
              </a:srgbClr>
            </a:solidFill>
          </a:ln>
          <a:effectLst>
            <a:outerShdw blurRad="190500" dist="38100" dir="5400000" algn="t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文本框 6"/>
          <p:cNvSpPr txBox="1"/>
          <p:nvPr/>
        </p:nvSpPr>
        <p:spPr>
          <a:xfrm>
            <a:off x="2647315" y="448945"/>
            <a:ext cx="5922010" cy="91821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endParaRPr lang="en-US" altLang="en-GB" sz="4000" dirty="0">
              <a:solidFill>
                <a:schemeClr val="bg1"/>
              </a:solidFill>
              <a:latin typeface="+mj-lt"/>
              <a:ea typeface="Gilroy" panose="00000400000000000000" charset="0"/>
            </a:endParaRPr>
          </a:p>
        </p:txBody>
      </p:sp>
      <p:sp>
        <p:nvSpPr>
          <p:cNvPr id="1048616" name="任意多边形: 形状 11"/>
          <p:cNvSpPr/>
          <p:nvPr/>
        </p:nvSpPr>
        <p:spPr>
          <a:xfrm>
            <a:off x="447040" y="534670"/>
            <a:ext cx="11374120" cy="5670550"/>
          </a:xfrm>
          <a:prstGeom prst="roundRect">
            <a:avLst>
              <a:gd name="adj" fmla="val 4515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dirty="0"/>
          </a:p>
        </p:txBody>
      </p:sp>
      <p:sp>
        <p:nvSpPr>
          <p:cNvPr id="1048617" name="Text Box 3"/>
          <p:cNvSpPr txBox="1"/>
          <p:nvPr/>
        </p:nvSpPr>
        <p:spPr>
          <a:xfrm>
            <a:off x="822960" y="822960"/>
            <a:ext cx="5669280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800" b="1">
                <a:solidFill>
                  <a:srgbClr val="FBBF24"/>
                </a:solidFill>
              </a:rPr>
              <a:t>Accuracy (Do</a:t>
            </a:r>
            <a:r>
              <a:rPr lang="en-US" altLang="en-US" sz="2800" b="1">
                <a:solidFill>
                  <a:srgbClr val="FBBF24"/>
                </a:solidFill>
              </a:rPr>
              <a:t>ğ</a:t>
            </a:r>
            <a:r>
              <a:rPr lang="en-US" altLang="en-GB" sz="2800" b="1">
                <a:solidFill>
                  <a:srgbClr val="FBBF24"/>
                </a:solidFill>
              </a:rPr>
              <a:t>ruluk) e</a:t>
            </a:r>
            <a:r>
              <a:rPr lang="en-US" altLang="en-US" sz="2800" b="1">
                <a:solidFill>
                  <a:srgbClr val="FBBF24"/>
                </a:solidFill>
              </a:rPr>
              <a:t>ğ</a:t>
            </a:r>
            <a:r>
              <a:rPr lang="en-US" altLang="en-GB" sz="2800" b="1">
                <a:solidFill>
                  <a:srgbClr val="FBBF24"/>
                </a:solidFill>
              </a:rPr>
              <a:t>rileri</a:t>
            </a:r>
            <a:endParaRPr lang="en-US" altLang="en-GB" b="1">
              <a:solidFill>
                <a:schemeClr val="accent2"/>
              </a:solidFill>
            </a:endParaRPr>
          </a:p>
        </p:txBody>
      </p:sp>
      <p:sp>
        <p:nvSpPr>
          <p:cNvPr id="1048618" name="Text Box 27"/>
          <p:cNvSpPr txBox="1"/>
          <p:nvPr/>
        </p:nvSpPr>
        <p:spPr>
          <a:xfrm>
            <a:off x="781685" y="1583690"/>
            <a:ext cx="5314315" cy="1463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rgbClr val="FFFFFF"/>
                </a:solidFill>
              </a:rPr>
              <a:t>Accuracy genellikle zamanla artar, ancak d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zg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n bir </a:t>
            </a:r>
            <a:r>
              <a:rPr lang="en-US" altLang="en-US" sz="2000" b="1">
                <a:solidFill>
                  <a:srgbClr val="FFFFFF"/>
                </a:solidFill>
              </a:rPr>
              <a:t>ç</a:t>
            </a:r>
            <a:r>
              <a:rPr lang="en-US" altLang="en-GB" sz="2000" b="1">
                <a:solidFill>
                  <a:srgbClr val="FFFFFF"/>
                </a:solidFill>
              </a:rPr>
              <a:t>izgi de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il basamaklar halinde y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kselir; </a:t>
            </a:r>
            <a:r>
              <a:rPr lang="en-US" altLang="en-US" sz="2000" b="1">
                <a:solidFill>
                  <a:srgbClr val="FFFFFF"/>
                </a:solidFill>
              </a:rPr>
              <a:t>ç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nk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 accuracy ancak tahmin do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ru etikete ge</a:t>
            </a:r>
            <a:r>
              <a:rPr lang="en-US" altLang="en-US" sz="2000" b="1">
                <a:solidFill>
                  <a:srgbClr val="FFFFFF"/>
                </a:solidFill>
              </a:rPr>
              <a:t>ç</a:t>
            </a:r>
            <a:r>
              <a:rPr lang="en-US" altLang="en-GB" sz="2000" b="1">
                <a:solidFill>
                  <a:srgbClr val="FFFFFF"/>
                </a:solidFill>
              </a:rPr>
              <a:t>ti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inde de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i</a:t>
            </a:r>
            <a:r>
              <a:rPr lang="en-US" altLang="en-US" sz="2000" b="1">
                <a:solidFill>
                  <a:srgbClr val="FFFFFF"/>
                </a:solidFill>
              </a:rPr>
              <a:t>ş</a:t>
            </a:r>
            <a:r>
              <a:rPr lang="en-US" altLang="en-GB" sz="2000" b="1">
                <a:solidFill>
                  <a:srgbClr val="FFFFFF"/>
                </a:solidFill>
              </a:rPr>
              <a:t>ir.</a:t>
            </a:r>
            <a:endParaRPr lang="en-US" altLang="en-GB" sz="2000" b="1"/>
          </a:p>
        </p:txBody>
      </p:sp>
      <p:pic>
        <p:nvPicPr>
          <p:cNvPr id="2097156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565" y="3122295"/>
            <a:ext cx="3825240" cy="2658110"/>
          </a:xfrm>
          <a:prstGeom prst="roundRect">
            <a:avLst>
              <a:gd name="adj" fmla="val 6000"/>
            </a:avLst>
          </a:prstGeom>
          <a:ln w="19050">
            <a:solidFill>
              <a:srgbClr val="38BDF8">
                <a:alpha val="70000"/>
              </a:srgbClr>
            </a:solidFill>
          </a:ln>
          <a:effectLst>
            <a:outerShdw blurRad="1905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1048619" name="Text Box 5"/>
          <p:cNvSpPr txBox="1"/>
          <p:nvPr/>
        </p:nvSpPr>
        <p:spPr>
          <a:xfrm>
            <a:off x="6907530" y="906780"/>
            <a:ext cx="4446270" cy="4978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>
                <a:solidFill>
                  <a:srgbClr val="FBBF24"/>
                </a:solidFill>
              </a:rPr>
              <a:t>Convergence (Yak</a:t>
            </a:r>
            <a:r>
              <a:rPr lang="en-US" altLang="en-US" sz="2400" b="1">
                <a:solidFill>
                  <a:srgbClr val="FBBF24"/>
                </a:solidFill>
              </a:rPr>
              <a:t>ı</a:t>
            </a:r>
            <a:r>
              <a:rPr lang="en-US" altLang="en-GB" sz="2400" b="1">
                <a:solidFill>
                  <a:srgbClr val="FBBF24"/>
                </a:solidFill>
              </a:rPr>
              <a:t>nsama)</a:t>
            </a:r>
            <a:endParaRPr lang="en-US" altLang="en-GB" sz="2400" b="1">
              <a:solidFill>
                <a:schemeClr val="accent2"/>
              </a:solidFill>
            </a:endParaRPr>
          </a:p>
        </p:txBody>
      </p:sp>
      <p:sp>
        <p:nvSpPr>
          <p:cNvPr id="1048620" name="Text Box 7"/>
          <p:cNvSpPr txBox="1"/>
          <p:nvPr/>
        </p:nvSpPr>
        <p:spPr>
          <a:xfrm>
            <a:off x="6569710" y="1583055"/>
            <a:ext cx="4987290" cy="1658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000" b="1">
                <a:solidFill>
                  <a:srgbClr val="FFFFFF"/>
                </a:solidFill>
              </a:rPr>
              <a:t>Loss ve accuracy e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rileri d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zle</a:t>
            </a:r>
            <a:r>
              <a:rPr lang="en-US" altLang="en-US" sz="2000" b="1">
                <a:solidFill>
                  <a:srgbClr val="FFFFFF"/>
                </a:solidFill>
              </a:rPr>
              <a:t>ş</a:t>
            </a:r>
            <a:r>
              <a:rPr lang="en-US" altLang="en-GB" sz="2000" b="1">
                <a:solidFill>
                  <a:srgbClr val="FFFFFF"/>
                </a:solidFill>
              </a:rPr>
              <a:t>ti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inde model verideki </a:t>
            </a:r>
            <a:r>
              <a:rPr lang="en-US" altLang="en-US" sz="2000" b="1">
                <a:solidFill>
                  <a:srgbClr val="FFFFFF"/>
                </a:solidFill>
              </a:rPr>
              <a:t>ö</a:t>
            </a:r>
            <a:r>
              <a:rPr lang="en-US" altLang="en-GB" sz="2000" b="1">
                <a:solidFill>
                  <a:srgbClr val="FFFFFF"/>
                </a:solidFill>
              </a:rPr>
              <a:t>r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nt</a:t>
            </a:r>
            <a:r>
              <a:rPr lang="en-US" altLang="en-US" sz="2000" b="1">
                <a:solidFill>
                  <a:srgbClr val="FFFFFF"/>
                </a:solidFill>
              </a:rPr>
              <a:t>ü</a:t>
            </a:r>
            <a:r>
              <a:rPr lang="en-US" altLang="en-GB" sz="2000" b="1">
                <a:solidFill>
                  <a:srgbClr val="FFFFFF"/>
                </a:solidFill>
              </a:rPr>
              <a:t>leri </a:t>
            </a:r>
            <a:r>
              <a:rPr lang="en-US" altLang="en-US" sz="2000" b="1">
                <a:solidFill>
                  <a:srgbClr val="FFFFFF"/>
                </a:solidFill>
              </a:rPr>
              <a:t>ö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renmi</a:t>
            </a:r>
            <a:r>
              <a:rPr lang="en-US" altLang="en-US" sz="2000" b="1">
                <a:solidFill>
                  <a:srgbClr val="FFFFFF"/>
                </a:solidFill>
              </a:rPr>
              <a:t>ş</a:t>
            </a:r>
            <a:r>
              <a:rPr lang="en-US" altLang="en-GB" sz="2000" b="1">
                <a:solidFill>
                  <a:srgbClr val="FFFFFF"/>
                </a:solidFill>
              </a:rPr>
              <a:t> </a:t>
            </a:r>
            <a:endParaRPr lang="en-US" altLang="en-GB" sz="2000" b="1"/>
          </a:p>
          <a:p>
            <a:r>
              <a:rPr lang="en-US" altLang="en-GB" sz="2000" b="1">
                <a:solidFill>
                  <a:srgbClr val="FFFFFF"/>
                </a:solidFill>
              </a:rPr>
              <a:t>demektir ve yeni verilerde kullan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labilir. Hedefimiz, modeli her e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itti</a:t>
            </a:r>
            <a:r>
              <a:rPr lang="en-US" altLang="en-US" sz="2000" b="1">
                <a:solidFill>
                  <a:srgbClr val="FFFFFF"/>
                </a:solidFill>
              </a:rPr>
              <a:t>ğ</a:t>
            </a:r>
            <a:r>
              <a:rPr lang="en-US" altLang="en-GB" sz="2000" b="1">
                <a:solidFill>
                  <a:srgbClr val="FFFFFF"/>
                </a:solidFill>
              </a:rPr>
              <a:t>imizde kararl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 bir sonuca ula</a:t>
            </a:r>
            <a:r>
              <a:rPr lang="en-US" altLang="en-US" sz="2000" b="1">
                <a:solidFill>
                  <a:srgbClr val="FFFFFF"/>
                </a:solidFill>
              </a:rPr>
              <a:t>ş</a:t>
            </a:r>
            <a:r>
              <a:rPr lang="en-US" altLang="en-GB" sz="2000" b="1">
                <a:solidFill>
                  <a:srgbClr val="FFFFFF"/>
                </a:solidFill>
              </a:rPr>
              <a:t>makt</a:t>
            </a:r>
            <a:r>
              <a:rPr lang="en-US" altLang="en-US" sz="2000" b="1">
                <a:solidFill>
                  <a:srgbClr val="FFFFFF"/>
                </a:solidFill>
              </a:rPr>
              <a:t>ı</a:t>
            </a:r>
            <a:r>
              <a:rPr lang="en-US" altLang="en-GB" sz="2000" b="1">
                <a:solidFill>
                  <a:srgbClr val="FFFFFF"/>
                </a:solidFill>
              </a:rPr>
              <a:t>r.</a:t>
            </a:r>
            <a:endParaRPr lang="en-US" altLang="en-GB" sz="2000" b="1"/>
          </a:p>
        </p:txBody>
      </p:sp>
      <p:pic>
        <p:nvPicPr>
          <p:cNvPr id="209715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550" y="3241675"/>
            <a:ext cx="3966210" cy="2750820"/>
          </a:xfrm>
          <a:prstGeom prst="roundRect">
            <a:avLst>
              <a:gd name="adj" fmla="val 6000"/>
            </a:avLst>
          </a:prstGeom>
          <a:ln w="19050">
            <a:solidFill>
              <a:srgbClr val="38BDF8">
                <a:alpha val="70000"/>
              </a:srgbClr>
            </a:solidFill>
          </a:ln>
          <a:effectLst>
            <a:outerShdw blurRad="190500" dist="38100" dir="5400000" algn="t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Rounded Rectangle 7"/>
          <p:cNvSpPr/>
          <p:nvPr/>
        </p:nvSpPr>
        <p:spPr>
          <a:xfrm>
            <a:off x="458470" y="696595"/>
            <a:ext cx="11037570" cy="4751070"/>
          </a:xfrm>
          <a:prstGeom prst="roundRect">
            <a:avLst>
              <a:gd name="adj" fmla="val 5388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611" name="文本框 1"/>
          <p:cNvSpPr txBox="1"/>
          <p:nvPr/>
        </p:nvSpPr>
        <p:spPr>
          <a:xfrm>
            <a:off x="924560" y="1821180"/>
            <a:ext cx="9520555" cy="6502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Sa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ğ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l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ı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kl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ı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 bir e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ğ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itimde loss d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ü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zg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ü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n bi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ç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imde azal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ı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r, training ve validation sonu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ç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lar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ı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 birbirine yak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ı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n kal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ı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r ve e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ğ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riler sonunda d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ü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zle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ş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ir.</a:t>
            </a:r>
            <a:endParaRPr lang="en-US" altLang="en-GB" sz="1600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  <a:sym typeface="+mn-ea"/>
            </a:endParaRPr>
          </a:p>
        </p:txBody>
      </p:sp>
      <p:sp>
        <p:nvSpPr>
          <p:cNvPr id="1048612" name="文本框 24"/>
          <p:cNvSpPr txBox="1"/>
          <p:nvPr/>
        </p:nvSpPr>
        <p:spPr>
          <a:xfrm>
            <a:off x="1005840" y="1005840"/>
            <a:ext cx="9601200" cy="54864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fontAlgn="ctr"/>
            <a:r>
              <a:rPr lang="en-US" altLang="en-GB" sz="24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Healthy Learning Curves (Sa</a:t>
            </a:r>
            <a:r>
              <a:rPr lang="en-US" altLang="en-US" sz="24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ğ</a:t>
            </a:r>
            <a:r>
              <a:rPr lang="en-US" altLang="en-GB" sz="24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l</a:t>
            </a:r>
            <a:r>
              <a:rPr lang="en-US" altLang="en-US" sz="24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ı</a:t>
            </a:r>
            <a:r>
              <a:rPr lang="en-US" altLang="en-GB" sz="24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kl</a:t>
            </a:r>
            <a:r>
              <a:rPr lang="en-US" altLang="en-US" sz="24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ı</a:t>
            </a:r>
            <a:r>
              <a:rPr lang="en-US" altLang="en-GB" sz="24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 </a:t>
            </a:r>
            <a:r>
              <a:rPr lang="en-US" altLang="en-US" sz="24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ö</a:t>
            </a:r>
            <a:r>
              <a:rPr lang="en-US" altLang="en-US" sz="24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ğ</a:t>
            </a:r>
            <a:r>
              <a:rPr lang="en-US" altLang="en-GB" sz="24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renme e</a:t>
            </a:r>
            <a:r>
              <a:rPr lang="en-US" altLang="en-US" sz="24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ğ</a:t>
            </a:r>
            <a:r>
              <a:rPr lang="en-US" altLang="en-GB" sz="24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rileri)</a:t>
            </a:r>
            <a:endParaRPr lang="en-US" altLang="en-GB" sz="24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pic>
        <p:nvPicPr>
          <p:cNvPr id="2097155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970" y="2626995"/>
            <a:ext cx="7609205" cy="2705100"/>
          </a:xfrm>
          <a:prstGeom prst="roundRect">
            <a:avLst>
              <a:gd name="adj" fmla="val 6000"/>
            </a:avLst>
          </a:prstGeom>
          <a:ln w="19050">
            <a:solidFill>
              <a:srgbClr val="38BDF8">
                <a:alpha val="70000"/>
              </a:srgbClr>
            </a:solidFill>
          </a:ln>
          <a:effectLst>
            <a:outerShdw blurRad="190500" dist="38100" dir="5400000" algn="t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Rounded Rectangle 7"/>
          <p:cNvSpPr/>
          <p:nvPr/>
        </p:nvSpPr>
        <p:spPr>
          <a:xfrm>
            <a:off x="458470" y="742315"/>
            <a:ext cx="11037570" cy="5461635"/>
          </a:xfrm>
          <a:prstGeom prst="roundRect">
            <a:avLst>
              <a:gd name="adj" fmla="val 4687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601" name="文本框 1"/>
          <p:cNvSpPr txBox="1"/>
          <p:nvPr/>
        </p:nvSpPr>
        <p:spPr>
          <a:xfrm>
            <a:off x="924560" y="1821180"/>
            <a:ext cx="3747135" cy="1209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Overfitting'de model e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ğ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itim verisini ezberler; bu y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ü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zden e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ğ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itim verisinde </a:t>
            </a:r>
            <a:endParaRPr lang="en-US" altLang="en-GB" sz="1600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  <a:sym typeface="+mn-ea"/>
            </a:endParaRPr>
          </a:p>
          <a:p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ç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ok ba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ş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ar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ı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l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ı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, daha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ö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nce g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ö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rmedi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ğ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i verilerde ise ba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ş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ar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ı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s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ı</a:t>
            </a:r>
            <a:r>
              <a:rPr lang="en-US" altLang="en-GB" sz="1600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  <a:sym typeface="+mn-ea"/>
              </a:rPr>
              <a:t>z olur.</a:t>
            </a:r>
            <a:endParaRPr lang="en-US" altLang="en-GB" sz="1600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  <a:sym typeface="+mn-ea"/>
            </a:endParaRPr>
          </a:p>
        </p:txBody>
      </p:sp>
      <p:sp>
        <p:nvSpPr>
          <p:cNvPr id="1048602" name="文本框 24"/>
          <p:cNvSpPr txBox="1"/>
          <p:nvPr/>
        </p:nvSpPr>
        <p:spPr>
          <a:xfrm>
            <a:off x="1027430" y="1041400"/>
            <a:ext cx="8524875" cy="77978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fontAlgn="ctr"/>
            <a:r>
              <a:rPr lang="en-US" altLang="en-GB" sz="2400" b="0" i="0" u="none" strike="noStrike" dirty="0">
                <a:solidFill>
                  <a:srgbClr val="FBBF24"/>
                </a:solidFill>
                <a:effectLst/>
                <a:latin typeface="+mj-lt"/>
                <a:ea typeface="Arial" panose="020B0604020202020204" pitchFamily="34" charset="0"/>
              </a:rPr>
              <a:t> Overfitting (Ezberleme)</a:t>
            </a:r>
            <a:endParaRPr lang="en-US" altLang="en-GB" sz="2400" b="0" i="0" u="none" strike="noStrike" dirty="0">
              <a:solidFill>
                <a:schemeClr val="accent2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pic>
        <p:nvPicPr>
          <p:cNvPr id="2097154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795" y="1041400"/>
            <a:ext cx="4053840" cy="2815590"/>
          </a:xfrm>
          <a:prstGeom prst="roundRect">
            <a:avLst>
              <a:gd name="adj" fmla="val 6000"/>
            </a:avLst>
          </a:prstGeom>
          <a:ln w="19050">
            <a:solidFill>
              <a:srgbClr val="38BDF8">
                <a:alpha val="70000"/>
              </a:srgbClr>
            </a:solidFill>
          </a:ln>
          <a:effectLst>
            <a:outerShdw blurRad="1905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1048603" name="Text Box 3"/>
          <p:cNvSpPr txBox="1"/>
          <p:nvPr/>
        </p:nvSpPr>
        <p:spPr>
          <a:xfrm>
            <a:off x="3362960" y="4036059"/>
            <a:ext cx="7088505" cy="2041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GB" sz="1600" b="1">
              <a:solidFill>
                <a:schemeClr val="bg1"/>
              </a:solidFill>
            </a:endParaRPr>
          </a:p>
          <a:p>
            <a:r>
              <a:rPr lang="en-US" altLang="en-GB" sz="1600" b="1">
                <a:solidFill>
                  <a:srgbClr val="FF9900"/>
                </a:solidFill>
              </a:rPr>
              <a:t>Belirti</a:t>
            </a:r>
            <a:r>
              <a:rPr lang="en-US" altLang="en-GB" sz="1600" b="1">
                <a:solidFill>
                  <a:schemeClr val="bg1"/>
                </a:solidFill>
              </a:rPr>
              <a:t>: Training loss'u d</a:t>
            </a:r>
            <a:r>
              <a:rPr lang="en-US" altLang="en-US" sz="1600" b="1">
                <a:solidFill>
                  <a:schemeClr val="bg1"/>
                </a:solidFill>
              </a:rPr>
              <a:t>ü</a:t>
            </a:r>
            <a:r>
              <a:rPr lang="en-US" altLang="en-US" sz="1600" b="1">
                <a:solidFill>
                  <a:schemeClr val="bg1"/>
                </a:solidFill>
              </a:rPr>
              <a:t>ş</a:t>
            </a:r>
            <a:r>
              <a:rPr lang="en-US" altLang="en-GB" sz="1600" b="1">
                <a:solidFill>
                  <a:schemeClr val="bg1"/>
                </a:solidFill>
              </a:rPr>
              <a:t>meye devam ederken validation loss'u </a:t>
            </a:r>
            <a:endParaRPr lang="en-US" altLang="en-GB" sz="1600" b="1">
              <a:solidFill>
                <a:schemeClr val="bg1"/>
              </a:solidFill>
            </a:endParaRPr>
          </a:p>
          <a:p>
            <a:r>
              <a:rPr lang="en-US" altLang="en-GB" sz="1600" b="1">
                <a:solidFill>
                  <a:schemeClr val="bg1"/>
                </a:solidFill>
              </a:rPr>
              <a:t>artar.</a:t>
            </a:r>
            <a:endParaRPr lang="en-US" altLang="en-GB" sz="1600" b="1">
              <a:solidFill>
                <a:schemeClr val="bg1"/>
              </a:solidFill>
            </a:endParaRPr>
          </a:p>
          <a:p>
            <a:endParaRPr lang="en-US" altLang="en-GB" sz="1600" b="1">
              <a:solidFill>
                <a:schemeClr val="bg1"/>
              </a:solidFill>
            </a:endParaRPr>
          </a:p>
          <a:p>
            <a:r>
              <a:rPr lang="en-US" altLang="en-US" sz="1600" b="1">
                <a:solidFill>
                  <a:srgbClr val="FF9900"/>
                </a:solidFill>
              </a:rPr>
              <a:t>Ç</a:t>
            </a:r>
            <a:r>
              <a:rPr lang="en-US" altLang="en-US" sz="1600" b="1">
                <a:solidFill>
                  <a:srgbClr val="FF9900"/>
                </a:solidFill>
              </a:rPr>
              <a:t>ö</a:t>
            </a:r>
            <a:r>
              <a:rPr lang="en-US" altLang="en-GB" sz="1600" b="1">
                <a:solidFill>
                  <a:srgbClr val="FF9900"/>
                </a:solidFill>
              </a:rPr>
              <a:t>z</a:t>
            </a:r>
            <a:r>
              <a:rPr lang="en-US" altLang="en-US" sz="1600" b="1">
                <a:solidFill>
                  <a:srgbClr val="FF9900"/>
                </a:solidFill>
              </a:rPr>
              <a:t>ü</a:t>
            </a:r>
            <a:r>
              <a:rPr lang="en-US" altLang="en-GB" sz="1600" b="1">
                <a:solidFill>
                  <a:srgbClr val="FF9900"/>
                </a:solidFill>
              </a:rPr>
              <a:t>m</a:t>
            </a:r>
            <a:r>
              <a:rPr lang="en-US" altLang="en-GB" sz="1600" b="1">
                <a:solidFill>
                  <a:schemeClr val="bg1"/>
                </a:solidFill>
              </a:rPr>
              <a:t>: E</a:t>
            </a:r>
            <a:r>
              <a:rPr lang="en-US" altLang="en-US" sz="1600" b="1">
                <a:solidFill>
                  <a:schemeClr val="bg1"/>
                </a:solidFill>
              </a:rPr>
              <a:t>ğ</a:t>
            </a:r>
            <a:r>
              <a:rPr lang="en-US" altLang="en-GB" sz="1600" b="1">
                <a:solidFill>
                  <a:schemeClr val="bg1"/>
                </a:solidFill>
              </a:rPr>
              <a:t>itimi erken durdurmak (early stopping), regularization</a:t>
            </a:r>
            <a:endParaRPr lang="en-US" altLang="en-GB" sz="1600" b="1">
              <a:solidFill>
                <a:schemeClr val="bg1"/>
              </a:solidFill>
            </a:endParaRPr>
          </a:p>
          <a:p>
            <a:r>
              <a:rPr lang="en-US" altLang="en-GB" sz="1600" b="1">
                <a:solidFill>
                  <a:schemeClr val="bg1"/>
                </a:solidFill>
              </a:rPr>
              <a:t>eklemek, daha </a:t>
            </a:r>
            <a:r>
              <a:rPr lang="en-US" altLang="en-US" sz="1600" b="1">
                <a:solidFill>
                  <a:schemeClr val="bg1"/>
                </a:solidFill>
              </a:rPr>
              <a:t>ç</a:t>
            </a:r>
            <a:r>
              <a:rPr lang="en-US" altLang="en-GB" sz="1600" b="1">
                <a:solidFill>
                  <a:schemeClr val="bg1"/>
                </a:solidFill>
              </a:rPr>
              <a:t>e</a:t>
            </a:r>
            <a:r>
              <a:rPr lang="en-US" altLang="en-US" sz="1600" b="1">
                <a:solidFill>
                  <a:schemeClr val="bg1"/>
                </a:solidFill>
              </a:rPr>
              <a:t>ş</a:t>
            </a:r>
            <a:r>
              <a:rPr lang="en-US" altLang="en-GB" sz="1600" b="1">
                <a:solidFill>
                  <a:schemeClr val="bg1"/>
                </a:solidFill>
              </a:rPr>
              <a:t>itli veri kullanmak veya daha k</a:t>
            </a:r>
            <a:r>
              <a:rPr lang="en-US" altLang="en-US" sz="1600" b="1">
                <a:solidFill>
                  <a:schemeClr val="bg1"/>
                </a:solidFill>
              </a:rPr>
              <a:t>ü</a:t>
            </a:r>
            <a:r>
              <a:rPr lang="en-US" altLang="en-US" sz="1600" b="1">
                <a:solidFill>
                  <a:schemeClr val="bg1"/>
                </a:solidFill>
              </a:rPr>
              <a:t>ç</a:t>
            </a:r>
            <a:r>
              <a:rPr lang="en-US" altLang="en-US" sz="1600" b="1">
                <a:solidFill>
                  <a:schemeClr val="bg1"/>
                </a:solidFill>
              </a:rPr>
              <a:t>ü</a:t>
            </a:r>
            <a:r>
              <a:rPr lang="en-US" altLang="en-GB" sz="1600" b="1">
                <a:solidFill>
                  <a:schemeClr val="bg1"/>
                </a:solidFill>
              </a:rPr>
              <a:t>k bir model </a:t>
            </a:r>
            <a:endParaRPr lang="en-US" altLang="en-GB" sz="1600" b="1">
              <a:solidFill>
                <a:schemeClr val="bg1"/>
              </a:solidFill>
            </a:endParaRPr>
          </a:p>
          <a:p>
            <a:r>
              <a:rPr lang="en-US" altLang="en-GB" sz="1600" b="1">
                <a:solidFill>
                  <a:schemeClr val="bg1"/>
                </a:solidFill>
              </a:rPr>
              <a:t>se</a:t>
            </a:r>
            <a:r>
              <a:rPr lang="en-US" altLang="en-US" sz="1600" b="1">
                <a:solidFill>
                  <a:schemeClr val="bg1"/>
                </a:solidFill>
              </a:rPr>
              <a:t>ç</a:t>
            </a:r>
            <a:r>
              <a:rPr lang="en-US" altLang="en-GB" sz="1600" b="1">
                <a:solidFill>
                  <a:schemeClr val="bg1"/>
                </a:solidFill>
              </a:rPr>
              <a:t>mek.</a:t>
            </a:r>
            <a:endParaRPr lang="en-US" altLang="en-GB" sz="1600" b="1">
              <a:solidFill>
                <a:schemeClr val="bg1"/>
              </a:solidFill>
            </a:endParaRPr>
          </a:p>
          <a:p>
            <a:endParaRPr lang="en-US" altLang="en-GB" sz="1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矩形: 圆角 10"/>
          <p:cNvSpPr/>
          <p:nvPr/>
        </p:nvSpPr>
        <p:spPr>
          <a:xfrm>
            <a:off x="542290" y="646430"/>
            <a:ext cx="11043285" cy="5370830"/>
          </a:xfrm>
          <a:prstGeom prst="roundRect">
            <a:avLst>
              <a:gd name="adj" fmla="val 4767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048588" name="Text Box 5"/>
          <p:cNvSpPr txBox="1"/>
          <p:nvPr/>
        </p:nvSpPr>
        <p:spPr>
          <a:xfrm>
            <a:off x="1004570" y="1007110"/>
            <a:ext cx="4827905" cy="4978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>
                <a:solidFill>
                  <a:srgbClr val="FBBF24"/>
                </a:solidFill>
              </a:rPr>
              <a:t>Underfitting (Yetersiz </a:t>
            </a:r>
            <a:r>
              <a:rPr lang="en-US" altLang="en-US" sz="2400" b="1">
                <a:solidFill>
                  <a:srgbClr val="FBBF24"/>
                </a:solidFill>
              </a:rPr>
              <a:t>ö</a:t>
            </a:r>
            <a:r>
              <a:rPr lang="en-US" altLang="en-US" sz="2400" b="1">
                <a:solidFill>
                  <a:srgbClr val="FBBF24"/>
                </a:solidFill>
              </a:rPr>
              <a:t>ğ</a:t>
            </a:r>
            <a:r>
              <a:rPr lang="en-US" altLang="en-GB" sz="2400" b="1">
                <a:solidFill>
                  <a:srgbClr val="FBBF24"/>
                </a:solidFill>
              </a:rPr>
              <a:t>renme)</a:t>
            </a:r>
            <a:endParaRPr lang="en-US" altLang="en-GB" sz="2400" b="1">
              <a:solidFill>
                <a:schemeClr val="accent2"/>
              </a:solidFill>
            </a:endParaRPr>
          </a:p>
        </p:txBody>
      </p:sp>
      <p:sp>
        <p:nvSpPr>
          <p:cNvPr id="1048589" name="Text Box 8"/>
          <p:cNvSpPr txBox="1"/>
          <p:nvPr/>
        </p:nvSpPr>
        <p:spPr>
          <a:xfrm>
            <a:off x="979805" y="1744980"/>
            <a:ext cx="4678045" cy="13106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FFFFF"/>
                </a:solidFill>
              </a:rPr>
              <a:t>Modelin veriyi anlayamayacak kadar basit kalması veya eğitimin yetersiz tamamlanması nedeniyle karmaşık kalıpları ve örüntüleri öğrenememesi durumudur.</a:t>
            </a:r>
            <a:endParaRPr lang="en-US" altLang="en-GB" b="1">
              <a:solidFill>
                <a:srgbClr val="FFFFFF"/>
              </a:solidFill>
            </a:endParaRPr>
          </a:p>
        </p:txBody>
      </p:sp>
      <p:pic>
        <p:nvPicPr>
          <p:cNvPr id="2097152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805" y="1007110"/>
            <a:ext cx="3997960" cy="2952750"/>
          </a:xfrm>
          <a:prstGeom prst="roundRect">
            <a:avLst>
              <a:gd name="adj" fmla="val 6000"/>
            </a:avLst>
          </a:prstGeom>
          <a:ln w="19050">
            <a:solidFill>
              <a:srgbClr val="38BDF8">
                <a:alpha val="70000"/>
              </a:srgbClr>
            </a:solidFill>
          </a:ln>
          <a:effectLst>
            <a:outerShdw blurRad="1905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1048590" name="Text Box 12"/>
          <p:cNvSpPr txBox="1"/>
          <p:nvPr/>
        </p:nvSpPr>
        <p:spPr>
          <a:xfrm>
            <a:off x="4121150" y="4422775"/>
            <a:ext cx="6317615" cy="16154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rgbClr val="FBBF24"/>
                </a:solidFill>
              </a:rPr>
              <a:t>Belirti</a:t>
            </a:r>
            <a:r>
              <a:rPr lang="en-US" altLang="en-GB" b="1">
                <a:solidFill>
                  <a:srgbClr val="FFFFFF"/>
                </a:solidFill>
              </a:rPr>
              <a:t>: </a:t>
            </a:r>
            <a:r>
              <a:rPr lang="en-US" altLang="en-GB" b="1">
                <a:solidFill>
                  <a:srgbClr val="FFFFFF"/>
                </a:solidFill>
              </a:rPr>
              <a:t>Eğitim ve doğrulama kayıplarının her ikisi de yüksek kalır.</a:t>
            </a:r>
            <a:r>
              <a:rPr lang="en-US" altLang="en-GB" b="1">
                <a:solidFill>
                  <a:srgbClr val="FFFFFF"/>
                </a:solidFill>
              </a:rPr>
              <a:t> </a:t>
            </a:r>
            <a:endParaRPr lang="en-US" altLang="en-GB" b="1"/>
          </a:p>
          <a:p>
            <a:r>
              <a:rPr lang="en-US" altLang="en-US" b="1">
                <a:solidFill>
                  <a:srgbClr val="FBBF24"/>
                </a:solidFill>
              </a:rPr>
              <a:t>Ç</a:t>
            </a:r>
            <a:r>
              <a:rPr lang="en-US" altLang="en-US" b="1">
                <a:solidFill>
                  <a:srgbClr val="FBBF24"/>
                </a:solidFill>
              </a:rPr>
              <a:t>ö</a:t>
            </a:r>
            <a:r>
              <a:rPr lang="en-US" altLang="en-GB" b="1">
                <a:solidFill>
                  <a:srgbClr val="FBBF24"/>
                </a:solidFill>
              </a:rPr>
              <a:t>z</a:t>
            </a:r>
            <a:r>
              <a:rPr lang="en-US" altLang="en-US" b="1">
                <a:solidFill>
                  <a:srgbClr val="FBBF24"/>
                </a:solidFill>
              </a:rPr>
              <a:t>ü</a:t>
            </a:r>
            <a:r>
              <a:rPr lang="en-US" altLang="en-GB" b="1">
                <a:solidFill>
                  <a:srgbClr val="FBBF24"/>
                </a:solidFill>
              </a:rPr>
              <a:t>m</a:t>
            </a:r>
            <a:r>
              <a:rPr lang="en-US" altLang="en-GB" b="1">
                <a:solidFill>
                  <a:srgbClr val="FFFFFF"/>
                </a:solidFill>
              </a:rPr>
              <a:t>: Daha b</a:t>
            </a:r>
            <a:r>
              <a:rPr lang="en-US" altLang="en-US" b="1">
                <a:solidFill>
                  <a:srgbClr val="FFFFFF"/>
                </a:solidFill>
              </a:rPr>
              <a:t>ü</a:t>
            </a:r>
            <a:r>
              <a:rPr lang="en-US" altLang="en-GB" b="1">
                <a:solidFill>
                  <a:srgbClr val="FFFFFF"/>
                </a:solidFill>
              </a:rPr>
              <a:t>y</a:t>
            </a:r>
            <a:r>
              <a:rPr lang="en-US" altLang="en-US" b="1">
                <a:solidFill>
                  <a:srgbClr val="FFFFFF"/>
                </a:solidFill>
              </a:rPr>
              <a:t>ü</a:t>
            </a:r>
            <a:r>
              <a:rPr lang="en-US" altLang="en-GB" b="1">
                <a:solidFill>
                  <a:srgbClr val="FFFFFF"/>
                </a:solidFill>
              </a:rPr>
              <a:t>k bir model kullanmak, daha uzun e</a:t>
            </a:r>
            <a:r>
              <a:rPr lang="en-US" altLang="en-US" b="1">
                <a:solidFill>
                  <a:srgbClr val="FFFFFF"/>
                </a:solidFill>
              </a:rPr>
              <a:t>ğ</a:t>
            </a:r>
            <a:r>
              <a:rPr lang="en-US" altLang="en-GB" b="1">
                <a:solidFill>
                  <a:srgbClr val="FFFFFF"/>
                </a:solidFill>
              </a:rPr>
              <a:t>itmek, </a:t>
            </a:r>
            <a:endParaRPr lang="en-US" altLang="en-GB" b="1"/>
          </a:p>
          <a:p>
            <a:r>
              <a:rPr lang="en-US" altLang="en-GB" b="1">
                <a:solidFill>
                  <a:srgbClr val="FFFFFF"/>
                </a:solidFill>
              </a:rPr>
              <a:t>learning rate'i de</a:t>
            </a:r>
            <a:r>
              <a:rPr lang="en-US" altLang="en-US" b="1">
                <a:solidFill>
                  <a:srgbClr val="FFFFFF"/>
                </a:solidFill>
              </a:rPr>
              <a:t>ğ</a:t>
            </a:r>
            <a:r>
              <a:rPr lang="en-US" altLang="en-GB" b="1">
                <a:solidFill>
                  <a:srgbClr val="FFFFFF"/>
                </a:solidFill>
              </a:rPr>
              <a:t>i</a:t>
            </a:r>
            <a:r>
              <a:rPr lang="en-US" altLang="en-US" b="1">
                <a:solidFill>
                  <a:srgbClr val="FFFFFF"/>
                </a:solidFill>
              </a:rPr>
              <a:t>ş</a:t>
            </a:r>
            <a:r>
              <a:rPr lang="en-US" altLang="en-GB" b="1">
                <a:solidFill>
                  <a:srgbClr val="FFFFFF"/>
                </a:solidFill>
              </a:rPr>
              <a:t>tirmek ve veri kalitesini kontrol etmek.</a:t>
            </a:r>
            <a:endParaRPr lang="en-US" altLang="en-GB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Flowchart: Connector 3"/>
          <p:cNvSpPr/>
          <p:nvPr/>
        </p:nvSpPr>
        <p:spPr>
          <a:xfrm>
            <a:off x="682625" y="437515"/>
            <a:ext cx="11015980" cy="6105525"/>
          </a:xfrm>
          <a:prstGeom prst="roundRect">
            <a:avLst>
              <a:gd name="adj" fmla="val 4193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48592" name="文本框 4"/>
          <p:cNvSpPr txBox="1"/>
          <p:nvPr/>
        </p:nvSpPr>
        <p:spPr>
          <a:xfrm>
            <a:off x="2011680" y="10058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en-GB" sz="2800" dirty="0">
                <a:solidFill>
                  <a:srgbClr val="FBBF24"/>
                </a:solidFill>
                <a:latin typeface="+mj-lt"/>
                <a:ea typeface="Gilroy" panose="00000400000000000000" charset="0"/>
              </a:rPr>
              <a:t>Erratic Curves (Dengesiz e</a:t>
            </a:r>
            <a:r>
              <a:rPr lang="en-US" altLang="en-US" sz="2800" dirty="0">
                <a:solidFill>
                  <a:srgbClr val="FBBF24"/>
                </a:solidFill>
                <a:latin typeface="+mj-lt"/>
                <a:ea typeface="Gilroy" panose="00000400000000000000" charset="0"/>
              </a:rPr>
              <a:t>ğ</a:t>
            </a:r>
            <a:r>
              <a:rPr lang="en-US" altLang="en-GB" sz="2800" dirty="0">
                <a:solidFill>
                  <a:srgbClr val="FBBF24"/>
                </a:solidFill>
                <a:latin typeface="+mj-lt"/>
                <a:ea typeface="Gilroy" panose="00000400000000000000" charset="0"/>
              </a:rPr>
              <a:t>riler)</a:t>
            </a:r>
            <a:endParaRPr lang="en-US" altLang="en-GB" sz="2800" dirty="0">
              <a:solidFill>
                <a:schemeClr val="accent2"/>
              </a:solidFill>
              <a:latin typeface="+mj-lt"/>
              <a:ea typeface="Gilroy" panose="00000400000000000000" charset="0"/>
            </a:endParaRPr>
          </a:p>
        </p:txBody>
      </p:sp>
      <p:sp>
        <p:nvSpPr>
          <p:cNvPr id="1048593" name="Text Box 2"/>
          <p:cNvSpPr txBox="1"/>
          <p:nvPr/>
        </p:nvSpPr>
        <p:spPr>
          <a:xfrm>
            <a:off x="1750695" y="1737360"/>
            <a:ext cx="4041140" cy="1463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Dengesiz e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ğ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rilerde loss veya accuracy s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ü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rekli inip 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çı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kar; bu, modelin d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ü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zg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ü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n 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ö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ğ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renemedi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ğ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ini g</a:t>
            </a:r>
            <a:r>
              <a:rPr lang="en-US" altLang="en-US" sz="2000" b="1">
                <a:solidFill>
                  <a:schemeClr val="bg1">
                    <a:lumMod val="95000"/>
                  </a:schemeClr>
                </a:solidFill>
              </a:rPr>
              <a:t>ö</a:t>
            </a:r>
            <a:r>
              <a:rPr lang="en-US" altLang="en-GB" sz="2000" b="1">
                <a:solidFill>
                  <a:schemeClr val="bg1">
                    <a:lumMod val="95000"/>
                  </a:schemeClr>
                </a:solidFill>
              </a:rPr>
              <a:t>sterir.</a:t>
            </a:r>
            <a:endParaRPr lang="en-US" altLang="en-GB" sz="2000" b="1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097153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985" y="1664970"/>
            <a:ext cx="4286250" cy="2932430"/>
          </a:xfrm>
          <a:prstGeom prst="roundRect">
            <a:avLst>
              <a:gd name="adj" fmla="val 6000"/>
            </a:avLst>
          </a:prstGeom>
          <a:ln w="19050">
            <a:solidFill>
              <a:srgbClr val="38BDF8">
                <a:alpha val="70000"/>
              </a:srgbClr>
            </a:solidFill>
          </a:ln>
          <a:effectLst>
            <a:outerShdw blurRad="1905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1048594" name="Text Box 9"/>
          <p:cNvSpPr txBox="1"/>
          <p:nvPr/>
        </p:nvSpPr>
        <p:spPr>
          <a:xfrm>
            <a:off x="3415665" y="4641215"/>
            <a:ext cx="6397625" cy="1463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rgbClr val="FBBF24"/>
                </a:solidFill>
              </a:rPr>
              <a:t>Belirti</a:t>
            </a:r>
            <a:r>
              <a:rPr lang="en-US" altLang="en-GB" sz="2000" b="1">
                <a:solidFill>
                  <a:srgbClr val="FFFFFF"/>
                </a:solidFill>
              </a:rPr>
              <a:t>: </a:t>
            </a:r>
            <a:r>
              <a:rPr lang="en-US" altLang="en-GB" sz="2000" b="1">
                <a:solidFill>
                  <a:schemeClr val="bg1"/>
                </a:solidFill>
              </a:rPr>
              <a:t>E</a:t>
            </a:r>
            <a:r>
              <a:rPr lang="en-US" altLang="en-US" sz="2000" b="1">
                <a:solidFill>
                  <a:schemeClr val="bg1"/>
                </a:solidFill>
              </a:rPr>
              <a:t>ğ</a:t>
            </a:r>
            <a:r>
              <a:rPr lang="en-US" altLang="en-GB" sz="2000" b="1">
                <a:solidFill>
                  <a:schemeClr val="bg1"/>
                </a:solidFill>
              </a:rPr>
              <a:t>riler net bir y</a:t>
            </a:r>
            <a:r>
              <a:rPr lang="en-US" altLang="en-US" sz="2000" b="1">
                <a:solidFill>
                  <a:schemeClr val="bg1"/>
                </a:solidFill>
              </a:rPr>
              <a:t>ö</a:t>
            </a:r>
            <a:r>
              <a:rPr lang="en-US" altLang="en-GB" sz="2000" b="1">
                <a:solidFill>
                  <a:schemeClr val="bg1"/>
                </a:solidFill>
              </a:rPr>
              <a:t>n olmadan s</a:t>
            </a:r>
            <a:r>
              <a:rPr lang="en-US" altLang="en-US" sz="2000" b="1">
                <a:solidFill>
                  <a:schemeClr val="bg1"/>
                </a:solidFill>
              </a:rPr>
              <a:t>ü</a:t>
            </a:r>
            <a:r>
              <a:rPr lang="en-US" altLang="en-GB" sz="2000" b="1">
                <a:solidFill>
                  <a:schemeClr val="bg1"/>
                </a:solidFill>
              </a:rPr>
              <a:t>rekli dalgalan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r.</a:t>
            </a:r>
            <a:endParaRPr lang="en-US" altLang="en-GB" sz="2000" b="1">
              <a:solidFill>
                <a:schemeClr val="bg1"/>
              </a:solidFill>
            </a:endParaRPr>
          </a:p>
          <a:p>
            <a:endParaRPr lang="en-US" altLang="en-GB" sz="2000" b="1">
              <a:solidFill>
                <a:schemeClr val="bg1"/>
              </a:solidFill>
            </a:endParaRPr>
          </a:p>
          <a:p>
            <a:r>
              <a:rPr lang="en-US" altLang="en-US" sz="2000" b="1">
                <a:solidFill>
                  <a:srgbClr val="FBBF24"/>
                </a:solidFill>
              </a:rPr>
              <a:t>Ç</a:t>
            </a:r>
            <a:r>
              <a:rPr lang="en-US" altLang="en-US" sz="2000" b="1">
                <a:solidFill>
                  <a:srgbClr val="FBBF24"/>
                </a:solidFill>
              </a:rPr>
              <a:t>ö</a:t>
            </a:r>
            <a:r>
              <a:rPr lang="en-US" altLang="en-GB" sz="2000" b="1">
                <a:solidFill>
                  <a:srgbClr val="FBBF24"/>
                </a:solidFill>
              </a:rPr>
              <a:t>z</a:t>
            </a:r>
            <a:r>
              <a:rPr lang="en-US" altLang="en-US" sz="2000" b="1">
                <a:solidFill>
                  <a:srgbClr val="FBBF24"/>
                </a:solidFill>
              </a:rPr>
              <a:t>ü</a:t>
            </a:r>
            <a:r>
              <a:rPr lang="en-US" altLang="en-GB" sz="2000" b="1">
                <a:solidFill>
                  <a:srgbClr val="FBBF24"/>
                </a:solidFill>
              </a:rPr>
              <a:t>m</a:t>
            </a:r>
            <a:r>
              <a:rPr lang="en-US" altLang="en-GB" sz="2000" b="1">
                <a:solidFill>
                  <a:srgbClr val="FFFFFF"/>
                </a:solidFill>
              </a:rPr>
              <a:t>: </a:t>
            </a:r>
            <a:r>
              <a:rPr lang="en-US" altLang="en-GB" sz="2000" b="1">
                <a:solidFill>
                  <a:schemeClr val="bg1"/>
                </a:solidFill>
              </a:rPr>
              <a:t>Learning rate'i d</a:t>
            </a:r>
            <a:r>
              <a:rPr lang="en-US" altLang="en-US" sz="2000" b="1">
                <a:solidFill>
                  <a:schemeClr val="bg1"/>
                </a:solidFill>
              </a:rPr>
              <a:t>ü</a:t>
            </a:r>
            <a:r>
              <a:rPr lang="en-US" altLang="en-US" sz="2000" b="1">
                <a:solidFill>
                  <a:schemeClr val="bg1"/>
                </a:solidFill>
              </a:rPr>
              <a:t>ş</a:t>
            </a:r>
            <a:r>
              <a:rPr lang="en-US" altLang="en-US" sz="2000" b="1">
                <a:solidFill>
                  <a:schemeClr val="bg1"/>
                </a:solidFill>
              </a:rPr>
              <a:t>ü</a:t>
            </a:r>
            <a:r>
              <a:rPr lang="en-US" altLang="en-GB" sz="2000" b="1">
                <a:solidFill>
                  <a:schemeClr val="bg1"/>
                </a:solidFill>
              </a:rPr>
              <a:t>rmek, batch size'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tr-TR" sz="2000" b="1">
                <a:solidFill>
                  <a:schemeClr val="bg1"/>
                </a:solidFill>
              </a:rPr>
              <a:t> </a:t>
            </a:r>
            <a:r>
              <a:rPr lang="en-US" altLang="en-GB" sz="2000" b="1">
                <a:solidFill>
                  <a:schemeClr val="bg1"/>
                </a:solidFill>
              </a:rPr>
              <a:t>art</a:t>
            </a:r>
            <a:r>
              <a:rPr lang="en-US" altLang="en-US" sz="2000" b="1">
                <a:solidFill>
                  <a:schemeClr val="bg1"/>
                </a:solidFill>
              </a:rPr>
              <a:t>ı</a:t>
            </a:r>
            <a:r>
              <a:rPr lang="en-US" altLang="en-GB" sz="2000" b="1">
                <a:solidFill>
                  <a:schemeClr val="bg1"/>
                </a:solidFill>
              </a:rPr>
              <a:t>rmak ve gradient clipping kullanmak.</a:t>
            </a:r>
            <a:endParaRPr lang="en-US" altLang="en-GB" sz="2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文本框 6"/>
          <p:cNvSpPr txBox="1"/>
          <p:nvPr/>
        </p:nvSpPr>
        <p:spPr>
          <a:xfrm>
            <a:off x="2647315" y="448945"/>
            <a:ext cx="5922010" cy="91821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endParaRPr lang="en-US" altLang="en-GB" sz="4000" dirty="0">
              <a:solidFill>
                <a:schemeClr val="bg1"/>
              </a:solidFill>
              <a:latin typeface="+mj-lt"/>
              <a:ea typeface="Gilroy" panose="00000400000000000000" charset="0"/>
            </a:endParaRPr>
          </a:p>
        </p:txBody>
      </p:sp>
      <p:sp>
        <p:nvSpPr>
          <p:cNvPr id="1048605" name="任意多边形: 形状 11"/>
          <p:cNvSpPr/>
          <p:nvPr/>
        </p:nvSpPr>
        <p:spPr>
          <a:xfrm>
            <a:off x="447040" y="534670"/>
            <a:ext cx="11374120" cy="5670550"/>
          </a:xfrm>
          <a:prstGeom prst="roundRect">
            <a:avLst>
              <a:gd name="adj" fmla="val 4515"/>
            </a:avLst>
          </a:prstGeom>
          <a:solidFill>
            <a:srgbClr val="0B1654">
              <a:alpha val="64000"/>
            </a:srgbClr>
          </a:solidFill>
          <a:ln w="15875">
            <a:solidFill>
              <a:srgbClr val="38BDF8">
                <a:alpha val="55000"/>
              </a:srgbClr>
            </a:solidFill>
          </a:ln>
          <a:effectLst>
            <a:outerShdw blurRad="203200" dist="50800" dir="5400000" algn="t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dirty="0"/>
          </a:p>
        </p:txBody>
      </p:sp>
      <p:sp>
        <p:nvSpPr>
          <p:cNvPr id="1048606" name="Text Box 3"/>
          <p:cNvSpPr txBox="1"/>
          <p:nvPr/>
        </p:nvSpPr>
        <p:spPr>
          <a:xfrm>
            <a:off x="3784600" y="696595"/>
            <a:ext cx="3351530" cy="7645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4000" b="1">
                <a:solidFill>
                  <a:schemeClr val="bg1"/>
                </a:solidFill>
              </a:rPr>
              <a:t>B</a:t>
            </a:r>
            <a:r>
              <a:rPr lang="en-US" altLang="en-US" sz="4000" b="1">
                <a:solidFill>
                  <a:schemeClr val="bg1"/>
                </a:solidFill>
              </a:rPr>
              <a:t>ö</a:t>
            </a:r>
            <a:r>
              <a:rPr lang="en-US" altLang="en-GB" sz="4000" b="1">
                <a:solidFill>
                  <a:schemeClr val="bg1"/>
                </a:solidFill>
              </a:rPr>
              <a:t>l</a:t>
            </a:r>
            <a:r>
              <a:rPr lang="en-US" altLang="en-US" sz="4000" b="1">
                <a:solidFill>
                  <a:schemeClr val="bg1"/>
                </a:solidFill>
              </a:rPr>
              <a:t>ü</a:t>
            </a:r>
            <a:r>
              <a:rPr lang="en-US" altLang="en-GB" sz="4000" b="1">
                <a:solidFill>
                  <a:schemeClr val="bg1"/>
                </a:solidFill>
              </a:rPr>
              <a:t>m </a:t>
            </a:r>
            <a:r>
              <a:rPr lang="en-US" altLang="en-US" sz="4000" b="1">
                <a:solidFill>
                  <a:schemeClr val="bg1"/>
                </a:solidFill>
              </a:rPr>
              <a:t>ö</a:t>
            </a:r>
            <a:r>
              <a:rPr lang="en-US" altLang="en-GB" sz="4000" b="1">
                <a:solidFill>
                  <a:schemeClr val="bg1"/>
                </a:solidFill>
              </a:rPr>
              <a:t>zeti</a:t>
            </a:r>
            <a:endParaRPr lang="en-US" altLang="en-GB" sz="4000" b="1">
              <a:solidFill>
                <a:schemeClr val="bg1"/>
              </a:solidFill>
            </a:endParaRPr>
          </a:p>
        </p:txBody>
      </p:sp>
      <p:sp>
        <p:nvSpPr>
          <p:cNvPr id="1048607" name="Text Box 27"/>
          <p:cNvSpPr txBox="1"/>
          <p:nvPr/>
        </p:nvSpPr>
        <p:spPr>
          <a:xfrm>
            <a:off x="781685" y="1583690"/>
            <a:ext cx="5314315" cy="45618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" b="1">
                <a:solidFill>
                  <a:srgbClr val="FBBF24"/>
                </a:solidFill>
                <a:latin typeface="Arial Rounded MT Bold" panose="020F0704030504030204" charset="0"/>
                <a:cs typeface="Arial Rounded MT Bold" panose="020F0704030504030204" charset="0"/>
              </a:rPr>
              <a:t>Kazan</a:t>
            </a:r>
            <a:r>
              <a:rPr lang="en-US" altLang="en-US" sz="1600" b="1">
                <a:solidFill>
                  <a:srgbClr val="FBBF24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sz="1600" b="1">
                <a:solidFill>
                  <a:srgbClr val="FBBF24"/>
                </a:solidFill>
                <a:latin typeface="Arial Rounded MT Bold" panose="020F0704030504030204" charset="0"/>
                <a:cs typeface="Arial Rounded MT Bold" panose="020F0704030504030204" charset="0"/>
              </a:rPr>
              <a:t>lan Temel Beceriler</a:t>
            </a:r>
            <a:endParaRPr lang="en-US" altLang="en-GB" sz="1600" b="1">
              <a:solidFill>
                <a:schemeClr val="accent2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en-US" altLang="en-GB" sz="1600" b="1">
              <a:latin typeface="Arial Rounded MT Bold" panose="020F0704030504030204" charset="0"/>
              <a:cs typeface="Arial Rounded MT Bold" panose="020F0704030504030204" charset="0"/>
            </a:endParaRPr>
          </a:p>
          <a:p>
            <a:r>
              <a:rPr lang="en-US" altLang="en-GB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Veri Y</a:t>
            </a:r>
            <a:r>
              <a:rPr lang="en-US" altLang="en-US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ö</a:t>
            </a:r>
            <a:r>
              <a:rPr lang="en-US" altLang="en-GB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netimi: Hugging Face Hub veri setleri ve verimli </a:t>
            </a:r>
            <a:r>
              <a:rPr lang="en-US" altLang="en-US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ö</a:t>
            </a:r>
            <a:r>
              <a:rPr lang="en-US" altLang="en-GB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n i</a:t>
            </a:r>
            <a:r>
              <a:rPr lang="en-US" altLang="en-US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ş</a:t>
            </a:r>
            <a:r>
              <a:rPr lang="en-US" altLang="en-GB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leme teknikleri</a:t>
            </a:r>
            <a:endParaRPr lang="en-US" altLang="en-GB" sz="1600" b="1"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en-US" altLang="en-GB" sz="1600" b="1">
              <a:latin typeface="Arial Rounded MT Bold" panose="020F0704030504030204" charset="0"/>
              <a:cs typeface="Arial Rounded MT Bold" panose="020F0704030504030204" charset="0"/>
            </a:endParaRPr>
          </a:p>
          <a:p>
            <a:r>
              <a:rPr lang="en-US" altLang="en-GB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Dinamik </a:t>
            </a:r>
            <a:r>
              <a:rPr lang="en-US" altLang="en-US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Ö</a:t>
            </a:r>
            <a:r>
              <a:rPr lang="en-US" altLang="en-GB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n </a:t>
            </a:r>
            <a:r>
              <a:rPr lang="en-US" altLang="en-US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İş</a:t>
            </a:r>
            <a:r>
              <a:rPr lang="en-US" altLang="en-GB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leme: Dinamik padding ve Data Collator kullan</a:t>
            </a:r>
            <a:r>
              <a:rPr lang="en-US" altLang="en-US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m</a:t>
            </a:r>
            <a:r>
              <a:rPr lang="en-US" altLang="en-US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endParaRPr lang="en-US" altLang="en-US" sz="1600" b="1"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en-US" altLang="en-GB" sz="1600" b="1">
              <a:latin typeface="Arial Rounded MT Bold" panose="020F0704030504030204" charset="0"/>
              <a:cs typeface="Arial Rounded MT Bold" panose="020F0704030504030204" charset="0"/>
            </a:endParaRPr>
          </a:p>
          <a:p>
            <a:r>
              <a:rPr lang="en-US" altLang="en-GB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Model E</a:t>
            </a:r>
            <a:r>
              <a:rPr lang="en-US" altLang="en-US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ğ</a:t>
            </a:r>
            <a:r>
              <a:rPr lang="en-US" altLang="en-GB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itimi: High-level Trainer API ve PyTorch ile </a:t>
            </a:r>
            <a:r>
              <a:rPr lang="en-US" altLang="en-US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ö</a:t>
            </a:r>
            <a:r>
              <a:rPr lang="en-US" altLang="en-GB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zel (custom) e</a:t>
            </a:r>
            <a:r>
              <a:rPr lang="en-US" altLang="en-US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ğ</a:t>
            </a:r>
            <a:r>
              <a:rPr lang="en-US" altLang="en-GB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itim d</a:t>
            </a:r>
            <a:r>
              <a:rPr lang="en-US" altLang="en-US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ö</a:t>
            </a:r>
            <a:r>
              <a:rPr lang="en-US" altLang="en-GB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ng</a:t>
            </a:r>
            <a:r>
              <a:rPr lang="en-US" altLang="en-US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ü</a:t>
            </a:r>
            <a:r>
              <a:rPr lang="en-US" altLang="en-GB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leri</a:t>
            </a:r>
            <a:endParaRPr lang="en-US" altLang="en-GB" sz="1600" b="1"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en-US" altLang="en-GB" sz="1600" b="1">
              <a:latin typeface="Arial Rounded MT Bold" panose="020F0704030504030204" charset="0"/>
              <a:cs typeface="Arial Rounded MT Bold" panose="020F0704030504030204" charset="0"/>
            </a:endParaRPr>
          </a:p>
          <a:p>
            <a:r>
              <a:rPr lang="en-US" altLang="en-US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Ç</a:t>
            </a:r>
            <a:r>
              <a:rPr lang="en-US" altLang="en-GB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oklu Donan</a:t>
            </a:r>
            <a:r>
              <a:rPr lang="en-US" altLang="en-US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m Deste</a:t>
            </a:r>
            <a:r>
              <a:rPr lang="en-US" altLang="en-US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ğ</a:t>
            </a:r>
            <a:r>
              <a:rPr lang="en-US" altLang="en-GB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i: Accelerate ile </a:t>
            </a:r>
            <a:r>
              <a:rPr lang="en-US" altLang="en-US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ç</a:t>
            </a:r>
            <a:r>
              <a:rPr lang="en-US" altLang="en-GB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oklu GPU/TPU uyumlulu</a:t>
            </a:r>
            <a:r>
              <a:rPr lang="en-US" altLang="en-US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ğ</a:t>
            </a:r>
            <a:r>
              <a:rPr lang="en-US" altLang="en-GB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u</a:t>
            </a:r>
            <a:endParaRPr lang="en-US" altLang="en-GB" sz="1600" b="1"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en-US" altLang="en-GB" sz="1600" b="1">
              <a:latin typeface="Arial Rounded MT Bold" panose="020F0704030504030204" charset="0"/>
              <a:cs typeface="Arial Rounded MT Bold" panose="020F0704030504030204" charset="0"/>
            </a:endParaRPr>
          </a:p>
          <a:p>
            <a:r>
              <a:rPr lang="en-US" altLang="en-GB" sz="1600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Performans Optimizasyonu: Karma hassasiyet (Mixed Precision) ve Gradient Accumulation</a:t>
            </a:r>
            <a:endParaRPr lang="en-US" altLang="en-GB" sz="1600" b="1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048608" name="Text Box 5"/>
          <p:cNvSpPr txBox="1"/>
          <p:nvPr/>
        </p:nvSpPr>
        <p:spPr>
          <a:xfrm>
            <a:off x="688975" y="696595"/>
            <a:ext cx="1210310" cy="82803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tr-TR" altLang="en-US" sz="4400" b="1">
                <a:solidFill>
                  <a:schemeClr val="bg1"/>
                </a:solidFill>
              </a:rPr>
              <a:t>3.6</a:t>
            </a:r>
            <a:endParaRPr lang="tr-TR" altLang="en-US" sz="4400" b="1">
              <a:solidFill>
                <a:schemeClr val="bg1"/>
              </a:solidFill>
            </a:endParaRPr>
          </a:p>
        </p:txBody>
      </p:sp>
      <p:sp>
        <p:nvSpPr>
          <p:cNvPr id="1048609" name="Text Box 7"/>
          <p:cNvSpPr txBox="1"/>
          <p:nvPr/>
        </p:nvSpPr>
        <p:spPr>
          <a:xfrm>
            <a:off x="6633845" y="1583690"/>
            <a:ext cx="4987290" cy="4384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rgbClr val="FBBF24"/>
                </a:solidFill>
                <a:latin typeface="Arial Rounded MT Bold" panose="020F0704030504030204" charset="0"/>
                <a:cs typeface="Arial Rounded MT Bold" panose="020F0704030504030204" charset="0"/>
              </a:rPr>
              <a:t>Ba</a:t>
            </a:r>
            <a:r>
              <a:rPr lang="en-US" altLang="en-US" b="1">
                <a:solidFill>
                  <a:srgbClr val="FBBF24"/>
                </a:solidFill>
                <a:latin typeface="Arial Rounded MT Bold" panose="020F0704030504030204" charset="0"/>
                <a:cs typeface="Arial Rounded MT Bold" panose="020F0704030504030204" charset="0"/>
              </a:rPr>
              <a:t>ş</a:t>
            </a:r>
            <a:r>
              <a:rPr lang="en-US" altLang="en-GB" b="1">
                <a:solidFill>
                  <a:srgbClr val="FBBF24"/>
                </a:solidFill>
                <a:latin typeface="Arial Rounded MT Bold" panose="020F0704030504030204" charset="0"/>
                <a:cs typeface="Arial Rounded MT Bold" panose="020F0704030504030204" charset="0"/>
              </a:rPr>
              <a:t>ar</a:t>
            </a:r>
            <a:r>
              <a:rPr lang="en-US" altLang="en-US" b="1">
                <a:solidFill>
                  <a:srgbClr val="FBBF24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b="1">
                <a:solidFill>
                  <a:srgbClr val="FBBF24"/>
                </a:solidFill>
                <a:latin typeface="Arial Rounded MT Bold" panose="020F0704030504030204" charset="0"/>
                <a:cs typeface="Arial Rounded MT Bold" panose="020F0704030504030204" charset="0"/>
              </a:rPr>
              <a:t> i</a:t>
            </a:r>
            <a:r>
              <a:rPr lang="en-US" altLang="en-US" b="1">
                <a:solidFill>
                  <a:srgbClr val="FBBF24"/>
                </a:solidFill>
                <a:latin typeface="Arial Rounded MT Bold" panose="020F0704030504030204" charset="0"/>
                <a:cs typeface="Arial Rounded MT Bold" panose="020F0704030504030204" charset="0"/>
              </a:rPr>
              <a:t>ç</a:t>
            </a:r>
            <a:r>
              <a:rPr lang="en-US" altLang="en-GB" b="1">
                <a:solidFill>
                  <a:srgbClr val="FBBF24"/>
                </a:solidFill>
                <a:latin typeface="Arial Rounded MT Bold" panose="020F0704030504030204" charset="0"/>
                <a:cs typeface="Arial Rounded MT Bold" panose="020F0704030504030204" charset="0"/>
              </a:rPr>
              <a:t>in ipu</a:t>
            </a:r>
            <a:r>
              <a:rPr lang="en-US" altLang="en-US" b="1">
                <a:solidFill>
                  <a:srgbClr val="FBBF24"/>
                </a:solidFill>
                <a:latin typeface="Arial Rounded MT Bold" panose="020F0704030504030204" charset="0"/>
                <a:cs typeface="Arial Rounded MT Bold" panose="020F0704030504030204" charset="0"/>
              </a:rPr>
              <a:t>ç</a:t>
            </a:r>
            <a:r>
              <a:rPr lang="en-US" altLang="en-GB" b="1">
                <a:solidFill>
                  <a:srgbClr val="FBBF24"/>
                </a:solidFill>
                <a:latin typeface="Arial Rounded MT Bold" panose="020F0704030504030204" charset="0"/>
                <a:cs typeface="Arial Rounded MT Bold" panose="020F0704030504030204" charset="0"/>
              </a:rPr>
              <a:t>lar</a:t>
            </a:r>
            <a:r>
              <a:rPr lang="en-US" altLang="en-US" b="1">
                <a:solidFill>
                  <a:srgbClr val="FBBF24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endParaRPr lang="en-US" altLang="en-US" b="1">
              <a:solidFill>
                <a:schemeClr val="accent2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en-US" altLang="en-GB" b="1">
              <a:latin typeface="Arial Rounded MT Bold" panose="020F0704030504030204" charset="0"/>
              <a:cs typeface="Arial Rounded MT Bold" panose="020F0704030504030204" charset="0"/>
            </a:endParaRPr>
          </a:p>
          <a:p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Trainer API ile Ba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ş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lay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n: 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Ö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zel d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ö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ng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ü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lere ge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ç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meden 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ö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nce g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ü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ç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l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ü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 bir baseline olu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ş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turun.</a:t>
            </a:r>
            <a:endParaRPr lang="en-US" altLang="en-GB" b="1"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en-US" altLang="en-GB" b="1">
              <a:latin typeface="Arial Rounded MT Bold" panose="020F0704030504030204" charset="0"/>
              <a:cs typeface="Arial Rounded MT Bold" panose="020F0704030504030204" charset="0"/>
            </a:endParaRPr>
          </a:p>
          <a:p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Do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ğ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ru Modeli Se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ç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in: Hub 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ü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zerindeki g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ö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revinize en yak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n haz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r modelleri de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ğ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erlendirin.</a:t>
            </a:r>
            <a:endParaRPr lang="en-US" altLang="en-GB" b="1"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en-US" altLang="en-GB" b="1">
              <a:latin typeface="Arial Rounded MT Bold" panose="020F0704030504030204" charset="0"/>
              <a:cs typeface="Arial Rounded MT Bold" panose="020F0704030504030204" charset="0"/>
            </a:endParaRPr>
          </a:p>
          <a:p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S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ü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reci 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İ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zleyin: Uygun metriklerle takibi yap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n, checkpoint kaydetmeyi unutmay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n.</a:t>
            </a:r>
            <a:endParaRPr lang="en-US" altLang="en-GB" b="1"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en-US" altLang="en-GB" b="1">
              <a:latin typeface="Arial Rounded MT Bold" panose="020F0704030504030204" charset="0"/>
              <a:cs typeface="Arial Rounded MT Bold" panose="020F0704030504030204" charset="0"/>
            </a:endParaRPr>
          </a:p>
          <a:p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Toplulukla Payla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şı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n: Modellerinizi ve verilerinizi a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ç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arak geri bildirim al</a:t>
            </a:r>
            <a:r>
              <a:rPr lang="en-US" altLang="en-US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ı</a:t>
            </a:r>
            <a:r>
              <a:rPr lang="en-US" altLang="en-GB" b="1">
                <a:solidFill>
                  <a:srgbClr val="FFFFFF"/>
                </a:solidFill>
                <a:latin typeface="Arial Rounded MT Bold" panose="020F0704030504030204" charset="0"/>
                <a:cs typeface="Arial Rounded MT Bold" panose="020F0704030504030204" charset="0"/>
              </a:rPr>
              <a:t>n.</a:t>
            </a:r>
            <a:endParaRPr lang="en-US" altLang="en-GB" b="1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文本框 6"/>
          <p:cNvSpPr txBox="1"/>
          <p:nvPr/>
        </p:nvSpPr>
        <p:spPr>
          <a:xfrm>
            <a:off x="2647315" y="448945"/>
            <a:ext cx="5922010" cy="91821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endParaRPr lang="en-US" altLang="en-GB" sz="4000" dirty="0">
              <a:solidFill>
                <a:schemeClr val="bg1"/>
              </a:solidFill>
              <a:latin typeface="+mj-lt"/>
              <a:ea typeface="Gilroy" panose="00000400000000000000" charset="0"/>
            </a:endParaRPr>
          </a:p>
        </p:txBody>
      </p:sp>
      <p:sp>
        <p:nvSpPr>
          <p:cNvPr id="1048614" name="Text Box 1"/>
          <p:cNvSpPr txBox="1"/>
          <p:nvPr/>
        </p:nvSpPr>
        <p:spPr>
          <a:xfrm>
            <a:off x="1465580" y="2367280"/>
            <a:ext cx="9549130" cy="2326640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wrap="square" rtlCol="0">
            <a:spAutoFit/>
          </a:bodyPr>
          <a:p>
            <a:r>
              <a:rPr lang="tr-TR" altLang="en-GB" sz="6600" b="1">
                <a:solidFill>
                  <a:srgbClr val="FBBF24"/>
                </a:solidFill>
                <a:latin typeface="Arial Black" panose="020B0A04020102020204" charset="0"/>
                <a:cs typeface="Arial Black" panose="020B0A04020102020204" charset="0"/>
              </a:rPr>
              <a:t>DİNLEDİĞİNİZ İÇİN TEŞEKKÜRLER</a:t>
            </a:r>
            <a:endParaRPr lang="tr-TR" altLang="en-GB" sz="6600" b="1">
              <a:solidFill>
                <a:schemeClr val="accent2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2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3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4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5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6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7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8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9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10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11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12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13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14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15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16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17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18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19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20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21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22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23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24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25.xml><?xml version="1.0" encoding="utf-8"?>
<p:tagLst xmlns:p="http://schemas.openxmlformats.org/presentationml/2006/main">
  <p:tag name="KSO_WM_DIAGRAM_VIRTUALLY_FRAME" val="{&quot;height&quot;:317.3499212598425,&quot;left&quot;:0,&quot;top&quot;:222.65007874015745,&quot;width&quot;:931.2825196850393}"/>
</p:tagLst>
</file>

<file path=ppt/tags/tag26.xml><?xml version="1.0" encoding="utf-8"?>
<p:tagLst xmlns:p="http://schemas.openxmlformats.org/presentationml/2006/main">
  <p:tag name="TABLE_ENDDRAG_ORIGIN_RECT" val="409*127"/>
  <p:tag name="TABLE_ENDDRAG_RECT" val="502*202*409*127"/>
</p:tagLst>
</file>

<file path=ppt/tags/tag27.xml><?xml version="1.0" encoding="utf-8"?>
<p:tagLst xmlns:p="http://schemas.openxmlformats.org/presentationml/2006/main">
  <p:tag name="TABLE_ENDDRAG_ORIGIN_RECT" val="377*143"/>
  <p:tag name="TABLE_ENDDRAG_RECT" val="62*365*377*143"/>
</p:tagLst>
</file>

<file path=ppt/tags/tag28.xml><?xml version="1.0" encoding="utf-8"?>
<p:tagLst xmlns:p="http://schemas.openxmlformats.org/presentationml/2006/main">
  <p:tag name="TABLE_ENDDRAG_ORIGIN_RECT" val="512*132"/>
  <p:tag name="TABLE_ENDDRAG_RECT" val="69*185*512*132"/>
</p:tagLst>
</file>

<file path=ppt/tags/tag29.xml><?xml version="1.0" encoding="utf-8"?>
<p:tagLst xmlns:p="http://schemas.openxmlformats.org/presentationml/2006/main">
  <p:tag name="KSO_WM_DIAGRAM_VIRTUALLY_FRAME" val="{&quot;height&quot;:466.2,&quot;left&quot;:0,&quot;top&quot;:73.8,&quot;width&quot;:960}"/>
</p:tagLst>
</file>

<file path=ppt/tags/tag30.xml><?xml version="1.0" encoding="utf-8"?>
<p:tagLst xmlns:p="http://schemas.openxmlformats.org/presentationml/2006/main">
  <p:tag name="KSO_WM_DIAGRAM_VIRTUALLY_FRAME" val="{&quot;height&quot;:466.2,&quot;left&quot;:0,&quot;top&quot;:73.8,&quot;width&quot;:960}"/>
</p:tagLst>
</file>

<file path=ppt/tags/tag31.xml><?xml version="1.0" encoding="utf-8"?>
<p:tagLst xmlns:p="http://schemas.openxmlformats.org/presentationml/2006/main">
  <p:tag name="KSO_WM_DIAGRAM_VIRTUALLY_FRAME" val="{&quot;height&quot;:466.2,&quot;left&quot;:0,&quot;top&quot;:73.8,&quot;width&quot;:960}"/>
</p:tagLst>
</file>

<file path=ppt/tags/tag32.xml><?xml version="1.0" encoding="utf-8"?>
<p:tagLst xmlns:p="http://schemas.openxmlformats.org/presentationml/2006/main">
  <p:tag name="KSO_WM_DIAGRAM_VIRTUALLY_FRAME" val="{&quot;height&quot;:466.2,&quot;left&quot;:0,&quot;top&quot;:73.8,&quot;width&quot;:960}"/>
</p:tagLst>
</file>

<file path=ppt/tags/tag33.xml><?xml version="1.0" encoding="utf-8"?>
<p:tagLst xmlns:p="http://schemas.openxmlformats.org/presentationml/2006/main">
  <p:tag name="KSO_WM_DIAGRAM_VIRTUALLY_FRAME" val="{&quot;height&quot;:466.2,&quot;left&quot;:0,&quot;top&quot;:73.8,&quot;width&quot;:960}"/>
</p:tagLst>
</file>

<file path=ppt/tags/tag34.xml><?xml version="1.0" encoding="utf-8"?>
<p:tagLst xmlns:p="http://schemas.openxmlformats.org/presentationml/2006/main">
  <p:tag name="KSO_WM_DIAGRAM_VIRTUALLY_FRAME" val="{&quot;height&quot;:466.2,&quot;left&quot;:0,&quot;top&quot;:73.8,&quot;width&quot;:960}"/>
</p:tagLst>
</file>

<file path=ppt/tags/tag35.xml><?xml version="1.0" encoding="utf-8"?>
<p:tagLst xmlns:p="http://schemas.openxmlformats.org/presentationml/2006/main">
  <p:tag name="KSO_WM_DIAGRAM_VIRTUALLY_FRAME" val="{&quot;height&quot;:466.2,&quot;left&quot;:0,&quot;top&quot;:73.8,&quot;width&quot;:960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海外衬线复古01">
      <a:majorFont>
        <a:latin typeface="DM Serif Display"/>
        <a:ea typeface=""/>
        <a:cs typeface=""/>
      </a:majorFont>
      <a:minorFont>
        <a:latin typeface="Gilro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10161</Words>
  <Application>WPS Presentation</Application>
  <PresentationFormat/>
  <Paragraphs>360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Arial</vt:lpstr>
      <vt:lpstr>SimSun</vt:lpstr>
      <vt:lpstr>Wingdings</vt:lpstr>
      <vt:lpstr>Microsoft YaHei</vt:lpstr>
      <vt:lpstr>Gilroy</vt:lpstr>
      <vt:lpstr>DM Serif Display</vt:lpstr>
      <vt:lpstr>Arial Unicode MS</vt:lpstr>
      <vt:lpstr>Arial Rounded MT Bold</vt:lpstr>
      <vt:lpstr>Arial Black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 abbey</dc:creator>
  <cp:lastModifiedBy>Furkan Türkoğlu</cp:lastModifiedBy>
  <cp:revision>1</cp:revision>
  <dcterms:created xsi:type="dcterms:W3CDTF">2026-10-18T16:03:33Z</dcterms:created>
  <dcterms:modified xsi:type="dcterms:W3CDTF">2026-10-18T16:03:33Z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da71c4179a5f4e958df4921c2350d031_23</vt:lpwstr>
  </property>
  <property fmtid="{D5CDD505-2E9C-101B-9397-08002B2CF9AE}" pid="3" name="KSOProductBuildVer">
    <vt:lpwstr>2057-12.2.0.23206</vt:lpwstr>
  </property>
</Properties>
</file>