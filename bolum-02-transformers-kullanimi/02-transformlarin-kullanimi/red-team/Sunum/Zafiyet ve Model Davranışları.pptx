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88" autoAdjust="0"/>
  </p:normalViewPr>
  <p:slideViewPr>
    <p:cSldViewPr snapToGrid="0" snapToObjects="1">
      <p:cViewPr varScale="1">
        <p:scale>
          <a:sx n="70" d="100"/>
          <a:sy n="70" d="100"/>
        </p:scale>
        <p:origin x="6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al__ma_Sayfas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NEGATIVE FIRST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Sayfa1!$A$2:$A$4</c:f>
              <c:strCache>
                <c:ptCount val="3"/>
                <c:pt idx="0">
                  <c:v>DistilBERT</c:v>
                </c:pt>
                <c:pt idx="1">
                  <c:v>RoBERTa</c:v>
                </c:pt>
                <c:pt idx="2">
                  <c:v>ALBERT</c:v>
                </c:pt>
              </c:strCache>
            </c:strRef>
          </c:cat>
          <c:val>
            <c:numRef>
              <c:f>Sayfa1!$B$2:$B$4</c:f>
              <c:numCache>
                <c:formatCode>General</c:formatCode>
                <c:ptCount val="3"/>
                <c:pt idx="0">
                  <c:v>99.98</c:v>
                </c:pt>
                <c:pt idx="1">
                  <c:v>93.57</c:v>
                </c:pt>
                <c:pt idx="2">
                  <c:v>95.56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0C-4264-BD83-968329B683FA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POSITIVE FIRST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Sayfa1!$A$2:$A$4</c:f>
              <c:strCache>
                <c:ptCount val="3"/>
                <c:pt idx="0">
                  <c:v>DistilBERT</c:v>
                </c:pt>
                <c:pt idx="1">
                  <c:v>RoBERTa</c:v>
                </c:pt>
                <c:pt idx="2">
                  <c:v>ALBERT</c:v>
                </c:pt>
              </c:strCache>
            </c:strRef>
          </c:cat>
          <c:val>
            <c:numRef>
              <c:f>Sayfa1!$C$2:$C$4</c:f>
              <c:numCache>
                <c:formatCode>General</c:formatCode>
                <c:ptCount val="3"/>
                <c:pt idx="0">
                  <c:v>98.65</c:v>
                </c:pt>
                <c:pt idx="1">
                  <c:v>71.290000000000006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0C-4264-BD83-968329B683F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24568800"/>
        <c:axId val="424569216"/>
      </c:barChart>
      <c:catAx>
        <c:axId val="42456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424569216"/>
        <c:crosses val="autoZero"/>
        <c:auto val="1"/>
        <c:lblAlgn val="ctr"/>
        <c:lblOffset val="100"/>
        <c:noMultiLvlLbl val="0"/>
      </c:catAx>
      <c:valAx>
        <c:axId val="424569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 smtClean="0"/>
                  <a:t>Pozitif</a:t>
                </a:r>
                <a:endParaRPr lang="tr-TR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424568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666C6-754A-464D-8777-746A08A613E0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D6336-07BB-4A0B-A4E0-7A6C47E8034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9896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mtClean="0"/>
              <a:t>Attention</a:t>
            </a:r>
            <a:r>
              <a:rPr lang="tr-TR" baseline="0" smtClean="0"/>
              <a:t> Mask uygulanmadığında model çıktısındaki değişim.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5D6336-07BB-4A0B-A4E0-7A6C47E8034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9516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583084"/>
            <a:ext cx="4948237" cy="295275"/>
          </a:xfrm>
          <a:prstGeom prst="roundRect">
            <a:avLst>
              <a:gd name="adj" fmla="val 19354"/>
            </a:avLst>
          </a:prstGeom>
          <a:solidFill>
            <a:srgbClr val="0E1F2D"/>
          </a:solidFill>
          <a:ln w="9525">
            <a:solidFill>
              <a:srgbClr val="174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4312890"/>
            <a:ext cx="5219700" cy="962025"/>
          </a:xfrm>
          <a:prstGeom prst="roundRect">
            <a:avLst>
              <a:gd name="adj" fmla="val 11881"/>
            </a:avLst>
          </a:prstGeom>
          <a:solidFill>
            <a:srgbClr val="13171F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4312890"/>
            <a:ext cx="5219700" cy="962025"/>
          </a:xfrm>
          <a:prstGeom prst="roundRect">
            <a:avLst>
              <a:gd name="adj" fmla="val 14814"/>
            </a:avLst>
          </a:prstGeom>
          <a:solidFill>
            <a:srgbClr val="13171F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664047"/>
            <a:ext cx="133350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106959"/>
            <a:ext cx="10601325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Dil Modellerinde Zafiyet Analizi ve Model Davranışları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98490"/>
            <a:ext cx="866775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Tokenizer Mekanizmaları, Truncation Kayıpları, Unmasked Drift ve Sequence Order Bias </a:t>
            </a:r>
            <a:r>
              <a:rPr sz="1500" b="0" i="0" u="none" smtClean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İncelemesi</a:t>
            </a:r>
            <a:endParaRPr sz="1500" b="0" i="0" u="none">
              <a:solidFill>
                <a:srgbClr val="94A3B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4425" y="1649759"/>
            <a:ext cx="3791102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Consolas" panose="020B0609020204030204" pitchFamily="49" charset="0"/>
              </a:rPr>
              <a:t>HUGGING FACE CHAPTER 2 • SECURITY &amp; VULNERABILITY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493865"/>
            <a:ext cx="124072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Consolas" panose="020B0609020204030204" pitchFamily="49" charset="0"/>
              </a:rPr>
              <a:t>TEST EDİLEN MATRİS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712940"/>
            <a:ext cx="48387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1F5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DistilBERT (WordPiece) • RoBERTa (BPE) • ALBERT (SentencePiece)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4493865"/>
            <a:ext cx="103393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Consolas" panose="020B0609020204030204" pitchFamily="49" charset="0"/>
              </a:rPr>
              <a:t>TEMEL VERİ SETİ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4712940"/>
            <a:ext cx="46515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0" i="0" u="none">
                <a:solidFill>
                  <a:srgbClr val="F1F5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SST-2 (Stanford Sentiment </a:t>
            </a:r>
            <a:r>
              <a:rPr sz="1200" b="0" i="0" u="none" smtClean="0">
                <a:solidFill>
                  <a:srgbClr val="F1F5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Treebank</a:t>
            </a:r>
            <a:r>
              <a:rPr lang="tr-TR" sz="1200">
                <a:solidFill>
                  <a:srgbClr val="F1F5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200" smtClean="0">
                <a:solidFill>
                  <a:srgbClr val="F1F5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Binary</a:t>
            </a:r>
            <a:r>
              <a:rPr sz="1200" b="0" i="0" u="none" smtClean="0">
                <a:solidFill>
                  <a:srgbClr val="F1F5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sz="1200" b="0" i="0" u="none">
                <a:solidFill>
                  <a:srgbClr val="F1F5F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Film Yorumları Fine-Tune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87873"/>
            <a:ext cx="5219700" cy="1676400"/>
          </a:xfrm>
          <a:prstGeom prst="roundRect">
            <a:avLst>
              <a:gd name="adj" fmla="val 681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10300" y="2987873"/>
            <a:ext cx="5219700" cy="1676400"/>
          </a:xfrm>
          <a:prstGeom prst="roundRect">
            <a:avLst>
              <a:gd name="adj" fmla="val 774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24072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Consolas" panose="020B0609020204030204" pitchFamily="49" charset="0"/>
              </a:rPr>
              <a:t>ZAFİYET ANALİZİ </a:t>
            </a:r>
            <a:r>
              <a:rPr sz="975" b="1" i="0" u="none" smtClean="0">
                <a:solidFill>
                  <a:srgbClr val="0284C7"/>
                </a:solidFill>
                <a:latin typeface="Consolas" panose="020B0609020204030204" pitchFamily="49" charset="0"/>
              </a:rPr>
              <a:t>0</a:t>
            </a:r>
            <a:r>
              <a:rPr lang="tr-TR" sz="975" b="1" i="0" u="none" smtClean="0">
                <a:solidFill>
                  <a:srgbClr val="0284C7"/>
                </a:solidFill>
                <a:latin typeface="Consolas" panose="020B0609020204030204" pitchFamily="49" charset="0"/>
              </a:rPr>
              <a:t>1</a:t>
            </a:r>
            <a:endParaRPr sz="975" b="1" i="0" u="none">
              <a:solidFill>
                <a:srgbClr val="0284C7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733425"/>
            <a:ext cx="6633804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Truncation (Kırpma) Körlüğü ve Bağlam Kaybı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225998"/>
            <a:ext cx="279884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Asıl Metin (57 Token — Negatif Sonuç)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530798"/>
            <a:ext cx="48387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"I had extremely high expectations for this movie because the acting... atrocious script, horrific pacing, and utterly embarrassing direction ruined the entire film, making it a complete waste of time and absolute garbage."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245173"/>
            <a:ext cx="221855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Gerçek Etiket: </a:t>
            </a:r>
            <a:r>
              <a:rPr lang="tr-TR" sz="1125" b="1" i="0" u="none" smtClean="0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NEGATİF</a:t>
            </a:r>
            <a:r>
              <a:rPr sz="1125" b="1" i="0" u="none" smtClean="0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125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(%99.98)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326010"/>
            <a:ext cx="296613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Truncated Girdi (Max Length = 21 Token)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630810"/>
            <a:ext cx="483870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"I had extremely high expectations for this movie because the acting, cinematography, and soundtrack were stunning!"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4145160"/>
            <a:ext cx="343683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 Tahmini: </a:t>
            </a:r>
            <a:r>
              <a:rPr lang="tr-TR" sz="1125" b="1" i="0" u="none" smtClean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POZİTİF</a:t>
            </a:r>
            <a:r>
              <a:rPr sz="1125" b="1" i="0" u="none" smtClean="0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125" b="1" i="0" u="none">
                <a:solidFill>
                  <a:srgbClr val="16A3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(%99.91) — Karar Değişti!</a:t>
            </a:r>
          </a:p>
        </p:txBody>
      </p:sp>
      <p:sp>
        <p:nvSpPr>
          <p:cNvPr id="13" name="TextBox 32"/>
          <p:cNvSpPr txBox="1"/>
          <p:nvPr/>
        </p:nvSpPr>
        <p:spPr>
          <a:xfrm>
            <a:off x="762000" y="1215082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200" smtClean="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Tam Metin: 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"I had extremely high expectations for this movie because the acting, cinematography, and soundtrack were stunning! </a:t>
            </a:r>
            <a:r>
              <a:rPr lang="en-US" sz="1200" smtClean="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However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as the story unfolded, the atrocious script, horrific pacing, and utterly embarrassing direction ruined the entire </a:t>
            </a:r>
            <a:r>
              <a:rPr lang="en-US" sz="1200" smtClean="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film,</a:t>
            </a:r>
            <a:r>
              <a:rPr lang="tr-TR" sz="1200" smtClean="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smtClean="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making 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a complete waste of time and absolute garbage."</a:t>
            </a:r>
            <a:endParaRPr sz="1200" b="0" i="0" u="none">
              <a:solidFill>
                <a:srgbClr val="47556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32"/>
          <p:cNvSpPr txBox="1"/>
          <p:nvPr/>
        </p:nvSpPr>
        <p:spPr>
          <a:xfrm>
            <a:off x="762000" y="1822539"/>
            <a:ext cx="110680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20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"Bu filmden beklentim son derece yüksekti çünkü oyunculuklar, sinematografi </a:t>
            </a:r>
            <a:r>
              <a:rPr lang="tr-TR" sz="1200" smtClean="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 </a:t>
            </a:r>
            <a:r>
              <a:rPr lang="tr-TR" sz="120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film müzikleri muazzam görünüyordu! Ancak hikaye ilerledikçe; berbat senaryo, korkunç tempo ve utanç verici derecede kötü yönetmenlik tüm filmi mahvetti, onu tam bir zaman kaybı ve tam anlamıyla bir çöp haline getirdi."</a:t>
            </a:r>
            <a:endParaRPr sz="1200" b="0" i="0" u="none">
              <a:solidFill>
                <a:srgbClr val="47556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548061"/>
            <a:ext cx="124072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ZAFİYET ANALİZİ </a:t>
            </a:r>
            <a:r>
              <a:rPr sz="975" b="1" i="0" u="none" smtClean="0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lang="tr-TR" sz="975" b="1" i="0" u="none" smtClean="0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endParaRPr sz="975" b="1" i="0" u="none">
              <a:solidFill>
                <a:srgbClr val="0284C7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63" name="Rounded Rectangle 2"/>
          <p:cNvSpPr/>
          <p:nvPr/>
        </p:nvSpPr>
        <p:spPr>
          <a:xfrm>
            <a:off x="768221" y="2065749"/>
            <a:ext cx="10402510" cy="1601932"/>
          </a:xfrm>
          <a:prstGeom prst="roundRect">
            <a:avLst>
              <a:gd name="adj" fmla="val 3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4" name="Rounded Rectangle 3"/>
          <p:cNvSpPr/>
          <p:nvPr/>
        </p:nvSpPr>
        <p:spPr>
          <a:xfrm>
            <a:off x="774147" y="3867784"/>
            <a:ext cx="10396880" cy="1601932"/>
          </a:xfrm>
          <a:prstGeom prst="roundRect">
            <a:avLst>
              <a:gd name="adj" fmla="val 3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2" name="Rounded Rectangle 11"/>
          <p:cNvSpPr/>
          <p:nvPr/>
        </p:nvSpPr>
        <p:spPr>
          <a:xfrm>
            <a:off x="930145" y="2154647"/>
            <a:ext cx="9955585" cy="141394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Rounded Rectangle 12"/>
          <p:cNvSpPr/>
          <p:nvPr/>
        </p:nvSpPr>
        <p:spPr>
          <a:xfrm>
            <a:off x="930145" y="2931226"/>
            <a:ext cx="9947721" cy="5195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Rounded Rectangle 13"/>
          <p:cNvSpPr/>
          <p:nvPr/>
        </p:nvSpPr>
        <p:spPr>
          <a:xfrm>
            <a:off x="930145" y="3216976"/>
            <a:ext cx="9947721" cy="5195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Rounded Rectangle 14"/>
          <p:cNvSpPr/>
          <p:nvPr/>
        </p:nvSpPr>
        <p:spPr>
          <a:xfrm>
            <a:off x="930145" y="3502726"/>
            <a:ext cx="9947721" cy="5195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Rounded Rectangle 15"/>
          <p:cNvSpPr/>
          <p:nvPr/>
        </p:nvSpPr>
        <p:spPr>
          <a:xfrm>
            <a:off x="936070" y="3916354"/>
            <a:ext cx="9949738" cy="132984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Rounded Rectangle 16"/>
          <p:cNvSpPr/>
          <p:nvPr/>
        </p:nvSpPr>
        <p:spPr>
          <a:xfrm>
            <a:off x="936071" y="4693351"/>
            <a:ext cx="9947721" cy="5195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" name="Rounded Rectangle 17"/>
          <p:cNvSpPr/>
          <p:nvPr/>
        </p:nvSpPr>
        <p:spPr>
          <a:xfrm>
            <a:off x="936071" y="4979101"/>
            <a:ext cx="9947721" cy="5195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Rounded Rectangle 18"/>
          <p:cNvSpPr/>
          <p:nvPr/>
        </p:nvSpPr>
        <p:spPr>
          <a:xfrm>
            <a:off x="936071" y="5264851"/>
            <a:ext cx="9947721" cy="5195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Rectangle 23"/>
          <p:cNvSpPr/>
          <p:nvPr/>
        </p:nvSpPr>
        <p:spPr>
          <a:xfrm>
            <a:off x="930145" y="2931226"/>
            <a:ext cx="9673801" cy="5195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Rectangle 24"/>
          <p:cNvSpPr/>
          <p:nvPr/>
        </p:nvSpPr>
        <p:spPr>
          <a:xfrm>
            <a:off x="930145" y="3216976"/>
            <a:ext cx="7958817" cy="519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Rectangle 25"/>
          <p:cNvSpPr/>
          <p:nvPr/>
        </p:nvSpPr>
        <p:spPr>
          <a:xfrm>
            <a:off x="930145" y="3502726"/>
            <a:ext cx="8506201" cy="5195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Rectangle 26"/>
          <p:cNvSpPr/>
          <p:nvPr/>
        </p:nvSpPr>
        <p:spPr>
          <a:xfrm>
            <a:off x="936072" y="4693351"/>
            <a:ext cx="5449100" cy="519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Rectangle 27"/>
          <p:cNvSpPr/>
          <p:nvPr/>
        </p:nvSpPr>
        <p:spPr>
          <a:xfrm>
            <a:off x="936071" y="4979101"/>
            <a:ext cx="7219049" cy="5195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Rectangle 28"/>
          <p:cNvSpPr/>
          <p:nvPr/>
        </p:nvSpPr>
        <p:spPr>
          <a:xfrm>
            <a:off x="936072" y="5264851"/>
            <a:ext cx="9479124" cy="519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TextBox 33"/>
          <p:cNvSpPr txBox="1"/>
          <p:nvPr/>
        </p:nvSpPr>
        <p:spPr>
          <a:xfrm>
            <a:off x="762000" y="786186"/>
            <a:ext cx="5710922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Tokenizer </a:t>
            </a:r>
            <a:r>
              <a:rPr sz="2100" b="1" i="0" u="none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Hassasiyeti &amp; Alt Kelime Kırılması</a:t>
            </a:r>
          </a:p>
        </p:txBody>
      </p:sp>
      <p:sp>
        <p:nvSpPr>
          <p:cNvPr id="99" name="TextBox 38"/>
          <p:cNvSpPr txBox="1"/>
          <p:nvPr/>
        </p:nvSpPr>
        <p:spPr>
          <a:xfrm>
            <a:off x="930146" y="2347440"/>
            <a:ext cx="10240880" cy="377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u="none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Girdi:</a:t>
            </a:r>
            <a:r>
              <a:rPr sz="900" b="0" i="0" u="none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"the acting is amateirish" </a:t>
            </a: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
</a:t>
            </a:r>
            <a:r>
              <a:rPr sz="900" b="0" i="0" u="none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(Temiz: amateurish | %99.98 Negatif</a:t>
            </a:r>
            <a:r>
              <a:rPr sz="900" b="0" i="0" u="none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tr-TR" sz="900" b="0" i="0" u="none" smtClean="0">
              <a:solidFill>
                <a:srgbClr val="64748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TextBox 39"/>
          <p:cNvSpPr txBox="1"/>
          <p:nvPr/>
        </p:nvSpPr>
        <p:spPr>
          <a:xfrm>
            <a:off x="936072" y="4109565"/>
            <a:ext cx="1024088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u="none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Girdi:</a:t>
            </a:r>
            <a:r>
              <a:rPr sz="900" b="0" i="0" u="none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"This movie was terr*ble. I hat*d it." </a:t>
            </a: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
</a:t>
            </a:r>
            <a:r>
              <a:rPr sz="900" b="0" i="0" u="none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(Temiz: terrible/hated | %</a:t>
            </a:r>
            <a:r>
              <a:rPr sz="900" b="0" i="0" u="none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99.</a:t>
            </a:r>
            <a:r>
              <a:rPr lang="tr-TR" sz="900" b="0" i="0" u="none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75</a:t>
            </a:r>
            <a:r>
              <a:rPr sz="900" b="0" i="0" u="none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900" b="0" i="0" u="none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Negatif)</a:t>
            </a:r>
          </a:p>
        </p:txBody>
      </p:sp>
      <p:sp>
        <p:nvSpPr>
          <p:cNvPr id="102" name="TextBox 41"/>
          <p:cNvSpPr txBox="1"/>
          <p:nvPr/>
        </p:nvSpPr>
        <p:spPr>
          <a:xfrm>
            <a:off x="987296" y="2181924"/>
            <a:ext cx="2372307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1E40A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Senaryo 1: Typo</a:t>
            </a:r>
          </a:p>
        </p:txBody>
      </p:sp>
      <p:sp>
        <p:nvSpPr>
          <p:cNvPr id="103" name="TextBox 42"/>
          <p:cNvSpPr txBox="1"/>
          <p:nvPr/>
        </p:nvSpPr>
        <p:spPr>
          <a:xfrm>
            <a:off x="10149311" y="2165305"/>
            <a:ext cx="71016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825" b="0" i="0" u="none">
                <a:solidFill>
                  <a:srgbClr val="64748B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amateirish</a:t>
            </a:r>
          </a:p>
        </p:txBody>
      </p:sp>
      <p:sp>
        <p:nvSpPr>
          <p:cNvPr id="104" name="TextBox 43"/>
          <p:cNvSpPr txBox="1"/>
          <p:nvPr/>
        </p:nvSpPr>
        <p:spPr>
          <a:xfrm>
            <a:off x="993222" y="3944048"/>
            <a:ext cx="2712796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1E40A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Senaryo 2: Sansür</a:t>
            </a:r>
          </a:p>
        </p:txBody>
      </p:sp>
      <p:sp>
        <p:nvSpPr>
          <p:cNvPr id="105" name="TextBox 44"/>
          <p:cNvSpPr txBox="1"/>
          <p:nvPr/>
        </p:nvSpPr>
        <p:spPr>
          <a:xfrm>
            <a:off x="10249958" y="3916493"/>
            <a:ext cx="568132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825" b="0" i="0" u="none">
                <a:solidFill>
                  <a:srgbClr val="64748B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terr*ble</a:t>
            </a:r>
          </a:p>
        </p:txBody>
      </p:sp>
      <p:sp>
        <p:nvSpPr>
          <p:cNvPr id="108" name="TextBox 47"/>
          <p:cNvSpPr txBox="1"/>
          <p:nvPr/>
        </p:nvSpPr>
        <p:spPr>
          <a:xfrm>
            <a:off x="930145" y="2781999"/>
            <a:ext cx="3961767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DistilBERT: </a:t>
            </a:r>
            <a:r>
              <a:rPr sz="825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Pozitif %97.25</a:t>
            </a:r>
          </a:p>
        </p:txBody>
      </p:sp>
      <p:sp>
        <p:nvSpPr>
          <p:cNvPr id="109" name="TextBox 48"/>
          <p:cNvSpPr txBox="1"/>
          <p:nvPr/>
        </p:nvSpPr>
        <p:spPr>
          <a:xfrm>
            <a:off x="10241215" y="2771133"/>
            <a:ext cx="1874806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 smtClean="0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Sınıf </a:t>
            </a:r>
            <a:r>
              <a:rPr sz="825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Değişti</a:t>
            </a:r>
          </a:p>
        </p:txBody>
      </p:sp>
      <p:sp>
        <p:nvSpPr>
          <p:cNvPr id="110" name="TextBox 49"/>
          <p:cNvSpPr txBox="1"/>
          <p:nvPr/>
        </p:nvSpPr>
        <p:spPr>
          <a:xfrm>
            <a:off x="930145" y="3067749"/>
            <a:ext cx="3917361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RoBERTa: </a:t>
            </a:r>
            <a:r>
              <a:rPr sz="825" b="1" i="0" u="none">
                <a:solidFill>
                  <a:srgbClr val="2563E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 %80.01</a:t>
            </a:r>
          </a:p>
        </p:txBody>
      </p:sp>
      <p:sp>
        <p:nvSpPr>
          <p:cNvPr id="111" name="TextBox 50"/>
          <p:cNvSpPr txBox="1"/>
          <p:nvPr/>
        </p:nvSpPr>
        <p:spPr>
          <a:xfrm>
            <a:off x="10475802" y="3064239"/>
            <a:ext cx="1184089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2563E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Dengeli</a:t>
            </a:r>
          </a:p>
        </p:txBody>
      </p:sp>
      <p:sp>
        <p:nvSpPr>
          <p:cNvPr id="112" name="TextBox 51"/>
          <p:cNvSpPr txBox="1"/>
          <p:nvPr/>
        </p:nvSpPr>
        <p:spPr>
          <a:xfrm>
            <a:off x="930145" y="3353499"/>
            <a:ext cx="3562135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ALBERT: </a:t>
            </a:r>
            <a:r>
              <a:rPr sz="825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Pozitif %85.51</a:t>
            </a:r>
          </a:p>
        </p:txBody>
      </p:sp>
      <p:sp>
        <p:nvSpPr>
          <p:cNvPr id="113" name="TextBox 52"/>
          <p:cNvSpPr txBox="1"/>
          <p:nvPr/>
        </p:nvSpPr>
        <p:spPr>
          <a:xfrm>
            <a:off x="10241215" y="3342633"/>
            <a:ext cx="1874806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 smtClean="0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Sınıf </a:t>
            </a:r>
            <a:r>
              <a:rPr sz="825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Değişti</a:t>
            </a:r>
          </a:p>
        </p:txBody>
      </p:sp>
      <p:sp>
        <p:nvSpPr>
          <p:cNvPr id="114" name="TextBox 53"/>
          <p:cNvSpPr txBox="1"/>
          <p:nvPr/>
        </p:nvSpPr>
        <p:spPr>
          <a:xfrm>
            <a:off x="936071" y="4544124"/>
            <a:ext cx="4124575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DistilBERT: </a:t>
            </a:r>
            <a:r>
              <a:rPr sz="825" b="1" i="0" u="none">
                <a:solidFill>
                  <a:srgbClr val="2563E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 %54.78</a:t>
            </a:r>
          </a:p>
        </p:txBody>
      </p:sp>
      <p:sp>
        <p:nvSpPr>
          <p:cNvPr id="115" name="TextBox 54"/>
          <p:cNvSpPr txBox="1"/>
          <p:nvPr/>
        </p:nvSpPr>
        <p:spPr>
          <a:xfrm>
            <a:off x="10472202" y="4540614"/>
            <a:ext cx="1218626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Kararsız</a:t>
            </a:r>
          </a:p>
        </p:txBody>
      </p:sp>
      <p:sp>
        <p:nvSpPr>
          <p:cNvPr id="116" name="TextBox 55"/>
          <p:cNvSpPr txBox="1"/>
          <p:nvPr/>
        </p:nvSpPr>
        <p:spPr>
          <a:xfrm>
            <a:off x="936071" y="4829874"/>
            <a:ext cx="3754552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RoBERTa: </a:t>
            </a:r>
            <a:r>
              <a:rPr sz="825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Pozitif %72.57</a:t>
            </a:r>
          </a:p>
        </p:txBody>
      </p:sp>
      <p:sp>
        <p:nvSpPr>
          <p:cNvPr id="117" name="TextBox 56"/>
          <p:cNvSpPr txBox="1"/>
          <p:nvPr/>
        </p:nvSpPr>
        <p:spPr>
          <a:xfrm>
            <a:off x="10246893" y="4832135"/>
            <a:ext cx="196361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 smtClean="0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825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Sınıf Değişti</a:t>
            </a:r>
          </a:p>
        </p:txBody>
      </p:sp>
      <p:sp>
        <p:nvSpPr>
          <p:cNvPr id="118" name="TextBox 57"/>
          <p:cNvSpPr txBox="1"/>
          <p:nvPr/>
        </p:nvSpPr>
        <p:spPr>
          <a:xfrm>
            <a:off x="936071" y="5115624"/>
            <a:ext cx="372494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1" i="0" u="none">
                <a:solidFill>
                  <a:srgbClr val="1E293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ALBERT: </a:t>
            </a:r>
            <a:r>
              <a:rPr sz="825" b="1" i="0" u="none">
                <a:solidFill>
                  <a:srgbClr val="2563E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 %95.29</a:t>
            </a:r>
          </a:p>
        </p:txBody>
      </p:sp>
      <p:sp>
        <p:nvSpPr>
          <p:cNvPr id="119" name="TextBox 58"/>
          <p:cNvSpPr txBox="1"/>
          <p:nvPr/>
        </p:nvSpPr>
        <p:spPr>
          <a:xfrm>
            <a:off x="10510302" y="5112114"/>
            <a:ext cx="1129819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825" b="1">
                <a:solidFill>
                  <a:srgbClr val="2563E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Dengeli</a:t>
            </a:r>
            <a:endParaRPr sz="825" b="1" i="0" u="none">
              <a:solidFill>
                <a:srgbClr val="16653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548061"/>
            <a:ext cx="124072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ZAFİYET ANALİZİ </a:t>
            </a:r>
            <a:r>
              <a:rPr sz="975" b="1" i="0" u="none" smtClean="0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lang="tr-TR" sz="975" b="1" i="0" u="none" smtClean="0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endParaRPr sz="975" b="1" i="0" u="none">
              <a:solidFill>
                <a:srgbClr val="0284C7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94" name="TextBox 33"/>
          <p:cNvSpPr txBox="1"/>
          <p:nvPr/>
        </p:nvSpPr>
        <p:spPr>
          <a:xfrm>
            <a:off x="762000" y="786186"/>
            <a:ext cx="5710922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Tokenizer </a:t>
            </a:r>
            <a:r>
              <a:rPr sz="2100" b="1" i="0" u="none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Hassasiyeti &amp; Alt Kelime Kırılması</a:t>
            </a:r>
          </a:p>
        </p:txBody>
      </p:sp>
      <p:sp>
        <p:nvSpPr>
          <p:cNvPr id="161" name="Rounded Rectangle 2"/>
          <p:cNvSpPr/>
          <p:nvPr/>
        </p:nvSpPr>
        <p:spPr>
          <a:xfrm>
            <a:off x="304800" y="1647825"/>
            <a:ext cx="109728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2" name="Rounded Rectangle 3"/>
          <p:cNvSpPr/>
          <p:nvPr/>
        </p:nvSpPr>
        <p:spPr>
          <a:xfrm>
            <a:off x="304800" y="2876550"/>
            <a:ext cx="109728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3" name="Rounded Rectangle 4"/>
          <p:cNvSpPr/>
          <p:nvPr/>
        </p:nvSpPr>
        <p:spPr>
          <a:xfrm>
            <a:off x="304800" y="4105275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4" name="Rounded Rectangle 5"/>
          <p:cNvSpPr/>
          <p:nvPr/>
        </p:nvSpPr>
        <p:spPr>
          <a:xfrm>
            <a:off x="542925" y="2038350"/>
            <a:ext cx="51720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5" name="Rounded Rectangle 6"/>
          <p:cNvSpPr/>
          <p:nvPr/>
        </p:nvSpPr>
        <p:spPr>
          <a:xfrm>
            <a:off x="5867400" y="2038350"/>
            <a:ext cx="51720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6" name="Rounded Rectangle 7"/>
          <p:cNvSpPr/>
          <p:nvPr/>
        </p:nvSpPr>
        <p:spPr>
          <a:xfrm>
            <a:off x="542925" y="3267075"/>
            <a:ext cx="51720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7" name="Rounded Rectangle 8"/>
          <p:cNvSpPr/>
          <p:nvPr/>
        </p:nvSpPr>
        <p:spPr>
          <a:xfrm>
            <a:off x="5867400" y="3267075"/>
            <a:ext cx="51720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8" name="Rounded Rectangle 9"/>
          <p:cNvSpPr/>
          <p:nvPr/>
        </p:nvSpPr>
        <p:spPr>
          <a:xfrm>
            <a:off x="542925" y="4495800"/>
            <a:ext cx="51720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9" name="Rounded Rectangle 10"/>
          <p:cNvSpPr/>
          <p:nvPr/>
        </p:nvSpPr>
        <p:spPr>
          <a:xfrm>
            <a:off x="5867400" y="4495800"/>
            <a:ext cx="51720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0" name="TextBox 14"/>
          <p:cNvSpPr txBox="1"/>
          <p:nvPr/>
        </p:nvSpPr>
        <p:spPr>
          <a:xfrm>
            <a:off x="542925" y="1809750"/>
            <a:ext cx="11344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>
                <a:solidFill>
                  <a:srgbClr val="1E293B"/>
                </a:solidFill>
                <a:latin typeface="Consolas"/>
              </a:rPr>
              <a:t>1. DistilBERT (WordPiece)</a:t>
            </a:r>
          </a:p>
        </p:txBody>
      </p:sp>
      <p:sp>
        <p:nvSpPr>
          <p:cNvPr id="171" name="TextBox 15"/>
          <p:cNvSpPr txBox="1"/>
          <p:nvPr/>
        </p:nvSpPr>
        <p:spPr>
          <a:xfrm>
            <a:off x="542925" y="3038475"/>
            <a:ext cx="11344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>
                <a:solidFill>
                  <a:srgbClr val="1E293B"/>
                </a:solidFill>
                <a:latin typeface="Consolas"/>
              </a:rPr>
              <a:t>2. RoBERTa (BPE)</a:t>
            </a:r>
          </a:p>
        </p:txBody>
      </p:sp>
      <p:sp>
        <p:nvSpPr>
          <p:cNvPr id="172" name="TextBox 16"/>
          <p:cNvSpPr txBox="1"/>
          <p:nvPr/>
        </p:nvSpPr>
        <p:spPr>
          <a:xfrm>
            <a:off x="542925" y="4267200"/>
            <a:ext cx="11344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>
                <a:solidFill>
                  <a:srgbClr val="1E293B"/>
                </a:solidFill>
                <a:latin typeface="Consolas"/>
              </a:rPr>
              <a:t>3. ALBERT (SentencePiece)</a:t>
            </a:r>
          </a:p>
        </p:txBody>
      </p:sp>
      <p:sp>
        <p:nvSpPr>
          <p:cNvPr id="173" name="TextBox 17"/>
          <p:cNvSpPr txBox="1"/>
          <p:nvPr/>
        </p:nvSpPr>
        <p:spPr>
          <a:xfrm>
            <a:off x="685800" y="2143125"/>
            <a:ext cx="610790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>
                <a:solidFill>
                  <a:srgbClr val="64748B"/>
                </a:solidFill>
                <a:latin typeface="Consolas"/>
              </a:rPr>
              <a:t>the acting is amateurish</a:t>
            </a:r>
          </a:p>
        </p:txBody>
      </p:sp>
      <p:sp>
        <p:nvSpPr>
          <p:cNvPr id="174" name="TextBox 18"/>
          <p:cNvSpPr txBox="1"/>
          <p:nvPr/>
        </p:nvSpPr>
        <p:spPr>
          <a:xfrm>
            <a:off x="685800" y="2314575"/>
            <a:ext cx="303288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['the', 'acting', 'is', 'amateur', '##ish']</a:t>
            </a:r>
          </a:p>
        </p:txBody>
      </p:sp>
      <p:sp>
        <p:nvSpPr>
          <p:cNvPr id="175" name="TextBox 19"/>
          <p:cNvSpPr txBox="1"/>
          <p:nvPr/>
        </p:nvSpPr>
        <p:spPr>
          <a:xfrm>
            <a:off x="6010275" y="2143125"/>
            <a:ext cx="58769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>
                <a:solidFill>
                  <a:srgbClr val="64748B"/>
                </a:solidFill>
                <a:latin typeface="Consolas"/>
              </a:rPr>
              <a:t>the acting is amateirish</a:t>
            </a:r>
          </a:p>
        </p:txBody>
      </p:sp>
      <p:sp>
        <p:nvSpPr>
          <p:cNvPr id="176" name="TextBox 20"/>
          <p:cNvSpPr txBox="1"/>
          <p:nvPr/>
        </p:nvSpPr>
        <p:spPr>
          <a:xfrm>
            <a:off x="6010275" y="2314575"/>
            <a:ext cx="3879267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['the', 'acting', 'is', 'ama', '##te', '##iri', '##sh']</a:t>
            </a:r>
          </a:p>
        </p:txBody>
      </p:sp>
      <p:sp>
        <p:nvSpPr>
          <p:cNvPr id="177" name="TextBox 21"/>
          <p:cNvSpPr txBox="1"/>
          <p:nvPr/>
        </p:nvSpPr>
        <p:spPr>
          <a:xfrm>
            <a:off x="685800" y="3371850"/>
            <a:ext cx="610790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>
                <a:solidFill>
                  <a:srgbClr val="64748B"/>
                </a:solidFill>
                <a:latin typeface="Consolas"/>
              </a:rPr>
              <a:t>the acting is amateurish</a:t>
            </a:r>
          </a:p>
        </p:txBody>
      </p:sp>
      <p:sp>
        <p:nvSpPr>
          <p:cNvPr id="178" name="TextBox 22"/>
          <p:cNvSpPr txBox="1"/>
          <p:nvPr/>
        </p:nvSpPr>
        <p:spPr>
          <a:xfrm>
            <a:off x="685800" y="3543300"/>
            <a:ext cx="310341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['the', 'Ġacting', 'Ġis', 'Ġamateur', 'ish']</a:t>
            </a:r>
          </a:p>
        </p:txBody>
      </p:sp>
      <p:sp>
        <p:nvSpPr>
          <p:cNvPr id="179" name="TextBox 23"/>
          <p:cNvSpPr txBox="1"/>
          <p:nvPr/>
        </p:nvSpPr>
        <p:spPr>
          <a:xfrm>
            <a:off x="6010275" y="3371850"/>
            <a:ext cx="58769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>
                <a:solidFill>
                  <a:srgbClr val="64748B"/>
                </a:solidFill>
                <a:latin typeface="Consolas"/>
              </a:rPr>
              <a:t>the acting is amateirish</a:t>
            </a:r>
          </a:p>
        </p:txBody>
      </p:sp>
      <p:sp>
        <p:nvSpPr>
          <p:cNvPr id="180" name="TextBox 24"/>
          <p:cNvSpPr txBox="1"/>
          <p:nvPr/>
        </p:nvSpPr>
        <p:spPr>
          <a:xfrm>
            <a:off x="6010275" y="3543300"/>
            <a:ext cx="366767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['the', 'Ġacting', 'Ġis', 'Ġam', 'ate', 'ir', 'ish']</a:t>
            </a:r>
          </a:p>
        </p:txBody>
      </p:sp>
      <p:sp>
        <p:nvSpPr>
          <p:cNvPr id="181" name="TextBox 25"/>
          <p:cNvSpPr txBox="1"/>
          <p:nvPr/>
        </p:nvSpPr>
        <p:spPr>
          <a:xfrm>
            <a:off x="685800" y="4600575"/>
            <a:ext cx="610790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>
                <a:solidFill>
                  <a:srgbClr val="64748B"/>
                </a:solidFill>
                <a:latin typeface="Consolas"/>
              </a:rPr>
              <a:t>the acting is amateurish</a:t>
            </a:r>
          </a:p>
        </p:txBody>
      </p:sp>
      <p:sp>
        <p:nvSpPr>
          <p:cNvPr id="182" name="TextBox 26"/>
          <p:cNvSpPr txBox="1"/>
          <p:nvPr/>
        </p:nvSpPr>
        <p:spPr>
          <a:xfrm>
            <a:off x="685800" y="4772025"/>
            <a:ext cx="3327834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['▁the', '▁acting', '▁is', '▁amateur', 'ish']</a:t>
            </a:r>
          </a:p>
        </p:txBody>
      </p:sp>
      <p:sp>
        <p:nvSpPr>
          <p:cNvPr id="183" name="TextBox 27"/>
          <p:cNvSpPr txBox="1"/>
          <p:nvPr/>
        </p:nvSpPr>
        <p:spPr>
          <a:xfrm>
            <a:off x="6010275" y="4600575"/>
            <a:ext cx="58769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i="0" u="none">
                <a:solidFill>
                  <a:srgbClr val="64748B"/>
                </a:solidFill>
                <a:latin typeface="Consolas"/>
              </a:rPr>
              <a:t>the acting is amateirish</a:t>
            </a:r>
          </a:p>
        </p:txBody>
      </p:sp>
      <p:sp>
        <p:nvSpPr>
          <p:cNvPr id="184" name="TextBox 28"/>
          <p:cNvSpPr txBox="1"/>
          <p:nvPr/>
        </p:nvSpPr>
        <p:spPr>
          <a:xfrm>
            <a:off x="6010275" y="4772025"/>
            <a:ext cx="360996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['▁the', '▁acting', '▁is', '▁a', 'mate', 'irish']</a:t>
            </a:r>
          </a:p>
        </p:txBody>
      </p:sp>
      <p:sp>
        <p:nvSpPr>
          <p:cNvPr id="3" name="Dikdörtgen 2"/>
          <p:cNvSpPr/>
          <p:nvPr/>
        </p:nvSpPr>
        <p:spPr>
          <a:xfrm>
            <a:off x="5857875" y="1759148"/>
            <a:ext cx="13912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Pozitif %97.25</a:t>
            </a:r>
            <a:endParaRPr lang="tr-TR" sz="1400"/>
          </a:p>
        </p:txBody>
      </p:sp>
      <p:sp>
        <p:nvSpPr>
          <p:cNvPr id="6" name="Dikdörtgen 5"/>
          <p:cNvSpPr/>
          <p:nvPr/>
        </p:nvSpPr>
        <p:spPr>
          <a:xfrm>
            <a:off x="5857875" y="2981307"/>
            <a:ext cx="1484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tr-TR" sz="1400" b="1">
                <a:solidFill>
                  <a:srgbClr val="2563E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 %80.01</a:t>
            </a:r>
          </a:p>
        </p:txBody>
      </p:sp>
      <p:sp>
        <p:nvSpPr>
          <p:cNvPr id="8" name="Dikdörtgen 7"/>
          <p:cNvSpPr/>
          <p:nvPr/>
        </p:nvSpPr>
        <p:spPr>
          <a:xfrm>
            <a:off x="5857875" y="4238607"/>
            <a:ext cx="13912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Pozitif %85.51</a:t>
            </a:r>
            <a:endParaRPr lang="tr-TR" sz="1400"/>
          </a:p>
        </p:txBody>
      </p:sp>
      <p:sp>
        <p:nvSpPr>
          <p:cNvPr id="10" name="Dikdörtgen 9"/>
          <p:cNvSpPr/>
          <p:nvPr/>
        </p:nvSpPr>
        <p:spPr>
          <a:xfrm>
            <a:off x="437872" y="1306926"/>
            <a:ext cx="15648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6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%99.98 Negatif</a:t>
            </a:r>
            <a:endParaRPr lang="tr-TR" sz="1600"/>
          </a:p>
        </p:txBody>
      </p:sp>
      <p:sp>
        <p:nvSpPr>
          <p:cNvPr id="185" name="Dikdörtgen 184"/>
          <p:cNvSpPr/>
          <p:nvPr/>
        </p:nvSpPr>
        <p:spPr>
          <a:xfrm>
            <a:off x="10275017" y="865728"/>
            <a:ext cx="108000" cy="10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7" name="TextBox 52"/>
          <p:cNvSpPr txBox="1"/>
          <p:nvPr/>
        </p:nvSpPr>
        <p:spPr>
          <a:xfrm>
            <a:off x="10495852" y="844953"/>
            <a:ext cx="187480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 smtClean="0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Sınıf </a:t>
            </a:r>
            <a:r>
              <a:rPr sz="1050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Değişti</a:t>
            </a:r>
          </a:p>
        </p:txBody>
      </p:sp>
    </p:spTree>
    <p:extLst>
      <p:ext uri="{BB962C8B-B14F-4D97-AF65-F5344CB8AC3E}">
        <p14:creationId xmlns:p14="http://schemas.microsoft.com/office/powerpoint/2010/main" val="36334845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548061"/>
            <a:ext cx="124072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ZAFİYET ANALİZİ </a:t>
            </a:r>
            <a:r>
              <a:rPr sz="975" b="1" i="0" u="none" smtClean="0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lang="tr-TR" sz="975" b="1" i="0" u="none" smtClean="0">
                <a:solidFill>
                  <a:srgbClr val="0284C7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endParaRPr sz="975" b="1" i="0" u="none">
              <a:solidFill>
                <a:srgbClr val="0284C7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94" name="TextBox 33"/>
          <p:cNvSpPr txBox="1"/>
          <p:nvPr/>
        </p:nvSpPr>
        <p:spPr>
          <a:xfrm>
            <a:off x="762000" y="786186"/>
            <a:ext cx="5710922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Tokenizer </a:t>
            </a:r>
            <a:r>
              <a:rPr sz="2100" b="1" i="0" u="none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Hassasiyeti &amp; Alt Kelime Kırılması</a:t>
            </a:r>
          </a:p>
        </p:txBody>
      </p:sp>
      <p:sp>
        <p:nvSpPr>
          <p:cNvPr id="4" name="Rounded Rectangle 2"/>
          <p:cNvSpPr/>
          <p:nvPr/>
        </p:nvSpPr>
        <p:spPr>
          <a:xfrm>
            <a:off x="304800" y="1590675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3"/>
          <p:cNvSpPr/>
          <p:nvPr/>
        </p:nvSpPr>
        <p:spPr>
          <a:xfrm>
            <a:off x="304800" y="2847975"/>
            <a:ext cx="10972800" cy="1104900"/>
          </a:xfrm>
          <a:prstGeom prst="roundRect">
            <a:avLst>
              <a:gd name="adj" fmla="val 103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4"/>
          <p:cNvSpPr/>
          <p:nvPr/>
        </p:nvSpPr>
        <p:spPr>
          <a:xfrm>
            <a:off x="304800" y="4105275"/>
            <a:ext cx="109728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ed Rectangle 5"/>
          <p:cNvSpPr/>
          <p:nvPr/>
        </p:nvSpPr>
        <p:spPr>
          <a:xfrm>
            <a:off x="504825" y="1981200"/>
            <a:ext cx="5229225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ounded Rectangle 6"/>
          <p:cNvSpPr/>
          <p:nvPr/>
        </p:nvSpPr>
        <p:spPr>
          <a:xfrm>
            <a:off x="5848350" y="1981200"/>
            <a:ext cx="5229225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Rounded Rectangle 7"/>
          <p:cNvSpPr/>
          <p:nvPr/>
        </p:nvSpPr>
        <p:spPr>
          <a:xfrm>
            <a:off x="504825" y="3238500"/>
            <a:ext cx="5229225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Rounded Rectangle 8"/>
          <p:cNvSpPr/>
          <p:nvPr/>
        </p:nvSpPr>
        <p:spPr>
          <a:xfrm>
            <a:off x="5848350" y="3238500"/>
            <a:ext cx="5229225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ounded Rectangle 9"/>
          <p:cNvSpPr/>
          <p:nvPr/>
        </p:nvSpPr>
        <p:spPr>
          <a:xfrm>
            <a:off x="504825" y="4495800"/>
            <a:ext cx="5229225" cy="62865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Rounded Rectangle 10"/>
          <p:cNvSpPr/>
          <p:nvPr/>
        </p:nvSpPr>
        <p:spPr>
          <a:xfrm>
            <a:off x="5848350" y="4495800"/>
            <a:ext cx="5229225" cy="62865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504825" y="1781175"/>
            <a:ext cx="232227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75" b="1" i="0" u="none">
                <a:solidFill>
                  <a:srgbClr val="1E293B"/>
                </a:solidFill>
                <a:latin typeface="Consolas"/>
              </a:rPr>
              <a:t>1. DistilBERT (WordPiece)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4825" y="3038475"/>
            <a:ext cx="148623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75" b="1" i="0" u="none">
                <a:solidFill>
                  <a:srgbClr val="1E293B"/>
                </a:solidFill>
                <a:latin typeface="Consolas"/>
              </a:rPr>
              <a:t>2. RoBERTa (BPE)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4825" y="4295775"/>
            <a:ext cx="232227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75" b="1" i="0" u="none">
                <a:solidFill>
                  <a:srgbClr val="1E293B"/>
                </a:solidFill>
                <a:latin typeface="Consolas"/>
              </a:rPr>
              <a:t>3. ALBERT (SentencePiece)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8650" y="2066925"/>
            <a:ext cx="62269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64748B"/>
                </a:solidFill>
                <a:latin typeface="Consolas"/>
              </a:rPr>
              <a:t>This movie was terrible. I hated it.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8650" y="2200275"/>
            <a:ext cx="465512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['this', 'movie', 'was', 'terrible', '.', 'i', 'hated', 'it', '.']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72175" y="2066925"/>
            <a:ext cx="59150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64748B"/>
                </a:solidFill>
                <a:latin typeface="Consolas"/>
              </a:rPr>
              <a:t>This movie was terr*ble. I hat*d it.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72175" y="2200275"/>
            <a:ext cx="50768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['this', 'movie', 'was', 'ter', '##r', '*', 'b', '##le', '.', 'i', 'hat', '*', 'd', 'it', '.']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8650" y="3324225"/>
            <a:ext cx="62269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64748B"/>
                </a:solidFill>
                <a:latin typeface="Consolas"/>
              </a:rPr>
              <a:t>This movie was terrible. I hated it.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8650" y="3457575"/>
            <a:ext cx="507831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['This', 'Ġmovie', 'Ġwas', 'Ġterrible', '.', 'ĠI', 'Ġhated', 'Ġit', '.']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72175" y="3324225"/>
            <a:ext cx="59150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64748B"/>
                </a:solidFill>
                <a:latin typeface="Consolas"/>
              </a:rPr>
              <a:t>This movie was terr*ble. I hat*d it.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72175" y="3457575"/>
            <a:ext cx="50768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['This', 'Ġmovie', 'Ġwas', 'Ġterr', '*', 'ble', '.', 'ĠI', 'Ġhat', '*', 'd', 'Ġit', '.']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8650" y="4581525"/>
            <a:ext cx="62269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64748B"/>
                </a:solidFill>
                <a:latin typeface="Consolas"/>
              </a:rPr>
              <a:t>This movie was terrible. I hated it.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8650" y="4714875"/>
            <a:ext cx="50768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 i="0" u="none">
                <a:latin typeface="Consolas"/>
              </a:rPr>
              <a:t>['▁this', '▁movie', '▁was', '▁terrible', '.', '▁i', '▁hated', '▁it', '.']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72175" y="4581525"/>
            <a:ext cx="59150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25" b="0" i="0" u="none">
                <a:solidFill>
                  <a:srgbClr val="64748B"/>
                </a:solidFill>
                <a:latin typeface="Consolas"/>
              </a:rPr>
              <a:t>This movie was terr*ble. I hat*d it.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72175" y="4714875"/>
            <a:ext cx="50768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000">
                <a:latin typeface="Consolas"/>
              </a:rPr>
              <a:t>['▁this', '▁movie', '▁was', '▁', 'ter', 'r', '*', 'ble', '.', '▁i', '▁hat', '*', 'd', '▁it', '.']</a:t>
            </a:r>
            <a:endParaRPr sz="1000" b="0" i="0" u="none">
              <a:latin typeface="Consolas"/>
            </a:endParaRPr>
          </a:p>
        </p:txBody>
      </p:sp>
      <p:sp>
        <p:nvSpPr>
          <p:cNvPr id="33" name="Dikdörtgen 32"/>
          <p:cNvSpPr/>
          <p:nvPr/>
        </p:nvSpPr>
        <p:spPr>
          <a:xfrm>
            <a:off x="5857875" y="1704343"/>
            <a:ext cx="1484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>
                <a:solidFill>
                  <a:srgbClr val="2563E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 %54.78</a:t>
            </a:r>
            <a:endParaRPr lang="tr-TR" sz="1400"/>
          </a:p>
        </p:txBody>
      </p:sp>
      <p:sp>
        <p:nvSpPr>
          <p:cNvPr id="34" name="Dikdörtgen 33"/>
          <p:cNvSpPr/>
          <p:nvPr/>
        </p:nvSpPr>
        <p:spPr>
          <a:xfrm>
            <a:off x="5857875" y="2926502"/>
            <a:ext cx="13912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tr-TR" sz="1400" b="1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Pozitif %72.57</a:t>
            </a:r>
            <a:endParaRPr lang="tr-TR" sz="1400" b="1">
              <a:solidFill>
                <a:srgbClr val="2563E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Dikdörtgen 34"/>
          <p:cNvSpPr/>
          <p:nvPr/>
        </p:nvSpPr>
        <p:spPr>
          <a:xfrm>
            <a:off x="5857875" y="4183802"/>
            <a:ext cx="1484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>
                <a:solidFill>
                  <a:srgbClr val="2563E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 %95.29</a:t>
            </a:r>
            <a:endParaRPr lang="tr-TR" sz="1400"/>
          </a:p>
        </p:txBody>
      </p:sp>
      <p:sp>
        <p:nvSpPr>
          <p:cNvPr id="36" name="Dikdörtgen 35"/>
          <p:cNvSpPr/>
          <p:nvPr/>
        </p:nvSpPr>
        <p:spPr>
          <a:xfrm>
            <a:off x="437872" y="1252121"/>
            <a:ext cx="15648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6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</a:t>
            </a:r>
            <a:r>
              <a:rPr lang="tr-TR" sz="1600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99.75 </a:t>
            </a:r>
            <a:r>
              <a:rPr lang="tr-TR" sz="16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</a:t>
            </a:r>
            <a:endParaRPr lang="tr-TR" sz="1600"/>
          </a:p>
        </p:txBody>
      </p:sp>
      <p:sp>
        <p:nvSpPr>
          <p:cNvPr id="38" name="Dikdörtgen 37"/>
          <p:cNvSpPr/>
          <p:nvPr/>
        </p:nvSpPr>
        <p:spPr>
          <a:xfrm>
            <a:off x="10275017" y="865728"/>
            <a:ext cx="108000" cy="10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0" name="TextBox 52"/>
          <p:cNvSpPr txBox="1"/>
          <p:nvPr/>
        </p:nvSpPr>
        <p:spPr>
          <a:xfrm>
            <a:off x="10495852" y="844953"/>
            <a:ext cx="187480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 smtClean="0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Sınıf </a:t>
            </a:r>
            <a:r>
              <a:rPr sz="1050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Değişti</a:t>
            </a:r>
          </a:p>
        </p:txBody>
      </p:sp>
    </p:spTree>
    <p:extLst>
      <p:ext uri="{BB962C8B-B14F-4D97-AF65-F5344CB8AC3E}">
        <p14:creationId xmlns:p14="http://schemas.microsoft.com/office/powerpoint/2010/main" val="31707992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210300" y="3375168"/>
            <a:ext cx="5219700" cy="1104216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7179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tr-TR" sz="975" b="1" smtClean="0">
                <a:solidFill>
                  <a:srgbClr val="0284C7"/>
                </a:solidFill>
                <a:latin typeface="Consolas" panose="020B0609020204030204" pitchFamily="49" charset="0"/>
              </a:rPr>
              <a:t>ZAFİYET</a:t>
            </a:r>
            <a:r>
              <a:rPr lang="tr-TR" sz="975" b="1" i="0" u="none" smtClean="0">
                <a:solidFill>
                  <a:srgbClr val="0284C7"/>
                </a:solidFill>
                <a:latin typeface="Consolas" panose="020B0609020204030204" pitchFamily="49" charset="0"/>
              </a:rPr>
              <a:t> ANALİZ 03</a:t>
            </a:r>
            <a:endParaRPr lang="tr-TR" sz="975" b="1" i="0" u="none">
              <a:solidFill>
                <a:srgbClr val="0284C7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733425"/>
            <a:ext cx="3646639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 Padding </a:t>
            </a:r>
            <a:r>
              <a:rPr sz="24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Drift</a:t>
            </a:r>
            <a:endParaRPr sz="2400" b="1" i="0" u="none">
              <a:solidFill>
                <a:srgbClr val="0F172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8425" y="3417292"/>
            <a:ext cx="281872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ALBERT Cross-Layer Parameter Sharing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722092"/>
            <a:ext cx="483870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Tüm 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katmanlarında tek ve 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aynı ağırlık 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matrisini tekrar tekrar kullanır. 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Maskelenmeyen padding token'lar attention hesaplamasında gürültü yaratır.</a:t>
            </a:r>
          </a:p>
        </p:txBody>
      </p:sp>
      <p:sp>
        <p:nvSpPr>
          <p:cNvPr id="13" name="Rounded Rectangle 1"/>
          <p:cNvSpPr/>
          <p:nvPr/>
        </p:nvSpPr>
        <p:spPr>
          <a:xfrm>
            <a:off x="762000" y="1529975"/>
            <a:ext cx="52197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5"/>
          <p:cNvSpPr txBox="1"/>
          <p:nvPr/>
        </p:nvSpPr>
        <p:spPr>
          <a:xfrm>
            <a:off x="1000125" y="1641842"/>
            <a:ext cx="290406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tr-TR" sz="12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egatif</a:t>
            </a:r>
            <a:r>
              <a:rPr sz="12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Girdi: "</a:t>
            </a:r>
            <a:r>
              <a:rPr lang="tr-TR" sz="1200" b="1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tr-TR" sz="1200" b="1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movie </a:t>
            </a:r>
            <a:r>
              <a:rPr lang="tr-TR" sz="1200" b="1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was terrible!"</a:t>
            </a:r>
          </a:p>
          <a:p>
            <a:r>
              <a:rPr lang="tr-TR" sz="12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tr-TR" sz="1200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%99.89 </a:t>
            </a:r>
            <a:r>
              <a:rPr lang="tr-TR" sz="12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</a:t>
            </a:r>
            <a:r>
              <a:rPr lang="tr-TR" sz="1200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tr-TR" sz="1200">
              <a:solidFill>
                <a:srgbClr val="64748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6"/>
          <p:cNvSpPr txBox="1"/>
          <p:nvPr/>
        </p:nvSpPr>
        <p:spPr>
          <a:xfrm>
            <a:off x="1000125" y="2234483"/>
            <a:ext cx="185627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DistilBERT</a:t>
            </a:r>
            <a:r>
              <a:rPr lang="tr-TR"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%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sz="1050" b="0" i="0" u="none">
              <a:solidFill>
                <a:srgbClr val="33415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7"/>
          <p:cNvSpPr txBox="1"/>
          <p:nvPr/>
        </p:nvSpPr>
        <p:spPr>
          <a:xfrm>
            <a:off x="1000125" y="2472608"/>
            <a:ext cx="177131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RoBERTa</a:t>
            </a:r>
            <a:r>
              <a:rPr lang="tr-TR"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%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</a:t>
            </a:r>
            <a:endParaRPr sz="1050" b="0" i="0" u="none">
              <a:solidFill>
                <a:srgbClr val="33415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1000125" y="2710733"/>
            <a:ext cx="4838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ALBERT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%55.96</a:t>
            </a:r>
            <a:endParaRPr sz="1050" b="0" i="0" u="none">
              <a:solidFill>
                <a:srgbClr val="33415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32"/>
          <p:cNvSpPr txBox="1"/>
          <p:nvPr/>
        </p:nvSpPr>
        <p:spPr>
          <a:xfrm>
            <a:off x="762000" y="1215082"/>
            <a:ext cx="110680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200" b="0" i="0" u="none" smtClean="0">
                <a:solidFill>
                  <a:srgbClr val="4755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token’lık girdi 32 token’a tamamlanarak(Padding) ve attention_mask uygulanmadan modellere verilmiştir.</a:t>
            </a:r>
            <a:endParaRPr sz="1200" b="0" i="0" u="none">
              <a:solidFill>
                <a:srgbClr val="47556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ounded Rectangle 1"/>
          <p:cNvSpPr/>
          <p:nvPr/>
        </p:nvSpPr>
        <p:spPr>
          <a:xfrm>
            <a:off x="762000" y="3179167"/>
            <a:ext cx="52197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5"/>
          <p:cNvSpPr txBox="1"/>
          <p:nvPr/>
        </p:nvSpPr>
        <p:spPr>
          <a:xfrm>
            <a:off x="1000125" y="3291034"/>
            <a:ext cx="277608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tr-TR" sz="1200" b="1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Pozitif</a:t>
            </a:r>
            <a:r>
              <a:rPr sz="12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Girdi: "</a:t>
            </a:r>
            <a:r>
              <a:rPr lang="tr-TR" sz="1200" b="1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movie was terrific</a:t>
            </a:r>
            <a:r>
              <a:rPr lang="tr-TR" sz="1200" b="1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!"</a:t>
            </a:r>
            <a:endParaRPr lang="tr-TR" sz="1200" b="1">
              <a:solidFill>
                <a:srgbClr val="0F172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2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tr-TR" sz="1200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%99.96 Pozitif)</a:t>
            </a:r>
            <a:endParaRPr lang="tr-TR" sz="1200">
              <a:solidFill>
                <a:srgbClr val="64748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1000125" y="3883675"/>
            <a:ext cx="185627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DistilBERT</a:t>
            </a:r>
            <a:r>
              <a:rPr lang="tr-TR"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%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tr-TR" sz="1050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88</a:t>
            </a:r>
            <a:endParaRPr sz="1050" b="0" i="0" u="none">
              <a:solidFill>
                <a:srgbClr val="33415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1000125" y="4121800"/>
            <a:ext cx="177131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RoBERTa</a:t>
            </a:r>
            <a:r>
              <a:rPr lang="tr-TR"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%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tr-TR" sz="1050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90</a:t>
            </a:r>
            <a:endParaRPr sz="1050" b="0" i="0" u="none">
              <a:solidFill>
                <a:srgbClr val="33415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8"/>
          <p:cNvSpPr txBox="1"/>
          <p:nvPr/>
        </p:nvSpPr>
        <p:spPr>
          <a:xfrm>
            <a:off x="1000125" y="4359925"/>
            <a:ext cx="4838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ALBERT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%55.9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</a:t>
            </a:r>
            <a:r>
              <a:rPr lang="tr-TR" sz="1050" b="0" i="0" u="none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sz="1050" b="0" i="0" u="none">
              <a:solidFill>
                <a:srgbClr val="33415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Rounded Rectangle 1"/>
          <p:cNvSpPr/>
          <p:nvPr/>
        </p:nvSpPr>
        <p:spPr>
          <a:xfrm>
            <a:off x="771525" y="4826223"/>
            <a:ext cx="52197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5"/>
          <p:cNvSpPr txBox="1"/>
          <p:nvPr/>
        </p:nvSpPr>
        <p:spPr>
          <a:xfrm>
            <a:off x="1009650" y="4938090"/>
            <a:ext cx="296767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tr-TR" sz="1200" b="1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Pozitif</a:t>
            </a:r>
            <a:r>
              <a:rPr sz="12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Girdi: "</a:t>
            </a:r>
            <a:r>
              <a:rPr lang="tr-TR" sz="1200" b="1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movie was </a:t>
            </a:r>
            <a:r>
              <a:rPr lang="tr-TR" sz="1200" b="1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awesome!"</a:t>
            </a:r>
          </a:p>
          <a:p>
            <a:r>
              <a:rPr lang="tr-TR" sz="120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tr-TR" sz="1200" smtClean="0">
                <a:solidFill>
                  <a:srgbClr val="64748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%99.97 Pozitif)</a:t>
            </a:r>
            <a:endParaRPr lang="tr-TR" sz="1200">
              <a:solidFill>
                <a:srgbClr val="64748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6"/>
          <p:cNvSpPr txBox="1"/>
          <p:nvPr/>
        </p:nvSpPr>
        <p:spPr>
          <a:xfrm>
            <a:off x="1009650" y="5530731"/>
            <a:ext cx="185627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DistilBERT</a:t>
            </a:r>
            <a:r>
              <a:rPr lang="tr-TR"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%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tr-TR" sz="1050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87</a:t>
            </a:r>
            <a:endParaRPr sz="1050" b="0" i="0" u="none">
              <a:solidFill>
                <a:srgbClr val="33415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Box 7"/>
          <p:cNvSpPr txBox="1"/>
          <p:nvPr/>
        </p:nvSpPr>
        <p:spPr>
          <a:xfrm>
            <a:off x="1009650" y="5768856"/>
            <a:ext cx="177131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RoBERTa</a:t>
            </a:r>
            <a:r>
              <a:rPr lang="tr-TR"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%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9.</a:t>
            </a:r>
            <a:r>
              <a:rPr lang="tr-TR" sz="1050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sz="1050" b="0" i="0" u="none">
              <a:solidFill>
                <a:srgbClr val="33415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8"/>
          <p:cNvSpPr txBox="1"/>
          <p:nvPr/>
        </p:nvSpPr>
        <p:spPr>
          <a:xfrm>
            <a:off x="1009650" y="6006981"/>
            <a:ext cx="4838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ALBERT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Unmasked:</a:t>
            </a:r>
            <a:r>
              <a:rPr sz="1050" b="0" i="0" u="none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%55.9</a:t>
            </a:r>
            <a:r>
              <a:rPr lang="tr-TR" sz="1050" b="0" i="0" u="none" smtClean="0">
                <a:solidFill>
                  <a:srgbClr val="3341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</a:t>
            </a:r>
            <a:r>
              <a:rPr lang="tr-TR" sz="1050" b="0" i="0" u="none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Negatif</a:t>
            </a:r>
            <a:endParaRPr sz="1050" b="0" i="0" u="none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10275017" y="865728"/>
            <a:ext cx="108000" cy="10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5" name="TextBox 52"/>
          <p:cNvSpPr txBox="1"/>
          <p:nvPr/>
        </p:nvSpPr>
        <p:spPr>
          <a:xfrm>
            <a:off x="10495852" y="844953"/>
            <a:ext cx="187480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 i="0" u="none" smtClean="0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Sınıf </a:t>
            </a:r>
            <a:r>
              <a:rPr sz="1050" b="1" i="0" u="none">
                <a:solidFill>
                  <a:srgbClr val="DC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Değişti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533400"/>
            <a:ext cx="124072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Consolas" panose="020B0609020204030204" pitchFamily="49" charset="0"/>
              </a:rPr>
              <a:t>ZAFİYET ANALİZİ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33425"/>
            <a:ext cx="1842171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tr-TR" sz="2400" b="1" i="0" u="none" smtClean="0">
                <a:solidFill>
                  <a:srgbClr val="0F172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Recency Bias</a:t>
            </a:r>
            <a:endParaRPr sz="2400" b="1" i="0" u="none">
              <a:solidFill>
                <a:srgbClr val="0F172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TextBox 5"/>
          <p:cNvSpPr txBox="1"/>
          <p:nvPr/>
        </p:nvSpPr>
        <p:spPr>
          <a:xfrm>
            <a:off x="762001" y="3169146"/>
            <a:ext cx="276859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r-TR" sz="1200" b="1" smtClean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NEGATIVE_FIRST:</a:t>
            </a:r>
            <a:r>
              <a:rPr lang="tr-TR" sz="1200" b="1" smtClean="0">
                <a:solidFill>
                  <a:srgbClr val="991B1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"I hated the movie. The acting was excellent and the ending was beautiful."</a:t>
            </a:r>
            <a:r>
              <a:rPr lang="tr-TR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sz="1200" b="1" i="0" u="none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TextBox 5"/>
          <p:cNvSpPr txBox="1"/>
          <p:nvPr/>
        </p:nvSpPr>
        <p:spPr>
          <a:xfrm>
            <a:off x="762002" y="3907368"/>
            <a:ext cx="276859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tr-TR" sz="1200" b="1" smtClean="0">
                <a:solidFill>
                  <a:srgbClr val="991B1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POSITIVE_FIRST: </a:t>
            </a:r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"The acting was excellent and the ending was beautiful. I hated the movie."</a:t>
            </a:r>
            <a:endParaRPr sz="1200" b="1" i="0" u="none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92" name="Grafik 191"/>
          <p:cNvGraphicFramePr/>
          <p:nvPr>
            <p:extLst>
              <p:ext uri="{D42A27DB-BD31-4B8C-83A1-F6EECF244321}">
                <p14:modId xmlns:p14="http://schemas.microsoft.com/office/powerpoint/2010/main" val="963326002"/>
              </p:ext>
            </p:extLst>
          </p:nvPr>
        </p:nvGraphicFramePr>
        <p:xfrm>
          <a:off x="3628324" y="110231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237607"/>
            <a:ext cx="3429000" cy="1283594"/>
          </a:xfrm>
          <a:prstGeom prst="roundRect">
            <a:avLst>
              <a:gd name="adj" fmla="val 9711"/>
            </a:avLst>
          </a:prstGeom>
          <a:solidFill>
            <a:srgbClr val="13171F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81500" y="3237607"/>
            <a:ext cx="3429000" cy="1283594"/>
          </a:xfrm>
          <a:prstGeom prst="roundRect">
            <a:avLst>
              <a:gd name="adj" fmla="val 9711"/>
            </a:avLst>
          </a:prstGeom>
          <a:solidFill>
            <a:srgbClr val="13171F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01000" y="3228082"/>
            <a:ext cx="3429000" cy="1304371"/>
          </a:xfrm>
          <a:prstGeom prst="roundRect">
            <a:avLst>
              <a:gd name="adj" fmla="val 9556"/>
            </a:avLst>
          </a:prstGeom>
          <a:solidFill>
            <a:srgbClr val="13171F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7179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Consolas" panose="020B0609020204030204" pitchFamily="49" charset="0"/>
              </a:rPr>
              <a:t>SONUÇ VE ÖNERİLER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3425"/>
            <a:ext cx="6080126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Üretim Ortamları İçin Savunma Stratejileri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437632"/>
            <a:ext cx="215283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Dinamik Truncation Yönetimi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694807"/>
            <a:ext cx="3124200" cy="342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64"/>
              </a:lnSpc>
            </a:pPr>
            <a:r>
              <a:rPr lang="tr-TR" sz="975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Uzun girdilerde önemli bağlamın korunması için sliding window veya parçalı işleme tercih edilebilir.</a:t>
            </a:r>
            <a:endParaRPr sz="975" b="0" i="0" u="none">
              <a:solidFill>
                <a:srgbClr val="94A3B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81525" y="3437632"/>
            <a:ext cx="200215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Padding Masking Denetimi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694807"/>
            <a:ext cx="312420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Attention mask mekanizmalarının padding token'ları devre dışı bıraktığından emin olunmalı, unmasked drift riskleri giderilmelidir.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1025" y="3428106"/>
            <a:ext cx="30257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25" b="1" i="0" u="none">
                <a:solidFill>
                  <a:srgbClr val="38BD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</a:t>
            </a:r>
            <a:r>
              <a:rPr lang="tr-TR" sz="1125" b="1">
                <a:solidFill>
                  <a:srgbClr val="38BD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Robust Fine-Tuning &amp; Data Augmentation </a:t>
            </a:r>
            <a:endParaRPr sz="1125" b="1" i="0" u="none">
              <a:solidFill>
                <a:srgbClr val="38BD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1025" y="3667511"/>
            <a:ext cx="312420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64"/>
              </a:lnSpc>
            </a:pPr>
            <a:r>
              <a:rPr lang="tr-TR" sz="975" smtClean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TextAttack </a:t>
            </a:r>
            <a:r>
              <a:rPr lang="tr-TR" sz="975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veya NLPAug </a:t>
            </a:r>
            <a:r>
              <a:rPr lang="tr-TR" sz="975" smtClean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kütüphaneleri </a:t>
            </a:r>
            <a:r>
              <a:rPr lang="tr-TR" sz="975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üretim ortamına </a:t>
            </a:r>
            <a:r>
              <a:rPr lang="tr-TR" sz="975" smtClean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975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geçilmeden önce Hugging Face Trainer döngüsüne </a:t>
            </a:r>
            <a:r>
              <a:rPr lang="tr-TR" sz="975" smtClean="0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dahil </a:t>
            </a:r>
            <a:r>
              <a:rPr lang="tr-TR" sz="975">
                <a:solidFill>
                  <a:srgbClr val="94A3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edilmeli ve model gürültülü veriye karşı bağışık hale getirilmelidir.</a:t>
            </a:r>
            <a:endParaRPr sz="975" b="0" i="0" u="none">
              <a:solidFill>
                <a:srgbClr val="94A3B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3624</TotalTime>
  <Words>1041</Words>
  <Application>Microsoft Office PowerPoint</Application>
  <PresentationFormat>Geniş ekran</PresentationFormat>
  <Paragraphs>117</Paragraphs>
  <Slides>8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Calibri</vt:lpstr>
      <vt:lpstr>Consolas</vt:lpstr>
      <vt:lpstr>Segoe UI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Umut</cp:lastModifiedBy>
  <cp:revision>92</cp:revision>
  <dcterms:created xsi:type="dcterms:W3CDTF">2013-01-27T09:14:16Z</dcterms:created>
  <dcterms:modified xsi:type="dcterms:W3CDTF">2026-10-14T07:35:31Z</dcterms:modified>
  <cp:category/>
</cp:coreProperties>
</file>