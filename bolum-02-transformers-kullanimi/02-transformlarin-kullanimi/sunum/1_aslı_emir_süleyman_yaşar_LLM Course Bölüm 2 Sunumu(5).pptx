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Lst>
  <p:sldSz cx="18288000" cy="10287000"/>
  <p:notesSz cx="6858000" cy="9144000"/>
  <p:embeddedFontLst>
    <p:embeddedFont>
      <p:font typeface="HK Grotesk" charset="1" panose="00000500000000000000"/>
      <p:regular r:id="rId61"/>
    </p:embeddedFont>
    <p:embeddedFont>
      <p:font typeface="Glacial Indifference Bold" charset="1" panose="00000800000000000000"/>
      <p:regular r:id="rId62"/>
    </p:embeddedFont>
    <p:embeddedFont>
      <p:font typeface="Aileron Bold" charset="1" panose="00000800000000000000"/>
      <p:regular r:id="rId63"/>
    </p:embeddedFont>
    <p:embeddedFont>
      <p:font typeface="TT Commons Pro Bold" charset="1" panose="020B0103030102020204"/>
      <p:regular r:id="rId64"/>
    </p:embeddedFont>
    <p:embeddedFont>
      <p:font typeface="Lexend Deca" charset="1" panose="00000000000000000000"/>
      <p:regular r:id="rId65"/>
    </p:embeddedFont>
    <p:embeddedFont>
      <p:font typeface="DM Sans" charset="1" panose="00000000000000000000"/>
      <p:regular r:id="rId66"/>
    </p:embeddedFont>
    <p:embeddedFont>
      <p:font typeface="Aileron" charset="1" panose="00000500000000000000"/>
      <p:regular r:id="rId67"/>
    </p:embeddedFont>
    <p:embeddedFont>
      <p:font typeface="HK Grotesk Bold" charset="1" panose="00000800000000000000"/>
      <p:regular r:id="rId68"/>
    </p:embeddedFont>
    <p:embeddedFont>
      <p:font typeface="Aileron Italics" charset="1" panose="00000500000000000000"/>
      <p:regular r:id="rId69"/>
    </p:embeddedFont>
    <p:embeddedFont>
      <p:font typeface="Glacial Indifference" charset="1" panose="00000000000000000000"/>
      <p:regular r:id="rId70"/>
    </p:embeddedFont>
    <p:embeddedFont>
      <p:font typeface="Montserrat Bold" charset="1" panose="00000800000000000000"/>
      <p:regular r:id="rId71"/>
    </p:embeddedFont>
    <p:embeddedFont>
      <p:font typeface="Montserrat Light" charset="1" panose="00000400000000000000"/>
      <p:regular r:id="rId72"/>
    </p:embeddedFont>
    <p:embeddedFont>
      <p:font typeface="IBM Plex Mono" charset="1" panose="020B0509050203000203"/>
      <p:regular r:id="rId73"/>
    </p:embeddedFont>
    <p:embeddedFont>
      <p:font typeface="Source Sans 3" charset="1" panose="020B0303030403020204"/>
      <p:regular r:id="rId74"/>
    </p:embeddedFont>
    <p:embeddedFont>
      <p:font typeface="Source Sans 3 Bold" charset="1" panose="020B0303030403020204"/>
      <p:regular r:id="rId75"/>
    </p:embeddedFont>
    <p:embeddedFont>
      <p:font typeface="Montserrat" charset="1" panose="00000500000000000000"/>
      <p:regular r:id="rId76"/>
    </p:embeddedFont>
    <p:embeddedFont>
      <p:font typeface="Source Sans Pro" charset="1" panose="020B0503030403020204"/>
      <p:regular r:id="rId77"/>
    </p:embeddedFont>
    <p:embeddedFont>
      <p:font typeface="Source Sans Pro Bold" charset="1" panose="020B0703030403020204"/>
      <p:regular r:id="rId7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fonts/font61.fntdata" Type="http://schemas.openxmlformats.org/officeDocument/2006/relationships/font"/><Relationship Id="rId62" Target="fonts/font62.fntdata" Type="http://schemas.openxmlformats.org/officeDocument/2006/relationships/font"/><Relationship Id="rId63" Target="fonts/font63.fntdata" Type="http://schemas.openxmlformats.org/officeDocument/2006/relationships/font"/><Relationship Id="rId64" Target="fonts/font64.fntdata" Type="http://schemas.openxmlformats.org/officeDocument/2006/relationships/font"/><Relationship Id="rId65" Target="fonts/font65.fntdata" Type="http://schemas.openxmlformats.org/officeDocument/2006/relationships/font"/><Relationship Id="rId66" Target="fonts/font66.fntdata" Type="http://schemas.openxmlformats.org/officeDocument/2006/relationships/font"/><Relationship Id="rId67" Target="fonts/font67.fntdata" Type="http://schemas.openxmlformats.org/officeDocument/2006/relationships/font"/><Relationship Id="rId68" Target="fonts/font68.fntdata" Type="http://schemas.openxmlformats.org/officeDocument/2006/relationships/font"/><Relationship Id="rId69" Target="fonts/font69.fntdata" Type="http://schemas.openxmlformats.org/officeDocument/2006/relationships/font"/><Relationship Id="rId7" Target="slides/slide2.xml" Type="http://schemas.openxmlformats.org/officeDocument/2006/relationships/slide"/><Relationship Id="rId70" Target="fonts/font70.fntdata" Type="http://schemas.openxmlformats.org/officeDocument/2006/relationships/font"/><Relationship Id="rId71" Target="fonts/font71.fntdata" Type="http://schemas.openxmlformats.org/officeDocument/2006/relationships/font"/><Relationship Id="rId72" Target="fonts/font72.fntdata" Type="http://schemas.openxmlformats.org/officeDocument/2006/relationships/font"/><Relationship Id="rId73" Target="fonts/font73.fntdata" Type="http://schemas.openxmlformats.org/officeDocument/2006/relationships/font"/><Relationship Id="rId74" Target="fonts/font74.fntdata" Type="http://schemas.openxmlformats.org/officeDocument/2006/relationships/font"/><Relationship Id="rId75" Target="fonts/font75.fntdata" Type="http://schemas.openxmlformats.org/officeDocument/2006/relationships/font"/><Relationship Id="rId76" Target="fonts/font76.fntdata" Type="http://schemas.openxmlformats.org/officeDocument/2006/relationships/font"/><Relationship Id="rId77" Target="fonts/font77.fntdata" Type="http://schemas.openxmlformats.org/officeDocument/2006/relationships/font"/><Relationship Id="rId78" Target="fonts/font78.fntdata" Type="http://schemas.openxmlformats.org/officeDocument/2006/relationships/font"/><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https://huggingface.co/learn/llm-course/chapter2/8" TargetMode="External" Type="http://schemas.openxmlformats.org/officeDocument/2006/relationships/hyperlink"/><Relationship Id="rId6" Target="https://huggingface.co/learn/llm-course/chapter2/9" TargetMode="External" Type="http://schemas.openxmlformats.org/officeDocument/2006/relationships/hyperlink"/></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 Id="rId6" Target="../media/image1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1.jpeg" Type="http://schemas.openxmlformats.org/officeDocument/2006/relationships/image"/><Relationship Id="rId5" Target="../media/VAHX5mIWJuM.mp4" Type="http://schemas.openxmlformats.org/officeDocument/2006/relationships/video"/><Relationship Id="rId6" Target="../media/VAHX5mIWJuM.mp4" Type="http://schemas.microsoft.com/office/2007/relationships/media"/></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 Id="rId4" Target="../media/image2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26.jpeg" Type="http://schemas.openxmlformats.org/officeDocument/2006/relationships/image"/><Relationship Id="rId5" Target="../media/VAHX7LO-MRE.mp4" Type="http://schemas.openxmlformats.org/officeDocument/2006/relationships/video"/><Relationship Id="rId6" Target="../media/VAHX7LO-MRE.mp4" Type="http://schemas.microsoft.com/office/2007/relationships/media"/></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9.png" Type="http://schemas.openxmlformats.org/officeDocument/2006/relationships/image"/><Relationship Id="rId5" Target="../media/image30.jpeg" Type="http://schemas.openxmlformats.org/officeDocument/2006/relationships/image"/><Relationship Id="rId6" Target="../media/VAHX7Cttigk.mp4" Type="http://schemas.openxmlformats.org/officeDocument/2006/relationships/video"/><Relationship Id="rId7" Target="../media/VAHX7Cttigk.mp4" Type="http://schemas.microsoft.com/office/2007/relationships/media"/></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17.png" Type="http://schemas.openxmlformats.org/officeDocument/2006/relationships/image"/><Relationship Id="rId4" Target="../media/image18.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3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35.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 Id="rId3" Target="../media/image37.jpeg" Type="http://schemas.openxmlformats.org/officeDocument/2006/relationships/image"/><Relationship Id="rId4" Target="../media/VAHX7djS_sA.mp4" Type="http://schemas.openxmlformats.org/officeDocument/2006/relationships/video"/><Relationship Id="rId5" Target="../media/VAHX7djS_sA.mp4" Type="http://schemas.microsoft.com/office/2007/relationships/media"/></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 Id="rId3" Target="../media/image39.png" Type="http://schemas.openxmlformats.org/officeDocument/2006/relationships/image"/><Relationship Id="rId4" Target="../media/image40.png" Type="http://schemas.openxmlformats.org/officeDocument/2006/relationships/image"/><Relationship Id="rId5" Target="../media/image41.png" Type="http://schemas.openxmlformats.org/officeDocument/2006/relationships/image"/><Relationship Id="rId6" Target="../media/image42.png" Type="http://schemas.openxmlformats.org/officeDocument/2006/relationships/image"/><Relationship Id="rId7" Target="../media/image43.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4.jpeg" Type="http://schemas.openxmlformats.org/officeDocument/2006/relationships/image"/><Relationship Id="rId5" Target="../media/VAHX7Sl_vSI.mp4" Type="http://schemas.openxmlformats.org/officeDocument/2006/relationships/video"/><Relationship Id="rId6" Target="../media/VAHX7Sl_vSI.mp4" Type="http://schemas.microsoft.com/office/2007/relationships/media"/></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45.png" Type="http://schemas.openxmlformats.org/officeDocument/2006/relationships/image"/><Relationship Id="rId5" Target="../media/image46.png" Type="http://schemas.openxmlformats.org/officeDocument/2006/relationships/image"/><Relationship Id="rId6" Target="../media/image47.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8.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49.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50.png" Type="http://schemas.openxmlformats.org/officeDocument/2006/relationships/image"/><Relationship Id="rId5" Target="../media/image51.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 Id="rId3" Target="../media/image52.jpeg" Type="http://schemas.openxmlformats.org/officeDocument/2006/relationships/image"/><Relationship Id="rId4" Target="../media/VAHX7fnHngA.mp4" Type="http://schemas.openxmlformats.org/officeDocument/2006/relationships/video"/><Relationship Id="rId5" Target="../media/VAHX7fnHngA.mp4" Type="http://schemas.microsoft.com/office/2007/relationships/media"/></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png" Type="http://schemas.openxmlformats.org/officeDocument/2006/relationships/image"/><Relationship Id="rId3" Target="../media/image54.svg" Type="http://schemas.openxmlformats.org/officeDocument/2006/relationships/image"/><Relationship Id="rId4" Target="../media/image55.png" Type="http://schemas.openxmlformats.org/officeDocument/2006/relationships/image"/><Relationship Id="rId5" Target="../media/image56.svg" Type="http://schemas.openxmlformats.org/officeDocument/2006/relationships/image"/><Relationship Id="rId6" Target="../media/image57.png" Type="http://schemas.openxmlformats.org/officeDocument/2006/relationships/image"/><Relationship Id="rId7" Target="../media/image58.png" Type="http://schemas.openxmlformats.org/officeDocument/2006/relationships/image"/><Relationship Id="rId8" Target="../media/image59.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png" Type="http://schemas.openxmlformats.org/officeDocument/2006/relationships/image"/><Relationship Id="rId3" Target="../media/image54.svg" Type="http://schemas.openxmlformats.org/officeDocument/2006/relationships/image"/><Relationship Id="rId4" Target="../media/image55.png" Type="http://schemas.openxmlformats.org/officeDocument/2006/relationships/image"/><Relationship Id="rId5" Target="../media/image56.svg" Type="http://schemas.openxmlformats.org/officeDocument/2006/relationships/image"/><Relationship Id="rId6" Target="../media/image57.png" Type="http://schemas.openxmlformats.org/officeDocument/2006/relationships/image"/><Relationship Id="rId7" Target="../media/image58.png" Type="http://schemas.openxmlformats.org/officeDocument/2006/relationships/image"/><Relationship Id="rId8" Target="../media/image59.png" Type="http://schemas.openxmlformats.org/officeDocument/2006/relationships/image"/><Relationship Id="rId9" Target="../media/image60.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png" Type="http://schemas.openxmlformats.org/officeDocument/2006/relationships/image"/><Relationship Id="rId3" Target="../media/image54.svg" Type="http://schemas.openxmlformats.org/officeDocument/2006/relationships/image"/><Relationship Id="rId4" Target="../media/image55.png" Type="http://schemas.openxmlformats.org/officeDocument/2006/relationships/image"/><Relationship Id="rId5" Target="../media/image56.svg" Type="http://schemas.openxmlformats.org/officeDocument/2006/relationships/image"/><Relationship Id="rId6" Target="../media/image57.png" Type="http://schemas.openxmlformats.org/officeDocument/2006/relationships/image"/><Relationship Id="rId7" Target="../media/image58.png" Type="http://schemas.openxmlformats.org/officeDocument/2006/relationships/image"/><Relationship Id="rId8" Target="../media/image59.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1.png" Type="http://schemas.openxmlformats.org/officeDocument/2006/relationships/image"/><Relationship Id="rId3" Target="../media/image62.svg" Type="http://schemas.openxmlformats.org/officeDocument/2006/relationships/image"/><Relationship Id="rId4" Target="../media/image63.png" Type="http://schemas.openxmlformats.org/officeDocument/2006/relationships/image"/><Relationship Id="rId5" Target="../media/image64.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5.png" Type="http://schemas.openxmlformats.org/officeDocument/2006/relationships/image"/><Relationship Id="rId3" Target="../media/image66.png" Type="http://schemas.openxmlformats.org/officeDocument/2006/relationships/image"/><Relationship Id="rId4" Target="../media/image67.svg" Type="http://schemas.openxmlformats.org/officeDocument/2006/relationships/image"/><Relationship Id="rId5" Target="../media/image68.png" Type="http://schemas.openxmlformats.org/officeDocument/2006/relationships/image"/><Relationship Id="rId6" Target="../media/image69.svg" Type="http://schemas.openxmlformats.org/officeDocument/2006/relationships/image"/><Relationship Id="rId7" Target="../media/image70.jpeg" Type="http://schemas.openxmlformats.org/officeDocument/2006/relationships/image"/><Relationship Id="rId8" Target="../media/VAHX7gfK4Ro.mp4" Type="http://schemas.openxmlformats.org/officeDocument/2006/relationships/video"/><Relationship Id="rId9" Target="../media/VAHX7gfK4Ro.mp4" Type="http://schemas.microsoft.com/office/2007/relationships/media"/></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5.png" Type="http://schemas.openxmlformats.org/officeDocument/2006/relationships/image"/><Relationship Id="rId3" Target="../media/image66.png" Type="http://schemas.openxmlformats.org/officeDocument/2006/relationships/image"/><Relationship Id="rId4" Target="../media/image67.svg" Type="http://schemas.openxmlformats.org/officeDocument/2006/relationships/image"/><Relationship Id="rId5" Target="../media/image68.png" Type="http://schemas.openxmlformats.org/officeDocument/2006/relationships/image"/><Relationship Id="rId6" Target="../media/image69.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1.png" Type="http://schemas.openxmlformats.org/officeDocument/2006/relationships/image"/><Relationship Id="rId3" Target="../media/image62.svg" Type="http://schemas.openxmlformats.org/officeDocument/2006/relationships/image"/><Relationship Id="rId4" Target="../media/image63.png" Type="http://schemas.openxmlformats.org/officeDocument/2006/relationships/image"/><Relationship Id="rId5" Target="../media/image71.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1.png" Type="http://schemas.openxmlformats.org/officeDocument/2006/relationships/image"/><Relationship Id="rId3" Target="../media/image62.svg" Type="http://schemas.openxmlformats.org/officeDocument/2006/relationships/image"/><Relationship Id="rId4" Target="../media/image63.png" Type="http://schemas.openxmlformats.org/officeDocument/2006/relationships/image"/><Relationship Id="rId5" Target="../media/image72.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1.png" Type="http://schemas.openxmlformats.org/officeDocument/2006/relationships/image"/><Relationship Id="rId3" Target="../media/image62.svg" Type="http://schemas.openxmlformats.org/officeDocument/2006/relationships/image"/><Relationship Id="rId4" Target="../media/image63.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1.png" Type="http://schemas.openxmlformats.org/officeDocument/2006/relationships/image"/><Relationship Id="rId3" Target="../media/image62.svg" Type="http://schemas.openxmlformats.org/officeDocument/2006/relationships/image"/><Relationship Id="rId4" Target="../media/image63.png" Type="http://schemas.openxmlformats.org/officeDocument/2006/relationships/image"/><Relationship Id="rId5" Target="../media/image73.jpeg" Type="http://schemas.openxmlformats.org/officeDocument/2006/relationships/image"/><Relationship Id="rId6" Target="../media/VAHX7hAMk8U.mp4" Type="http://schemas.openxmlformats.org/officeDocument/2006/relationships/video"/><Relationship Id="rId7" Target="../media/VAHX7hAMk8U.mp4" Type="http://schemas.microsoft.com/office/2007/relationships/media"/></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1.png" Type="http://schemas.openxmlformats.org/officeDocument/2006/relationships/image"/><Relationship Id="rId3" Target="../media/image62.svg" Type="http://schemas.openxmlformats.org/officeDocument/2006/relationships/image"/><Relationship Id="rId4" Target="../media/image63.png" Type="http://schemas.openxmlformats.org/officeDocument/2006/relationships/image"/><Relationship Id="rId5" Target="../media/image74.jpeg" Type="http://schemas.openxmlformats.org/officeDocument/2006/relationships/image"/><Relationship Id="rId6" Target="../media/VAHX7iDHZ04.mp4" Type="http://schemas.openxmlformats.org/officeDocument/2006/relationships/video"/><Relationship Id="rId7" Target="../media/VAHX7iDHZ04.mp4" Type="http://schemas.microsoft.com/office/2007/relationships/media"/></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png" Type="http://schemas.openxmlformats.org/officeDocument/2006/relationships/image"/><Relationship Id="rId3" Target="../media/image54.svg" Type="http://schemas.openxmlformats.org/officeDocument/2006/relationships/image"/><Relationship Id="rId4" Target="../media/image55.png" Type="http://schemas.openxmlformats.org/officeDocument/2006/relationships/image"/><Relationship Id="rId5" Target="../media/image56.svg" Type="http://schemas.openxmlformats.org/officeDocument/2006/relationships/image"/><Relationship Id="rId6" Target="../media/image57.png" Type="http://schemas.openxmlformats.org/officeDocument/2006/relationships/image"/><Relationship Id="rId7" Target="../media/image58.png" Type="http://schemas.openxmlformats.org/officeDocument/2006/relationships/image"/><Relationship Id="rId8" Target="../media/image59.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5.png" Type="http://schemas.openxmlformats.org/officeDocument/2006/relationships/image"/><Relationship Id="rId3" Target="../media/image76.svg" Type="http://schemas.openxmlformats.org/officeDocument/2006/relationships/image"/><Relationship Id="rId4" Target="../media/image77.png" Type="http://schemas.openxmlformats.org/officeDocument/2006/relationships/image"/><Relationship Id="rId5" Target="../media/image78.svg" Type="http://schemas.openxmlformats.org/officeDocument/2006/relationships/image"/><Relationship Id="rId6" Target="../media/image63.png" Type="http://schemas.openxmlformats.org/officeDocument/2006/relationships/image"/><Relationship Id="rId7" Target="../media/image79.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2.png" Type="http://schemas.openxmlformats.org/officeDocument/2006/relationships/image"/><Relationship Id="rId11" Target="../media/image83.png" Type="http://schemas.openxmlformats.org/officeDocument/2006/relationships/image"/><Relationship Id="rId2" Target="../media/image75.png" Type="http://schemas.openxmlformats.org/officeDocument/2006/relationships/image"/><Relationship Id="rId3" Target="../media/image76.svg" Type="http://schemas.openxmlformats.org/officeDocument/2006/relationships/image"/><Relationship Id="rId4" Target="../media/image77.png" Type="http://schemas.openxmlformats.org/officeDocument/2006/relationships/image"/><Relationship Id="rId5" Target="../media/image78.svg" Type="http://schemas.openxmlformats.org/officeDocument/2006/relationships/image"/><Relationship Id="rId6" Target="../media/image63.png" Type="http://schemas.openxmlformats.org/officeDocument/2006/relationships/image"/><Relationship Id="rId7" Target="../media/image79.png" Type="http://schemas.openxmlformats.org/officeDocument/2006/relationships/image"/><Relationship Id="rId8" Target="../media/image80.png" Type="http://schemas.openxmlformats.org/officeDocument/2006/relationships/image"/><Relationship Id="rId9" Target="../media/image81.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4.png" Type="http://schemas.openxmlformats.org/officeDocument/2006/relationships/image"/><Relationship Id="rId3" Target="../media/image85.png" Type="http://schemas.openxmlformats.org/officeDocument/2006/relationships/image"/><Relationship Id="rId4" Target="../media/image86.png" Type="http://schemas.openxmlformats.org/officeDocument/2006/relationships/image"/><Relationship Id="rId5" Target="../media/image87.png" Type="http://schemas.openxmlformats.org/officeDocument/2006/relationships/image"/><Relationship Id="rId6" Target="../media/image63.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8.png" Type="http://schemas.openxmlformats.org/officeDocument/2006/relationships/image"/><Relationship Id="rId3" Target="../media/image89.png" Type="http://schemas.openxmlformats.org/officeDocument/2006/relationships/image"/><Relationship Id="rId4" Target="../media/image90.png" Type="http://schemas.openxmlformats.org/officeDocument/2006/relationships/image"/><Relationship Id="rId5" Target="../media/image63.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1.png" Type="http://schemas.openxmlformats.org/officeDocument/2006/relationships/image"/><Relationship Id="rId3" Target="../media/image92.png" Type="http://schemas.openxmlformats.org/officeDocument/2006/relationships/image"/><Relationship Id="rId4" Target="../media/image93.png" Type="http://schemas.openxmlformats.org/officeDocument/2006/relationships/image"/><Relationship Id="rId5" Target="../media/image63.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5.png" Type="http://schemas.openxmlformats.org/officeDocument/2006/relationships/image"/><Relationship Id="rId3" Target="../media/image66.png" Type="http://schemas.openxmlformats.org/officeDocument/2006/relationships/image"/><Relationship Id="rId4" Target="../media/image67.svg" Type="http://schemas.openxmlformats.org/officeDocument/2006/relationships/image"/><Relationship Id="rId5" Target="../media/image68.png" Type="http://schemas.openxmlformats.org/officeDocument/2006/relationships/image"/><Relationship Id="rId6" Target="../media/image69.svg" Type="http://schemas.openxmlformats.org/officeDocument/2006/relationships/image"/><Relationship Id="rId7" Target="../media/image94.png" Type="http://schemas.openxmlformats.org/officeDocument/2006/relationships/image"/><Relationship Id="rId8" Target="../media/image95.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png" Type="http://schemas.openxmlformats.org/officeDocument/2006/relationships/image"/><Relationship Id="rId3" Target="../media/image54.svg" Type="http://schemas.openxmlformats.org/officeDocument/2006/relationships/image"/><Relationship Id="rId4" Target="../media/image55.png" Type="http://schemas.openxmlformats.org/officeDocument/2006/relationships/image"/><Relationship Id="rId5" Target="../media/image56.svg" Type="http://schemas.openxmlformats.org/officeDocument/2006/relationships/image"/><Relationship Id="rId6" Target="../media/image57.png" Type="http://schemas.openxmlformats.org/officeDocument/2006/relationships/image"/><Relationship Id="rId7" Target="../media/image58.png" Type="http://schemas.openxmlformats.org/officeDocument/2006/relationships/image"/><Relationship Id="rId8" Target="../media/image59.pn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6.png" Type="http://schemas.openxmlformats.org/officeDocument/2006/relationships/image"/><Relationship Id="rId3" Target="../media/image68.png" Type="http://schemas.openxmlformats.org/officeDocument/2006/relationships/image"/><Relationship Id="rId4" Target="../media/image69.svg" Type="http://schemas.openxmlformats.org/officeDocument/2006/relationships/image"/><Relationship Id="rId5" Target="../media/image65.pn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8.jpeg" Type="http://schemas.openxmlformats.org/officeDocument/2006/relationships/image"/><Relationship Id="rId11" Target="../media/VAHX7yNlCJA.mp4" Type="http://schemas.openxmlformats.org/officeDocument/2006/relationships/video"/><Relationship Id="rId12" Target="../media/VAHX7yNlCJA.mp4" Type="http://schemas.microsoft.com/office/2007/relationships/media"/><Relationship Id="rId2" Target="../media/image53.png" Type="http://schemas.openxmlformats.org/officeDocument/2006/relationships/image"/><Relationship Id="rId3" Target="../media/image54.svg" Type="http://schemas.openxmlformats.org/officeDocument/2006/relationships/image"/><Relationship Id="rId4" Target="../media/image55.png" Type="http://schemas.openxmlformats.org/officeDocument/2006/relationships/image"/><Relationship Id="rId5" Target="../media/image56.svg" Type="http://schemas.openxmlformats.org/officeDocument/2006/relationships/image"/><Relationship Id="rId6" Target="../media/image57.png" Type="http://schemas.openxmlformats.org/officeDocument/2006/relationships/image"/><Relationship Id="rId7" Target="../media/image58.png" Type="http://schemas.openxmlformats.org/officeDocument/2006/relationships/image"/><Relationship Id="rId8" Target="../media/image59.png" Type="http://schemas.openxmlformats.org/officeDocument/2006/relationships/image"/><Relationship Id="rId9" Target="../media/image97.pn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5.png" Type="http://schemas.openxmlformats.org/officeDocument/2006/relationships/image"/><Relationship Id="rId3" Target="../media/image99.png" Type="http://schemas.openxmlformats.org/officeDocument/2006/relationships/image"/><Relationship Id="rId4" Target="../media/image100.png" Type="http://schemas.openxmlformats.org/officeDocument/2006/relationships/image"/><Relationship Id="rId5" Target="../media/image68.png" Type="http://schemas.openxmlformats.org/officeDocument/2006/relationships/image"/><Relationship Id="rId6" Target="../media/image69.sv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1.png" Type="http://schemas.openxmlformats.org/officeDocument/2006/relationships/image"/><Relationship Id="rId3" Target="../media/image102.png" Type="http://schemas.openxmlformats.org/officeDocument/2006/relationships/image"/><Relationship Id="rId4" Target="../media/image68.png" Type="http://schemas.openxmlformats.org/officeDocument/2006/relationships/image"/><Relationship Id="rId5" Target="../media/image69.svg" Type="http://schemas.openxmlformats.org/officeDocument/2006/relationships/image"/><Relationship Id="rId6" Target="../media/image65.pn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3.png" Type="http://schemas.openxmlformats.org/officeDocument/2006/relationships/image"/><Relationship Id="rId3" Target="../media/image104.png" Type="http://schemas.openxmlformats.org/officeDocument/2006/relationships/image"/><Relationship Id="rId4" Target="../media/image68.png" Type="http://schemas.openxmlformats.org/officeDocument/2006/relationships/image"/><Relationship Id="rId5" Target="../media/image69.sv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5.png" Type="http://schemas.openxmlformats.org/officeDocument/2006/relationships/image"/><Relationship Id="rId3" Target="../media/image106.png" Type="http://schemas.openxmlformats.org/officeDocument/2006/relationships/image"/><Relationship Id="rId4" Target="../media/image107.png" Type="http://schemas.openxmlformats.org/officeDocument/2006/relationships/image"/><Relationship Id="rId5" Target="../media/image108.png" Type="http://schemas.openxmlformats.org/officeDocument/2006/relationships/image"/><Relationship Id="rId6" Target="../media/image65.pn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9.png" Type="http://schemas.openxmlformats.org/officeDocument/2006/relationships/image"/><Relationship Id="rId3" Target="../media/image65.pn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0.png" Type="http://schemas.openxmlformats.org/officeDocument/2006/relationships/image"/><Relationship Id="rId3" Target="../media/image111.jpeg" Type="http://schemas.openxmlformats.org/officeDocument/2006/relationships/image"/><Relationship Id="rId4" Target="../media/VAHX9-r6b_4.mp4" Type="http://schemas.openxmlformats.org/officeDocument/2006/relationships/video"/><Relationship Id="rId5" Target="../media/VAHX9-r6b_4.mp4" Type="http://schemas.microsoft.com/office/2007/relationships/media"/></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3554022">
            <a:off x="1768119" y="-7642360"/>
            <a:ext cx="24933943" cy="14869697"/>
          </a:xfrm>
          <a:custGeom>
            <a:avLst/>
            <a:gdLst/>
            <a:ahLst/>
            <a:cxnLst/>
            <a:rect r="r" b="b" t="t" l="l"/>
            <a:pathLst>
              <a:path h="14869697" w="24933943">
                <a:moveTo>
                  <a:pt x="0" y="0"/>
                </a:moveTo>
                <a:lnTo>
                  <a:pt x="24933943" y="0"/>
                </a:lnTo>
                <a:lnTo>
                  <a:pt x="24933943" y="14869697"/>
                </a:lnTo>
                <a:lnTo>
                  <a:pt x="0" y="148696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flipH="true">
            <a:off x="1846222" y="3546647"/>
            <a:ext cx="0" cy="3212756"/>
          </a:xfrm>
          <a:prstGeom prst="line">
            <a:avLst/>
          </a:prstGeom>
          <a:ln cap="flat" w="133350">
            <a:solidFill>
              <a:srgbClr val="D15353"/>
            </a:solidFill>
            <a:prstDash val="solid"/>
            <a:headEnd type="none" len="sm" w="sm"/>
            <a:tailEnd type="none" len="sm" w="sm"/>
          </a:ln>
        </p:spPr>
      </p:sp>
      <p:sp>
        <p:nvSpPr>
          <p:cNvPr name="TextBox 4" id="4"/>
          <p:cNvSpPr txBox="true"/>
          <p:nvPr/>
        </p:nvSpPr>
        <p:spPr>
          <a:xfrm rot="0">
            <a:off x="2171257" y="3594324"/>
            <a:ext cx="10334700" cy="1651873"/>
          </a:xfrm>
          <a:prstGeom prst="rect">
            <a:avLst/>
          </a:prstGeom>
        </p:spPr>
        <p:txBody>
          <a:bodyPr anchor="t" rtlCol="false" tIns="0" lIns="0" bIns="0" rIns="0">
            <a:spAutoFit/>
          </a:bodyPr>
          <a:lstStyle/>
          <a:p>
            <a:pPr algn="just" marL="0" indent="0" lvl="0">
              <a:lnSpc>
                <a:spcPts val="12725"/>
              </a:lnSpc>
            </a:pPr>
            <a:r>
              <a:rPr lang="en-US" sz="11568">
                <a:solidFill>
                  <a:srgbClr val="253439"/>
                </a:solidFill>
                <a:latin typeface="HK Grotesk"/>
                <a:ea typeface="HK Grotesk"/>
                <a:cs typeface="HK Grotesk"/>
                <a:sym typeface="HK Grotesk"/>
              </a:rPr>
              <a:t>USING </a:t>
            </a:r>
          </a:p>
        </p:txBody>
      </p:sp>
      <p:sp>
        <p:nvSpPr>
          <p:cNvPr name="TextBox 5" id="5"/>
          <p:cNvSpPr txBox="true"/>
          <p:nvPr/>
        </p:nvSpPr>
        <p:spPr>
          <a:xfrm rot="0">
            <a:off x="2171257" y="5100588"/>
            <a:ext cx="12063833" cy="1798320"/>
          </a:xfrm>
          <a:prstGeom prst="rect">
            <a:avLst/>
          </a:prstGeom>
        </p:spPr>
        <p:txBody>
          <a:bodyPr anchor="t" rtlCol="false" tIns="0" lIns="0" bIns="0" rIns="0">
            <a:spAutoFit/>
          </a:bodyPr>
          <a:lstStyle/>
          <a:p>
            <a:pPr algn="just" marL="0" indent="0" lvl="0">
              <a:lnSpc>
                <a:spcPts val="13860"/>
              </a:lnSpc>
            </a:pPr>
            <a:r>
              <a:rPr lang="en-US" b="true" sz="12600">
                <a:solidFill>
                  <a:srgbClr val="253439"/>
                </a:solidFill>
                <a:latin typeface="Glacial Indifference Bold"/>
                <a:ea typeface="Glacial Indifference Bold"/>
                <a:cs typeface="Glacial Indifference Bold"/>
                <a:sym typeface="Glacial Indifference Bold"/>
              </a:rPr>
              <a:t>TRANSFORMERS</a:t>
            </a:r>
          </a:p>
        </p:txBody>
      </p:sp>
      <p:sp>
        <p:nvSpPr>
          <p:cNvPr name="Freeform 6" id="6"/>
          <p:cNvSpPr/>
          <p:nvPr/>
        </p:nvSpPr>
        <p:spPr>
          <a:xfrm flipH="false" flipV="false" rot="0">
            <a:off x="1714612" y="1323522"/>
            <a:ext cx="325035" cy="403543"/>
          </a:xfrm>
          <a:custGeom>
            <a:avLst/>
            <a:gdLst/>
            <a:ahLst/>
            <a:cxnLst/>
            <a:rect r="r" b="b" t="t" l="l"/>
            <a:pathLst>
              <a:path h="403543" w="325035">
                <a:moveTo>
                  <a:pt x="0" y="0"/>
                </a:moveTo>
                <a:lnTo>
                  <a:pt x="325035" y="0"/>
                </a:lnTo>
                <a:lnTo>
                  <a:pt x="325035" y="403543"/>
                </a:lnTo>
                <a:lnTo>
                  <a:pt x="0" y="40354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2363107" y="1344721"/>
            <a:ext cx="3406676" cy="323044"/>
          </a:xfrm>
          <a:prstGeom prst="rect">
            <a:avLst/>
          </a:prstGeom>
        </p:spPr>
        <p:txBody>
          <a:bodyPr anchor="t" rtlCol="false" tIns="0" lIns="0" bIns="0" rIns="0">
            <a:spAutoFit/>
          </a:bodyPr>
          <a:lstStyle/>
          <a:p>
            <a:pPr algn="just" marL="0" indent="0" lvl="0">
              <a:lnSpc>
                <a:spcPts val="2669"/>
              </a:lnSpc>
              <a:spcBef>
                <a:spcPct val="0"/>
              </a:spcBef>
            </a:pPr>
            <a:r>
              <a:rPr lang="en-US" sz="1906">
                <a:solidFill>
                  <a:srgbClr val="253439"/>
                </a:solidFill>
                <a:latin typeface="HK Grotesk"/>
                <a:ea typeface="HK Grotesk"/>
                <a:cs typeface="HK Grotesk"/>
                <a:sym typeface="HK Grotesk"/>
              </a:rPr>
              <a:t>HUGGING FACE LLM COURSE</a:t>
            </a:r>
          </a:p>
        </p:txBody>
      </p:sp>
      <p:sp>
        <p:nvSpPr>
          <p:cNvPr name="AutoShape 8" id="8"/>
          <p:cNvSpPr/>
          <p:nvPr/>
        </p:nvSpPr>
        <p:spPr>
          <a:xfrm flipV="true">
            <a:off x="1714629" y="9072441"/>
            <a:ext cx="4055161" cy="14287"/>
          </a:xfrm>
          <a:prstGeom prst="line">
            <a:avLst/>
          </a:prstGeom>
          <a:ln cap="flat" w="9525">
            <a:solidFill>
              <a:srgbClr val="253439"/>
            </a:solidFill>
            <a:prstDash val="solid"/>
            <a:headEnd type="none" len="sm" w="sm"/>
            <a:tailEnd type="none" len="sm" w="sm"/>
          </a:ln>
        </p:spPr>
      </p:sp>
      <p:sp>
        <p:nvSpPr>
          <p:cNvPr name="Freeform 9" id="9"/>
          <p:cNvSpPr/>
          <p:nvPr/>
        </p:nvSpPr>
        <p:spPr>
          <a:xfrm flipH="false" flipV="false" rot="0">
            <a:off x="5891478" y="8621987"/>
            <a:ext cx="403543" cy="403543"/>
          </a:xfrm>
          <a:custGeom>
            <a:avLst/>
            <a:gdLst/>
            <a:ahLst/>
            <a:cxnLst/>
            <a:rect r="r" b="b" t="t" l="l"/>
            <a:pathLst>
              <a:path h="403543" w="403543">
                <a:moveTo>
                  <a:pt x="0" y="0"/>
                </a:moveTo>
                <a:lnTo>
                  <a:pt x="403543" y="0"/>
                </a:lnTo>
                <a:lnTo>
                  <a:pt x="403543" y="403542"/>
                </a:lnTo>
                <a:lnTo>
                  <a:pt x="0" y="40354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1529812" y="8672071"/>
            <a:ext cx="4424794" cy="312880"/>
          </a:xfrm>
          <a:prstGeom prst="rect">
            <a:avLst/>
          </a:prstGeom>
        </p:spPr>
        <p:txBody>
          <a:bodyPr anchor="t" rtlCol="false" tIns="0" lIns="0" bIns="0" rIns="0">
            <a:spAutoFit/>
          </a:bodyPr>
          <a:lstStyle/>
          <a:p>
            <a:pPr algn="ctr" marL="0" indent="0" lvl="0">
              <a:lnSpc>
                <a:spcPts val="2349"/>
              </a:lnSpc>
            </a:pPr>
            <a:r>
              <a:rPr lang="en-US" b="true" sz="2136" spc="181">
                <a:solidFill>
                  <a:srgbClr val="253439"/>
                </a:solidFill>
                <a:latin typeface="Aileron Bold"/>
                <a:ea typeface="Aileron Bold"/>
                <a:cs typeface="Aileron Bold"/>
                <a:sym typeface="Aileron Bold"/>
              </a:rPr>
              <a:t>Bölüm 2: Using Transformers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645330" y="1071335"/>
            <a:ext cx="2843828" cy="1082267"/>
          </a:xfrm>
          <a:custGeom>
            <a:avLst/>
            <a:gdLst/>
            <a:ahLst/>
            <a:cxnLst/>
            <a:rect r="r" b="b" t="t" l="l"/>
            <a:pathLst>
              <a:path h="1082267" w="2843828">
                <a:moveTo>
                  <a:pt x="0" y="0"/>
                </a:moveTo>
                <a:lnTo>
                  <a:pt x="2843828" y="0"/>
                </a:lnTo>
                <a:lnTo>
                  <a:pt x="2843828" y="1082266"/>
                </a:lnTo>
                <a:lnTo>
                  <a:pt x="0" y="1082266"/>
                </a:lnTo>
                <a:lnTo>
                  <a:pt x="0" y="0"/>
                </a:lnTo>
                <a:close/>
              </a:path>
            </a:pathLst>
          </a:custGeom>
          <a:blipFill>
            <a:blip r:embed="rId3"/>
            <a:stretch>
              <a:fillRect l="0" t="0" r="0" b="0"/>
            </a:stretch>
          </a:blipFill>
        </p:spPr>
      </p:sp>
      <p:sp>
        <p:nvSpPr>
          <p:cNvPr name="TextBox 4" id="4"/>
          <p:cNvSpPr txBox="true"/>
          <p:nvPr/>
        </p:nvSpPr>
        <p:spPr>
          <a:xfrm rot="0">
            <a:off x="1227153" y="1291071"/>
            <a:ext cx="1690497" cy="585098"/>
          </a:xfrm>
          <a:prstGeom prst="rect">
            <a:avLst/>
          </a:prstGeom>
        </p:spPr>
        <p:txBody>
          <a:bodyPr anchor="t" rtlCol="false" tIns="0" lIns="0" bIns="0" rIns="0">
            <a:spAutoFit/>
          </a:bodyPr>
          <a:lstStyle/>
          <a:p>
            <a:pPr algn="ctr">
              <a:lnSpc>
                <a:spcPts val="4870"/>
              </a:lnSpc>
            </a:pPr>
            <a:r>
              <a:rPr lang="en-US" sz="3478" b="true">
                <a:solidFill>
                  <a:srgbClr val="0E2541"/>
                </a:solidFill>
                <a:latin typeface="TT Commons Pro Bold"/>
                <a:ea typeface="TT Commons Pro Bold"/>
                <a:cs typeface="TT Commons Pro Bold"/>
                <a:sym typeface="TT Commons Pro Bold"/>
              </a:rPr>
              <a:t>Bölüm 2</a:t>
            </a:r>
          </a:p>
        </p:txBody>
      </p:sp>
      <p:sp>
        <p:nvSpPr>
          <p:cNvPr name="TextBox 5" id="5"/>
          <p:cNvSpPr txBox="true"/>
          <p:nvPr/>
        </p:nvSpPr>
        <p:spPr>
          <a:xfrm rot="0">
            <a:off x="738619" y="2762084"/>
            <a:ext cx="3826386" cy="1551759"/>
          </a:xfrm>
          <a:prstGeom prst="rect">
            <a:avLst/>
          </a:prstGeom>
        </p:spPr>
        <p:txBody>
          <a:bodyPr anchor="t" rtlCol="false" tIns="0" lIns="0" bIns="0" rIns="0">
            <a:spAutoFit/>
          </a:bodyPr>
          <a:lstStyle/>
          <a:p>
            <a:pPr algn="l">
              <a:lnSpc>
                <a:spcPts val="11770"/>
              </a:lnSpc>
            </a:pPr>
            <a:r>
              <a:rPr lang="en-US" sz="11770" spc="-235" b="true">
                <a:solidFill>
                  <a:srgbClr val="0E2541"/>
                </a:solidFill>
                <a:latin typeface="TT Commons Pro Bold"/>
                <a:ea typeface="TT Commons Pro Bold"/>
                <a:cs typeface="TT Commons Pro Bold"/>
                <a:sym typeface="TT Commons Pro Bold"/>
              </a:rPr>
              <a:t>Using</a:t>
            </a:r>
          </a:p>
        </p:txBody>
      </p:sp>
      <p:sp>
        <p:nvSpPr>
          <p:cNvPr name="TextBox 6" id="6"/>
          <p:cNvSpPr txBox="true"/>
          <p:nvPr/>
        </p:nvSpPr>
        <p:spPr>
          <a:xfrm rot="0">
            <a:off x="4985304" y="2762084"/>
            <a:ext cx="8924651" cy="1551759"/>
          </a:xfrm>
          <a:prstGeom prst="rect">
            <a:avLst/>
          </a:prstGeom>
        </p:spPr>
        <p:txBody>
          <a:bodyPr anchor="t" rtlCol="false" tIns="0" lIns="0" bIns="0" rIns="0">
            <a:spAutoFit/>
          </a:bodyPr>
          <a:lstStyle/>
          <a:p>
            <a:pPr algn="l">
              <a:lnSpc>
                <a:spcPts val="11770"/>
              </a:lnSpc>
            </a:pPr>
            <a:r>
              <a:rPr lang="en-US" sz="11770" spc="-235" b="true">
                <a:solidFill>
                  <a:srgbClr val="0E2541"/>
                </a:solidFill>
                <a:latin typeface="TT Commons Pro Bold"/>
                <a:ea typeface="TT Commons Pro Bold"/>
                <a:cs typeface="TT Commons Pro Bold"/>
                <a:sym typeface="TT Commons Pro Bold"/>
              </a:rPr>
              <a:t>Transformers</a:t>
            </a:r>
          </a:p>
        </p:txBody>
      </p:sp>
      <p:sp>
        <p:nvSpPr>
          <p:cNvPr name="Freeform 7" id="7"/>
          <p:cNvSpPr/>
          <p:nvPr/>
        </p:nvSpPr>
        <p:spPr>
          <a:xfrm flipH="false" flipV="false" rot="0">
            <a:off x="645330" y="4919394"/>
            <a:ext cx="1968804" cy="229572"/>
          </a:xfrm>
          <a:custGeom>
            <a:avLst/>
            <a:gdLst/>
            <a:ahLst/>
            <a:cxnLst/>
            <a:rect r="r" b="b" t="t" l="l"/>
            <a:pathLst>
              <a:path h="229572" w="1968804">
                <a:moveTo>
                  <a:pt x="0" y="0"/>
                </a:moveTo>
                <a:lnTo>
                  <a:pt x="1968804" y="0"/>
                </a:lnTo>
                <a:lnTo>
                  <a:pt x="1968804" y="229572"/>
                </a:lnTo>
                <a:lnTo>
                  <a:pt x="0" y="229572"/>
                </a:lnTo>
                <a:lnTo>
                  <a:pt x="0" y="0"/>
                </a:lnTo>
                <a:close/>
              </a:path>
            </a:pathLst>
          </a:custGeom>
          <a:blipFill>
            <a:blip r:embed="rId4"/>
            <a:stretch>
              <a:fillRect l="0" t="0" r="0" b="0"/>
            </a:stretch>
          </a:blipFill>
        </p:spPr>
      </p:sp>
      <p:sp>
        <p:nvSpPr>
          <p:cNvPr name="TextBox 8" id="8"/>
          <p:cNvSpPr txBox="true"/>
          <p:nvPr/>
        </p:nvSpPr>
        <p:spPr>
          <a:xfrm rot="0">
            <a:off x="825696" y="5477985"/>
            <a:ext cx="5834310" cy="585098"/>
          </a:xfrm>
          <a:prstGeom prst="rect">
            <a:avLst/>
          </a:prstGeom>
        </p:spPr>
        <p:txBody>
          <a:bodyPr anchor="t" rtlCol="false" tIns="0" lIns="0" bIns="0" rIns="0">
            <a:spAutoFit/>
          </a:bodyPr>
          <a:lstStyle/>
          <a:p>
            <a:pPr algn="l">
              <a:lnSpc>
                <a:spcPts val="4870"/>
              </a:lnSpc>
            </a:pPr>
            <a:r>
              <a:rPr lang="en-US" sz="3478">
                <a:solidFill>
                  <a:srgbClr val="0E2541"/>
                </a:solidFill>
                <a:latin typeface="Lexend Deca"/>
                <a:ea typeface="Lexend Deca"/>
                <a:cs typeface="Lexend Deca"/>
                <a:sym typeface="Lexend Deca"/>
              </a:rPr>
              <a:t>Hugging Face LLM Course</a:t>
            </a:r>
          </a:p>
        </p:txBody>
      </p:sp>
      <p:sp>
        <p:nvSpPr>
          <p:cNvPr name="TextBox 9" id="9"/>
          <p:cNvSpPr txBox="true"/>
          <p:nvPr/>
        </p:nvSpPr>
        <p:spPr>
          <a:xfrm rot="0">
            <a:off x="813343" y="6393583"/>
            <a:ext cx="7069621" cy="1174287"/>
          </a:xfrm>
          <a:prstGeom prst="rect">
            <a:avLst/>
          </a:prstGeom>
        </p:spPr>
        <p:txBody>
          <a:bodyPr anchor="t" rtlCol="false" tIns="0" lIns="0" bIns="0" rIns="0">
            <a:spAutoFit/>
          </a:bodyPr>
          <a:lstStyle/>
          <a:p>
            <a:pPr algn="l">
              <a:lnSpc>
                <a:spcPts val="4850"/>
              </a:lnSpc>
            </a:pPr>
            <a:r>
              <a:rPr lang="en-US" sz="3032">
                <a:solidFill>
                  <a:srgbClr val="0E2541"/>
                </a:solidFill>
                <a:latin typeface="DM Sans"/>
                <a:ea typeface="DM Sans"/>
                <a:cs typeface="DM Sans"/>
                <a:sym typeface="DM Sans"/>
              </a:rPr>
              <a:t>Transformers kütüphanesini kullanarak modellerle çalışmayı öğrenelim.</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9367890" y="4748644"/>
            <a:ext cx="5691693" cy="4691106"/>
            <a:chOff x="0" y="0"/>
            <a:chExt cx="1499047" cy="1235518"/>
          </a:xfrm>
        </p:grpSpPr>
        <p:sp>
          <p:nvSpPr>
            <p:cNvPr name="Freeform 3" id="3"/>
            <p:cNvSpPr/>
            <p:nvPr/>
          </p:nvSpPr>
          <p:spPr>
            <a:xfrm flipH="false" flipV="false" rot="0">
              <a:off x="0" y="0"/>
              <a:ext cx="1499047" cy="1235518"/>
            </a:xfrm>
            <a:custGeom>
              <a:avLst/>
              <a:gdLst/>
              <a:ahLst/>
              <a:cxnLst/>
              <a:rect r="r" b="b" t="t" l="l"/>
              <a:pathLst>
                <a:path h="1235518" w="1499047">
                  <a:moveTo>
                    <a:pt x="0" y="0"/>
                  </a:moveTo>
                  <a:lnTo>
                    <a:pt x="1499047" y="0"/>
                  </a:lnTo>
                  <a:lnTo>
                    <a:pt x="1499047" y="1235518"/>
                  </a:lnTo>
                  <a:lnTo>
                    <a:pt x="0" y="1235518"/>
                  </a:lnTo>
                  <a:close/>
                </a:path>
              </a:pathLst>
            </a:custGeom>
            <a:solidFill>
              <a:srgbClr val="D15353"/>
            </a:solidFill>
          </p:spPr>
        </p:sp>
        <p:sp>
          <p:nvSpPr>
            <p:cNvPr name="TextBox 4" id="4"/>
            <p:cNvSpPr txBox="true"/>
            <p:nvPr/>
          </p:nvSpPr>
          <p:spPr>
            <a:xfrm>
              <a:off x="0" y="-47625"/>
              <a:ext cx="1499047" cy="1283143"/>
            </a:xfrm>
            <a:prstGeom prst="rect">
              <a:avLst/>
            </a:prstGeom>
          </p:spPr>
          <p:txBody>
            <a:bodyPr anchor="ctr" rtlCol="false" tIns="50800" lIns="50800" bIns="50800" rIns="50800"/>
            <a:lstStyle/>
            <a:p>
              <a:pPr algn="ctr" marL="0" indent="0" lvl="0">
                <a:lnSpc>
                  <a:spcPts val="3244"/>
                </a:lnSpc>
              </a:pPr>
            </a:p>
          </p:txBody>
        </p:sp>
      </p:grpSp>
      <p:sp>
        <p:nvSpPr>
          <p:cNvPr name="Freeform 5" id="5"/>
          <p:cNvSpPr/>
          <p:nvPr/>
        </p:nvSpPr>
        <p:spPr>
          <a:xfrm flipH="false" flipV="false" rot="6979616">
            <a:off x="-2806960" y="-1213622"/>
            <a:ext cx="11173984" cy="7393795"/>
          </a:xfrm>
          <a:custGeom>
            <a:avLst/>
            <a:gdLst/>
            <a:ahLst/>
            <a:cxnLst/>
            <a:rect r="r" b="b" t="t" l="l"/>
            <a:pathLst>
              <a:path h="7393795" w="11173984">
                <a:moveTo>
                  <a:pt x="0" y="0"/>
                </a:moveTo>
                <a:lnTo>
                  <a:pt x="11173984" y="0"/>
                </a:lnTo>
                <a:lnTo>
                  <a:pt x="11173984" y="7393795"/>
                </a:lnTo>
                <a:lnTo>
                  <a:pt x="0" y="73937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6" id="6"/>
          <p:cNvSpPr/>
          <p:nvPr/>
        </p:nvSpPr>
        <p:spPr>
          <a:xfrm>
            <a:off x="1684737" y="3196069"/>
            <a:ext cx="0" cy="1247775"/>
          </a:xfrm>
          <a:prstGeom prst="line">
            <a:avLst/>
          </a:prstGeom>
          <a:ln cap="flat" w="133350">
            <a:solidFill>
              <a:srgbClr val="D15353"/>
            </a:solidFill>
            <a:prstDash val="solid"/>
            <a:headEnd type="none" len="sm" w="sm"/>
            <a:tailEnd type="none" len="sm" w="sm"/>
          </a:ln>
        </p:spPr>
      </p:sp>
      <p:sp>
        <p:nvSpPr>
          <p:cNvPr name="Freeform 7" id="7"/>
          <p:cNvSpPr/>
          <p:nvPr/>
        </p:nvSpPr>
        <p:spPr>
          <a:xfrm flipH="false" flipV="false" rot="0">
            <a:off x="9720315" y="1862191"/>
            <a:ext cx="11650233" cy="7264505"/>
          </a:xfrm>
          <a:custGeom>
            <a:avLst/>
            <a:gdLst/>
            <a:ahLst/>
            <a:cxnLst/>
            <a:rect r="r" b="b" t="t" l="l"/>
            <a:pathLst>
              <a:path h="7264505" w="11650233">
                <a:moveTo>
                  <a:pt x="0" y="0"/>
                </a:moveTo>
                <a:lnTo>
                  <a:pt x="11650233" y="0"/>
                </a:lnTo>
                <a:lnTo>
                  <a:pt x="11650233" y="7264505"/>
                </a:lnTo>
                <a:lnTo>
                  <a:pt x="0" y="7264505"/>
                </a:lnTo>
                <a:lnTo>
                  <a:pt x="0" y="0"/>
                </a:lnTo>
                <a:close/>
              </a:path>
            </a:pathLst>
          </a:custGeom>
          <a:blipFill>
            <a:blip r:embed="rId4"/>
            <a:stretch>
              <a:fillRect l="-6024" t="-13285" r="0" b="0"/>
            </a:stretch>
          </a:blipFill>
        </p:spPr>
      </p:sp>
      <p:sp>
        <p:nvSpPr>
          <p:cNvPr name="TextBox 8" id="8"/>
          <p:cNvSpPr txBox="true"/>
          <p:nvPr/>
        </p:nvSpPr>
        <p:spPr>
          <a:xfrm rot="0">
            <a:off x="1983412" y="3339765"/>
            <a:ext cx="6587858" cy="952500"/>
          </a:xfrm>
          <a:prstGeom prst="rect">
            <a:avLst/>
          </a:prstGeom>
        </p:spPr>
        <p:txBody>
          <a:bodyPr anchor="t" rtlCol="false" tIns="0" lIns="0" bIns="0" rIns="0">
            <a:spAutoFit/>
          </a:bodyPr>
          <a:lstStyle/>
          <a:p>
            <a:pPr algn="l" marL="0" indent="0" lvl="0">
              <a:lnSpc>
                <a:spcPts val="7443"/>
              </a:lnSpc>
              <a:spcBef>
                <a:spcPct val="0"/>
              </a:spcBef>
            </a:pPr>
            <a:r>
              <a:rPr lang="en-US" b="true" sz="6203">
                <a:solidFill>
                  <a:srgbClr val="253439"/>
                </a:solidFill>
                <a:latin typeface="Glacial Indifference Bold"/>
                <a:ea typeface="Glacial Indifference Bold"/>
                <a:cs typeface="Glacial Indifference Bold"/>
                <a:sym typeface="Glacial Indifference Bold"/>
              </a:rPr>
              <a:t>SUNUM </a:t>
            </a:r>
          </a:p>
        </p:txBody>
      </p:sp>
      <p:sp>
        <p:nvSpPr>
          <p:cNvPr name="TextBox 9" id="9"/>
          <p:cNvSpPr txBox="true"/>
          <p:nvPr/>
        </p:nvSpPr>
        <p:spPr>
          <a:xfrm rot="0">
            <a:off x="1983412" y="4662919"/>
            <a:ext cx="6234050" cy="2463165"/>
          </a:xfrm>
          <a:prstGeom prst="rect">
            <a:avLst/>
          </a:prstGeom>
        </p:spPr>
        <p:txBody>
          <a:bodyPr anchor="t" rtlCol="false" tIns="0" lIns="0" bIns="0" rIns="0">
            <a:spAutoFit/>
          </a:bodyPr>
          <a:lstStyle/>
          <a:p>
            <a:pPr algn="l">
              <a:lnSpc>
                <a:spcPts val="3900"/>
              </a:lnSpc>
            </a:pPr>
            <a:r>
              <a:rPr lang="en-US" sz="2600">
                <a:solidFill>
                  <a:srgbClr val="253439"/>
                </a:solidFill>
                <a:latin typeface="Aileron"/>
                <a:ea typeface="Aileron"/>
                <a:cs typeface="Aileron"/>
                <a:sym typeface="Aileron"/>
              </a:rPr>
              <a:t>ASLI EMİR</a:t>
            </a:r>
          </a:p>
          <a:p>
            <a:pPr algn="l">
              <a:lnSpc>
                <a:spcPts val="3900"/>
              </a:lnSpc>
            </a:pPr>
            <a:r>
              <a:rPr lang="en-US" sz="2600">
                <a:solidFill>
                  <a:srgbClr val="253439"/>
                </a:solidFill>
                <a:latin typeface="Aileron"/>
                <a:ea typeface="Aileron"/>
                <a:cs typeface="Aileron"/>
                <a:sym typeface="Aileron"/>
              </a:rPr>
              <a:t>SÜLEYMAN YAŞAR</a:t>
            </a:r>
          </a:p>
          <a:p>
            <a:pPr algn="l">
              <a:lnSpc>
                <a:spcPts val="3900"/>
              </a:lnSpc>
            </a:pPr>
            <a:r>
              <a:rPr lang="en-US" sz="2600">
                <a:solidFill>
                  <a:srgbClr val="253439"/>
                </a:solidFill>
                <a:latin typeface="Aileron"/>
                <a:ea typeface="Aileron"/>
                <a:cs typeface="Aileron"/>
                <a:sym typeface="Aileron"/>
              </a:rPr>
              <a:t>GAMZE AY</a:t>
            </a:r>
          </a:p>
          <a:p>
            <a:pPr algn="l">
              <a:lnSpc>
                <a:spcPts val="3900"/>
              </a:lnSpc>
            </a:pPr>
            <a:r>
              <a:rPr lang="en-US" sz="2600">
                <a:solidFill>
                  <a:srgbClr val="253439"/>
                </a:solidFill>
                <a:latin typeface="Aileron"/>
                <a:ea typeface="Aileron"/>
                <a:cs typeface="Aileron"/>
                <a:sym typeface="Aileron"/>
              </a:rPr>
              <a:t>UMUT SANCI</a:t>
            </a:r>
          </a:p>
          <a:p>
            <a:pPr algn="l" marL="0" indent="0" lvl="0">
              <a:lnSpc>
                <a:spcPts val="3900"/>
              </a:lnSpc>
              <a:spcBef>
                <a:spcPct val="0"/>
              </a:spcBef>
            </a:pPr>
            <a:r>
              <a:rPr lang="en-US" sz="2600">
                <a:solidFill>
                  <a:srgbClr val="253439"/>
                </a:solidFill>
                <a:latin typeface="Aileron"/>
                <a:ea typeface="Aileron"/>
                <a:cs typeface="Aileron"/>
                <a:sym typeface="Aileron"/>
              </a:rPr>
              <a:t>MELEK KOÇ</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10800000">
            <a:off x="2411250" y="1468031"/>
            <a:ext cx="13072576" cy="2581834"/>
          </a:xfrm>
          <a:custGeom>
            <a:avLst/>
            <a:gdLst/>
            <a:ahLst/>
            <a:cxnLst/>
            <a:rect r="r" b="b" t="t" l="l"/>
            <a:pathLst>
              <a:path h="2581834" w="13072576">
                <a:moveTo>
                  <a:pt x="0" y="0"/>
                </a:moveTo>
                <a:lnTo>
                  <a:pt x="13072576" y="0"/>
                </a:lnTo>
                <a:lnTo>
                  <a:pt x="13072576" y="2581834"/>
                </a:lnTo>
                <a:lnTo>
                  <a:pt x="0" y="2581834"/>
                </a:lnTo>
                <a:lnTo>
                  <a:pt x="0" y="0"/>
                </a:lnTo>
                <a:close/>
              </a:path>
            </a:pathLst>
          </a:custGeom>
          <a:blipFill>
            <a:blip r:embed="rId2">
              <a:alphaModFix amt="77000"/>
            </a:blip>
            <a:stretch>
              <a:fillRect l="0" t="0" r="0" b="0"/>
            </a:stretch>
          </a:blipFill>
        </p:spPr>
      </p:sp>
      <p:sp>
        <p:nvSpPr>
          <p:cNvPr name="Freeform 3" id="3"/>
          <p:cNvSpPr/>
          <p:nvPr/>
        </p:nvSpPr>
        <p:spPr>
          <a:xfrm flipH="false" flipV="true" rot="4607186">
            <a:off x="9935555" y="-1925105"/>
            <a:ext cx="15050346" cy="9958773"/>
          </a:xfrm>
          <a:custGeom>
            <a:avLst/>
            <a:gdLst/>
            <a:ahLst/>
            <a:cxnLst/>
            <a:rect r="r" b="b" t="t" l="l"/>
            <a:pathLst>
              <a:path h="9958773" w="15050346">
                <a:moveTo>
                  <a:pt x="0" y="9958773"/>
                </a:moveTo>
                <a:lnTo>
                  <a:pt x="15050346" y="9958773"/>
                </a:lnTo>
                <a:lnTo>
                  <a:pt x="15050346" y="0"/>
                </a:lnTo>
                <a:lnTo>
                  <a:pt x="0" y="0"/>
                </a:lnTo>
                <a:lnTo>
                  <a:pt x="0" y="9958773"/>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6368495">
            <a:off x="-4240061" y="3541863"/>
            <a:ext cx="14038586" cy="9289294"/>
          </a:xfrm>
          <a:custGeom>
            <a:avLst/>
            <a:gdLst/>
            <a:ahLst/>
            <a:cxnLst/>
            <a:rect r="r" b="b" t="t" l="l"/>
            <a:pathLst>
              <a:path h="9289294" w="14038586">
                <a:moveTo>
                  <a:pt x="0" y="9289293"/>
                </a:moveTo>
                <a:lnTo>
                  <a:pt x="14038586" y="9289293"/>
                </a:lnTo>
                <a:lnTo>
                  <a:pt x="14038586" y="0"/>
                </a:lnTo>
                <a:lnTo>
                  <a:pt x="0" y="0"/>
                </a:lnTo>
                <a:lnTo>
                  <a:pt x="0" y="9289293"/>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2411250" y="6456913"/>
            <a:ext cx="13072576" cy="2581834"/>
          </a:xfrm>
          <a:custGeom>
            <a:avLst/>
            <a:gdLst/>
            <a:ahLst/>
            <a:cxnLst/>
            <a:rect r="r" b="b" t="t" l="l"/>
            <a:pathLst>
              <a:path h="2581834" w="13072576">
                <a:moveTo>
                  <a:pt x="0" y="0"/>
                </a:moveTo>
                <a:lnTo>
                  <a:pt x="13072576" y="0"/>
                </a:lnTo>
                <a:lnTo>
                  <a:pt x="13072576" y="2581834"/>
                </a:lnTo>
                <a:lnTo>
                  <a:pt x="0" y="2581834"/>
                </a:lnTo>
                <a:lnTo>
                  <a:pt x="0" y="0"/>
                </a:lnTo>
                <a:close/>
              </a:path>
            </a:pathLst>
          </a:custGeom>
          <a:blipFill>
            <a:blip r:embed="rId2">
              <a:alphaModFix amt="77000"/>
            </a:blip>
            <a:stretch>
              <a:fillRect l="0" t="0" r="0" b="0"/>
            </a:stretch>
          </a:blipFill>
        </p:spPr>
      </p:sp>
      <p:grpSp>
        <p:nvGrpSpPr>
          <p:cNvPr name="Group 6" id="6"/>
          <p:cNvGrpSpPr/>
          <p:nvPr/>
        </p:nvGrpSpPr>
        <p:grpSpPr>
          <a:xfrm rot="0">
            <a:off x="2321970" y="2001604"/>
            <a:ext cx="13251136" cy="6441998"/>
            <a:chOff x="0" y="0"/>
            <a:chExt cx="3490011" cy="1696658"/>
          </a:xfrm>
        </p:grpSpPr>
        <p:sp>
          <p:nvSpPr>
            <p:cNvPr name="Freeform 7" id="7"/>
            <p:cNvSpPr/>
            <p:nvPr/>
          </p:nvSpPr>
          <p:spPr>
            <a:xfrm flipH="false" flipV="false" rot="0">
              <a:off x="0" y="0"/>
              <a:ext cx="3490011" cy="1696658"/>
            </a:xfrm>
            <a:custGeom>
              <a:avLst/>
              <a:gdLst/>
              <a:ahLst/>
              <a:cxnLst/>
              <a:rect r="r" b="b" t="t" l="l"/>
              <a:pathLst>
                <a:path h="1696658" w="3490011">
                  <a:moveTo>
                    <a:pt x="0" y="0"/>
                  </a:moveTo>
                  <a:lnTo>
                    <a:pt x="3490011" y="0"/>
                  </a:lnTo>
                  <a:lnTo>
                    <a:pt x="3490011" y="1696658"/>
                  </a:lnTo>
                  <a:lnTo>
                    <a:pt x="0" y="1696658"/>
                  </a:lnTo>
                  <a:close/>
                </a:path>
              </a:pathLst>
            </a:custGeom>
            <a:gradFill rotWithShape="true">
              <a:gsLst>
                <a:gs pos="0">
                  <a:srgbClr val="FDF7EF">
                    <a:alpha val="100000"/>
                  </a:srgbClr>
                </a:gs>
                <a:gs pos="100000">
                  <a:srgbClr val="FFFFFF">
                    <a:alpha val="100000"/>
                  </a:srgbClr>
                </a:gs>
              </a:gsLst>
              <a:lin ang="0"/>
            </a:gradFill>
          </p:spPr>
        </p:sp>
        <p:sp>
          <p:nvSpPr>
            <p:cNvPr name="TextBox 8" id="8"/>
            <p:cNvSpPr txBox="true"/>
            <p:nvPr/>
          </p:nvSpPr>
          <p:spPr>
            <a:xfrm>
              <a:off x="0" y="-47625"/>
              <a:ext cx="3490011" cy="1744283"/>
            </a:xfrm>
            <a:prstGeom prst="rect">
              <a:avLst/>
            </a:prstGeom>
          </p:spPr>
          <p:txBody>
            <a:bodyPr anchor="ctr" rtlCol="false" tIns="50800" lIns="50800" bIns="50800" rIns="50800"/>
            <a:lstStyle/>
            <a:p>
              <a:pPr algn="ctr" marL="0" indent="0" lvl="0">
                <a:lnSpc>
                  <a:spcPts val="3244"/>
                </a:lnSpc>
              </a:pPr>
            </a:p>
          </p:txBody>
        </p:sp>
      </p:grpSp>
      <p:sp>
        <p:nvSpPr>
          <p:cNvPr name="AutoShape 9" id="9"/>
          <p:cNvSpPr/>
          <p:nvPr/>
        </p:nvSpPr>
        <p:spPr>
          <a:xfrm>
            <a:off x="8790016" y="2769208"/>
            <a:ext cx="0" cy="5229734"/>
          </a:xfrm>
          <a:prstGeom prst="line">
            <a:avLst/>
          </a:prstGeom>
          <a:ln cap="flat" w="133350">
            <a:solidFill>
              <a:srgbClr val="D15353"/>
            </a:solidFill>
            <a:prstDash val="solid"/>
            <a:headEnd type="none" len="sm" w="sm"/>
            <a:tailEnd type="none" len="sm" w="sm"/>
          </a:ln>
        </p:spPr>
      </p:sp>
      <p:sp>
        <p:nvSpPr>
          <p:cNvPr name="TextBox 10" id="10"/>
          <p:cNvSpPr txBox="true"/>
          <p:nvPr/>
        </p:nvSpPr>
        <p:spPr>
          <a:xfrm rot="0">
            <a:off x="9192223" y="2578708"/>
            <a:ext cx="4802736" cy="5420234"/>
          </a:xfrm>
          <a:prstGeom prst="rect">
            <a:avLst/>
          </a:prstGeom>
        </p:spPr>
        <p:txBody>
          <a:bodyPr anchor="t" rtlCol="false" tIns="0" lIns="0" bIns="0" rIns="0">
            <a:spAutoFit/>
          </a:bodyPr>
          <a:lstStyle/>
          <a:p>
            <a:pPr algn="l" marL="0" indent="0" lvl="0">
              <a:lnSpc>
                <a:spcPts val="4802"/>
              </a:lnSpc>
            </a:pPr>
            <a:r>
              <a:rPr lang="en-US" sz="2401">
                <a:solidFill>
                  <a:srgbClr val="253439"/>
                </a:solidFill>
                <a:latin typeface="Aileron"/>
                <a:ea typeface="Aileron"/>
                <a:cs typeface="Aileron"/>
                <a:sym typeface="Aileron"/>
              </a:rPr>
              <a:t>Introduction</a:t>
            </a:r>
          </a:p>
          <a:p>
            <a:pPr algn="l" marL="0" indent="0" lvl="0">
              <a:lnSpc>
                <a:spcPts val="4802"/>
              </a:lnSpc>
            </a:pPr>
            <a:r>
              <a:rPr lang="en-US" sz="2401">
                <a:solidFill>
                  <a:srgbClr val="253439"/>
                </a:solidFill>
                <a:latin typeface="Aileron"/>
                <a:ea typeface="Aileron"/>
                <a:cs typeface="Aileron"/>
                <a:sym typeface="Aileron"/>
              </a:rPr>
              <a:t>Behind the pipeline</a:t>
            </a:r>
          </a:p>
          <a:p>
            <a:pPr algn="l" marL="0" indent="0" lvl="0">
              <a:lnSpc>
                <a:spcPts val="4802"/>
              </a:lnSpc>
            </a:pPr>
            <a:r>
              <a:rPr lang="en-US" sz="2401">
                <a:solidFill>
                  <a:srgbClr val="253439"/>
                </a:solidFill>
                <a:latin typeface="Aileron"/>
                <a:ea typeface="Aileron"/>
                <a:cs typeface="Aileron"/>
                <a:sym typeface="Aileron"/>
              </a:rPr>
              <a:t>Models</a:t>
            </a:r>
          </a:p>
          <a:p>
            <a:pPr algn="l" marL="0" indent="0" lvl="0">
              <a:lnSpc>
                <a:spcPts val="4802"/>
              </a:lnSpc>
            </a:pPr>
            <a:r>
              <a:rPr lang="en-US" sz="2401">
                <a:solidFill>
                  <a:srgbClr val="253439"/>
                </a:solidFill>
                <a:latin typeface="Aileron"/>
                <a:ea typeface="Aileron"/>
                <a:cs typeface="Aileron"/>
                <a:sym typeface="Aileron"/>
              </a:rPr>
              <a:t>Tokenizers</a:t>
            </a:r>
          </a:p>
          <a:p>
            <a:pPr algn="l" marL="0" indent="0" lvl="0">
              <a:lnSpc>
                <a:spcPts val="4802"/>
              </a:lnSpc>
            </a:pPr>
            <a:r>
              <a:rPr lang="en-US" sz="2401">
                <a:solidFill>
                  <a:srgbClr val="253439"/>
                </a:solidFill>
                <a:latin typeface="Aileron"/>
                <a:ea typeface="Aileron"/>
                <a:cs typeface="Aileron"/>
                <a:sym typeface="Aileron"/>
              </a:rPr>
              <a:t>Handling multiple sequences</a:t>
            </a:r>
          </a:p>
          <a:p>
            <a:pPr algn="l" marL="0" indent="0" lvl="0">
              <a:lnSpc>
                <a:spcPts val="4802"/>
              </a:lnSpc>
            </a:pPr>
            <a:r>
              <a:rPr lang="en-US" sz="2401">
                <a:solidFill>
                  <a:srgbClr val="253439"/>
                </a:solidFill>
                <a:latin typeface="Aileron"/>
                <a:ea typeface="Aileron"/>
                <a:cs typeface="Aileron"/>
                <a:sym typeface="Aileron"/>
              </a:rPr>
              <a:t>Putting it all together</a:t>
            </a:r>
          </a:p>
          <a:p>
            <a:pPr algn="l" marL="0" indent="0" lvl="0">
              <a:lnSpc>
                <a:spcPts val="4802"/>
              </a:lnSpc>
            </a:pPr>
            <a:r>
              <a:rPr lang="en-US" sz="2401">
                <a:solidFill>
                  <a:srgbClr val="253439"/>
                </a:solidFill>
                <a:latin typeface="Aileron"/>
                <a:ea typeface="Aileron"/>
                <a:cs typeface="Aileron"/>
                <a:sym typeface="Aileron"/>
              </a:rPr>
              <a:t>Basic usage completed!</a:t>
            </a:r>
          </a:p>
          <a:p>
            <a:pPr algn="l" marL="0" indent="0" lvl="0">
              <a:lnSpc>
                <a:spcPts val="4802"/>
              </a:lnSpc>
            </a:pPr>
            <a:r>
              <a:rPr lang="en-US" sz="2401" u="sng">
                <a:solidFill>
                  <a:srgbClr val="253439"/>
                </a:solidFill>
                <a:latin typeface="Aileron"/>
                <a:ea typeface="Aileron"/>
                <a:cs typeface="Aileron"/>
                <a:sym typeface="Aileron"/>
                <a:hlinkClick r:id="rId5" tooltip="https://huggingface.co/learn/llm-course/chapter2/8"/>
              </a:rPr>
              <a:t>Optimized Inference Deployment</a:t>
            </a:r>
          </a:p>
          <a:p>
            <a:pPr algn="l" marL="0" indent="0" lvl="0">
              <a:lnSpc>
                <a:spcPts val="4802"/>
              </a:lnSpc>
            </a:pPr>
            <a:r>
              <a:rPr lang="en-US" sz="2401" u="sng">
                <a:solidFill>
                  <a:srgbClr val="253439"/>
                </a:solidFill>
                <a:latin typeface="Aileron"/>
                <a:ea typeface="Aileron"/>
                <a:cs typeface="Aileron"/>
                <a:sym typeface="Aileron"/>
                <a:hlinkClick r:id="rId6" tooltip="https://huggingface.co/learn/llm-course/chapter2/9"/>
              </a:rPr>
              <a:t>End-of-chapter quiz</a:t>
            </a:r>
          </a:p>
        </p:txBody>
      </p:sp>
      <p:sp>
        <p:nvSpPr>
          <p:cNvPr name="TextBox 11" id="11"/>
          <p:cNvSpPr txBox="true"/>
          <p:nvPr/>
        </p:nvSpPr>
        <p:spPr>
          <a:xfrm rot="0">
            <a:off x="14414059" y="2569183"/>
            <a:ext cx="447313" cy="5566347"/>
          </a:xfrm>
          <a:prstGeom prst="rect">
            <a:avLst/>
          </a:prstGeom>
        </p:spPr>
        <p:txBody>
          <a:bodyPr anchor="t" rtlCol="false" tIns="0" lIns="0" bIns="0" rIns="0">
            <a:spAutoFit/>
          </a:bodyPr>
          <a:lstStyle/>
          <a:p>
            <a:pPr algn="r" marL="0" indent="0" lvl="0">
              <a:lnSpc>
                <a:spcPts val="4927"/>
              </a:lnSpc>
            </a:pPr>
            <a:r>
              <a:rPr lang="en-US" b="true" sz="2463">
                <a:solidFill>
                  <a:srgbClr val="253439"/>
                </a:solidFill>
                <a:latin typeface="Aileron Bold"/>
                <a:ea typeface="Aileron Bold"/>
                <a:cs typeface="Aileron Bold"/>
                <a:sym typeface="Aileron Bold"/>
              </a:rPr>
              <a:t>1</a:t>
            </a:r>
          </a:p>
          <a:p>
            <a:pPr algn="r" marL="0" indent="0" lvl="0">
              <a:lnSpc>
                <a:spcPts val="4927"/>
              </a:lnSpc>
            </a:pPr>
            <a:r>
              <a:rPr lang="en-US" b="true" sz="2463">
                <a:solidFill>
                  <a:srgbClr val="253439"/>
                </a:solidFill>
                <a:latin typeface="Aileron Bold"/>
                <a:ea typeface="Aileron Bold"/>
                <a:cs typeface="Aileron Bold"/>
                <a:sym typeface="Aileron Bold"/>
              </a:rPr>
              <a:t>2</a:t>
            </a:r>
          </a:p>
          <a:p>
            <a:pPr algn="r" marL="0" indent="0" lvl="0">
              <a:lnSpc>
                <a:spcPts val="4927"/>
              </a:lnSpc>
            </a:pPr>
            <a:r>
              <a:rPr lang="en-US" b="true" sz="2463">
                <a:solidFill>
                  <a:srgbClr val="253439"/>
                </a:solidFill>
                <a:latin typeface="Aileron Bold"/>
                <a:ea typeface="Aileron Bold"/>
                <a:cs typeface="Aileron Bold"/>
                <a:sym typeface="Aileron Bold"/>
              </a:rPr>
              <a:t>3</a:t>
            </a:r>
          </a:p>
          <a:p>
            <a:pPr algn="r" marL="0" indent="0" lvl="0">
              <a:lnSpc>
                <a:spcPts val="4927"/>
              </a:lnSpc>
            </a:pPr>
            <a:r>
              <a:rPr lang="en-US" b="true" sz="2463">
                <a:solidFill>
                  <a:srgbClr val="253439"/>
                </a:solidFill>
                <a:latin typeface="Aileron Bold"/>
                <a:ea typeface="Aileron Bold"/>
                <a:cs typeface="Aileron Bold"/>
                <a:sym typeface="Aileron Bold"/>
              </a:rPr>
              <a:t>4</a:t>
            </a:r>
          </a:p>
          <a:p>
            <a:pPr algn="r" marL="0" indent="0" lvl="0">
              <a:lnSpc>
                <a:spcPts val="4927"/>
              </a:lnSpc>
            </a:pPr>
            <a:r>
              <a:rPr lang="en-US" b="true" sz="2463">
                <a:solidFill>
                  <a:srgbClr val="253439"/>
                </a:solidFill>
                <a:latin typeface="Aileron Bold"/>
                <a:ea typeface="Aileron Bold"/>
                <a:cs typeface="Aileron Bold"/>
                <a:sym typeface="Aileron Bold"/>
              </a:rPr>
              <a:t>5</a:t>
            </a:r>
          </a:p>
          <a:p>
            <a:pPr algn="r" marL="0" indent="0" lvl="0">
              <a:lnSpc>
                <a:spcPts val="4927"/>
              </a:lnSpc>
            </a:pPr>
            <a:r>
              <a:rPr lang="en-US" b="true" sz="2463">
                <a:solidFill>
                  <a:srgbClr val="253439"/>
                </a:solidFill>
                <a:latin typeface="Aileron Bold"/>
                <a:ea typeface="Aileron Bold"/>
                <a:cs typeface="Aileron Bold"/>
                <a:sym typeface="Aileron Bold"/>
              </a:rPr>
              <a:t>6</a:t>
            </a:r>
          </a:p>
          <a:p>
            <a:pPr algn="r" marL="0" indent="0" lvl="0">
              <a:lnSpc>
                <a:spcPts val="4927"/>
              </a:lnSpc>
            </a:pPr>
            <a:r>
              <a:rPr lang="en-US" b="true" sz="2463">
                <a:solidFill>
                  <a:srgbClr val="253439"/>
                </a:solidFill>
                <a:latin typeface="Aileron Bold"/>
                <a:ea typeface="Aileron Bold"/>
                <a:cs typeface="Aileron Bold"/>
                <a:sym typeface="Aileron Bold"/>
              </a:rPr>
              <a:t>7</a:t>
            </a:r>
          </a:p>
          <a:p>
            <a:pPr algn="r" marL="0" indent="0" lvl="0">
              <a:lnSpc>
                <a:spcPts val="4927"/>
              </a:lnSpc>
            </a:pPr>
            <a:r>
              <a:rPr lang="en-US" b="true" sz="2463">
                <a:solidFill>
                  <a:srgbClr val="253439"/>
                </a:solidFill>
                <a:latin typeface="Aileron Bold"/>
                <a:ea typeface="Aileron Bold"/>
                <a:cs typeface="Aileron Bold"/>
                <a:sym typeface="Aileron Bold"/>
              </a:rPr>
              <a:t>8</a:t>
            </a:r>
          </a:p>
          <a:p>
            <a:pPr algn="r" marL="0" indent="0" lvl="0">
              <a:lnSpc>
                <a:spcPts val="4927"/>
              </a:lnSpc>
            </a:pPr>
            <a:r>
              <a:rPr lang="en-US" b="true" sz="2463">
                <a:solidFill>
                  <a:srgbClr val="253439"/>
                </a:solidFill>
                <a:latin typeface="Aileron Bold"/>
                <a:ea typeface="Aileron Bold"/>
                <a:cs typeface="Aileron Bold"/>
                <a:sym typeface="Aileron Bold"/>
              </a:rPr>
              <a:t>9</a:t>
            </a:r>
          </a:p>
        </p:txBody>
      </p:sp>
      <p:sp>
        <p:nvSpPr>
          <p:cNvPr name="TextBox 12" id="12"/>
          <p:cNvSpPr txBox="true"/>
          <p:nvPr/>
        </p:nvSpPr>
        <p:spPr>
          <a:xfrm rot="0">
            <a:off x="2629046" y="4202555"/>
            <a:ext cx="5752634" cy="941011"/>
          </a:xfrm>
          <a:prstGeom prst="rect">
            <a:avLst/>
          </a:prstGeom>
        </p:spPr>
        <p:txBody>
          <a:bodyPr anchor="t" rtlCol="false" tIns="0" lIns="0" bIns="0" rIns="0">
            <a:spAutoFit/>
          </a:bodyPr>
          <a:lstStyle/>
          <a:p>
            <a:pPr algn="r" marL="0" indent="0" lvl="0">
              <a:lnSpc>
                <a:spcPts val="7254"/>
              </a:lnSpc>
            </a:pPr>
            <a:r>
              <a:rPr lang="en-US" b="true" sz="6595">
                <a:solidFill>
                  <a:srgbClr val="253439"/>
                </a:solidFill>
                <a:latin typeface="HK Grotesk Bold"/>
                <a:ea typeface="HK Grotesk Bold"/>
                <a:cs typeface="HK Grotesk Bold"/>
                <a:sym typeface="HK Grotesk Bold"/>
              </a:rPr>
              <a:t>İÇINDEKILER</a:t>
            </a:r>
          </a:p>
        </p:txBody>
      </p:sp>
      <p:sp>
        <p:nvSpPr>
          <p:cNvPr name="TextBox 13" id="13"/>
          <p:cNvSpPr txBox="true"/>
          <p:nvPr/>
        </p:nvSpPr>
        <p:spPr>
          <a:xfrm rot="0">
            <a:off x="2629046" y="5294868"/>
            <a:ext cx="5752634" cy="605639"/>
          </a:xfrm>
          <a:prstGeom prst="rect">
            <a:avLst/>
          </a:prstGeom>
        </p:spPr>
        <p:txBody>
          <a:bodyPr anchor="t" rtlCol="false" tIns="0" lIns="0" bIns="0" rIns="0">
            <a:spAutoFit/>
          </a:bodyPr>
          <a:lstStyle/>
          <a:p>
            <a:pPr algn="r" marL="0" indent="0" lvl="0">
              <a:lnSpc>
                <a:spcPts val="4606"/>
              </a:lnSpc>
            </a:pPr>
            <a:r>
              <a:rPr lang="en-US" b="true" sz="4188">
                <a:solidFill>
                  <a:srgbClr val="253439"/>
                </a:solidFill>
                <a:latin typeface="Glacial Indifference Bold"/>
                <a:ea typeface="Glacial Indifference Bold"/>
                <a:cs typeface="Glacial Indifference Bold"/>
                <a:sym typeface="Glacial Indifference Bold"/>
              </a:rPr>
              <a:t>USING TRANSFORMERS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3554022">
            <a:off x="1768119" y="-7642360"/>
            <a:ext cx="24933943" cy="14869697"/>
          </a:xfrm>
          <a:custGeom>
            <a:avLst/>
            <a:gdLst/>
            <a:ahLst/>
            <a:cxnLst/>
            <a:rect r="r" b="b" t="t" l="l"/>
            <a:pathLst>
              <a:path h="14869697" w="24933943">
                <a:moveTo>
                  <a:pt x="0" y="0"/>
                </a:moveTo>
                <a:lnTo>
                  <a:pt x="24933943" y="0"/>
                </a:lnTo>
                <a:lnTo>
                  <a:pt x="24933943" y="14869697"/>
                </a:lnTo>
                <a:lnTo>
                  <a:pt x="0" y="148696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66398" y="1333975"/>
            <a:ext cx="15433919" cy="7619050"/>
            <a:chOff x="0" y="0"/>
            <a:chExt cx="4064900" cy="2006663"/>
          </a:xfrm>
        </p:grpSpPr>
        <p:sp>
          <p:nvSpPr>
            <p:cNvPr name="Freeform 4" id="4"/>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gradFill rotWithShape="true">
              <a:gsLst>
                <a:gs pos="0">
                  <a:srgbClr val="FDF7EF">
                    <a:alpha val="100000"/>
                  </a:srgbClr>
                </a:gs>
                <a:gs pos="100000">
                  <a:srgbClr val="FFFFFF">
                    <a:alpha val="100000"/>
                  </a:srgbClr>
                </a:gs>
              </a:gsLst>
              <a:lin ang="0"/>
            </a:gradFill>
            <a:ln w="38100" cap="sq">
              <a:solidFill>
                <a:srgbClr val="202354"/>
              </a:solidFill>
              <a:prstDash val="solid"/>
              <a:miter/>
            </a:ln>
          </p:spPr>
        </p:sp>
        <p:sp>
          <p:nvSpPr>
            <p:cNvPr name="TextBox 5" id="5"/>
            <p:cNvSpPr txBox="true"/>
            <p:nvPr/>
          </p:nvSpPr>
          <p:spPr>
            <a:xfrm>
              <a:off x="0" y="9525"/>
              <a:ext cx="4064900" cy="1997138"/>
            </a:xfrm>
            <a:prstGeom prst="rect">
              <a:avLst/>
            </a:prstGeom>
          </p:spPr>
          <p:txBody>
            <a:bodyPr anchor="ctr" rtlCol="false" tIns="50800" lIns="50800" bIns="50800" rIns="50800"/>
            <a:lstStyle/>
            <a:p>
              <a:pPr algn="ctr" marL="0" indent="0" lvl="0">
                <a:lnSpc>
                  <a:spcPts val="1869"/>
                </a:lnSpc>
              </a:pPr>
            </a:p>
          </p:txBody>
        </p:sp>
      </p:grpSp>
      <p:sp>
        <p:nvSpPr>
          <p:cNvPr name="TextBox 6" id="6"/>
          <p:cNvSpPr txBox="true"/>
          <p:nvPr/>
        </p:nvSpPr>
        <p:spPr>
          <a:xfrm rot="0">
            <a:off x="2674493" y="3643630"/>
            <a:ext cx="6073325" cy="783944"/>
          </a:xfrm>
          <a:prstGeom prst="rect">
            <a:avLst/>
          </a:prstGeom>
        </p:spPr>
        <p:txBody>
          <a:bodyPr anchor="t" rtlCol="false" tIns="0" lIns="0" bIns="0" rIns="0">
            <a:spAutoFit/>
          </a:bodyPr>
          <a:lstStyle/>
          <a:p>
            <a:pPr algn="just" marL="0" indent="0" lvl="0">
              <a:lnSpc>
                <a:spcPts val="6025"/>
              </a:lnSpc>
            </a:pPr>
            <a:r>
              <a:rPr lang="en-US" b="true" sz="5477">
                <a:solidFill>
                  <a:srgbClr val="253439"/>
                </a:solidFill>
                <a:latin typeface="Glacial Indifference Bold"/>
                <a:ea typeface="Glacial Indifference Bold"/>
                <a:cs typeface="Glacial Indifference Bold"/>
                <a:sym typeface="Glacial Indifference Bold"/>
              </a:rPr>
              <a:t>SORUN VE ÇÖZÜM</a:t>
            </a:r>
          </a:p>
        </p:txBody>
      </p:sp>
      <p:sp>
        <p:nvSpPr>
          <p:cNvPr name="TextBox 7" id="7"/>
          <p:cNvSpPr txBox="true"/>
          <p:nvPr/>
        </p:nvSpPr>
        <p:spPr>
          <a:xfrm rot="0">
            <a:off x="2674493" y="4953000"/>
            <a:ext cx="5917057" cy="2847759"/>
          </a:xfrm>
          <a:prstGeom prst="rect">
            <a:avLst/>
          </a:prstGeom>
        </p:spPr>
        <p:txBody>
          <a:bodyPr anchor="t" rtlCol="false" tIns="0" lIns="0" bIns="0" rIns="0">
            <a:spAutoFit/>
          </a:bodyPr>
          <a:lstStyle/>
          <a:p>
            <a:pPr algn="l" marL="0" indent="0" lvl="0">
              <a:lnSpc>
                <a:spcPts val="3275"/>
              </a:lnSpc>
            </a:pPr>
            <a:r>
              <a:rPr lang="en-US" sz="2228">
                <a:solidFill>
                  <a:srgbClr val="253439"/>
                </a:solidFill>
                <a:latin typeface="Aileron"/>
                <a:ea typeface="Aileron"/>
                <a:cs typeface="Aileron"/>
                <a:sym typeface="Aileron"/>
              </a:rPr>
              <a:t>Transformer modelleri genellikle çok büyüktür: milyonlardan on milyarlarca parametreye kadar. </a:t>
            </a:r>
          </a:p>
          <a:p>
            <a:pPr algn="l" marL="0" indent="0" lvl="0">
              <a:lnSpc>
                <a:spcPts val="3275"/>
              </a:lnSpc>
            </a:pPr>
            <a:r>
              <a:rPr lang="en-US" sz="2228">
                <a:solidFill>
                  <a:srgbClr val="253439"/>
                </a:solidFill>
                <a:latin typeface="Aileron"/>
                <a:ea typeface="Aileron"/>
                <a:cs typeface="Aileron"/>
                <a:sym typeface="Aileron"/>
              </a:rPr>
              <a:t>Bu modelleri eğitmek ve yayına almak karmaşık bir iştir. 🤗 </a:t>
            </a:r>
          </a:p>
          <a:p>
            <a:pPr algn="l" marL="0" indent="0" lvl="0">
              <a:lnSpc>
                <a:spcPts val="3275"/>
              </a:lnSpc>
            </a:pPr>
            <a:r>
              <a:rPr lang="en-US" sz="2228">
                <a:solidFill>
                  <a:srgbClr val="253439"/>
                </a:solidFill>
                <a:latin typeface="Aileron"/>
                <a:ea typeface="Aileron"/>
                <a:cs typeface="Aileron"/>
                <a:sym typeface="Aileron"/>
              </a:rPr>
              <a:t>Transformers kütüphanesi bu sorunu çözmek için oluşturuldu.</a:t>
            </a:r>
          </a:p>
        </p:txBody>
      </p:sp>
      <p:sp>
        <p:nvSpPr>
          <p:cNvPr name="TextBox 8" id="8"/>
          <p:cNvSpPr txBox="true"/>
          <p:nvPr/>
        </p:nvSpPr>
        <p:spPr>
          <a:xfrm rot="0">
            <a:off x="9693263" y="2538142"/>
            <a:ext cx="5260448" cy="407398"/>
          </a:xfrm>
          <a:prstGeom prst="rect">
            <a:avLst/>
          </a:prstGeom>
        </p:spPr>
        <p:txBody>
          <a:bodyPr anchor="t" rtlCol="false" tIns="0" lIns="0" bIns="0" rIns="0">
            <a:spAutoFit/>
          </a:bodyPr>
          <a:lstStyle/>
          <a:p>
            <a:pPr algn="just" marL="0" indent="0" lvl="0">
              <a:lnSpc>
                <a:spcPts val="3111"/>
              </a:lnSpc>
            </a:pPr>
            <a:r>
              <a:rPr lang="en-US" b="true" sz="2828" spc="90">
                <a:solidFill>
                  <a:srgbClr val="253439"/>
                </a:solidFill>
                <a:latin typeface="Glacial Indifference Bold"/>
                <a:ea typeface="Glacial Indifference Bold"/>
                <a:cs typeface="Glacial Indifference Bold"/>
                <a:sym typeface="Glacial Indifference Bold"/>
              </a:rPr>
              <a:t>Büyük Modeller</a:t>
            </a:r>
          </a:p>
        </p:txBody>
      </p:sp>
      <p:sp>
        <p:nvSpPr>
          <p:cNvPr name="TextBox 9" id="9"/>
          <p:cNvSpPr txBox="true"/>
          <p:nvPr/>
        </p:nvSpPr>
        <p:spPr>
          <a:xfrm rot="0">
            <a:off x="9693263" y="4530090"/>
            <a:ext cx="5260448" cy="407398"/>
          </a:xfrm>
          <a:prstGeom prst="rect">
            <a:avLst/>
          </a:prstGeom>
        </p:spPr>
        <p:txBody>
          <a:bodyPr anchor="t" rtlCol="false" tIns="0" lIns="0" bIns="0" rIns="0">
            <a:spAutoFit/>
          </a:bodyPr>
          <a:lstStyle/>
          <a:p>
            <a:pPr algn="just" marL="0" indent="0" lvl="0">
              <a:lnSpc>
                <a:spcPts val="3111"/>
              </a:lnSpc>
            </a:pPr>
            <a:r>
              <a:rPr lang="en-US" b="true" sz="2828" spc="90">
                <a:solidFill>
                  <a:srgbClr val="253439"/>
                </a:solidFill>
                <a:latin typeface="Glacial Indifference Bold"/>
                <a:ea typeface="Glacial Indifference Bold"/>
                <a:cs typeface="Glacial Indifference Bold"/>
                <a:sym typeface="Glacial Indifference Bold"/>
              </a:rPr>
              <a:t>Karmaşık Süreçler</a:t>
            </a:r>
          </a:p>
        </p:txBody>
      </p:sp>
      <p:sp>
        <p:nvSpPr>
          <p:cNvPr name="TextBox 10" id="10"/>
          <p:cNvSpPr txBox="true"/>
          <p:nvPr/>
        </p:nvSpPr>
        <p:spPr>
          <a:xfrm rot="0">
            <a:off x="9620250" y="3095376"/>
            <a:ext cx="5896000" cy="824294"/>
          </a:xfrm>
          <a:prstGeom prst="rect">
            <a:avLst/>
          </a:prstGeom>
        </p:spPr>
        <p:txBody>
          <a:bodyPr anchor="t" rtlCol="false" tIns="0" lIns="0" bIns="0" rIns="0">
            <a:spAutoFit/>
          </a:bodyPr>
          <a:lstStyle/>
          <a:p>
            <a:pPr algn="l" marL="0" indent="0" lvl="0">
              <a:lnSpc>
                <a:spcPts val="2229"/>
              </a:lnSpc>
            </a:pPr>
            <a:r>
              <a:rPr lang="en-US" sz="1516">
                <a:solidFill>
                  <a:srgbClr val="253439"/>
                </a:solidFill>
                <a:latin typeface="Aileron"/>
                <a:ea typeface="Aileron"/>
                <a:cs typeface="Aileron"/>
                <a:sym typeface="Aileron"/>
              </a:rPr>
              <a:t>Transformer modelleri milyonlardan on milyarlarca parametreye kadar değişen boyutlarda olabilir. Bu büyüklük, eğitim ve yayına alma süreçlerini son derece karmaşık hale getirir.</a:t>
            </a:r>
          </a:p>
        </p:txBody>
      </p:sp>
      <p:sp>
        <p:nvSpPr>
          <p:cNvPr name="TextBox 11" id="11"/>
          <p:cNvSpPr txBox="true"/>
          <p:nvPr/>
        </p:nvSpPr>
        <p:spPr>
          <a:xfrm rot="0">
            <a:off x="9693263" y="5095875"/>
            <a:ext cx="6370378" cy="824865"/>
          </a:xfrm>
          <a:prstGeom prst="rect">
            <a:avLst/>
          </a:prstGeom>
        </p:spPr>
        <p:txBody>
          <a:bodyPr anchor="t" rtlCol="false" tIns="0" lIns="0" bIns="0" rIns="0">
            <a:spAutoFit/>
          </a:bodyPr>
          <a:lstStyle/>
          <a:p>
            <a:pPr algn="l" marL="0" indent="0" lvl="0">
              <a:lnSpc>
                <a:spcPts val="2204"/>
              </a:lnSpc>
            </a:pPr>
            <a:r>
              <a:rPr lang="en-US" sz="1499">
                <a:solidFill>
                  <a:srgbClr val="253439"/>
                </a:solidFill>
                <a:latin typeface="Aileron"/>
                <a:ea typeface="Aileron"/>
                <a:cs typeface="Aileron"/>
                <a:sym typeface="Aileron"/>
              </a:rPr>
              <a:t>Her yeni modelin kendi uygulaması olduğu için hepsini denemek kolay değildir. Eğitim, dağıtım ve entegrasyon süreçleri her model için farklılık gösterir.</a:t>
            </a:r>
          </a:p>
        </p:txBody>
      </p:sp>
      <p:sp>
        <p:nvSpPr>
          <p:cNvPr name="TextBox 12" id="12"/>
          <p:cNvSpPr txBox="true"/>
          <p:nvPr/>
        </p:nvSpPr>
        <p:spPr>
          <a:xfrm rot="0">
            <a:off x="9693263" y="6438519"/>
            <a:ext cx="5260448" cy="407398"/>
          </a:xfrm>
          <a:prstGeom prst="rect">
            <a:avLst/>
          </a:prstGeom>
        </p:spPr>
        <p:txBody>
          <a:bodyPr anchor="t" rtlCol="false" tIns="0" lIns="0" bIns="0" rIns="0">
            <a:spAutoFit/>
          </a:bodyPr>
          <a:lstStyle/>
          <a:p>
            <a:pPr algn="just" marL="0" indent="0" lvl="0">
              <a:lnSpc>
                <a:spcPts val="3111"/>
              </a:lnSpc>
            </a:pPr>
            <a:r>
              <a:rPr lang="en-US" b="true" sz="2828" spc="90">
                <a:solidFill>
                  <a:srgbClr val="253439"/>
                </a:solidFill>
                <a:latin typeface="Glacial Indifference Bold"/>
                <a:ea typeface="Glacial Indifference Bold"/>
                <a:cs typeface="Glacial Indifference Bold"/>
                <a:sym typeface="Glacial Indifference Bold"/>
              </a:rPr>
              <a:t>Tek Ortak API</a:t>
            </a:r>
          </a:p>
        </p:txBody>
      </p:sp>
      <p:sp>
        <p:nvSpPr>
          <p:cNvPr name="TextBox 13" id="13"/>
          <p:cNvSpPr txBox="true"/>
          <p:nvPr/>
        </p:nvSpPr>
        <p:spPr>
          <a:xfrm rot="0">
            <a:off x="9693263" y="7017220"/>
            <a:ext cx="6406673" cy="504444"/>
          </a:xfrm>
          <a:prstGeom prst="rect">
            <a:avLst/>
          </a:prstGeom>
        </p:spPr>
        <p:txBody>
          <a:bodyPr anchor="t" rtlCol="false" tIns="0" lIns="0" bIns="0" rIns="0">
            <a:spAutoFit/>
          </a:bodyPr>
          <a:lstStyle/>
          <a:p>
            <a:pPr algn="l" marL="0" indent="0" lvl="0">
              <a:lnSpc>
                <a:spcPts val="2057"/>
              </a:lnSpc>
            </a:pPr>
            <a:r>
              <a:rPr lang="en-US" sz="1399">
                <a:solidFill>
                  <a:srgbClr val="253439"/>
                </a:solidFill>
                <a:latin typeface="Aileron"/>
                <a:ea typeface="Aileron"/>
                <a:cs typeface="Aileron"/>
                <a:sym typeface="Aileron"/>
              </a:rPr>
              <a:t>🤗 Transformers kütüphanesi, her Transformer modelinin yüklenebildiği, eğitilebildiği ve kaydedilebildiği tek bir API sağlamak için tasarlandı.</a:t>
            </a:r>
          </a:p>
        </p:txBody>
      </p:sp>
      <p:sp>
        <p:nvSpPr>
          <p:cNvPr name="TextBox 14" id="14"/>
          <p:cNvSpPr txBox="true"/>
          <p:nvPr/>
        </p:nvSpPr>
        <p:spPr>
          <a:xfrm rot="0">
            <a:off x="2596359" y="2491846"/>
            <a:ext cx="6073325" cy="659705"/>
          </a:xfrm>
          <a:prstGeom prst="rect">
            <a:avLst/>
          </a:prstGeom>
        </p:spPr>
        <p:txBody>
          <a:bodyPr anchor="t" rtlCol="false" tIns="0" lIns="0" bIns="0" rIns="0">
            <a:spAutoFit/>
          </a:bodyPr>
          <a:lstStyle/>
          <a:p>
            <a:pPr algn="l" marL="0" indent="0" lvl="0">
              <a:lnSpc>
                <a:spcPts val="5164"/>
              </a:lnSpc>
            </a:pPr>
            <a:r>
              <a:rPr lang="en-US" sz="4695" spc="150">
                <a:solidFill>
                  <a:srgbClr val="253439"/>
                </a:solidFill>
                <a:latin typeface="HK Grotesk"/>
                <a:ea typeface="HK Grotesk"/>
                <a:cs typeface="HK Grotesk"/>
                <a:sym typeface="HK Grotesk"/>
              </a:rPr>
              <a:t>INTRODUCTION</a:t>
            </a:r>
          </a:p>
        </p:txBody>
      </p:sp>
      <p:sp>
        <p:nvSpPr>
          <p:cNvPr name="AutoShape 15" id="15"/>
          <p:cNvSpPr/>
          <p:nvPr/>
        </p:nvSpPr>
        <p:spPr>
          <a:xfrm flipH="true" flipV="true">
            <a:off x="9144000" y="2519092"/>
            <a:ext cx="0" cy="5578178"/>
          </a:xfrm>
          <a:prstGeom prst="line">
            <a:avLst/>
          </a:prstGeom>
          <a:ln cap="flat" w="133350">
            <a:solidFill>
              <a:srgbClr val="D15353"/>
            </a:solidFill>
            <a:prstDash val="solid"/>
            <a:headEnd type="none" len="sm" w="sm"/>
            <a:tailEnd type="none" len="sm" w="sm"/>
          </a:ln>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2629731" y="-912010"/>
            <a:ext cx="13110673" cy="12587680"/>
            <a:chOff x="0" y="0"/>
            <a:chExt cx="2862356" cy="2748175"/>
          </a:xfrm>
        </p:grpSpPr>
        <p:sp>
          <p:nvSpPr>
            <p:cNvPr name="Freeform 3" id="3"/>
            <p:cNvSpPr/>
            <p:nvPr/>
          </p:nvSpPr>
          <p:spPr>
            <a:xfrm flipH="false" flipV="false" rot="0">
              <a:off x="0" y="0"/>
              <a:ext cx="2862356" cy="2748175"/>
            </a:xfrm>
            <a:custGeom>
              <a:avLst/>
              <a:gdLst/>
              <a:ahLst/>
              <a:cxnLst/>
              <a:rect r="r" b="b" t="t" l="l"/>
              <a:pathLst>
                <a:path h="2748175" w="2862356">
                  <a:moveTo>
                    <a:pt x="0" y="0"/>
                  </a:moveTo>
                  <a:lnTo>
                    <a:pt x="2862356" y="0"/>
                  </a:lnTo>
                  <a:lnTo>
                    <a:pt x="2862356" y="2748175"/>
                  </a:lnTo>
                  <a:lnTo>
                    <a:pt x="0" y="2748175"/>
                  </a:lnTo>
                  <a:close/>
                </a:path>
              </a:pathLst>
            </a:custGeom>
            <a:solidFill>
              <a:srgbClr val="253439"/>
            </a:solidFill>
          </p:spPr>
        </p:sp>
        <p:sp>
          <p:nvSpPr>
            <p:cNvPr name="TextBox 4" id="4"/>
            <p:cNvSpPr txBox="true"/>
            <p:nvPr/>
          </p:nvSpPr>
          <p:spPr>
            <a:xfrm>
              <a:off x="0" y="-47625"/>
              <a:ext cx="2862356" cy="2795800"/>
            </a:xfrm>
            <a:prstGeom prst="rect">
              <a:avLst/>
            </a:prstGeom>
          </p:spPr>
          <p:txBody>
            <a:bodyPr anchor="ctr" rtlCol="false" tIns="50800" lIns="50800" bIns="50800" rIns="50800"/>
            <a:lstStyle/>
            <a:p>
              <a:pPr algn="ctr" marL="0" indent="0" lvl="0">
                <a:lnSpc>
                  <a:spcPts val="3244"/>
                </a:lnSpc>
              </a:pPr>
            </a:p>
          </p:txBody>
        </p:sp>
      </p:grpSp>
      <p:sp>
        <p:nvSpPr>
          <p:cNvPr name="TextBox 5" id="5"/>
          <p:cNvSpPr txBox="true"/>
          <p:nvPr/>
        </p:nvSpPr>
        <p:spPr>
          <a:xfrm rot="0">
            <a:off x="4545786" y="2422380"/>
            <a:ext cx="6580836" cy="740395"/>
          </a:xfrm>
          <a:prstGeom prst="rect">
            <a:avLst/>
          </a:prstGeom>
        </p:spPr>
        <p:txBody>
          <a:bodyPr anchor="t" rtlCol="false" tIns="0" lIns="0" bIns="0" rIns="0">
            <a:spAutoFit/>
          </a:bodyPr>
          <a:lstStyle/>
          <a:p>
            <a:pPr algn="l" marL="0" indent="0" lvl="0">
              <a:lnSpc>
                <a:spcPts val="5524"/>
              </a:lnSpc>
            </a:pPr>
            <a:r>
              <a:rPr lang="en-US" b="true" sz="5524" spc="646">
                <a:solidFill>
                  <a:srgbClr val="FFFFFF"/>
                </a:solidFill>
                <a:latin typeface="Glacial Indifference Bold"/>
                <a:ea typeface="Glacial Indifference Bold"/>
                <a:cs typeface="Glacial Indifference Bold"/>
                <a:sym typeface="Glacial Indifference Bold"/>
              </a:rPr>
              <a:t>ANA ÖZELLİKLER</a:t>
            </a:r>
          </a:p>
        </p:txBody>
      </p:sp>
      <p:sp>
        <p:nvSpPr>
          <p:cNvPr name="TextBox 6" id="6"/>
          <p:cNvSpPr txBox="true"/>
          <p:nvPr/>
        </p:nvSpPr>
        <p:spPr>
          <a:xfrm rot="0">
            <a:off x="4055487" y="8279216"/>
            <a:ext cx="2884068" cy="383480"/>
          </a:xfrm>
          <a:prstGeom prst="rect">
            <a:avLst/>
          </a:prstGeom>
        </p:spPr>
        <p:txBody>
          <a:bodyPr anchor="t" rtlCol="false" tIns="0" lIns="0" bIns="0" rIns="0">
            <a:spAutoFit/>
          </a:bodyPr>
          <a:lstStyle/>
          <a:p>
            <a:pPr algn="ctr" marL="0" indent="0" lvl="0">
              <a:lnSpc>
                <a:spcPts val="3013"/>
              </a:lnSpc>
              <a:spcBef>
                <a:spcPct val="0"/>
              </a:spcBef>
            </a:pPr>
            <a:r>
              <a:rPr lang="en-US" b="true" sz="2152">
                <a:solidFill>
                  <a:srgbClr val="FFFFFF"/>
                </a:solidFill>
                <a:latin typeface="Aileron Bold"/>
                <a:ea typeface="Aileron Bold"/>
                <a:cs typeface="Aileron Bold"/>
                <a:sym typeface="Aileron Bold"/>
              </a:rPr>
              <a:t>Ease of Use</a:t>
            </a:r>
          </a:p>
        </p:txBody>
      </p:sp>
      <p:sp>
        <p:nvSpPr>
          <p:cNvPr name="TextBox 7" id="7"/>
          <p:cNvSpPr txBox="true"/>
          <p:nvPr/>
        </p:nvSpPr>
        <p:spPr>
          <a:xfrm rot="0">
            <a:off x="4493752" y="8680240"/>
            <a:ext cx="2007538" cy="306896"/>
          </a:xfrm>
          <a:prstGeom prst="rect">
            <a:avLst/>
          </a:prstGeom>
        </p:spPr>
        <p:txBody>
          <a:bodyPr anchor="t" rtlCol="false" tIns="0" lIns="0" bIns="0" rIns="0">
            <a:spAutoFit/>
          </a:bodyPr>
          <a:lstStyle/>
          <a:p>
            <a:pPr algn="ctr" marL="0" indent="0" lvl="0">
              <a:lnSpc>
                <a:spcPts val="2505"/>
              </a:lnSpc>
              <a:spcBef>
                <a:spcPct val="0"/>
              </a:spcBef>
            </a:pPr>
            <a:r>
              <a:rPr lang="en-US" sz="1789" i="true">
                <a:solidFill>
                  <a:srgbClr val="FFFFFF"/>
                </a:solidFill>
                <a:latin typeface="Aileron Italics"/>
                <a:ea typeface="Aileron Italics"/>
                <a:cs typeface="Aileron Italics"/>
                <a:sym typeface="Aileron Italics"/>
              </a:rPr>
              <a:t>Kullanım Kolaylığı</a:t>
            </a:r>
          </a:p>
        </p:txBody>
      </p:sp>
      <p:sp>
        <p:nvSpPr>
          <p:cNvPr name="TextBox 8" id="8"/>
          <p:cNvSpPr txBox="true"/>
          <p:nvPr/>
        </p:nvSpPr>
        <p:spPr>
          <a:xfrm rot="0">
            <a:off x="7814812" y="8263519"/>
            <a:ext cx="2781967" cy="383480"/>
          </a:xfrm>
          <a:prstGeom prst="rect">
            <a:avLst/>
          </a:prstGeom>
        </p:spPr>
        <p:txBody>
          <a:bodyPr anchor="t" rtlCol="false" tIns="0" lIns="0" bIns="0" rIns="0">
            <a:spAutoFit/>
          </a:bodyPr>
          <a:lstStyle/>
          <a:p>
            <a:pPr algn="ctr" marL="0" indent="0" lvl="0">
              <a:lnSpc>
                <a:spcPts val="3013"/>
              </a:lnSpc>
              <a:spcBef>
                <a:spcPct val="0"/>
              </a:spcBef>
            </a:pPr>
            <a:r>
              <a:rPr lang="en-US" b="true" sz="2152">
                <a:solidFill>
                  <a:srgbClr val="FFFFFF"/>
                </a:solidFill>
                <a:latin typeface="Aileron Bold"/>
                <a:ea typeface="Aileron Bold"/>
                <a:cs typeface="Aileron Bold"/>
                <a:sym typeface="Aileron Bold"/>
              </a:rPr>
              <a:t>Flexibility</a:t>
            </a:r>
          </a:p>
        </p:txBody>
      </p:sp>
      <p:sp>
        <p:nvSpPr>
          <p:cNvPr name="TextBox 9" id="9"/>
          <p:cNvSpPr txBox="true"/>
          <p:nvPr/>
        </p:nvSpPr>
        <p:spPr>
          <a:xfrm rot="0">
            <a:off x="8152708" y="8672183"/>
            <a:ext cx="2007538" cy="310576"/>
          </a:xfrm>
          <a:prstGeom prst="rect">
            <a:avLst/>
          </a:prstGeom>
        </p:spPr>
        <p:txBody>
          <a:bodyPr anchor="t" rtlCol="false" tIns="0" lIns="0" bIns="0" rIns="0">
            <a:spAutoFit/>
          </a:bodyPr>
          <a:lstStyle/>
          <a:p>
            <a:pPr algn="ctr" marL="0" indent="0" lvl="0">
              <a:lnSpc>
                <a:spcPts val="2505"/>
              </a:lnSpc>
              <a:spcBef>
                <a:spcPct val="0"/>
              </a:spcBef>
            </a:pPr>
            <a:r>
              <a:rPr lang="en-US" sz="1789" i="true">
                <a:solidFill>
                  <a:srgbClr val="FFFFFF"/>
                </a:solidFill>
                <a:latin typeface="Aileron Italics"/>
                <a:ea typeface="Aileron Italics"/>
                <a:cs typeface="Aileron Italics"/>
                <a:sym typeface="Aileron Italics"/>
              </a:rPr>
              <a:t>Esneklik</a:t>
            </a:r>
          </a:p>
        </p:txBody>
      </p:sp>
      <p:sp>
        <p:nvSpPr>
          <p:cNvPr name="TextBox 10" id="10"/>
          <p:cNvSpPr txBox="true"/>
          <p:nvPr/>
        </p:nvSpPr>
        <p:spPr>
          <a:xfrm rot="0">
            <a:off x="11625470" y="8263519"/>
            <a:ext cx="2469039" cy="383480"/>
          </a:xfrm>
          <a:prstGeom prst="rect">
            <a:avLst/>
          </a:prstGeom>
        </p:spPr>
        <p:txBody>
          <a:bodyPr anchor="t" rtlCol="false" tIns="0" lIns="0" bIns="0" rIns="0">
            <a:spAutoFit/>
          </a:bodyPr>
          <a:lstStyle/>
          <a:p>
            <a:pPr algn="ctr" marL="0" indent="0" lvl="0">
              <a:lnSpc>
                <a:spcPts val="3013"/>
              </a:lnSpc>
              <a:spcBef>
                <a:spcPct val="0"/>
              </a:spcBef>
            </a:pPr>
            <a:r>
              <a:rPr lang="en-US" b="true" sz="2152">
                <a:solidFill>
                  <a:srgbClr val="FFFFFF"/>
                </a:solidFill>
                <a:latin typeface="Aileron Bold"/>
                <a:ea typeface="Aileron Bold"/>
                <a:cs typeface="Aileron Bold"/>
                <a:sym typeface="Aileron Bold"/>
              </a:rPr>
              <a:t>Simplicity</a:t>
            </a:r>
          </a:p>
        </p:txBody>
      </p:sp>
      <p:sp>
        <p:nvSpPr>
          <p:cNvPr name="TextBox 11" id="11"/>
          <p:cNvSpPr txBox="true"/>
          <p:nvPr/>
        </p:nvSpPr>
        <p:spPr>
          <a:xfrm rot="0">
            <a:off x="11856220" y="8672183"/>
            <a:ext cx="2007538" cy="310576"/>
          </a:xfrm>
          <a:prstGeom prst="rect">
            <a:avLst/>
          </a:prstGeom>
        </p:spPr>
        <p:txBody>
          <a:bodyPr anchor="t" rtlCol="false" tIns="0" lIns="0" bIns="0" rIns="0">
            <a:spAutoFit/>
          </a:bodyPr>
          <a:lstStyle/>
          <a:p>
            <a:pPr algn="ctr" marL="0" indent="0" lvl="0">
              <a:lnSpc>
                <a:spcPts val="2505"/>
              </a:lnSpc>
              <a:spcBef>
                <a:spcPct val="0"/>
              </a:spcBef>
            </a:pPr>
            <a:r>
              <a:rPr lang="en-US" sz="1789" i="true">
                <a:solidFill>
                  <a:srgbClr val="FFFFFF"/>
                </a:solidFill>
                <a:latin typeface="Aileron Italics"/>
                <a:ea typeface="Aileron Italics"/>
                <a:cs typeface="Aileron Italics"/>
                <a:sym typeface="Aileron Italics"/>
              </a:rPr>
              <a:t>Sadelik</a:t>
            </a:r>
          </a:p>
        </p:txBody>
      </p:sp>
      <p:sp>
        <p:nvSpPr>
          <p:cNvPr name="TextBox 12" id="12"/>
          <p:cNvSpPr txBox="true"/>
          <p:nvPr/>
        </p:nvSpPr>
        <p:spPr>
          <a:xfrm rot="0">
            <a:off x="4545786" y="1641287"/>
            <a:ext cx="5777439" cy="784176"/>
          </a:xfrm>
          <a:prstGeom prst="rect">
            <a:avLst/>
          </a:prstGeom>
        </p:spPr>
        <p:txBody>
          <a:bodyPr anchor="t" rtlCol="false" tIns="0" lIns="0" bIns="0" rIns="0">
            <a:spAutoFit/>
          </a:bodyPr>
          <a:lstStyle/>
          <a:p>
            <a:pPr algn="l" marL="0" indent="0" lvl="0">
              <a:lnSpc>
                <a:spcPts val="6045"/>
              </a:lnSpc>
            </a:pPr>
            <a:r>
              <a:rPr lang="en-US" b="true" sz="5496">
                <a:solidFill>
                  <a:srgbClr val="FFFFFF"/>
                </a:solidFill>
                <a:latin typeface="HK Grotesk Bold"/>
                <a:ea typeface="HK Grotesk Bold"/>
                <a:cs typeface="HK Grotesk Bold"/>
                <a:sym typeface="HK Grotesk Bold"/>
              </a:rPr>
              <a:t>KÜTÜPHANENİN</a:t>
            </a:r>
          </a:p>
        </p:txBody>
      </p:sp>
      <p:sp>
        <p:nvSpPr>
          <p:cNvPr name="AutoShape 13" id="13"/>
          <p:cNvSpPr/>
          <p:nvPr/>
        </p:nvSpPr>
        <p:spPr>
          <a:xfrm flipV="true">
            <a:off x="4233740" y="1676822"/>
            <a:ext cx="0" cy="1611738"/>
          </a:xfrm>
          <a:prstGeom prst="line">
            <a:avLst/>
          </a:prstGeom>
          <a:ln cap="flat" w="133350">
            <a:solidFill>
              <a:srgbClr val="D15353"/>
            </a:solidFill>
            <a:prstDash val="solid"/>
            <a:headEnd type="none" len="sm" w="sm"/>
            <a:tailEnd type="none" len="sm" w="sm"/>
          </a:ln>
        </p:spPr>
      </p:sp>
      <p:sp>
        <p:nvSpPr>
          <p:cNvPr name="Freeform 14" id="14"/>
          <p:cNvSpPr/>
          <p:nvPr/>
        </p:nvSpPr>
        <p:spPr>
          <a:xfrm flipH="false" flipV="false" rot="0">
            <a:off x="4167065" y="3706891"/>
            <a:ext cx="2909318" cy="4366706"/>
          </a:xfrm>
          <a:custGeom>
            <a:avLst/>
            <a:gdLst/>
            <a:ahLst/>
            <a:cxnLst/>
            <a:rect r="r" b="b" t="t" l="l"/>
            <a:pathLst>
              <a:path h="4366706" w="2909318">
                <a:moveTo>
                  <a:pt x="0" y="0"/>
                </a:moveTo>
                <a:lnTo>
                  <a:pt x="2909318" y="0"/>
                </a:lnTo>
                <a:lnTo>
                  <a:pt x="2909318" y="4366706"/>
                </a:lnTo>
                <a:lnTo>
                  <a:pt x="0" y="4366706"/>
                </a:lnTo>
                <a:lnTo>
                  <a:pt x="0" y="0"/>
                </a:lnTo>
                <a:close/>
              </a:path>
            </a:pathLst>
          </a:custGeom>
          <a:blipFill>
            <a:blip r:embed="rId2"/>
            <a:stretch>
              <a:fillRect l="-281" t="0" r="-281" b="0"/>
            </a:stretch>
          </a:blipFill>
        </p:spPr>
      </p:sp>
      <p:sp>
        <p:nvSpPr>
          <p:cNvPr name="Freeform 15" id="15"/>
          <p:cNvSpPr/>
          <p:nvPr/>
        </p:nvSpPr>
        <p:spPr>
          <a:xfrm flipH="false" flipV="false" rot="0">
            <a:off x="7814812" y="3699042"/>
            <a:ext cx="2909318" cy="4366706"/>
          </a:xfrm>
          <a:custGeom>
            <a:avLst/>
            <a:gdLst/>
            <a:ahLst/>
            <a:cxnLst/>
            <a:rect r="r" b="b" t="t" l="l"/>
            <a:pathLst>
              <a:path h="4366706" w="2909318">
                <a:moveTo>
                  <a:pt x="0" y="0"/>
                </a:moveTo>
                <a:lnTo>
                  <a:pt x="2909318" y="0"/>
                </a:lnTo>
                <a:lnTo>
                  <a:pt x="2909318" y="4366706"/>
                </a:lnTo>
                <a:lnTo>
                  <a:pt x="0" y="4366706"/>
                </a:lnTo>
                <a:lnTo>
                  <a:pt x="0" y="0"/>
                </a:lnTo>
                <a:close/>
              </a:path>
            </a:pathLst>
          </a:custGeom>
          <a:blipFill>
            <a:blip r:embed="rId3"/>
            <a:stretch>
              <a:fillRect l="-281" t="0" r="-281" b="0"/>
            </a:stretch>
          </a:blipFill>
        </p:spPr>
      </p:sp>
      <p:sp>
        <p:nvSpPr>
          <p:cNvPr name="Freeform 16" id="16"/>
          <p:cNvSpPr/>
          <p:nvPr/>
        </p:nvSpPr>
        <p:spPr>
          <a:xfrm flipH="false" flipV="false" rot="0">
            <a:off x="11405330" y="3706891"/>
            <a:ext cx="2909318" cy="4413041"/>
          </a:xfrm>
          <a:custGeom>
            <a:avLst/>
            <a:gdLst/>
            <a:ahLst/>
            <a:cxnLst/>
            <a:rect r="r" b="b" t="t" l="l"/>
            <a:pathLst>
              <a:path h="4413041" w="2909318">
                <a:moveTo>
                  <a:pt x="0" y="0"/>
                </a:moveTo>
                <a:lnTo>
                  <a:pt x="2909318" y="0"/>
                </a:lnTo>
                <a:lnTo>
                  <a:pt x="2909318" y="4413041"/>
                </a:lnTo>
                <a:lnTo>
                  <a:pt x="0" y="4413041"/>
                </a:lnTo>
                <a:lnTo>
                  <a:pt x="0" y="0"/>
                </a:lnTo>
                <a:close/>
              </a:path>
            </a:pathLst>
          </a:custGeom>
          <a:blipFill>
            <a:blip r:embed="rId4"/>
            <a:stretch>
              <a:fillRect l="0" t="-133" r="0" b="-133"/>
            </a:stretch>
          </a:blipFill>
        </p:spPr>
      </p:sp>
      <p:sp>
        <p:nvSpPr>
          <p:cNvPr name="Freeform 17" id="17"/>
          <p:cNvSpPr/>
          <p:nvPr/>
        </p:nvSpPr>
        <p:spPr>
          <a:xfrm flipH="false" flipV="false" rot="0">
            <a:off x="12124826" y="-5328158"/>
            <a:ext cx="10674613" cy="9915287"/>
          </a:xfrm>
          <a:custGeom>
            <a:avLst/>
            <a:gdLst/>
            <a:ahLst/>
            <a:cxnLst/>
            <a:rect r="r" b="b" t="t" l="l"/>
            <a:pathLst>
              <a:path h="9915287" w="10674613">
                <a:moveTo>
                  <a:pt x="0" y="0"/>
                </a:moveTo>
                <a:lnTo>
                  <a:pt x="10674613" y="0"/>
                </a:lnTo>
                <a:lnTo>
                  <a:pt x="10674613" y="9915287"/>
                </a:lnTo>
                <a:lnTo>
                  <a:pt x="0" y="9915287"/>
                </a:lnTo>
                <a:lnTo>
                  <a:pt x="0" y="0"/>
                </a:lnTo>
                <a:close/>
              </a:path>
            </a:pathLst>
          </a:custGeom>
          <a:blipFill>
            <a:blip r:embed="rId5">
              <a:extLst>
                <a:ext uri="{96DAC541-7B7A-43D3-8B79-37D633B846F1}">
                  <asvg:svgBlip xmlns:asvg="http://schemas.microsoft.com/office/drawing/2016/SVG/main" r:embed="rId6"/>
                </a:ext>
              </a:extLst>
            </a:blip>
            <a:stretch>
              <a:fillRect l="-40376" t="0" r="0" b="0"/>
            </a:stretch>
          </a:blipFill>
        </p:spPr>
      </p:sp>
      <p:sp>
        <p:nvSpPr>
          <p:cNvPr name="Freeform 18" id="18"/>
          <p:cNvSpPr/>
          <p:nvPr/>
        </p:nvSpPr>
        <p:spPr>
          <a:xfrm flipH="false" flipV="false" rot="-9077721">
            <a:off x="-5255947" y="5434483"/>
            <a:ext cx="9429146" cy="8608194"/>
          </a:xfrm>
          <a:custGeom>
            <a:avLst/>
            <a:gdLst/>
            <a:ahLst/>
            <a:cxnLst/>
            <a:rect r="r" b="b" t="t" l="l"/>
            <a:pathLst>
              <a:path h="8608194" w="9429146">
                <a:moveTo>
                  <a:pt x="0" y="0"/>
                </a:moveTo>
                <a:lnTo>
                  <a:pt x="9429146" y="0"/>
                </a:lnTo>
                <a:lnTo>
                  <a:pt x="9429146" y="8608195"/>
                </a:lnTo>
                <a:lnTo>
                  <a:pt x="0" y="8608195"/>
                </a:lnTo>
                <a:lnTo>
                  <a:pt x="0" y="0"/>
                </a:lnTo>
                <a:close/>
              </a:path>
            </a:pathLst>
          </a:custGeom>
          <a:blipFill>
            <a:blip r:embed="rId5">
              <a:extLst>
                <a:ext uri="{96DAC541-7B7A-43D3-8B79-37D633B846F1}">
                  <asvg:svgBlip xmlns:asvg="http://schemas.microsoft.com/office/drawing/2016/SVG/main" r:embed="rId6"/>
                </a:ext>
              </a:extLst>
            </a:blip>
            <a:stretch>
              <a:fillRect l="-37968"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6979616">
            <a:off x="7809083" y="6024590"/>
            <a:ext cx="11173984" cy="7393795"/>
          </a:xfrm>
          <a:custGeom>
            <a:avLst/>
            <a:gdLst/>
            <a:ahLst/>
            <a:cxnLst/>
            <a:rect r="r" b="b" t="t" l="l"/>
            <a:pathLst>
              <a:path h="7393795" w="11173984">
                <a:moveTo>
                  <a:pt x="0" y="0"/>
                </a:moveTo>
                <a:lnTo>
                  <a:pt x="11173984" y="0"/>
                </a:lnTo>
                <a:lnTo>
                  <a:pt x="11173984" y="7393794"/>
                </a:lnTo>
                <a:lnTo>
                  <a:pt x="0" y="73937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587390" y="2189060"/>
            <a:ext cx="3290345" cy="5908879"/>
            <a:chOff x="0" y="0"/>
            <a:chExt cx="4387127" cy="7878506"/>
          </a:xfrm>
        </p:grpSpPr>
        <p:pic>
          <p:nvPicPr>
            <p:cNvPr name="Picture 4" id="4"/>
            <p:cNvPicPr>
              <a:picLocks noChangeAspect="true"/>
            </p:cNvPicPr>
            <p:nvPr/>
          </p:nvPicPr>
          <p:blipFill>
            <a:blip r:embed="rId4"/>
            <a:srcRect l="58" t="0" r="58" b="0"/>
            <a:stretch>
              <a:fillRect/>
            </a:stretch>
          </p:blipFill>
          <p:spPr>
            <a:xfrm flipH="false" flipV="false">
              <a:off x="0" y="0"/>
              <a:ext cx="4387127" cy="7878506"/>
            </a:xfrm>
            <a:prstGeom prst="rect">
              <a:avLst/>
            </a:prstGeom>
          </p:spPr>
        </p:pic>
      </p:grpSp>
      <p:grpSp>
        <p:nvGrpSpPr>
          <p:cNvPr name="Group 5" id="5"/>
          <p:cNvGrpSpPr/>
          <p:nvPr/>
        </p:nvGrpSpPr>
        <p:grpSpPr>
          <a:xfrm rot="0">
            <a:off x="13195414" y="2189060"/>
            <a:ext cx="3290345" cy="5908879"/>
            <a:chOff x="0" y="0"/>
            <a:chExt cx="4387127" cy="7878506"/>
          </a:xfrm>
        </p:grpSpPr>
        <p:pic>
          <p:nvPicPr>
            <p:cNvPr name="Picture 6" id="6"/>
            <p:cNvPicPr>
              <a:picLocks noChangeAspect="true"/>
            </p:cNvPicPr>
            <p:nvPr/>
          </p:nvPicPr>
          <p:blipFill>
            <a:blip r:embed="rId5"/>
            <a:srcRect l="58" t="0" r="58" b="0"/>
            <a:stretch>
              <a:fillRect/>
            </a:stretch>
          </p:blipFill>
          <p:spPr>
            <a:xfrm flipH="false" flipV="false">
              <a:off x="0" y="0"/>
              <a:ext cx="4387127" cy="7878506"/>
            </a:xfrm>
            <a:prstGeom prst="rect">
              <a:avLst/>
            </a:prstGeom>
          </p:spPr>
        </p:pic>
      </p:grpSp>
      <p:sp>
        <p:nvSpPr>
          <p:cNvPr name="TextBox 7" id="7"/>
          <p:cNvSpPr txBox="true"/>
          <p:nvPr/>
        </p:nvSpPr>
        <p:spPr>
          <a:xfrm rot="0">
            <a:off x="2219000" y="3621736"/>
            <a:ext cx="6842848" cy="1095375"/>
          </a:xfrm>
          <a:prstGeom prst="rect">
            <a:avLst/>
          </a:prstGeom>
        </p:spPr>
        <p:txBody>
          <a:bodyPr anchor="t" rtlCol="false" tIns="0" lIns="0" bIns="0" rIns="0">
            <a:spAutoFit/>
          </a:bodyPr>
          <a:lstStyle/>
          <a:p>
            <a:pPr algn="l" marL="0" indent="0" lvl="0">
              <a:lnSpc>
                <a:spcPts val="8604"/>
              </a:lnSpc>
              <a:spcBef>
                <a:spcPct val="0"/>
              </a:spcBef>
            </a:pPr>
            <a:r>
              <a:rPr lang="en-US" b="true" sz="7170">
                <a:solidFill>
                  <a:srgbClr val="253439"/>
                </a:solidFill>
                <a:latin typeface="Glacial Indifference Bold"/>
                <a:ea typeface="Glacial Indifference Bold"/>
                <a:cs typeface="Glacial Indifference Bold"/>
                <a:sym typeface="Glacial Indifference Bold"/>
              </a:rPr>
              <a:t>NE YAPACAĞIZ?</a:t>
            </a:r>
          </a:p>
        </p:txBody>
      </p:sp>
      <p:sp>
        <p:nvSpPr>
          <p:cNvPr name="TextBox 8" id="8"/>
          <p:cNvSpPr txBox="true"/>
          <p:nvPr/>
        </p:nvSpPr>
        <p:spPr>
          <a:xfrm rot="0">
            <a:off x="1802241" y="5389243"/>
            <a:ext cx="6545849" cy="2496285"/>
          </a:xfrm>
          <a:prstGeom prst="rect">
            <a:avLst/>
          </a:prstGeom>
        </p:spPr>
        <p:txBody>
          <a:bodyPr anchor="t" rtlCol="false" tIns="0" lIns="0" bIns="0" rIns="0">
            <a:spAutoFit/>
          </a:bodyPr>
          <a:lstStyle/>
          <a:p>
            <a:pPr algn="l" marL="0" indent="0" lvl="0">
              <a:lnSpc>
                <a:spcPts val="3346"/>
              </a:lnSpc>
              <a:spcBef>
                <a:spcPct val="0"/>
              </a:spcBef>
            </a:pPr>
            <a:r>
              <a:rPr lang="en-US" sz="2230">
                <a:solidFill>
                  <a:srgbClr val="253439"/>
                </a:solidFill>
                <a:latin typeface="Aileron"/>
                <a:ea typeface="Aileron"/>
                <a:cs typeface="Aileron"/>
                <a:sym typeface="Aileron"/>
              </a:rPr>
              <a:t>Bölüm, bir model ve bir tokenizer'ı birlikte kullanıp Bölüm 1'deki pipeline() fonksiyonunu taklit ettiğimiz uçtan uca bir örnekle başlıyor.</a:t>
            </a:r>
          </a:p>
          <a:p>
            <a:pPr algn="l" marL="0" indent="0" lvl="0">
              <a:lnSpc>
                <a:spcPts val="3346"/>
              </a:lnSpc>
              <a:spcBef>
                <a:spcPct val="0"/>
              </a:spcBef>
            </a:pPr>
            <a:r>
              <a:rPr lang="en-US" sz="2230">
                <a:solidFill>
                  <a:srgbClr val="253439"/>
                </a:solidFill>
                <a:latin typeface="Aileron"/>
                <a:ea typeface="Aileron"/>
                <a:cs typeface="Aileron"/>
                <a:sym typeface="Aileron"/>
              </a:rPr>
              <a:t>Model Hub ve Transformers'ın tüm özelliklerinden yararlanmak için bir Hugging Face hesabı oluşturulmanızı öneriyoruz.</a:t>
            </a:r>
          </a:p>
        </p:txBody>
      </p:sp>
      <p:sp>
        <p:nvSpPr>
          <p:cNvPr name="TextBox 9" id="9"/>
          <p:cNvSpPr txBox="true"/>
          <p:nvPr/>
        </p:nvSpPr>
        <p:spPr>
          <a:xfrm rot="0">
            <a:off x="2219000" y="2656165"/>
            <a:ext cx="6842848" cy="1009650"/>
          </a:xfrm>
          <a:prstGeom prst="rect">
            <a:avLst/>
          </a:prstGeom>
        </p:spPr>
        <p:txBody>
          <a:bodyPr anchor="t" rtlCol="false" tIns="0" lIns="0" bIns="0" rIns="0">
            <a:spAutoFit/>
          </a:bodyPr>
          <a:lstStyle/>
          <a:p>
            <a:pPr algn="l" marL="0" indent="0" lvl="0">
              <a:lnSpc>
                <a:spcPts val="7914"/>
              </a:lnSpc>
              <a:spcBef>
                <a:spcPct val="0"/>
              </a:spcBef>
            </a:pPr>
            <a:r>
              <a:rPr lang="en-US" b="true" sz="6595">
                <a:solidFill>
                  <a:srgbClr val="253439"/>
                </a:solidFill>
                <a:latin typeface="HK Grotesk Bold"/>
                <a:ea typeface="HK Grotesk Bold"/>
                <a:cs typeface="HK Grotesk Bold"/>
                <a:sym typeface="HK Grotesk Bold"/>
              </a:rPr>
              <a:t>BU BÖLÜMDE</a:t>
            </a:r>
          </a:p>
        </p:txBody>
      </p:sp>
      <p:sp>
        <p:nvSpPr>
          <p:cNvPr name="AutoShape 10" id="10"/>
          <p:cNvSpPr/>
          <p:nvPr/>
        </p:nvSpPr>
        <p:spPr>
          <a:xfrm flipV="true">
            <a:off x="1868916" y="2643094"/>
            <a:ext cx="0" cy="2293092"/>
          </a:xfrm>
          <a:prstGeom prst="line">
            <a:avLst/>
          </a:prstGeom>
          <a:ln cap="flat" w="133350">
            <a:solidFill>
              <a:srgbClr val="D15353"/>
            </a:solidFill>
            <a:prstDash val="solid"/>
            <a:headEnd type="none" len="sm" w="sm"/>
            <a:tailEnd type="none" len="sm" w="sm"/>
          </a:ln>
        </p:spPr>
      </p:sp>
      <p:sp>
        <p:nvSpPr>
          <p:cNvPr name="TextBox 11" id="11"/>
          <p:cNvSpPr txBox="true"/>
          <p:nvPr/>
        </p:nvSpPr>
        <p:spPr>
          <a:xfrm rot="0">
            <a:off x="1802241" y="507317"/>
            <a:ext cx="8265361" cy="938793"/>
          </a:xfrm>
          <a:prstGeom prst="rect">
            <a:avLst/>
          </a:prstGeom>
        </p:spPr>
        <p:txBody>
          <a:bodyPr anchor="t" rtlCol="false" tIns="0" lIns="0" bIns="0" rIns="0">
            <a:spAutoFit/>
          </a:bodyPr>
          <a:lstStyle/>
          <a:p>
            <a:pPr algn="l" marL="0" indent="0" lvl="0">
              <a:lnSpc>
                <a:spcPts val="7455"/>
              </a:lnSpc>
              <a:spcBef>
                <a:spcPct val="0"/>
              </a:spcBef>
            </a:pPr>
            <a:r>
              <a:rPr lang="en-US" b="true" sz="6212">
                <a:solidFill>
                  <a:srgbClr val="253439"/>
                </a:solidFill>
                <a:latin typeface="Glacial Indifference Bold"/>
                <a:ea typeface="Glacial Indifference Bold"/>
                <a:cs typeface="Glacial Indifference Bold"/>
                <a:sym typeface="Glacial Indifference Bold"/>
              </a:rPr>
              <a:t>BEHIND THE PIPELINE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253439"/>
        </a:solidFill>
      </p:bgPr>
    </p:bg>
    <p:spTree>
      <p:nvGrpSpPr>
        <p:cNvPr id="1" name=""/>
        <p:cNvGrpSpPr/>
        <p:nvPr/>
      </p:nvGrpSpPr>
      <p:grpSpPr>
        <a:xfrm>
          <a:off x="0" y="0"/>
          <a:ext cx="0" cy="0"/>
          <a:chOff x="0" y="0"/>
          <a:chExt cx="0" cy="0"/>
        </a:xfrm>
      </p:grpSpPr>
      <p:sp>
        <p:nvSpPr>
          <p:cNvPr name="Freeform 2" id="2"/>
          <p:cNvSpPr/>
          <p:nvPr/>
        </p:nvSpPr>
        <p:spPr>
          <a:xfrm flipH="false" flipV="false" rot="-3554022">
            <a:off x="1768119" y="-7642360"/>
            <a:ext cx="24933943" cy="14869697"/>
          </a:xfrm>
          <a:custGeom>
            <a:avLst/>
            <a:gdLst/>
            <a:ahLst/>
            <a:cxnLst/>
            <a:rect r="r" b="b" t="t" l="l"/>
            <a:pathLst>
              <a:path h="14869697" w="24933943">
                <a:moveTo>
                  <a:pt x="0" y="0"/>
                </a:moveTo>
                <a:lnTo>
                  <a:pt x="24933943" y="0"/>
                </a:lnTo>
                <a:lnTo>
                  <a:pt x="24933943" y="14869697"/>
                </a:lnTo>
                <a:lnTo>
                  <a:pt x="0" y="148696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778715" y="1855807"/>
            <a:ext cx="19845431" cy="6575386"/>
            <a:chOff x="0" y="0"/>
            <a:chExt cx="5226780" cy="1731789"/>
          </a:xfrm>
        </p:grpSpPr>
        <p:sp>
          <p:nvSpPr>
            <p:cNvPr name="Freeform 4" id="4"/>
            <p:cNvSpPr/>
            <p:nvPr/>
          </p:nvSpPr>
          <p:spPr>
            <a:xfrm flipH="false" flipV="false" rot="0">
              <a:off x="0" y="0"/>
              <a:ext cx="5226780" cy="1731789"/>
            </a:xfrm>
            <a:custGeom>
              <a:avLst/>
              <a:gdLst/>
              <a:ahLst/>
              <a:cxnLst/>
              <a:rect r="r" b="b" t="t" l="l"/>
              <a:pathLst>
                <a:path h="1731789" w="5226780">
                  <a:moveTo>
                    <a:pt x="0" y="0"/>
                  </a:moveTo>
                  <a:lnTo>
                    <a:pt x="5226780" y="0"/>
                  </a:lnTo>
                  <a:lnTo>
                    <a:pt x="5226780" y="1731789"/>
                  </a:lnTo>
                  <a:lnTo>
                    <a:pt x="0" y="1731789"/>
                  </a:lnTo>
                  <a:close/>
                </a:path>
              </a:pathLst>
            </a:custGeom>
            <a:gradFill rotWithShape="true">
              <a:gsLst>
                <a:gs pos="0">
                  <a:srgbClr val="FDF7EF">
                    <a:alpha val="100000"/>
                  </a:srgbClr>
                </a:gs>
                <a:gs pos="100000">
                  <a:srgbClr val="FFFFFF">
                    <a:alpha val="100000"/>
                  </a:srgbClr>
                </a:gs>
              </a:gsLst>
              <a:lin ang="0"/>
            </a:gradFill>
            <a:ln cap="sq">
              <a:noFill/>
              <a:prstDash val="solid"/>
              <a:miter/>
            </a:ln>
          </p:spPr>
        </p:sp>
        <p:sp>
          <p:nvSpPr>
            <p:cNvPr name="TextBox 5" id="5"/>
            <p:cNvSpPr txBox="true"/>
            <p:nvPr/>
          </p:nvSpPr>
          <p:spPr>
            <a:xfrm>
              <a:off x="0" y="9525"/>
              <a:ext cx="5226780" cy="1722264"/>
            </a:xfrm>
            <a:prstGeom prst="rect">
              <a:avLst/>
            </a:prstGeom>
          </p:spPr>
          <p:txBody>
            <a:bodyPr anchor="ctr" rtlCol="false" tIns="50800" lIns="50800" bIns="50800" rIns="50800"/>
            <a:lstStyle/>
            <a:p>
              <a:pPr algn="ctr" marL="0" indent="0" lvl="0">
                <a:lnSpc>
                  <a:spcPts val="1869"/>
                </a:lnSpc>
              </a:pPr>
            </a:p>
          </p:txBody>
        </p:sp>
      </p:grpSp>
      <p:grpSp>
        <p:nvGrpSpPr>
          <p:cNvPr name="Group 6" id="6"/>
          <p:cNvGrpSpPr/>
          <p:nvPr/>
        </p:nvGrpSpPr>
        <p:grpSpPr>
          <a:xfrm rot="0">
            <a:off x="391333" y="4698798"/>
            <a:ext cx="4660796" cy="4559502"/>
            <a:chOff x="0" y="0"/>
            <a:chExt cx="1227535" cy="1200856"/>
          </a:xfrm>
        </p:grpSpPr>
        <p:sp>
          <p:nvSpPr>
            <p:cNvPr name="Freeform 7" id="7"/>
            <p:cNvSpPr/>
            <p:nvPr/>
          </p:nvSpPr>
          <p:spPr>
            <a:xfrm flipH="false" flipV="false" rot="0">
              <a:off x="0" y="0"/>
              <a:ext cx="1227535" cy="1200856"/>
            </a:xfrm>
            <a:custGeom>
              <a:avLst/>
              <a:gdLst/>
              <a:ahLst/>
              <a:cxnLst/>
              <a:rect r="r" b="b" t="t" l="l"/>
              <a:pathLst>
                <a:path h="1200856" w="1227535">
                  <a:moveTo>
                    <a:pt x="0" y="0"/>
                  </a:moveTo>
                  <a:lnTo>
                    <a:pt x="1227535" y="0"/>
                  </a:lnTo>
                  <a:lnTo>
                    <a:pt x="1227535" y="1200856"/>
                  </a:lnTo>
                  <a:lnTo>
                    <a:pt x="0" y="1200856"/>
                  </a:lnTo>
                  <a:close/>
                </a:path>
              </a:pathLst>
            </a:custGeom>
            <a:solidFill>
              <a:srgbClr val="D15353"/>
            </a:solidFill>
          </p:spPr>
        </p:sp>
        <p:sp>
          <p:nvSpPr>
            <p:cNvPr name="TextBox 8" id="8"/>
            <p:cNvSpPr txBox="true"/>
            <p:nvPr/>
          </p:nvSpPr>
          <p:spPr>
            <a:xfrm>
              <a:off x="0" y="-47625"/>
              <a:ext cx="1227535" cy="1248481"/>
            </a:xfrm>
            <a:prstGeom prst="rect">
              <a:avLst/>
            </a:prstGeom>
          </p:spPr>
          <p:txBody>
            <a:bodyPr anchor="ctr" rtlCol="false" tIns="50800" lIns="50800" bIns="50800" rIns="50800"/>
            <a:lstStyle/>
            <a:p>
              <a:pPr algn="ctr" marL="0" indent="0" lvl="0">
                <a:lnSpc>
                  <a:spcPts val="3244"/>
                </a:lnSpc>
              </a:pPr>
            </a:p>
          </p:txBody>
        </p:sp>
      </p:grpSp>
      <p:grpSp>
        <p:nvGrpSpPr>
          <p:cNvPr name="Group 9" id="9"/>
          <p:cNvGrpSpPr/>
          <p:nvPr/>
        </p:nvGrpSpPr>
        <p:grpSpPr>
          <a:xfrm rot="0">
            <a:off x="13191572" y="1756658"/>
            <a:ext cx="3290282" cy="3237187"/>
            <a:chOff x="0" y="0"/>
            <a:chExt cx="866576" cy="852592"/>
          </a:xfrm>
        </p:grpSpPr>
        <p:sp>
          <p:nvSpPr>
            <p:cNvPr name="Freeform 10" id="10"/>
            <p:cNvSpPr/>
            <p:nvPr/>
          </p:nvSpPr>
          <p:spPr>
            <a:xfrm flipH="false" flipV="false" rot="0">
              <a:off x="0" y="0"/>
              <a:ext cx="866576" cy="852593"/>
            </a:xfrm>
            <a:custGeom>
              <a:avLst/>
              <a:gdLst/>
              <a:ahLst/>
              <a:cxnLst/>
              <a:rect r="r" b="b" t="t" l="l"/>
              <a:pathLst>
                <a:path h="852593" w="866576">
                  <a:moveTo>
                    <a:pt x="0" y="0"/>
                  </a:moveTo>
                  <a:lnTo>
                    <a:pt x="866576" y="0"/>
                  </a:lnTo>
                  <a:lnTo>
                    <a:pt x="866576" y="852593"/>
                  </a:lnTo>
                  <a:lnTo>
                    <a:pt x="0" y="852593"/>
                  </a:lnTo>
                  <a:close/>
                </a:path>
              </a:pathLst>
            </a:custGeom>
            <a:solidFill>
              <a:srgbClr val="D15353"/>
            </a:solidFill>
          </p:spPr>
        </p:sp>
        <p:sp>
          <p:nvSpPr>
            <p:cNvPr name="TextBox 11" id="11"/>
            <p:cNvSpPr txBox="true"/>
            <p:nvPr/>
          </p:nvSpPr>
          <p:spPr>
            <a:xfrm>
              <a:off x="0" y="-47625"/>
              <a:ext cx="866576" cy="900217"/>
            </a:xfrm>
            <a:prstGeom prst="rect">
              <a:avLst/>
            </a:prstGeom>
          </p:spPr>
          <p:txBody>
            <a:bodyPr anchor="ctr" rtlCol="false" tIns="50800" lIns="50800" bIns="50800" rIns="50800"/>
            <a:lstStyle/>
            <a:p>
              <a:pPr algn="ctr" marL="0" indent="0" lvl="0">
                <a:lnSpc>
                  <a:spcPts val="3244"/>
                </a:lnSpc>
              </a:pPr>
            </a:p>
          </p:txBody>
        </p:sp>
      </p:grpSp>
      <p:sp>
        <p:nvSpPr>
          <p:cNvPr name="AutoShape 12" id="12"/>
          <p:cNvSpPr/>
          <p:nvPr/>
        </p:nvSpPr>
        <p:spPr>
          <a:xfrm flipV="true">
            <a:off x="17248333" y="3375252"/>
            <a:ext cx="21934" cy="4209074"/>
          </a:xfrm>
          <a:prstGeom prst="line">
            <a:avLst/>
          </a:prstGeom>
          <a:ln cap="flat" w="133350">
            <a:solidFill>
              <a:srgbClr val="D15353"/>
            </a:solidFill>
            <a:prstDash val="solid"/>
            <a:headEnd type="none" len="sm" w="sm"/>
            <a:tailEnd type="none" len="sm" w="sm"/>
          </a:ln>
        </p:spPr>
      </p:sp>
      <p:sp>
        <p:nvSpPr>
          <p:cNvPr name="TextBox 13" id="13"/>
          <p:cNvSpPr txBox="true"/>
          <p:nvPr/>
        </p:nvSpPr>
        <p:spPr>
          <a:xfrm rot="0">
            <a:off x="-3209490" y="697557"/>
            <a:ext cx="5931221" cy="742772"/>
          </a:xfrm>
          <a:prstGeom prst="rect">
            <a:avLst/>
          </a:prstGeom>
        </p:spPr>
        <p:txBody>
          <a:bodyPr anchor="t" rtlCol="false" tIns="0" lIns="0" bIns="0" rIns="0">
            <a:spAutoFit/>
          </a:bodyPr>
          <a:lstStyle/>
          <a:p>
            <a:pPr algn="r" marL="0" indent="0" lvl="0">
              <a:lnSpc>
                <a:spcPts val="5759"/>
              </a:lnSpc>
            </a:pPr>
            <a:r>
              <a:rPr lang="en-US" b="true" sz="5236" spc="167">
                <a:solidFill>
                  <a:srgbClr val="000000"/>
                </a:solidFill>
                <a:latin typeface="Glacial Indifference Bold"/>
                <a:ea typeface="Glacial Indifference Bold"/>
                <a:cs typeface="Glacial Indifference Bold"/>
                <a:sym typeface="Glacial Indifference Bold"/>
              </a:rPr>
              <a:t>KOD 1</a:t>
            </a:r>
          </a:p>
        </p:txBody>
      </p:sp>
      <p:pic>
        <p:nvPicPr>
          <p:cNvPr name="Picture 14" id="14">
            <a:hlinkClick action="ppaction://media"/>
          </p:cNvPr>
          <p:cNvPicPr>
            <a:picLocks noChangeAspect="true"/>
          </p:cNvPicPr>
          <p:nvPr>
            <a:videoFile r:link="rId5"/>
            <p:extLst>
              <p:ext uri="{DAA4B4D4-6D71-4841-9C94-3DE7FCFB9230}">
                <p14:media xmlns:p14="http://schemas.microsoft.com/office/powerpoint/2010/main" r:embed="rId6">
                  <p14:trim st="0.0000" end="-0.1460"/>
                </p14:media>
              </p:ext>
            </p:extLst>
          </p:nvPr>
        </p:nvPicPr>
        <p:blipFill>
          <a:blip r:embed="rId4"/>
          <a:srcRect l="0" t="16074" r="0" b="0"/>
          <a:stretch>
            <a:fillRect/>
          </a:stretch>
        </p:blipFill>
        <p:spPr>
          <a:xfrm flipH="false" flipV="false" rot="0">
            <a:off x="1028700" y="2347013"/>
            <a:ext cx="14851532" cy="5879319"/>
          </a:xfrm>
          <a:prstGeom prst="rect">
            <a:avLst/>
          </a:prstGeom>
        </p:spPr>
      </p:pic>
    </p:spTree>
  </p:cSld>
  <p:clrMapOvr>
    <a:masterClrMapping/>
  </p:clrMapOvr>
  <p:timing>
    <p:tnLst>
      <p:par>
        <p:cTn dur="indefinite" restart="never" nodeType="tmRoot">
          <p:childTnLst>
            <p:video>
              <p:cMediaNode vol="100000">
                <p:cTn fill="hold" display="false">
                  <p:stCondLst>
                    <p:cond delay="indefinite"/>
                  </p:stCondLst>
                </p:cTn>
                <p:tgtEl>
                  <p:spTgt spid="14"/>
                </p:tgtEl>
              </p:cMediaNode>
            </p:video>
          </p:childTnLst>
        </p:cTn>
      </p:par>
    </p:tnLst>
  </p:timing>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253439"/>
        </a:solidFill>
      </p:bgPr>
    </p:bg>
    <p:spTree>
      <p:nvGrpSpPr>
        <p:cNvPr id="1" name=""/>
        <p:cNvGrpSpPr/>
        <p:nvPr/>
      </p:nvGrpSpPr>
      <p:grpSpPr>
        <a:xfrm>
          <a:off x="0" y="0"/>
          <a:ext cx="0" cy="0"/>
          <a:chOff x="0" y="0"/>
          <a:chExt cx="0" cy="0"/>
        </a:xfrm>
      </p:grpSpPr>
      <p:sp>
        <p:nvSpPr>
          <p:cNvPr name="Freeform 2" id="2"/>
          <p:cNvSpPr/>
          <p:nvPr/>
        </p:nvSpPr>
        <p:spPr>
          <a:xfrm flipH="false" flipV="false" rot="-3554022">
            <a:off x="1768119" y="-7642360"/>
            <a:ext cx="24933943" cy="14869697"/>
          </a:xfrm>
          <a:custGeom>
            <a:avLst/>
            <a:gdLst/>
            <a:ahLst/>
            <a:cxnLst/>
            <a:rect r="r" b="b" t="t" l="l"/>
            <a:pathLst>
              <a:path h="14869697" w="24933943">
                <a:moveTo>
                  <a:pt x="0" y="0"/>
                </a:moveTo>
                <a:lnTo>
                  <a:pt x="24933943" y="0"/>
                </a:lnTo>
                <a:lnTo>
                  <a:pt x="24933943" y="14869697"/>
                </a:lnTo>
                <a:lnTo>
                  <a:pt x="0" y="148696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778715" y="1855807"/>
            <a:ext cx="19845431" cy="6575386"/>
            <a:chOff x="0" y="0"/>
            <a:chExt cx="5226780" cy="1731789"/>
          </a:xfrm>
        </p:grpSpPr>
        <p:sp>
          <p:nvSpPr>
            <p:cNvPr name="Freeform 4" id="4"/>
            <p:cNvSpPr/>
            <p:nvPr/>
          </p:nvSpPr>
          <p:spPr>
            <a:xfrm flipH="false" flipV="false" rot="0">
              <a:off x="0" y="0"/>
              <a:ext cx="5226780" cy="1731789"/>
            </a:xfrm>
            <a:custGeom>
              <a:avLst/>
              <a:gdLst/>
              <a:ahLst/>
              <a:cxnLst/>
              <a:rect r="r" b="b" t="t" l="l"/>
              <a:pathLst>
                <a:path h="1731789" w="5226780">
                  <a:moveTo>
                    <a:pt x="0" y="0"/>
                  </a:moveTo>
                  <a:lnTo>
                    <a:pt x="5226780" y="0"/>
                  </a:lnTo>
                  <a:lnTo>
                    <a:pt x="5226780" y="1731789"/>
                  </a:lnTo>
                  <a:lnTo>
                    <a:pt x="0" y="1731789"/>
                  </a:lnTo>
                  <a:close/>
                </a:path>
              </a:pathLst>
            </a:custGeom>
            <a:gradFill rotWithShape="true">
              <a:gsLst>
                <a:gs pos="0">
                  <a:srgbClr val="FDF7EF">
                    <a:alpha val="100000"/>
                  </a:srgbClr>
                </a:gs>
                <a:gs pos="100000">
                  <a:srgbClr val="FFFFFF">
                    <a:alpha val="100000"/>
                  </a:srgbClr>
                </a:gs>
              </a:gsLst>
              <a:lin ang="0"/>
            </a:gradFill>
            <a:ln cap="sq">
              <a:noFill/>
              <a:prstDash val="solid"/>
              <a:miter/>
            </a:ln>
          </p:spPr>
        </p:sp>
        <p:sp>
          <p:nvSpPr>
            <p:cNvPr name="TextBox 5" id="5"/>
            <p:cNvSpPr txBox="true"/>
            <p:nvPr/>
          </p:nvSpPr>
          <p:spPr>
            <a:xfrm>
              <a:off x="0" y="9525"/>
              <a:ext cx="5226780" cy="1722264"/>
            </a:xfrm>
            <a:prstGeom prst="rect">
              <a:avLst/>
            </a:prstGeom>
          </p:spPr>
          <p:txBody>
            <a:bodyPr anchor="ctr" rtlCol="false" tIns="50800" lIns="50800" bIns="50800" rIns="50800"/>
            <a:lstStyle/>
            <a:p>
              <a:pPr algn="ctr" marL="0" indent="0" lvl="0">
                <a:lnSpc>
                  <a:spcPts val="1869"/>
                </a:lnSpc>
              </a:pPr>
            </a:p>
          </p:txBody>
        </p:sp>
      </p:grpSp>
      <p:grpSp>
        <p:nvGrpSpPr>
          <p:cNvPr name="Group 6" id="6"/>
          <p:cNvGrpSpPr/>
          <p:nvPr/>
        </p:nvGrpSpPr>
        <p:grpSpPr>
          <a:xfrm rot="0">
            <a:off x="391333" y="4698798"/>
            <a:ext cx="4660796" cy="4559502"/>
            <a:chOff x="0" y="0"/>
            <a:chExt cx="1227535" cy="1200856"/>
          </a:xfrm>
        </p:grpSpPr>
        <p:sp>
          <p:nvSpPr>
            <p:cNvPr name="Freeform 7" id="7"/>
            <p:cNvSpPr/>
            <p:nvPr/>
          </p:nvSpPr>
          <p:spPr>
            <a:xfrm flipH="false" flipV="false" rot="0">
              <a:off x="0" y="0"/>
              <a:ext cx="1227535" cy="1200856"/>
            </a:xfrm>
            <a:custGeom>
              <a:avLst/>
              <a:gdLst/>
              <a:ahLst/>
              <a:cxnLst/>
              <a:rect r="r" b="b" t="t" l="l"/>
              <a:pathLst>
                <a:path h="1200856" w="1227535">
                  <a:moveTo>
                    <a:pt x="0" y="0"/>
                  </a:moveTo>
                  <a:lnTo>
                    <a:pt x="1227535" y="0"/>
                  </a:lnTo>
                  <a:lnTo>
                    <a:pt x="1227535" y="1200856"/>
                  </a:lnTo>
                  <a:lnTo>
                    <a:pt x="0" y="1200856"/>
                  </a:lnTo>
                  <a:close/>
                </a:path>
              </a:pathLst>
            </a:custGeom>
            <a:solidFill>
              <a:srgbClr val="D15353"/>
            </a:solidFill>
          </p:spPr>
        </p:sp>
        <p:sp>
          <p:nvSpPr>
            <p:cNvPr name="TextBox 8" id="8"/>
            <p:cNvSpPr txBox="true"/>
            <p:nvPr/>
          </p:nvSpPr>
          <p:spPr>
            <a:xfrm>
              <a:off x="0" y="-47625"/>
              <a:ext cx="1227535" cy="1248481"/>
            </a:xfrm>
            <a:prstGeom prst="rect">
              <a:avLst/>
            </a:prstGeom>
          </p:spPr>
          <p:txBody>
            <a:bodyPr anchor="ctr" rtlCol="false" tIns="50800" lIns="50800" bIns="50800" rIns="50800"/>
            <a:lstStyle/>
            <a:p>
              <a:pPr algn="ctr" marL="0" indent="0" lvl="0">
                <a:lnSpc>
                  <a:spcPts val="3244"/>
                </a:lnSpc>
              </a:pPr>
            </a:p>
          </p:txBody>
        </p:sp>
      </p:grpSp>
      <p:grpSp>
        <p:nvGrpSpPr>
          <p:cNvPr name="Group 9" id="9"/>
          <p:cNvGrpSpPr/>
          <p:nvPr/>
        </p:nvGrpSpPr>
        <p:grpSpPr>
          <a:xfrm rot="0">
            <a:off x="13432221" y="1906313"/>
            <a:ext cx="3290282" cy="3237187"/>
            <a:chOff x="0" y="0"/>
            <a:chExt cx="866576" cy="852592"/>
          </a:xfrm>
        </p:grpSpPr>
        <p:sp>
          <p:nvSpPr>
            <p:cNvPr name="Freeform 10" id="10"/>
            <p:cNvSpPr/>
            <p:nvPr/>
          </p:nvSpPr>
          <p:spPr>
            <a:xfrm flipH="false" flipV="false" rot="0">
              <a:off x="0" y="0"/>
              <a:ext cx="866576" cy="852593"/>
            </a:xfrm>
            <a:custGeom>
              <a:avLst/>
              <a:gdLst/>
              <a:ahLst/>
              <a:cxnLst/>
              <a:rect r="r" b="b" t="t" l="l"/>
              <a:pathLst>
                <a:path h="852593" w="866576">
                  <a:moveTo>
                    <a:pt x="0" y="0"/>
                  </a:moveTo>
                  <a:lnTo>
                    <a:pt x="866576" y="0"/>
                  </a:lnTo>
                  <a:lnTo>
                    <a:pt x="866576" y="852593"/>
                  </a:lnTo>
                  <a:lnTo>
                    <a:pt x="0" y="852593"/>
                  </a:lnTo>
                  <a:close/>
                </a:path>
              </a:pathLst>
            </a:custGeom>
            <a:solidFill>
              <a:srgbClr val="D15353"/>
            </a:solidFill>
          </p:spPr>
        </p:sp>
        <p:sp>
          <p:nvSpPr>
            <p:cNvPr name="TextBox 11" id="11"/>
            <p:cNvSpPr txBox="true"/>
            <p:nvPr/>
          </p:nvSpPr>
          <p:spPr>
            <a:xfrm>
              <a:off x="0" y="-47625"/>
              <a:ext cx="866576" cy="900217"/>
            </a:xfrm>
            <a:prstGeom prst="rect">
              <a:avLst/>
            </a:prstGeom>
          </p:spPr>
          <p:txBody>
            <a:bodyPr anchor="ctr" rtlCol="false" tIns="50800" lIns="50800" bIns="50800" rIns="50800"/>
            <a:lstStyle/>
            <a:p>
              <a:pPr algn="ctr" marL="0" indent="0" lvl="0">
                <a:lnSpc>
                  <a:spcPts val="3244"/>
                </a:lnSpc>
              </a:pPr>
            </a:p>
          </p:txBody>
        </p:sp>
      </p:grpSp>
      <p:sp>
        <p:nvSpPr>
          <p:cNvPr name="AutoShape 12" id="12"/>
          <p:cNvSpPr/>
          <p:nvPr/>
        </p:nvSpPr>
        <p:spPr>
          <a:xfrm flipV="true">
            <a:off x="17248333" y="3375252"/>
            <a:ext cx="21934" cy="4209074"/>
          </a:xfrm>
          <a:prstGeom prst="line">
            <a:avLst/>
          </a:prstGeom>
          <a:ln cap="flat" w="133350">
            <a:solidFill>
              <a:srgbClr val="D15353"/>
            </a:solidFill>
            <a:prstDash val="solid"/>
            <a:headEnd type="none" len="sm" w="sm"/>
            <a:tailEnd type="none" len="sm" w="sm"/>
          </a:ln>
        </p:spPr>
      </p:sp>
      <p:sp>
        <p:nvSpPr>
          <p:cNvPr name="Freeform 13" id="13"/>
          <p:cNvSpPr/>
          <p:nvPr/>
        </p:nvSpPr>
        <p:spPr>
          <a:xfrm flipH="false" flipV="false" rot="0">
            <a:off x="1028700" y="2575535"/>
            <a:ext cx="15085184" cy="5008791"/>
          </a:xfrm>
          <a:custGeom>
            <a:avLst/>
            <a:gdLst/>
            <a:ahLst/>
            <a:cxnLst/>
            <a:rect r="r" b="b" t="t" l="l"/>
            <a:pathLst>
              <a:path h="5008791" w="15085184">
                <a:moveTo>
                  <a:pt x="0" y="0"/>
                </a:moveTo>
                <a:lnTo>
                  <a:pt x="15085184" y="0"/>
                </a:lnTo>
                <a:lnTo>
                  <a:pt x="15085184" y="5008791"/>
                </a:lnTo>
                <a:lnTo>
                  <a:pt x="0" y="5008791"/>
                </a:lnTo>
                <a:lnTo>
                  <a:pt x="0" y="0"/>
                </a:lnTo>
                <a:close/>
              </a:path>
            </a:pathLst>
          </a:custGeom>
          <a:blipFill>
            <a:blip r:embed="rId4"/>
            <a:stretch>
              <a:fillRect l="-403" t="0" r="-403" b="0"/>
            </a:stretch>
          </a:blipFill>
        </p:spPr>
      </p:sp>
      <p:sp>
        <p:nvSpPr>
          <p:cNvPr name="TextBox 14" id="14"/>
          <p:cNvSpPr txBox="true"/>
          <p:nvPr/>
        </p:nvSpPr>
        <p:spPr>
          <a:xfrm rot="0">
            <a:off x="-3209490" y="697557"/>
            <a:ext cx="5931221" cy="742772"/>
          </a:xfrm>
          <a:prstGeom prst="rect">
            <a:avLst/>
          </a:prstGeom>
        </p:spPr>
        <p:txBody>
          <a:bodyPr anchor="t" rtlCol="false" tIns="0" lIns="0" bIns="0" rIns="0">
            <a:spAutoFit/>
          </a:bodyPr>
          <a:lstStyle/>
          <a:p>
            <a:pPr algn="r" marL="0" indent="0" lvl="0">
              <a:lnSpc>
                <a:spcPts val="5759"/>
              </a:lnSpc>
            </a:pPr>
            <a:r>
              <a:rPr lang="en-US" b="true" sz="5236" spc="167">
                <a:solidFill>
                  <a:srgbClr val="000000"/>
                </a:solidFill>
                <a:latin typeface="Glacial Indifference Bold"/>
                <a:ea typeface="Glacial Indifference Bold"/>
                <a:cs typeface="Glacial Indifference Bold"/>
                <a:sym typeface="Glacial Indifference Bold"/>
              </a:rPr>
              <a:t>KOD 1</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253439"/>
        </a:solidFill>
      </p:bgPr>
    </p:bg>
    <p:spTree>
      <p:nvGrpSpPr>
        <p:cNvPr id="1" name=""/>
        <p:cNvGrpSpPr/>
        <p:nvPr/>
      </p:nvGrpSpPr>
      <p:grpSpPr>
        <a:xfrm>
          <a:off x="0" y="0"/>
          <a:ext cx="0" cy="0"/>
          <a:chOff x="0" y="0"/>
          <a:chExt cx="0" cy="0"/>
        </a:xfrm>
      </p:grpSpPr>
      <p:sp>
        <p:nvSpPr>
          <p:cNvPr name="Freeform 2" id="2"/>
          <p:cNvSpPr/>
          <p:nvPr/>
        </p:nvSpPr>
        <p:spPr>
          <a:xfrm flipH="false" flipV="false" rot="-3554022">
            <a:off x="298825" y="-7767885"/>
            <a:ext cx="24933943" cy="14869697"/>
          </a:xfrm>
          <a:custGeom>
            <a:avLst/>
            <a:gdLst/>
            <a:ahLst/>
            <a:cxnLst/>
            <a:rect r="r" b="b" t="t" l="l"/>
            <a:pathLst>
              <a:path h="14869697" w="24933943">
                <a:moveTo>
                  <a:pt x="0" y="0"/>
                </a:moveTo>
                <a:lnTo>
                  <a:pt x="24933943" y="0"/>
                </a:lnTo>
                <a:lnTo>
                  <a:pt x="24933943" y="14869697"/>
                </a:lnTo>
                <a:lnTo>
                  <a:pt x="0" y="148696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739377" y="1194370"/>
            <a:ext cx="9867878" cy="3639913"/>
          </a:xfrm>
          <a:prstGeom prst="rect">
            <a:avLst/>
          </a:prstGeom>
        </p:spPr>
        <p:txBody>
          <a:bodyPr anchor="t" rtlCol="false" tIns="0" lIns="0" bIns="0" rIns="0">
            <a:spAutoFit/>
          </a:bodyPr>
          <a:lstStyle/>
          <a:p>
            <a:pPr algn="l" marL="0" indent="0" lvl="0">
              <a:lnSpc>
                <a:spcPts val="4157"/>
              </a:lnSpc>
            </a:pPr>
          </a:p>
          <a:p>
            <a:pPr algn="l" marL="560944" indent="-280472" lvl="1">
              <a:lnSpc>
                <a:spcPts val="4157"/>
              </a:lnSpc>
              <a:buFont typeface="Arial"/>
              <a:buChar char="•"/>
            </a:pPr>
            <a:r>
              <a:rPr lang="en-US" sz="2598">
                <a:solidFill>
                  <a:srgbClr val="FFFFFF"/>
                </a:solidFill>
                <a:latin typeface="Aileron"/>
                <a:ea typeface="Aileron"/>
                <a:cs typeface="Aileron"/>
                <a:sym typeface="Aileron"/>
              </a:rPr>
              <a:t>Ö</a:t>
            </a:r>
            <a:r>
              <a:rPr lang="en-US" sz="2598">
                <a:solidFill>
                  <a:srgbClr val="FFFFFF"/>
                </a:solidFill>
                <a:latin typeface="Aileron"/>
                <a:ea typeface="Aileron"/>
                <a:cs typeface="Aileron"/>
                <a:sym typeface="Aileron"/>
              </a:rPr>
              <a:t>n işleme (preprocessing)</a:t>
            </a:r>
          </a:p>
          <a:p>
            <a:pPr algn="l" marL="560944" indent="-280472" lvl="1">
              <a:lnSpc>
                <a:spcPts val="4157"/>
              </a:lnSpc>
              <a:buFont typeface="Arial"/>
              <a:buChar char="•"/>
            </a:pPr>
            <a:r>
              <a:rPr lang="en-US" sz="2598">
                <a:solidFill>
                  <a:srgbClr val="FFFFFF"/>
                </a:solidFill>
                <a:latin typeface="Aileron"/>
                <a:ea typeface="Aileron"/>
                <a:cs typeface="Aileron"/>
                <a:sym typeface="Aileron"/>
              </a:rPr>
              <a:t>Girdileri modelden geçirme </a:t>
            </a:r>
          </a:p>
          <a:p>
            <a:pPr algn="l" marL="560944" indent="-280472" lvl="1">
              <a:lnSpc>
                <a:spcPts val="4157"/>
              </a:lnSpc>
              <a:buFont typeface="Arial"/>
              <a:buChar char="•"/>
            </a:pPr>
            <a:r>
              <a:rPr lang="en-US" sz="2598">
                <a:solidFill>
                  <a:srgbClr val="FFFFFF"/>
                </a:solidFill>
                <a:latin typeface="Aileron"/>
                <a:ea typeface="Aileron"/>
                <a:cs typeface="Aileron"/>
                <a:sym typeface="Aileron"/>
              </a:rPr>
              <a:t>Son işleme (postprocessing)</a:t>
            </a:r>
          </a:p>
          <a:p>
            <a:pPr algn="l">
              <a:lnSpc>
                <a:spcPts val="4157"/>
              </a:lnSpc>
            </a:pPr>
          </a:p>
          <a:p>
            <a:pPr algn="l" marL="0" indent="0" lvl="0">
              <a:lnSpc>
                <a:spcPts val="4157"/>
              </a:lnSpc>
            </a:pPr>
            <a:r>
              <a:rPr lang="en-US" sz="2598">
                <a:solidFill>
                  <a:srgbClr val="FFFFFF"/>
                </a:solidFill>
                <a:latin typeface="Aileron"/>
                <a:ea typeface="Aileron"/>
                <a:cs typeface="Aileron"/>
                <a:sym typeface="Aileron"/>
              </a:rPr>
              <a:t>Her adımın görevi farklıdır ve birlikte çalıştıklarında ham metni anlamlı sonuçlara dönüştürürler.</a:t>
            </a:r>
          </a:p>
        </p:txBody>
      </p:sp>
      <p:sp>
        <p:nvSpPr>
          <p:cNvPr name="TextBox 4" id="4"/>
          <p:cNvSpPr txBox="true"/>
          <p:nvPr/>
        </p:nvSpPr>
        <p:spPr>
          <a:xfrm rot="0">
            <a:off x="12081398" y="5577080"/>
            <a:ext cx="4851885" cy="3116038"/>
          </a:xfrm>
          <a:prstGeom prst="rect">
            <a:avLst/>
          </a:prstGeom>
        </p:spPr>
        <p:txBody>
          <a:bodyPr anchor="t" rtlCol="false" tIns="0" lIns="0" bIns="0" rIns="0">
            <a:spAutoFit/>
          </a:bodyPr>
          <a:lstStyle/>
          <a:p>
            <a:pPr algn="l" marL="0" indent="0" lvl="0">
              <a:lnSpc>
                <a:spcPts val="4157"/>
              </a:lnSpc>
            </a:pPr>
            <a:r>
              <a:rPr lang="en-US" sz="2598">
                <a:solidFill>
                  <a:srgbClr val="FFFFFF"/>
                </a:solidFill>
                <a:latin typeface="Aileron"/>
                <a:ea typeface="Aileron"/>
                <a:cs typeface="Aileron"/>
                <a:sym typeface="Aileron"/>
              </a:rPr>
              <a:t>S</a:t>
            </a:r>
            <a:r>
              <a:rPr lang="en-US" sz="2598">
                <a:solidFill>
                  <a:srgbClr val="FFFFFF"/>
                </a:solidFill>
                <a:latin typeface="Aileron"/>
                <a:ea typeface="Aileron"/>
                <a:cs typeface="Aileron"/>
                <a:sym typeface="Aileron"/>
              </a:rPr>
              <a:t>ırayla hepsine bakacağız. Her bir adımı ayrı ayrı inceleyerek pipeline'ın arkasındaki mekanizmayı anlayacağız. Bu sayede kendi modellerimizi nasıl işlem gördüklerini öğreneceğiz.</a:t>
            </a:r>
          </a:p>
        </p:txBody>
      </p:sp>
      <p:sp>
        <p:nvSpPr>
          <p:cNvPr name="TextBox 5" id="5"/>
          <p:cNvSpPr txBox="true"/>
          <p:nvPr/>
        </p:nvSpPr>
        <p:spPr>
          <a:xfrm rot="0">
            <a:off x="2087078" y="1057275"/>
            <a:ext cx="7216494" cy="512315"/>
          </a:xfrm>
          <a:prstGeom prst="rect">
            <a:avLst/>
          </a:prstGeom>
        </p:spPr>
        <p:txBody>
          <a:bodyPr anchor="t" rtlCol="false" tIns="0" lIns="0" bIns="0" rIns="0">
            <a:spAutoFit/>
          </a:bodyPr>
          <a:lstStyle/>
          <a:p>
            <a:pPr algn="l" marL="0" indent="0" lvl="0">
              <a:lnSpc>
                <a:spcPts val="3948"/>
              </a:lnSpc>
            </a:pPr>
            <a:r>
              <a:rPr lang="en-US" b="true" sz="3589" spc="114">
                <a:solidFill>
                  <a:srgbClr val="FFFFFF"/>
                </a:solidFill>
                <a:latin typeface="HK Grotesk Bold"/>
                <a:ea typeface="HK Grotesk Bold"/>
                <a:cs typeface="HK Grotesk Bold"/>
                <a:sym typeface="HK Grotesk Bold"/>
              </a:rPr>
              <a:t>PIPELINE ÜÇ ADIMI BIRLEŞTIRIR</a:t>
            </a:r>
          </a:p>
        </p:txBody>
      </p:sp>
      <p:sp>
        <p:nvSpPr>
          <p:cNvPr name="AutoShape 6" id="6"/>
          <p:cNvSpPr/>
          <p:nvPr/>
        </p:nvSpPr>
        <p:spPr>
          <a:xfrm>
            <a:off x="1701268" y="577039"/>
            <a:ext cx="0" cy="2029276"/>
          </a:xfrm>
          <a:prstGeom prst="line">
            <a:avLst/>
          </a:prstGeom>
          <a:ln cap="flat" w="133350">
            <a:solidFill>
              <a:srgbClr val="D15353"/>
            </a:solidFill>
            <a:prstDash val="solid"/>
            <a:headEnd type="none" len="sm" w="sm"/>
            <a:tailEnd type="none" len="sm" w="sm"/>
          </a:ln>
        </p:spPr>
      </p:sp>
      <p:sp>
        <p:nvSpPr>
          <p:cNvPr name="Freeform 7" id="7"/>
          <p:cNvSpPr/>
          <p:nvPr/>
        </p:nvSpPr>
        <p:spPr>
          <a:xfrm flipH="false" flipV="false" rot="0">
            <a:off x="1701268" y="5528740"/>
            <a:ext cx="8923576" cy="3317493"/>
          </a:xfrm>
          <a:custGeom>
            <a:avLst/>
            <a:gdLst/>
            <a:ahLst/>
            <a:cxnLst/>
            <a:rect r="r" b="b" t="t" l="l"/>
            <a:pathLst>
              <a:path h="3317493" w="8923576">
                <a:moveTo>
                  <a:pt x="0" y="0"/>
                </a:moveTo>
                <a:lnTo>
                  <a:pt x="8923576" y="0"/>
                </a:lnTo>
                <a:lnTo>
                  <a:pt x="8923576" y="3317493"/>
                </a:lnTo>
                <a:lnTo>
                  <a:pt x="0" y="3317493"/>
                </a:lnTo>
                <a:lnTo>
                  <a:pt x="0" y="0"/>
                </a:lnTo>
                <a:close/>
              </a:path>
            </a:pathLst>
          </a:custGeom>
          <a:blipFill>
            <a:blip r:embed="rId4"/>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253439"/>
        </a:solidFill>
      </p:bgPr>
    </p:bg>
    <p:spTree>
      <p:nvGrpSpPr>
        <p:cNvPr id="1" name=""/>
        <p:cNvGrpSpPr/>
        <p:nvPr/>
      </p:nvGrpSpPr>
      <p:grpSpPr>
        <a:xfrm>
          <a:off x="0" y="0"/>
          <a:ext cx="0" cy="0"/>
          <a:chOff x="0" y="0"/>
          <a:chExt cx="0" cy="0"/>
        </a:xfrm>
      </p:grpSpPr>
      <p:sp>
        <p:nvSpPr>
          <p:cNvPr name="Freeform 2" id="2"/>
          <p:cNvSpPr/>
          <p:nvPr/>
        </p:nvSpPr>
        <p:spPr>
          <a:xfrm flipH="false" flipV="false" rot="-3554022">
            <a:off x="1768119" y="-7642360"/>
            <a:ext cx="24933943" cy="14869697"/>
          </a:xfrm>
          <a:custGeom>
            <a:avLst/>
            <a:gdLst/>
            <a:ahLst/>
            <a:cxnLst/>
            <a:rect r="r" b="b" t="t" l="l"/>
            <a:pathLst>
              <a:path h="14869697" w="24933943">
                <a:moveTo>
                  <a:pt x="0" y="0"/>
                </a:moveTo>
                <a:lnTo>
                  <a:pt x="24933943" y="0"/>
                </a:lnTo>
                <a:lnTo>
                  <a:pt x="24933943" y="14869697"/>
                </a:lnTo>
                <a:lnTo>
                  <a:pt x="0" y="148696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778715" y="1855807"/>
            <a:ext cx="19845431" cy="6575386"/>
            <a:chOff x="0" y="0"/>
            <a:chExt cx="5226780" cy="1731789"/>
          </a:xfrm>
        </p:grpSpPr>
        <p:sp>
          <p:nvSpPr>
            <p:cNvPr name="Freeform 4" id="4"/>
            <p:cNvSpPr/>
            <p:nvPr/>
          </p:nvSpPr>
          <p:spPr>
            <a:xfrm flipH="false" flipV="false" rot="0">
              <a:off x="0" y="0"/>
              <a:ext cx="5226780" cy="1731789"/>
            </a:xfrm>
            <a:custGeom>
              <a:avLst/>
              <a:gdLst/>
              <a:ahLst/>
              <a:cxnLst/>
              <a:rect r="r" b="b" t="t" l="l"/>
              <a:pathLst>
                <a:path h="1731789" w="5226780">
                  <a:moveTo>
                    <a:pt x="0" y="0"/>
                  </a:moveTo>
                  <a:lnTo>
                    <a:pt x="5226780" y="0"/>
                  </a:lnTo>
                  <a:lnTo>
                    <a:pt x="5226780" y="1731789"/>
                  </a:lnTo>
                  <a:lnTo>
                    <a:pt x="0" y="1731789"/>
                  </a:lnTo>
                  <a:close/>
                </a:path>
              </a:pathLst>
            </a:custGeom>
            <a:gradFill rotWithShape="true">
              <a:gsLst>
                <a:gs pos="0">
                  <a:srgbClr val="FDF7EF">
                    <a:alpha val="100000"/>
                  </a:srgbClr>
                </a:gs>
                <a:gs pos="100000">
                  <a:srgbClr val="FFFFFF">
                    <a:alpha val="100000"/>
                  </a:srgbClr>
                </a:gs>
              </a:gsLst>
              <a:lin ang="0"/>
            </a:gradFill>
            <a:ln cap="sq">
              <a:noFill/>
              <a:prstDash val="solid"/>
              <a:miter/>
            </a:ln>
          </p:spPr>
        </p:sp>
        <p:sp>
          <p:nvSpPr>
            <p:cNvPr name="TextBox 5" id="5"/>
            <p:cNvSpPr txBox="true"/>
            <p:nvPr/>
          </p:nvSpPr>
          <p:spPr>
            <a:xfrm>
              <a:off x="0" y="9525"/>
              <a:ext cx="5226780" cy="1722264"/>
            </a:xfrm>
            <a:prstGeom prst="rect">
              <a:avLst/>
            </a:prstGeom>
          </p:spPr>
          <p:txBody>
            <a:bodyPr anchor="ctr" rtlCol="false" tIns="50800" lIns="50800" bIns="50800" rIns="50800"/>
            <a:lstStyle/>
            <a:p>
              <a:pPr algn="ctr" marL="0" indent="0" lvl="0">
                <a:lnSpc>
                  <a:spcPts val="1869"/>
                </a:lnSpc>
              </a:pPr>
            </a:p>
          </p:txBody>
        </p:sp>
      </p:grpSp>
      <p:grpSp>
        <p:nvGrpSpPr>
          <p:cNvPr name="Group 6" id="6"/>
          <p:cNvGrpSpPr/>
          <p:nvPr/>
        </p:nvGrpSpPr>
        <p:grpSpPr>
          <a:xfrm rot="0">
            <a:off x="9574294" y="4177372"/>
            <a:ext cx="4660796" cy="3481076"/>
            <a:chOff x="0" y="0"/>
            <a:chExt cx="1227535" cy="916826"/>
          </a:xfrm>
        </p:grpSpPr>
        <p:sp>
          <p:nvSpPr>
            <p:cNvPr name="Freeform 7" id="7"/>
            <p:cNvSpPr/>
            <p:nvPr/>
          </p:nvSpPr>
          <p:spPr>
            <a:xfrm flipH="false" flipV="false" rot="0">
              <a:off x="0" y="0"/>
              <a:ext cx="1227535" cy="916826"/>
            </a:xfrm>
            <a:custGeom>
              <a:avLst/>
              <a:gdLst/>
              <a:ahLst/>
              <a:cxnLst/>
              <a:rect r="r" b="b" t="t" l="l"/>
              <a:pathLst>
                <a:path h="916826" w="1227535">
                  <a:moveTo>
                    <a:pt x="0" y="0"/>
                  </a:moveTo>
                  <a:lnTo>
                    <a:pt x="1227535" y="0"/>
                  </a:lnTo>
                  <a:lnTo>
                    <a:pt x="1227535" y="916826"/>
                  </a:lnTo>
                  <a:lnTo>
                    <a:pt x="0" y="916826"/>
                  </a:lnTo>
                  <a:close/>
                </a:path>
              </a:pathLst>
            </a:custGeom>
            <a:solidFill>
              <a:srgbClr val="D15353"/>
            </a:solidFill>
          </p:spPr>
        </p:sp>
        <p:sp>
          <p:nvSpPr>
            <p:cNvPr name="TextBox 8" id="8"/>
            <p:cNvSpPr txBox="true"/>
            <p:nvPr/>
          </p:nvSpPr>
          <p:spPr>
            <a:xfrm>
              <a:off x="0" y="-47625"/>
              <a:ext cx="1227535" cy="964451"/>
            </a:xfrm>
            <a:prstGeom prst="rect">
              <a:avLst/>
            </a:prstGeom>
          </p:spPr>
          <p:txBody>
            <a:bodyPr anchor="ctr" rtlCol="false" tIns="50800" lIns="50800" bIns="50800" rIns="50800"/>
            <a:lstStyle/>
            <a:p>
              <a:pPr algn="ctr" marL="0" indent="0" lvl="0">
                <a:lnSpc>
                  <a:spcPts val="3244"/>
                </a:lnSpc>
              </a:pPr>
            </a:p>
          </p:txBody>
        </p:sp>
      </p:grpSp>
      <p:grpSp>
        <p:nvGrpSpPr>
          <p:cNvPr name="Group 9" id="9"/>
          <p:cNvGrpSpPr/>
          <p:nvPr/>
        </p:nvGrpSpPr>
        <p:grpSpPr>
          <a:xfrm rot="0">
            <a:off x="16378215" y="1855807"/>
            <a:ext cx="2373131" cy="2361405"/>
            <a:chOff x="0" y="0"/>
            <a:chExt cx="625022" cy="621934"/>
          </a:xfrm>
        </p:grpSpPr>
        <p:sp>
          <p:nvSpPr>
            <p:cNvPr name="Freeform 10" id="10"/>
            <p:cNvSpPr/>
            <p:nvPr/>
          </p:nvSpPr>
          <p:spPr>
            <a:xfrm flipH="false" flipV="false" rot="0">
              <a:off x="0" y="0"/>
              <a:ext cx="625022" cy="621934"/>
            </a:xfrm>
            <a:custGeom>
              <a:avLst/>
              <a:gdLst/>
              <a:ahLst/>
              <a:cxnLst/>
              <a:rect r="r" b="b" t="t" l="l"/>
              <a:pathLst>
                <a:path h="621934" w="625022">
                  <a:moveTo>
                    <a:pt x="0" y="0"/>
                  </a:moveTo>
                  <a:lnTo>
                    <a:pt x="625022" y="0"/>
                  </a:lnTo>
                  <a:lnTo>
                    <a:pt x="625022" y="621934"/>
                  </a:lnTo>
                  <a:lnTo>
                    <a:pt x="0" y="621934"/>
                  </a:lnTo>
                  <a:close/>
                </a:path>
              </a:pathLst>
            </a:custGeom>
            <a:solidFill>
              <a:srgbClr val="D15353"/>
            </a:solidFill>
          </p:spPr>
        </p:sp>
        <p:sp>
          <p:nvSpPr>
            <p:cNvPr name="TextBox 11" id="11"/>
            <p:cNvSpPr txBox="true"/>
            <p:nvPr/>
          </p:nvSpPr>
          <p:spPr>
            <a:xfrm>
              <a:off x="0" y="-47625"/>
              <a:ext cx="625022" cy="669559"/>
            </a:xfrm>
            <a:prstGeom prst="rect">
              <a:avLst/>
            </a:prstGeom>
          </p:spPr>
          <p:txBody>
            <a:bodyPr anchor="ctr" rtlCol="false" tIns="50800" lIns="50800" bIns="50800" rIns="50800"/>
            <a:lstStyle/>
            <a:p>
              <a:pPr algn="ctr" marL="0" indent="0" lvl="0">
                <a:lnSpc>
                  <a:spcPts val="3244"/>
                </a:lnSpc>
              </a:pPr>
            </a:p>
          </p:txBody>
        </p:sp>
      </p:grpSp>
      <p:sp>
        <p:nvSpPr>
          <p:cNvPr name="AutoShape 12" id="12"/>
          <p:cNvSpPr/>
          <p:nvPr/>
        </p:nvSpPr>
        <p:spPr>
          <a:xfrm flipV="true">
            <a:off x="1117088" y="3484109"/>
            <a:ext cx="0" cy="2433800"/>
          </a:xfrm>
          <a:prstGeom prst="line">
            <a:avLst/>
          </a:prstGeom>
          <a:ln cap="flat" w="133350">
            <a:solidFill>
              <a:srgbClr val="D15353"/>
            </a:solidFill>
            <a:prstDash val="solid"/>
            <a:headEnd type="none" len="sm" w="sm"/>
            <a:tailEnd type="none" len="sm" w="sm"/>
          </a:ln>
        </p:spPr>
      </p:sp>
      <p:sp>
        <p:nvSpPr>
          <p:cNvPr name="TextBox 13" id="13"/>
          <p:cNvSpPr txBox="true"/>
          <p:nvPr/>
        </p:nvSpPr>
        <p:spPr>
          <a:xfrm rot="0">
            <a:off x="1017733" y="2188695"/>
            <a:ext cx="9520540" cy="574504"/>
          </a:xfrm>
          <a:prstGeom prst="rect">
            <a:avLst/>
          </a:prstGeom>
        </p:spPr>
        <p:txBody>
          <a:bodyPr anchor="t" rtlCol="false" tIns="0" lIns="0" bIns="0" rIns="0">
            <a:spAutoFit/>
          </a:bodyPr>
          <a:lstStyle/>
          <a:p>
            <a:pPr algn="just" marL="0" indent="0" lvl="0">
              <a:lnSpc>
                <a:spcPts val="4385"/>
              </a:lnSpc>
            </a:pPr>
            <a:r>
              <a:rPr lang="en-US" b="true" sz="3986" spc="127">
                <a:solidFill>
                  <a:srgbClr val="000000"/>
                </a:solidFill>
                <a:latin typeface="Glacial Indifference Bold"/>
                <a:ea typeface="Glacial Indifference Bold"/>
                <a:cs typeface="Glacial Indifference Bold"/>
                <a:sym typeface="Glacial Indifference Bold"/>
              </a:rPr>
              <a:t>PREPROCESSING WITH A TOKENIZER</a:t>
            </a:r>
          </a:p>
        </p:txBody>
      </p:sp>
      <p:sp>
        <p:nvSpPr>
          <p:cNvPr name="TextBox 14" id="14"/>
          <p:cNvSpPr txBox="true"/>
          <p:nvPr/>
        </p:nvSpPr>
        <p:spPr>
          <a:xfrm rot="0">
            <a:off x="1326528" y="3436484"/>
            <a:ext cx="6100351" cy="2481425"/>
          </a:xfrm>
          <a:prstGeom prst="rect">
            <a:avLst/>
          </a:prstGeom>
        </p:spPr>
        <p:txBody>
          <a:bodyPr anchor="t" rtlCol="false" tIns="0" lIns="0" bIns="0" rIns="0">
            <a:spAutoFit/>
          </a:bodyPr>
          <a:lstStyle/>
          <a:p>
            <a:pPr algn="just" marL="0" indent="0" lvl="0">
              <a:lnSpc>
                <a:spcPts val="2238"/>
              </a:lnSpc>
            </a:pPr>
            <a:r>
              <a:rPr lang="en-US" sz="1523">
                <a:solidFill>
                  <a:srgbClr val="000000"/>
                </a:solidFill>
                <a:latin typeface="Aileron"/>
                <a:ea typeface="Aileron"/>
                <a:cs typeface="Aileron"/>
                <a:sym typeface="Aileron"/>
              </a:rPr>
              <a:t>Transformer modelleri ham metni doğrudan işleyemez. İlk adım, metni modelin anlayabileceği sayılara çevirmektir. Bunu tokenizer yapar.</a:t>
            </a:r>
          </a:p>
          <a:p>
            <a:pPr algn="just" marL="0" indent="0" lvl="0">
              <a:lnSpc>
                <a:spcPts val="2238"/>
              </a:lnSpc>
            </a:pPr>
          </a:p>
          <a:p>
            <a:pPr algn="just" marL="0" indent="0" lvl="0">
              <a:lnSpc>
                <a:spcPts val="2238"/>
              </a:lnSpc>
            </a:pPr>
            <a:r>
              <a:rPr lang="en-US" sz="1523">
                <a:solidFill>
                  <a:srgbClr val="000000"/>
                </a:solidFill>
                <a:latin typeface="Aileron"/>
                <a:ea typeface="Aileron"/>
                <a:cs typeface="Aileron"/>
                <a:sym typeface="Aileron"/>
              </a:rPr>
              <a:t>Tokenizer'ın görevleri:</a:t>
            </a:r>
          </a:p>
          <a:p>
            <a:pPr algn="l" marL="328823" indent="-164411" lvl="1">
              <a:lnSpc>
                <a:spcPts val="2238"/>
              </a:lnSpc>
              <a:buFont typeface="Arial"/>
              <a:buChar char="•"/>
            </a:pPr>
            <a:r>
              <a:rPr lang="en-US" sz="1523">
                <a:solidFill>
                  <a:srgbClr val="000000"/>
                </a:solidFill>
                <a:latin typeface="Aileron"/>
                <a:ea typeface="Aileron"/>
                <a:cs typeface="Aileron"/>
                <a:sym typeface="Aileron"/>
              </a:rPr>
              <a:t>Girdiyi kelimelere, alt kelimelere veya noktalama gibi sembollere (token) bölmek; </a:t>
            </a:r>
          </a:p>
          <a:p>
            <a:pPr algn="l" marL="328823" indent="-164411" lvl="1">
              <a:lnSpc>
                <a:spcPts val="2238"/>
              </a:lnSpc>
              <a:buFont typeface="Arial"/>
              <a:buChar char="•"/>
            </a:pPr>
            <a:r>
              <a:rPr lang="en-US" sz="1523">
                <a:solidFill>
                  <a:srgbClr val="000000"/>
                </a:solidFill>
                <a:latin typeface="Aileron"/>
                <a:ea typeface="Aileron"/>
                <a:cs typeface="Aileron"/>
                <a:sym typeface="Aileron"/>
              </a:rPr>
              <a:t>Her token'ı bir tam sayıya eşlemek; modele faydalı olabilecek ek girdileri eklemek.</a:t>
            </a:r>
          </a:p>
          <a:p>
            <a:pPr algn="just" marL="0" indent="0" lvl="0">
              <a:lnSpc>
                <a:spcPts val="2238"/>
              </a:lnSpc>
            </a:pPr>
          </a:p>
        </p:txBody>
      </p:sp>
      <p:sp>
        <p:nvSpPr>
          <p:cNvPr name="TextBox 15" id="15"/>
          <p:cNvSpPr txBox="true"/>
          <p:nvPr/>
        </p:nvSpPr>
        <p:spPr>
          <a:xfrm rot="0">
            <a:off x="1017733" y="2814088"/>
            <a:ext cx="5374780" cy="638183"/>
          </a:xfrm>
          <a:prstGeom prst="rect">
            <a:avLst/>
          </a:prstGeom>
        </p:spPr>
        <p:txBody>
          <a:bodyPr anchor="t" rtlCol="false" tIns="0" lIns="0" bIns="0" rIns="0">
            <a:spAutoFit/>
          </a:bodyPr>
          <a:lstStyle/>
          <a:p>
            <a:pPr algn="just" marL="0" indent="0" lvl="0">
              <a:lnSpc>
                <a:spcPts val="2475"/>
              </a:lnSpc>
            </a:pPr>
            <a:r>
              <a:rPr lang="en-US" sz="2250" spc="72">
                <a:solidFill>
                  <a:srgbClr val="000000"/>
                </a:solidFill>
                <a:latin typeface="Glacial Indifference"/>
                <a:ea typeface="Glacial Indifference"/>
                <a:cs typeface="Glacial Indifference"/>
                <a:sym typeface="Glacial Indifference"/>
              </a:rPr>
              <a:t>(TOK</a:t>
            </a:r>
            <a:r>
              <a:rPr lang="en-US" sz="2250" spc="72">
                <a:solidFill>
                  <a:srgbClr val="000000"/>
                </a:solidFill>
                <a:latin typeface="Glacial Indifference"/>
                <a:ea typeface="Glacial Indifference"/>
                <a:cs typeface="Glacial Indifference"/>
                <a:sym typeface="Glacial Indifference"/>
              </a:rPr>
              <a:t>ENLEŞTIRICI ILE ÖN IŞLEME)</a:t>
            </a:r>
          </a:p>
          <a:p>
            <a:pPr algn="just" marL="0" indent="0" lvl="0">
              <a:lnSpc>
                <a:spcPts val="2475"/>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253439"/>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2526071" y="-854621"/>
            <a:ext cx="20794327" cy="13759549"/>
          </a:xfrm>
          <a:custGeom>
            <a:avLst/>
            <a:gdLst/>
            <a:ahLst/>
            <a:cxnLst/>
            <a:rect r="r" b="b" t="t" l="l"/>
            <a:pathLst>
              <a:path h="13759549" w="20794327">
                <a:moveTo>
                  <a:pt x="0" y="0"/>
                </a:moveTo>
                <a:lnTo>
                  <a:pt x="20794327" y="0"/>
                </a:lnTo>
                <a:lnTo>
                  <a:pt x="20794327" y="13759548"/>
                </a:lnTo>
                <a:lnTo>
                  <a:pt x="0" y="137595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1095375" y="1386848"/>
            <a:ext cx="0" cy="1180053"/>
          </a:xfrm>
          <a:prstGeom prst="line">
            <a:avLst/>
          </a:prstGeom>
          <a:ln cap="flat" w="133350">
            <a:solidFill>
              <a:srgbClr val="D15353"/>
            </a:solidFill>
            <a:prstDash val="solid"/>
            <a:headEnd type="none" len="sm" w="sm"/>
            <a:tailEnd type="none" len="sm" w="sm"/>
          </a:ln>
        </p:spPr>
      </p:sp>
      <p:pic>
        <p:nvPicPr>
          <p:cNvPr name="Picture 4" id="4">
            <a:hlinkClick action="ppaction://media"/>
          </p:cNvPr>
          <p:cNvPicPr>
            <a:picLocks noChangeAspect="true"/>
          </p:cNvPicPr>
          <p:nvPr>
            <a:videoFile r:link="rId5"/>
            <p:extLst>
              <p:ext uri="{DAA4B4D4-6D71-4841-9C94-3DE7FCFB9230}">
                <p14:media xmlns:p14="http://schemas.microsoft.com/office/powerpoint/2010/main" r:embed="rId6"/>
              </p:ext>
            </p:extLst>
          </p:nvPr>
        </p:nvPicPr>
        <p:blipFill>
          <a:blip r:embed="rId4"/>
          <a:srcRect l="0" t="0" r="0" b="0"/>
          <a:stretch>
            <a:fillRect/>
          </a:stretch>
        </p:blipFill>
        <p:spPr>
          <a:xfrm flipH="false" flipV="false" rot="0">
            <a:off x="1678548" y="4098998"/>
            <a:ext cx="10924884" cy="4289454"/>
          </a:xfrm>
          <a:prstGeom prst="rect">
            <a:avLst/>
          </a:prstGeom>
        </p:spPr>
      </p:pic>
      <p:sp>
        <p:nvSpPr>
          <p:cNvPr name="TextBox 5" id="5"/>
          <p:cNvSpPr txBox="true"/>
          <p:nvPr/>
        </p:nvSpPr>
        <p:spPr>
          <a:xfrm rot="0">
            <a:off x="1678548" y="2804341"/>
            <a:ext cx="5935862" cy="1533592"/>
          </a:xfrm>
          <a:prstGeom prst="rect">
            <a:avLst/>
          </a:prstGeom>
        </p:spPr>
        <p:txBody>
          <a:bodyPr anchor="t" rtlCol="false" tIns="0" lIns="0" bIns="0" rIns="0">
            <a:spAutoFit/>
          </a:bodyPr>
          <a:lstStyle/>
          <a:p>
            <a:pPr algn="l" marL="299438" indent="-149719" lvl="1">
              <a:lnSpc>
                <a:spcPts val="2038"/>
              </a:lnSpc>
              <a:buFont typeface="Arial"/>
              <a:buChar char="•"/>
            </a:pPr>
            <a:r>
              <a:rPr lang="en-US" sz="1386">
                <a:solidFill>
                  <a:srgbClr val="FFFFFF"/>
                </a:solidFill>
                <a:latin typeface="Aileron"/>
                <a:ea typeface="Aileron"/>
                <a:cs typeface="Aileron"/>
                <a:sym typeface="Aileron"/>
              </a:rPr>
              <a:t>Transformer modelleri girdi olarak yalnızca tensor kabul eder. </a:t>
            </a:r>
          </a:p>
          <a:p>
            <a:pPr algn="l" marL="299438" indent="-149719" lvl="1">
              <a:lnSpc>
                <a:spcPts val="2038"/>
              </a:lnSpc>
              <a:buFont typeface="Arial"/>
              <a:buChar char="•"/>
            </a:pPr>
            <a:r>
              <a:rPr lang="en-US" sz="1386">
                <a:solidFill>
                  <a:srgbClr val="FFFFFF"/>
                </a:solidFill>
                <a:latin typeface="Aileron"/>
                <a:ea typeface="Aileron"/>
                <a:cs typeface="Aileron"/>
                <a:sym typeface="Aileron"/>
              </a:rPr>
              <a:t>Hangi tür tensor istediğimizi return_tensors ile belirtiriz ("pt" = PyTorch). </a:t>
            </a:r>
          </a:p>
          <a:p>
            <a:pPr algn="l" marL="299438" indent="-149719" lvl="1">
              <a:lnSpc>
                <a:spcPts val="2038"/>
              </a:lnSpc>
              <a:buFont typeface="Arial"/>
              <a:buChar char="•"/>
            </a:pPr>
            <a:r>
              <a:rPr lang="en-US" sz="1386">
                <a:solidFill>
                  <a:srgbClr val="FFFFFF"/>
                </a:solidFill>
                <a:latin typeface="Aileron"/>
                <a:ea typeface="Aileron"/>
                <a:cs typeface="Aileron"/>
                <a:sym typeface="Aileron"/>
              </a:rPr>
              <a:t>Tek bir cümle veya liste verebiliriz. </a:t>
            </a:r>
          </a:p>
          <a:p>
            <a:pPr algn="l" marL="299438" indent="-149719" lvl="1">
              <a:lnSpc>
                <a:spcPts val="2038"/>
              </a:lnSpc>
              <a:buFont typeface="Arial"/>
              <a:buChar char="•"/>
            </a:pPr>
            <a:r>
              <a:rPr lang="en-US" sz="1386">
                <a:solidFill>
                  <a:srgbClr val="FFFFFF"/>
                </a:solidFill>
                <a:latin typeface="Aileron"/>
                <a:ea typeface="Aileron"/>
                <a:cs typeface="Aileron"/>
                <a:sym typeface="Aileron"/>
              </a:rPr>
              <a:t>padding ve truncation parametreleri ile dizinleri hizalayabiliriz.</a:t>
            </a:r>
          </a:p>
          <a:p>
            <a:pPr algn="l" marL="0" indent="0" lvl="0">
              <a:lnSpc>
                <a:spcPts val="2038"/>
              </a:lnSpc>
            </a:pPr>
          </a:p>
          <a:p>
            <a:pPr algn="l" marL="0" indent="0" lvl="0">
              <a:lnSpc>
                <a:spcPts val="2038"/>
              </a:lnSpc>
            </a:pPr>
          </a:p>
        </p:txBody>
      </p:sp>
      <p:sp>
        <p:nvSpPr>
          <p:cNvPr name="TextBox 6" id="6"/>
          <p:cNvSpPr txBox="true"/>
          <p:nvPr/>
        </p:nvSpPr>
        <p:spPr>
          <a:xfrm rot="0">
            <a:off x="1678548" y="1703910"/>
            <a:ext cx="10401509" cy="574504"/>
          </a:xfrm>
          <a:prstGeom prst="rect">
            <a:avLst/>
          </a:prstGeom>
        </p:spPr>
        <p:txBody>
          <a:bodyPr anchor="t" rtlCol="false" tIns="0" lIns="0" bIns="0" rIns="0">
            <a:spAutoFit/>
          </a:bodyPr>
          <a:lstStyle/>
          <a:p>
            <a:pPr algn="l" marL="0" indent="0" lvl="0">
              <a:lnSpc>
                <a:spcPts val="4385"/>
              </a:lnSpc>
            </a:pPr>
            <a:r>
              <a:rPr lang="en-US" b="true" sz="3986" spc="131">
                <a:solidFill>
                  <a:srgbClr val="FFFFFF"/>
                </a:solidFill>
                <a:latin typeface="Glacial Indifference Bold"/>
                <a:ea typeface="Glacial Indifference Bold"/>
                <a:cs typeface="Glacial Indifference Bold"/>
                <a:sym typeface="Glacial Indifference Bold"/>
              </a:rPr>
              <a:t>TOKENIZER ÇIKTISI VE TENSOR'LAR</a:t>
            </a:r>
          </a:p>
        </p:txBody>
      </p:sp>
    </p:spTree>
  </p:cSld>
  <p:clrMapOvr>
    <a:masterClrMapping/>
  </p:clrMapOvr>
  <p:timing>
    <p:tnLst>
      <p:par>
        <p:cTn dur="indefinite" restart="never" nodeType="tmRoot">
          <p:childTnLst>
            <p:video>
              <p:cMediaNode vol="100000">
                <p:cTn fill="hold" display="false">
                  <p:stCondLst>
                    <p:cond delay="indefinite"/>
                  </p:stCondLst>
                </p:cTn>
                <p:tgtEl>
                  <p:spTgt spid="4"/>
                </p:tgtEl>
              </p:cMediaNode>
            </p:video>
          </p:childTnLst>
        </p:cTn>
      </p:par>
    </p:tnLst>
  </p:timing>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253439"/>
        </a:solidFill>
      </p:bgPr>
    </p:bg>
    <p:spTree>
      <p:nvGrpSpPr>
        <p:cNvPr id="1" name=""/>
        <p:cNvGrpSpPr/>
        <p:nvPr/>
      </p:nvGrpSpPr>
      <p:grpSpPr>
        <a:xfrm>
          <a:off x="0" y="0"/>
          <a:ext cx="0" cy="0"/>
          <a:chOff x="0" y="0"/>
          <a:chExt cx="0" cy="0"/>
        </a:xfrm>
      </p:grpSpPr>
      <p:sp>
        <p:nvSpPr>
          <p:cNvPr name="Freeform 2" id="2"/>
          <p:cNvSpPr/>
          <p:nvPr/>
        </p:nvSpPr>
        <p:spPr>
          <a:xfrm flipH="false" flipV="false" rot="-3554022">
            <a:off x="36301" y="-8524013"/>
            <a:ext cx="24933943" cy="14869697"/>
          </a:xfrm>
          <a:custGeom>
            <a:avLst/>
            <a:gdLst/>
            <a:ahLst/>
            <a:cxnLst/>
            <a:rect r="r" b="b" t="t" l="l"/>
            <a:pathLst>
              <a:path h="14869697" w="24933943">
                <a:moveTo>
                  <a:pt x="0" y="0"/>
                </a:moveTo>
                <a:lnTo>
                  <a:pt x="24933943" y="0"/>
                </a:lnTo>
                <a:lnTo>
                  <a:pt x="24933943" y="14869697"/>
                </a:lnTo>
                <a:lnTo>
                  <a:pt x="0" y="148696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201191" y="1326177"/>
            <a:ext cx="9684899" cy="2286410"/>
          </a:xfrm>
          <a:custGeom>
            <a:avLst/>
            <a:gdLst/>
            <a:ahLst/>
            <a:cxnLst/>
            <a:rect r="r" b="b" t="t" l="l"/>
            <a:pathLst>
              <a:path h="2286410" w="9684899">
                <a:moveTo>
                  <a:pt x="0" y="0"/>
                </a:moveTo>
                <a:lnTo>
                  <a:pt x="9684899" y="0"/>
                </a:lnTo>
                <a:lnTo>
                  <a:pt x="9684899" y="2286410"/>
                </a:lnTo>
                <a:lnTo>
                  <a:pt x="0" y="2286410"/>
                </a:lnTo>
                <a:lnTo>
                  <a:pt x="0" y="0"/>
                </a:lnTo>
                <a:close/>
              </a:path>
            </a:pathLst>
          </a:custGeom>
          <a:blipFill>
            <a:blip r:embed="rId4"/>
            <a:stretch>
              <a:fillRect l="0" t="0" r="-12402" b="0"/>
            </a:stretch>
          </a:blipFill>
        </p:spPr>
      </p:sp>
      <p:sp>
        <p:nvSpPr>
          <p:cNvPr name="Freeform 4" id="4"/>
          <p:cNvSpPr/>
          <p:nvPr/>
        </p:nvSpPr>
        <p:spPr>
          <a:xfrm flipH="false" flipV="false" rot="0">
            <a:off x="2201191" y="4266598"/>
            <a:ext cx="9684899" cy="1753805"/>
          </a:xfrm>
          <a:custGeom>
            <a:avLst/>
            <a:gdLst/>
            <a:ahLst/>
            <a:cxnLst/>
            <a:rect r="r" b="b" t="t" l="l"/>
            <a:pathLst>
              <a:path h="1753805" w="9684899">
                <a:moveTo>
                  <a:pt x="0" y="0"/>
                </a:moveTo>
                <a:lnTo>
                  <a:pt x="9684899" y="0"/>
                </a:lnTo>
                <a:lnTo>
                  <a:pt x="9684899" y="1753804"/>
                </a:lnTo>
                <a:lnTo>
                  <a:pt x="0" y="1753804"/>
                </a:lnTo>
                <a:lnTo>
                  <a:pt x="0" y="0"/>
                </a:lnTo>
                <a:close/>
              </a:path>
            </a:pathLst>
          </a:custGeom>
          <a:blipFill>
            <a:blip r:embed="rId5"/>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253439"/>
        </a:solidFill>
      </p:bgPr>
    </p:bg>
    <p:spTree>
      <p:nvGrpSpPr>
        <p:cNvPr id="1" name=""/>
        <p:cNvGrpSpPr/>
        <p:nvPr/>
      </p:nvGrpSpPr>
      <p:grpSpPr>
        <a:xfrm>
          <a:off x="0" y="0"/>
          <a:ext cx="0" cy="0"/>
          <a:chOff x="0" y="0"/>
          <a:chExt cx="0" cy="0"/>
        </a:xfrm>
      </p:grpSpPr>
      <p:sp>
        <p:nvSpPr>
          <p:cNvPr name="Freeform 2" id="2"/>
          <p:cNvSpPr/>
          <p:nvPr/>
        </p:nvSpPr>
        <p:spPr>
          <a:xfrm flipH="false" flipV="false" rot="-3554022">
            <a:off x="1768119" y="-7642360"/>
            <a:ext cx="24933943" cy="14869697"/>
          </a:xfrm>
          <a:custGeom>
            <a:avLst/>
            <a:gdLst/>
            <a:ahLst/>
            <a:cxnLst/>
            <a:rect r="r" b="b" t="t" l="l"/>
            <a:pathLst>
              <a:path h="14869697" w="24933943">
                <a:moveTo>
                  <a:pt x="0" y="0"/>
                </a:moveTo>
                <a:lnTo>
                  <a:pt x="24933943" y="0"/>
                </a:lnTo>
                <a:lnTo>
                  <a:pt x="24933943" y="14869697"/>
                </a:lnTo>
                <a:lnTo>
                  <a:pt x="0" y="148696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157321" y="2161018"/>
            <a:ext cx="19845431" cy="6575386"/>
            <a:chOff x="0" y="0"/>
            <a:chExt cx="5226780" cy="1731789"/>
          </a:xfrm>
        </p:grpSpPr>
        <p:sp>
          <p:nvSpPr>
            <p:cNvPr name="Freeform 4" id="4"/>
            <p:cNvSpPr/>
            <p:nvPr/>
          </p:nvSpPr>
          <p:spPr>
            <a:xfrm flipH="false" flipV="false" rot="0">
              <a:off x="0" y="0"/>
              <a:ext cx="5226780" cy="1731789"/>
            </a:xfrm>
            <a:custGeom>
              <a:avLst/>
              <a:gdLst/>
              <a:ahLst/>
              <a:cxnLst/>
              <a:rect r="r" b="b" t="t" l="l"/>
              <a:pathLst>
                <a:path h="1731789" w="5226780">
                  <a:moveTo>
                    <a:pt x="0" y="0"/>
                  </a:moveTo>
                  <a:lnTo>
                    <a:pt x="5226780" y="0"/>
                  </a:lnTo>
                  <a:lnTo>
                    <a:pt x="5226780" y="1731789"/>
                  </a:lnTo>
                  <a:lnTo>
                    <a:pt x="0" y="1731789"/>
                  </a:lnTo>
                  <a:close/>
                </a:path>
              </a:pathLst>
            </a:custGeom>
            <a:gradFill rotWithShape="true">
              <a:gsLst>
                <a:gs pos="0">
                  <a:srgbClr val="FDF7EF">
                    <a:alpha val="100000"/>
                  </a:srgbClr>
                </a:gs>
                <a:gs pos="100000">
                  <a:srgbClr val="FFFFFF">
                    <a:alpha val="100000"/>
                  </a:srgbClr>
                </a:gs>
              </a:gsLst>
              <a:lin ang="0"/>
            </a:gradFill>
            <a:ln cap="sq">
              <a:noFill/>
              <a:prstDash val="solid"/>
              <a:miter/>
            </a:ln>
          </p:spPr>
        </p:sp>
        <p:sp>
          <p:nvSpPr>
            <p:cNvPr name="TextBox 5" id="5"/>
            <p:cNvSpPr txBox="true"/>
            <p:nvPr/>
          </p:nvSpPr>
          <p:spPr>
            <a:xfrm>
              <a:off x="0" y="9525"/>
              <a:ext cx="5226780" cy="1722264"/>
            </a:xfrm>
            <a:prstGeom prst="rect">
              <a:avLst/>
            </a:prstGeom>
          </p:spPr>
          <p:txBody>
            <a:bodyPr anchor="ctr" rtlCol="false" tIns="50800" lIns="50800" bIns="50800" rIns="50800"/>
            <a:lstStyle/>
            <a:p>
              <a:pPr algn="ctr" marL="0" indent="0" lvl="0">
                <a:lnSpc>
                  <a:spcPts val="1869"/>
                </a:lnSpc>
              </a:pPr>
            </a:p>
          </p:txBody>
        </p:sp>
      </p:grpSp>
      <p:grpSp>
        <p:nvGrpSpPr>
          <p:cNvPr name="Group 6" id="6"/>
          <p:cNvGrpSpPr/>
          <p:nvPr/>
        </p:nvGrpSpPr>
        <p:grpSpPr>
          <a:xfrm rot="0">
            <a:off x="0" y="4698798"/>
            <a:ext cx="4660796" cy="4559502"/>
            <a:chOff x="0" y="0"/>
            <a:chExt cx="1227535" cy="1200856"/>
          </a:xfrm>
        </p:grpSpPr>
        <p:sp>
          <p:nvSpPr>
            <p:cNvPr name="Freeform 7" id="7"/>
            <p:cNvSpPr/>
            <p:nvPr/>
          </p:nvSpPr>
          <p:spPr>
            <a:xfrm flipH="false" flipV="false" rot="0">
              <a:off x="0" y="0"/>
              <a:ext cx="1227535" cy="1200856"/>
            </a:xfrm>
            <a:custGeom>
              <a:avLst/>
              <a:gdLst/>
              <a:ahLst/>
              <a:cxnLst/>
              <a:rect r="r" b="b" t="t" l="l"/>
              <a:pathLst>
                <a:path h="1200856" w="1227535">
                  <a:moveTo>
                    <a:pt x="0" y="0"/>
                  </a:moveTo>
                  <a:lnTo>
                    <a:pt x="1227535" y="0"/>
                  </a:lnTo>
                  <a:lnTo>
                    <a:pt x="1227535" y="1200856"/>
                  </a:lnTo>
                  <a:lnTo>
                    <a:pt x="0" y="1200856"/>
                  </a:lnTo>
                  <a:close/>
                </a:path>
              </a:pathLst>
            </a:custGeom>
            <a:solidFill>
              <a:srgbClr val="D15353"/>
            </a:solidFill>
          </p:spPr>
        </p:sp>
        <p:sp>
          <p:nvSpPr>
            <p:cNvPr name="TextBox 8" id="8"/>
            <p:cNvSpPr txBox="true"/>
            <p:nvPr/>
          </p:nvSpPr>
          <p:spPr>
            <a:xfrm>
              <a:off x="0" y="-47625"/>
              <a:ext cx="1227535" cy="1248481"/>
            </a:xfrm>
            <a:prstGeom prst="rect">
              <a:avLst/>
            </a:prstGeom>
          </p:spPr>
          <p:txBody>
            <a:bodyPr anchor="ctr" rtlCol="false" tIns="50800" lIns="50800" bIns="50800" rIns="50800"/>
            <a:lstStyle/>
            <a:p>
              <a:pPr algn="ctr" marL="0" indent="0" lvl="0">
                <a:lnSpc>
                  <a:spcPts val="3244"/>
                </a:lnSpc>
              </a:pPr>
            </a:p>
          </p:txBody>
        </p:sp>
      </p:grpSp>
      <p:grpSp>
        <p:nvGrpSpPr>
          <p:cNvPr name="Group 9" id="9"/>
          <p:cNvGrpSpPr/>
          <p:nvPr/>
        </p:nvGrpSpPr>
        <p:grpSpPr>
          <a:xfrm rot="0">
            <a:off x="3912508" y="2487539"/>
            <a:ext cx="2373131" cy="2411751"/>
            <a:chOff x="0" y="0"/>
            <a:chExt cx="625022" cy="635194"/>
          </a:xfrm>
        </p:grpSpPr>
        <p:sp>
          <p:nvSpPr>
            <p:cNvPr name="Freeform 10" id="10"/>
            <p:cNvSpPr/>
            <p:nvPr/>
          </p:nvSpPr>
          <p:spPr>
            <a:xfrm flipH="false" flipV="false" rot="0">
              <a:off x="0" y="0"/>
              <a:ext cx="625022" cy="635194"/>
            </a:xfrm>
            <a:custGeom>
              <a:avLst/>
              <a:gdLst/>
              <a:ahLst/>
              <a:cxnLst/>
              <a:rect r="r" b="b" t="t" l="l"/>
              <a:pathLst>
                <a:path h="635194" w="625022">
                  <a:moveTo>
                    <a:pt x="0" y="0"/>
                  </a:moveTo>
                  <a:lnTo>
                    <a:pt x="625022" y="0"/>
                  </a:lnTo>
                  <a:lnTo>
                    <a:pt x="625022" y="635194"/>
                  </a:lnTo>
                  <a:lnTo>
                    <a:pt x="0" y="635194"/>
                  </a:lnTo>
                  <a:close/>
                </a:path>
              </a:pathLst>
            </a:custGeom>
            <a:solidFill>
              <a:srgbClr val="D15353"/>
            </a:solidFill>
          </p:spPr>
        </p:sp>
        <p:sp>
          <p:nvSpPr>
            <p:cNvPr name="TextBox 11" id="11"/>
            <p:cNvSpPr txBox="true"/>
            <p:nvPr/>
          </p:nvSpPr>
          <p:spPr>
            <a:xfrm>
              <a:off x="0" y="-47625"/>
              <a:ext cx="625022" cy="682819"/>
            </a:xfrm>
            <a:prstGeom prst="rect">
              <a:avLst/>
            </a:prstGeom>
          </p:spPr>
          <p:txBody>
            <a:bodyPr anchor="ctr" rtlCol="false" tIns="50800" lIns="50800" bIns="50800" rIns="50800"/>
            <a:lstStyle/>
            <a:p>
              <a:pPr algn="ctr" marL="0" indent="0" lvl="0">
                <a:lnSpc>
                  <a:spcPts val="3244"/>
                </a:lnSpc>
              </a:pPr>
            </a:p>
          </p:txBody>
        </p:sp>
      </p:grpSp>
      <p:grpSp>
        <p:nvGrpSpPr>
          <p:cNvPr name="Group 12" id="12"/>
          <p:cNvGrpSpPr>
            <a:grpSpLocks noChangeAspect="true"/>
          </p:cNvGrpSpPr>
          <p:nvPr/>
        </p:nvGrpSpPr>
        <p:grpSpPr>
          <a:xfrm rot="0">
            <a:off x="463312" y="2953744"/>
            <a:ext cx="5477470" cy="5477448"/>
            <a:chOff x="0" y="0"/>
            <a:chExt cx="6350025" cy="6350000"/>
          </a:xfrm>
        </p:grpSpPr>
        <p:sp>
          <p:nvSpPr>
            <p:cNvPr name="Freeform 13" id="13"/>
            <p:cNvSpPr/>
            <p:nvPr/>
          </p:nvSpPr>
          <p:spPr>
            <a:xfrm flipH="false" flipV="false" rot="0">
              <a:off x="0" y="0"/>
              <a:ext cx="6350026" cy="6350000"/>
            </a:xfrm>
            <a:custGeom>
              <a:avLst/>
              <a:gdLst/>
              <a:ahLst/>
              <a:cxnLst/>
              <a:rect r="r" b="b" t="t" l="l"/>
              <a:pathLst>
                <a:path h="6350000" w="6350026">
                  <a:moveTo>
                    <a:pt x="0" y="0"/>
                  </a:moveTo>
                  <a:lnTo>
                    <a:pt x="6350026" y="0"/>
                  </a:lnTo>
                  <a:lnTo>
                    <a:pt x="6350026" y="6350000"/>
                  </a:lnTo>
                  <a:lnTo>
                    <a:pt x="0" y="6350000"/>
                  </a:lnTo>
                  <a:close/>
                </a:path>
              </a:pathLst>
            </a:custGeom>
            <a:blipFill>
              <a:blip r:embed="rId4"/>
              <a:stretch>
                <a:fillRect l="0" t="0" r="0" b="0"/>
              </a:stretch>
            </a:blipFill>
          </p:spPr>
        </p:sp>
      </p:grpSp>
      <p:pic>
        <p:nvPicPr>
          <p:cNvPr name="Picture 14" id="14">
            <a:hlinkClick action="ppaction://media"/>
          </p:cNvPr>
          <p:cNvPicPr>
            <a:picLocks noChangeAspect="true"/>
          </p:cNvPicPr>
          <p:nvPr>
            <a:videoFile r:link="rId6"/>
            <p:extLst>
              <p:ext uri="{DAA4B4D4-6D71-4841-9C94-3DE7FCFB9230}">
                <p14:media xmlns:p14="http://schemas.microsoft.com/office/powerpoint/2010/main" r:embed="rId7">
                  <p14:trim st="54510.0000" end="7630.0000"/>
                </p14:media>
              </p:ext>
            </p:extLst>
          </p:nvPr>
        </p:nvPicPr>
        <p:blipFill>
          <a:blip r:embed="rId5"/>
          <a:srcRect l="0" t="0" r="0" b="0"/>
          <a:stretch>
            <a:fillRect/>
          </a:stretch>
        </p:blipFill>
        <p:spPr>
          <a:xfrm flipH="false" flipV="false" rot="0">
            <a:off x="6285639" y="5448711"/>
            <a:ext cx="11680467" cy="2681070"/>
          </a:xfrm>
          <a:prstGeom prst="rect">
            <a:avLst/>
          </a:prstGeom>
        </p:spPr>
      </p:pic>
      <p:sp>
        <p:nvSpPr>
          <p:cNvPr name="TextBox 15" id="15"/>
          <p:cNvSpPr txBox="true"/>
          <p:nvPr/>
        </p:nvSpPr>
        <p:spPr>
          <a:xfrm rot="0">
            <a:off x="9144000" y="3067190"/>
            <a:ext cx="5931221" cy="626224"/>
          </a:xfrm>
          <a:prstGeom prst="rect">
            <a:avLst/>
          </a:prstGeom>
        </p:spPr>
        <p:txBody>
          <a:bodyPr anchor="t" rtlCol="false" tIns="0" lIns="0" bIns="0" rIns="0">
            <a:spAutoFit/>
          </a:bodyPr>
          <a:lstStyle/>
          <a:p>
            <a:pPr algn="r" marL="0" indent="0" lvl="0">
              <a:lnSpc>
                <a:spcPts val="4739"/>
              </a:lnSpc>
            </a:pPr>
            <a:r>
              <a:rPr lang="en-US" b="true" sz="4309" spc="137">
                <a:solidFill>
                  <a:srgbClr val="000000"/>
                </a:solidFill>
                <a:latin typeface="Glacial Indifference Bold"/>
                <a:ea typeface="Glacial Indifference Bold"/>
                <a:cs typeface="Glacial Indifference Bold"/>
                <a:sym typeface="Glacial Indifference Bold"/>
              </a:rPr>
              <a:t>MODELDEN GEÇIRMEK</a:t>
            </a:r>
          </a:p>
        </p:txBody>
      </p:sp>
      <p:sp>
        <p:nvSpPr>
          <p:cNvPr name="TextBox 16" id="16"/>
          <p:cNvSpPr txBox="true"/>
          <p:nvPr/>
        </p:nvSpPr>
        <p:spPr>
          <a:xfrm rot="0">
            <a:off x="8974871" y="3636265"/>
            <a:ext cx="6100351" cy="1883875"/>
          </a:xfrm>
          <a:prstGeom prst="rect">
            <a:avLst/>
          </a:prstGeom>
        </p:spPr>
        <p:txBody>
          <a:bodyPr anchor="t" rtlCol="false" tIns="0" lIns="0" bIns="0" rIns="0">
            <a:spAutoFit/>
          </a:bodyPr>
          <a:lstStyle/>
          <a:p>
            <a:pPr algn="ctr" marL="0" indent="0" lvl="0">
              <a:lnSpc>
                <a:spcPts val="2538"/>
              </a:lnSpc>
            </a:pPr>
            <a:r>
              <a:rPr lang="en-US" sz="1727">
                <a:solidFill>
                  <a:srgbClr val="000000"/>
                </a:solidFill>
                <a:latin typeface="Aileron"/>
                <a:ea typeface="Aileron"/>
                <a:cs typeface="Aileron"/>
                <a:sym typeface="Aileron"/>
              </a:rPr>
              <a:t>Önceden eğitilmiş modeli tokenizer gibi indiririz:</a:t>
            </a:r>
          </a:p>
          <a:p>
            <a:pPr algn="ctr" marL="0" indent="0" lvl="0">
              <a:lnSpc>
                <a:spcPts val="2538"/>
              </a:lnSpc>
            </a:pPr>
            <a:r>
              <a:rPr lang="en-US" sz="1727">
                <a:solidFill>
                  <a:srgbClr val="000000"/>
                </a:solidFill>
                <a:latin typeface="Aileron"/>
                <a:ea typeface="Aileron"/>
                <a:cs typeface="Aileron"/>
                <a:sym typeface="Aileron"/>
              </a:rPr>
              <a:t>Bu kod parçacığında, daha önce işlem hattımızda kullandığımız aynı kontrol noktasını indirdik (aslında zaten önbelleğe alınmış olması gerekiyordu) ve onunla bir model örneği oluşturduk.</a:t>
            </a:r>
          </a:p>
          <a:p>
            <a:pPr algn="r" marL="0" indent="0" lvl="0">
              <a:lnSpc>
                <a:spcPts val="2538"/>
              </a:lnSpc>
            </a:pPr>
          </a:p>
        </p:txBody>
      </p:sp>
    </p:spTree>
  </p:cSld>
  <p:clrMapOvr>
    <a:masterClrMapping/>
  </p:clrMapOvr>
  <p:timing>
    <p:tnLst>
      <p:par>
        <p:cTn dur="indefinite" restart="never" nodeType="tmRoot">
          <p:childTnLst>
            <p:video>
              <p:cMediaNode vol="100000">
                <p:cTn fill="hold" display="false">
                  <p:stCondLst>
                    <p:cond delay="indefinite"/>
                  </p:stCondLst>
                </p:cTn>
                <p:tgtEl>
                  <p:spTgt spid="14"/>
                </p:tgtEl>
              </p:cMediaNode>
            </p:video>
          </p:childTnLst>
        </p:cTn>
      </p:par>
    </p:tnLst>
  </p:timing>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253439"/>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9544119" y="1786616"/>
            <a:ext cx="7448359" cy="7412525"/>
          </a:xfrm>
          <a:prstGeom prst="rect">
            <a:avLst/>
          </a:prstGeom>
        </p:spPr>
      </p:pic>
      <p:sp>
        <p:nvSpPr>
          <p:cNvPr name="TextBox 3" id="3"/>
          <p:cNvSpPr txBox="true"/>
          <p:nvPr/>
        </p:nvSpPr>
        <p:spPr>
          <a:xfrm rot="0">
            <a:off x="2643004" y="6030427"/>
            <a:ext cx="6404275" cy="2394621"/>
          </a:xfrm>
          <a:prstGeom prst="rect">
            <a:avLst/>
          </a:prstGeom>
        </p:spPr>
        <p:txBody>
          <a:bodyPr anchor="t" rtlCol="false" tIns="0" lIns="0" bIns="0" rIns="0">
            <a:spAutoFit/>
          </a:bodyPr>
          <a:lstStyle/>
          <a:p>
            <a:pPr algn="l" marL="0" indent="0" lvl="0">
              <a:lnSpc>
                <a:spcPts val="3223"/>
              </a:lnSpc>
              <a:spcBef>
                <a:spcPct val="0"/>
              </a:spcBef>
            </a:pPr>
            <a:r>
              <a:rPr lang="en-US" sz="2149">
                <a:solidFill>
                  <a:srgbClr val="FFFFFF"/>
                </a:solidFill>
                <a:latin typeface="Aileron"/>
                <a:ea typeface="Aileron"/>
                <a:cs typeface="Aileron"/>
                <a:sym typeface="Aileron"/>
              </a:rPr>
              <a:t>Transformer modülünün çıktısı üç boyutludur: Batch size (2), Sequence length (16), Hidden size (768). Bu yüzden "yüksek boyutlu" denir.</a:t>
            </a:r>
          </a:p>
          <a:p>
            <a:pPr algn="l" marL="0" indent="0" lvl="0">
              <a:lnSpc>
                <a:spcPts val="3223"/>
              </a:lnSpc>
              <a:spcBef>
                <a:spcPct val="0"/>
              </a:spcBef>
            </a:pPr>
            <a:r>
              <a:rPr lang="en-US" sz="2149">
                <a:solidFill>
                  <a:srgbClr val="FFFFFF"/>
                </a:solidFill>
                <a:latin typeface="Aileron"/>
                <a:ea typeface="Aileron"/>
                <a:cs typeface="Aileron"/>
                <a:sym typeface="Aileron"/>
              </a:rPr>
              <a:t>outputs = model(**inputs)</a:t>
            </a:r>
          </a:p>
          <a:p>
            <a:pPr algn="l" marL="0" indent="0" lvl="0">
              <a:lnSpc>
                <a:spcPts val="3223"/>
              </a:lnSpc>
              <a:spcBef>
                <a:spcPct val="0"/>
              </a:spcBef>
            </a:pPr>
            <a:r>
              <a:rPr lang="en-US" sz="2149">
                <a:solidFill>
                  <a:srgbClr val="FFFFFF"/>
                </a:solidFill>
                <a:latin typeface="Aileron"/>
                <a:ea typeface="Aileron"/>
                <a:cs typeface="Aileron"/>
                <a:sym typeface="Aileron"/>
              </a:rPr>
              <a:t>print(outputs.last_hidden_state.shape)</a:t>
            </a:r>
          </a:p>
          <a:p>
            <a:pPr algn="l" marL="0" indent="0" lvl="0">
              <a:lnSpc>
                <a:spcPts val="3223"/>
              </a:lnSpc>
              <a:spcBef>
                <a:spcPct val="0"/>
              </a:spcBef>
            </a:pPr>
            <a:r>
              <a:rPr lang="en-US" sz="2149">
                <a:solidFill>
                  <a:srgbClr val="FFFFFF"/>
                </a:solidFill>
                <a:latin typeface="Aileron"/>
                <a:ea typeface="Aileron"/>
                <a:cs typeface="Aileron"/>
                <a:sym typeface="Aileron"/>
              </a:rPr>
              <a:t>Çıktı: torch.Size([2, 16, 768])</a:t>
            </a:r>
          </a:p>
        </p:txBody>
      </p:sp>
      <p:sp>
        <p:nvSpPr>
          <p:cNvPr name="TextBox 4" id="4"/>
          <p:cNvSpPr txBox="true"/>
          <p:nvPr/>
        </p:nvSpPr>
        <p:spPr>
          <a:xfrm rot="0">
            <a:off x="2643004" y="4557712"/>
            <a:ext cx="6851940" cy="1171575"/>
          </a:xfrm>
          <a:prstGeom prst="rect">
            <a:avLst/>
          </a:prstGeom>
        </p:spPr>
        <p:txBody>
          <a:bodyPr anchor="t" rtlCol="false" tIns="0" lIns="0" bIns="0" rIns="0">
            <a:spAutoFit/>
          </a:bodyPr>
          <a:lstStyle/>
          <a:p>
            <a:pPr algn="l" marL="0" indent="0" lvl="0">
              <a:lnSpc>
                <a:spcPts val="9233"/>
              </a:lnSpc>
              <a:spcBef>
                <a:spcPct val="0"/>
              </a:spcBef>
            </a:pPr>
            <a:r>
              <a:rPr lang="en-US" b="true" sz="7694" spc="846">
                <a:solidFill>
                  <a:srgbClr val="FFFFFF"/>
                </a:solidFill>
                <a:latin typeface="Glacial Indifference Bold"/>
                <a:ea typeface="Glacial Indifference Bold"/>
                <a:cs typeface="Glacial Indifference Bold"/>
                <a:sym typeface="Glacial Indifference Bold"/>
              </a:rPr>
              <a:t>BOYUTLARI</a:t>
            </a:r>
          </a:p>
        </p:txBody>
      </p:sp>
      <p:sp>
        <p:nvSpPr>
          <p:cNvPr name="TextBox 5" id="5"/>
          <p:cNvSpPr txBox="true"/>
          <p:nvPr/>
        </p:nvSpPr>
        <p:spPr>
          <a:xfrm rot="0">
            <a:off x="2643004" y="3758468"/>
            <a:ext cx="6842848" cy="1009650"/>
          </a:xfrm>
          <a:prstGeom prst="rect">
            <a:avLst/>
          </a:prstGeom>
        </p:spPr>
        <p:txBody>
          <a:bodyPr anchor="t" rtlCol="false" tIns="0" lIns="0" bIns="0" rIns="0">
            <a:spAutoFit/>
          </a:bodyPr>
          <a:lstStyle/>
          <a:p>
            <a:pPr algn="l" marL="0" indent="0" lvl="0">
              <a:lnSpc>
                <a:spcPts val="7914"/>
              </a:lnSpc>
              <a:spcBef>
                <a:spcPct val="0"/>
              </a:spcBef>
            </a:pPr>
            <a:r>
              <a:rPr lang="en-US" b="true" sz="6595">
                <a:solidFill>
                  <a:srgbClr val="FFFFFF"/>
                </a:solidFill>
                <a:latin typeface="HK Grotesk Bold"/>
                <a:ea typeface="HK Grotesk Bold"/>
                <a:cs typeface="HK Grotesk Bold"/>
                <a:sym typeface="HK Grotesk Bold"/>
              </a:rPr>
              <a:t>TENSOR</a:t>
            </a:r>
          </a:p>
        </p:txBody>
      </p:sp>
      <p:sp>
        <p:nvSpPr>
          <p:cNvPr name="AutoShape 6" id="6"/>
          <p:cNvSpPr/>
          <p:nvPr/>
        </p:nvSpPr>
        <p:spPr>
          <a:xfrm>
            <a:off x="2279664" y="3767993"/>
            <a:ext cx="0" cy="4657054"/>
          </a:xfrm>
          <a:prstGeom prst="line">
            <a:avLst/>
          </a:prstGeom>
          <a:ln cap="flat" w="133350">
            <a:solidFill>
              <a:srgbClr val="D15353"/>
            </a:solidFill>
            <a:prstDash val="solid"/>
            <a:headEnd type="none" len="sm" w="sm"/>
            <a:tailEnd type="none" len="sm" w="sm"/>
          </a:ln>
        </p:spPr>
      </p:sp>
      <p:sp>
        <p:nvSpPr>
          <p:cNvPr name="Freeform 7" id="7"/>
          <p:cNvSpPr/>
          <p:nvPr/>
        </p:nvSpPr>
        <p:spPr>
          <a:xfrm flipH="false" flipV="false" rot="7273542">
            <a:off x="-2525898" y="-1689661"/>
            <a:ext cx="10337804" cy="6840496"/>
          </a:xfrm>
          <a:custGeom>
            <a:avLst/>
            <a:gdLst/>
            <a:ahLst/>
            <a:cxnLst/>
            <a:rect r="r" b="b" t="t" l="l"/>
            <a:pathLst>
              <a:path h="6840496" w="10337804">
                <a:moveTo>
                  <a:pt x="0" y="0"/>
                </a:moveTo>
                <a:lnTo>
                  <a:pt x="10337804" y="0"/>
                </a:lnTo>
                <a:lnTo>
                  <a:pt x="10337804" y="6840496"/>
                </a:lnTo>
                <a:lnTo>
                  <a:pt x="0" y="684049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703416" y="3937497"/>
            <a:ext cx="753279" cy="75327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15353"/>
            </a:solidFill>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marL="0" indent="0" lvl="0">
                <a:lnSpc>
                  <a:spcPts val="3244"/>
                </a:lnSpc>
              </a:pPr>
            </a:p>
          </p:txBody>
        </p:sp>
      </p:grpSp>
      <p:sp>
        <p:nvSpPr>
          <p:cNvPr name="TextBox 5" id="5"/>
          <p:cNvSpPr txBox="true"/>
          <p:nvPr/>
        </p:nvSpPr>
        <p:spPr>
          <a:xfrm rot="0">
            <a:off x="2041833" y="1857375"/>
            <a:ext cx="6886727" cy="1171575"/>
          </a:xfrm>
          <a:prstGeom prst="rect">
            <a:avLst/>
          </a:prstGeom>
        </p:spPr>
        <p:txBody>
          <a:bodyPr anchor="t" rtlCol="false" tIns="0" lIns="0" bIns="0" rIns="0">
            <a:spAutoFit/>
          </a:bodyPr>
          <a:lstStyle/>
          <a:p>
            <a:pPr algn="l" marL="0" indent="0" lvl="0">
              <a:lnSpc>
                <a:spcPts val="9233"/>
              </a:lnSpc>
              <a:spcBef>
                <a:spcPct val="0"/>
              </a:spcBef>
            </a:pPr>
            <a:r>
              <a:rPr lang="en-US" b="true" sz="7694">
                <a:solidFill>
                  <a:srgbClr val="253439"/>
                </a:solidFill>
                <a:latin typeface="Glacial Indifference Bold"/>
                <a:ea typeface="Glacial Indifference Bold"/>
                <a:cs typeface="Glacial Indifference Bold"/>
                <a:sym typeface="Glacial Indifference Bold"/>
              </a:rPr>
              <a:t>HEADS</a:t>
            </a:r>
          </a:p>
        </p:txBody>
      </p:sp>
      <p:sp>
        <p:nvSpPr>
          <p:cNvPr name="TextBox 6" id="6"/>
          <p:cNvSpPr txBox="true"/>
          <p:nvPr/>
        </p:nvSpPr>
        <p:spPr>
          <a:xfrm rot="0">
            <a:off x="2686866" y="4020218"/>
            <a:ext cx="3799456" cy="565184"/>
          </a:xfrm>
          <a:prstGeom prst="rect">
            <a:avLst/>
          </a:prstGeom>
        </p:spPr>
        <p:txBody>
          <a:bodyPr anchor="t" rtlCol="false" tIns="0" lIns="0" bIns="0" rIns="0">
            <a:spAutoFit/>
          </a:bodyPr>
          <a:lstStyle/>
          <a:p>
            <a:pPr algn="l" marL="0" indent="0" lvl="0">
              <a:lnSpc>
                <a:spcPts val="4546"/>
              </a:lnSpc>
            </a:pPr>
            <a:r>
              <a:rPr lang="en-US" b="true" sz="3497">
                <a:solidFill>
                  <a:srgbClr val="253439"/>
                </a:solidFill>
                <a:latin typeface="HK Grotesk Bold"/>
                <a:ea typeface="HK Grotesk Bold"/>
                <a:cs typeface="HK Grotesk Bold"/>
                <a:sym typeface="HK Grotesk Bold"/>
              </a:rPr>
              <a:t>MODEL BAŞLARI</a:t>
            </a:r>
          </a:p>
        </p:txBody>
      </p:sp>
      <p:sp>
        <p:nvSpPr>
          <p:cNvPr name="TextBox 7" id="7"/>
          <p:cNvSpPr txBox="true"/>
          <p:nvPr/>
        </p:nvSpPr>
        <p:spPr>
          <a:xfrm rot="0">
            <a:off x="1755183" y="4921060"/>
            <a:ext cx="6101501" cy="2855570"/>
          </a:xfrm>
          <a:prstGeom prst="rect">
            <a:avLst/>
          </a:prstGeom>
        </p:spPr>
        <p:txBody>
          <a:bodyPr anchor="t" rtlCol="false" tIns="0" lIns="0" bIns="0" rIns="0">
            <a:spAutoFit/>
          </a:bodyPr>
          <a:lstStyle/>
          <a:p>
            <a:pPr algn="l" marL="0" indent="0" lvl="0">
              <a:lnSpc>
                <a:spcPts val="3256"/>
              </a:lnSpc>
              <a:spcBef>
                <a:spcPct val="0"/>
              </a:spcBef>
            </a:pPr>
            <a:r>
              <a:rPr lang="en-US" sz="2325">
                <a:solidFill>
                  <a:srgbClr val="253439"/>
                </a:solidFill>
                <a:latin typeface="Aileron"/>
                <a:ea typeface="Aileron"/>
                <a:cs typeface="Aileron"/>
                <a:sym typeface="Aileron"/>
              </a:rPr>
              <a:t>Model başları (heads), hidden states vektörünü alıp başka bir boyuta izdüşürür. Genelde bir veya birkaç lineer katmandan oluşur. Her görevin kendi başı vardır: AutoModel, AutoModelForCausalLM, AutoModelForMaskedLM, AutoModelForSequenceClassification.</a:t>
            </a:r>
          </a:p>
        </p:txBody>
      </p:sp>
      <p:sp>
        <p:nvSpPr>
          <p:cNvPr name="Freeform 8" id="8"/>
          <p:cNvSpPr/>
          <p:nvPr/>
        </p:nvSpPr>
        <p:spPr>
          <a:xfrm flipH="false" flipV="false" rot="2514115">
            <a:off x="7865865" y="-6842286"/>
            <a:ext cx="24933943" cy="14869697"/>
          </a:xfrm>
          <a:custGeom>
            <a:avLst/>
            <a:gdLst/>
            <a:ahLst/>
            <a:cxnLst/>
            <a:rect r="r" b="b" t="t" l="l"/>
            <a:pathLst>
              <a:path h="14869697" w="24933943">
                <a:moveTo>
                  <a:pt x="0" y="0"/>
                </a:moveTo>
                <a:lnTo>
                  <a:pt x="24933943" y="0"/>
                </a:lnTo>
                <a:lnTo>
                  <a:pt x="24933943" y="14869697"/>
                </a:lnTo>
                <a:lnTo>
                  <a:pt x="0" y="148696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9888964" y="2989030"/>
            <a:ext cx="4457590" cy="565184"/>
          </a:xfrm>
          <a:prstGeom prst="rect">
            <a:avLst/>
          </a:prstGeom>
        </p:spPr>
        <p:txBody>
          <a:bodyPr anchor="t" rtlCol="false" tIns="0" lIns="0" bIns="0" rIns="0">
            <a:spAutoFit/>
          </a:bodyPr>
          <a:lstStyle/>
          <a:p>
            <a:pPr algn="l" marL="0" indent="0" lvl="0">
              <a:lnSpc>
                <a:spcPts val="4546"/>
              </a:lnSpc>
            </a:pPr>
            <a:r>
              <a:rPr lang="en-US" b="true" sz="3497">
                <a:solidFill>
                  <a:srgbClr val="253439"/>
                </a:solidFill>
                <a:latin typeface="HK Grotesk Bold"/>
                <a:ea typeface="HK Grotesk Bold"/>
                <a:cs typeface="HK Grotesk Bold"/>
                <a:sym typeface="HK Grotesk Bold"/>
              </a:rPr>
              <a:t>SINIFLANDIRMA BAŞI</a:t>
            </a:r>
          </a:p>
        </p:txBody>
      </p:sp>
      <p:sp>
        <p:nvSpPr>
          <p:cNvPr name="TextBox 10" id="10"/>
          <p:cNvSpPr txBox="true"/>
          <p:nvPr/>
        </p:nvSpPr>
        <p:spPr>
          <a:xfrm rot="0">
            <a:off x="8722507" y="3889872"/>
            <a:ext cx="6354310" cy="2036420"/>
          </a:xfrm>
          <a:prstGeom prst="rect">
            <a:avLst/>
          </a:prstGeom>
        </p:spPr>
        <p:txBody>
          <a:bodyPr anchor="t" rtlCol="false" tIns="0" lIns="0" bIns="0" rIns="0">
            <a:spAutoFit/>
          </a:bodyPr>
          <a:lstStyle/>
          <a:p>
            <a:pPr algn="l" marL="0" indent="0" lvl="0">
              <a:lnSpc>
                <a:spcPts val="3256"/>
              </a:lnSpc>
              <a:spcBef>
                <a:spcPct val="0"/>
              </a:spcBef>
            </a:pPr>
            <a:r>
              <a:rPr lang="en-US" sz="2325">
                <a:solidFill>
                  <a:srgbClr val="253439"/>
                </a:solidFill>
                <a:latin typeface="Aileron"/>
                <a:ea typeface="Aileron"/>
                <a:cs typeface="Aileron"/>
                <a:sym typeface="Aileron"/>
              </a:rPr>
              <a:t>Cümleleri sınıflandıracak olduğumuz için AutoModel yerine AutoModelForSequenceClassification kullanırız. İki cümle ve iki etiket için çıktı: torch.Size([2, 2]) - her cümle için iki olasılık puanı.</a:t>
            </a:r>
          </a:p>
        </p:txBody>
      </p:sp>
      <p:sp>
        <p:nvSpPr>
          <p:cNvPr name="TextBox 11" id="11"/>
          <p:cNvSpPr txBox="true"/>
          <p:nvPr/>
        </p:nvSpPr>
        <p:spPr>
          <a:xfrm rot="0">
            <a:off x="2041833" y="1019175"/>
            <a:ext cx="6886727" cy="1009650"/>
          </a:xfrm>
          <a:prstGeom prst="rect">
            <a:avLst/>
          </a:prstGeom>
        </p:spPr>
        <p:txBody>
          <a:bodyPr anchor="t" rtlCol="false" tIns="0" lIns="0" bIns="0" rIns="0">
            <a:spAutoFit/>
          </a:bodyPr>
          <a:lstStyle/>
          <a:p>
            <a:pPr algn="l" marL="0" indent="0" lvl="0">
              <a:lnSpc>
                <a:spcPts val="7914"/>
              </a:lnSpc>
              <a:spcBef>
                <a:spcPct val="0"/>
              </a:spcBef>
            </a:pPr>
            <a:r>
              <a:rPr lang="en-US" b="true" sz="6595">
                <a:solidFill>
                  <a:srgbClr val="253439"/>
                </a:solidFill>
                <a:latin typeface="HK Grotesk Bold"/>
                <a:ea typeface="HK Grotesk Bold"/>
                <a:cs typeface="HK Grotesk Bold"/>
                <a:sym typeface="HK Grotesk Bold"/>
              </a:rPr>
              <a:t>MODEL</a:t>
            </a:r>
          </a:p>
        </p:txBody>
      </p:sp>
      <p:sp>
        <p:nvSpPr>
          <p:cNvPr name="AutoShape 12" id="12"/>
          <p:cNvSpPr/>
          <p:nvPr/>
        </p:nvSpPr>
        <p:spPr>
          <a:xfrm flipV="true">
            <a:off x="1687354" y="1095817"/>
            <a:ext cx="0" cy="1885508"/>
          </a:xfrm>
          <a:prstGeom prst="line">
            <a:avLst/>
          </a:prstGeom>
          <a:ln cap="flat" w="133350">
            <a:solidFill>
              <a:srgbClr val="D15353"/>
            </a:solidFill>
            <a:prstDash val="solid"/>
            <a:headEnd type="none" len="sm" w="sm"/>
            <a:tailEnd type="none" len="sm" w="sm"/>
          </a:ln>
        </p:spPr>
      </p:sp>
      <p:sp>
        <p:nvSpPr>
          <p:cNvPr name="TextBox 13" id="13"/>
          <p:cNvSpPr txBox="true"/>
          <p:nvPr/>
        </p:nvSpPr>
        <p:spPr>
          <a:xfrm rot="0">
            <a:off x="1687354" y="3915063"/>
            <a:ext cx="801008" cy="610658"/>
          </a:xfrm>
          <a:prstGeom prst="rect">
            <a:avLst/>
          </a:prstGeom>
        </p:spPr>
        <p:txBody>
          <a:bodyPr anchor="t" rtlCol="false" tIns="0" lIns="0" bIns="0" rIns="0">
            <a:spAutoFit/>
          </a:bodyPr>
          <a:lstStyle/>
          <a:p>
            <a:pPr algn="ctr" marL="0" indent="0" lvl="0">
              <a:lnSpc>
                <a:spcPts val="4941"/>
              </a:lnSpc>
              <a:spcBef>
                <a:spcPct val="0"/>
              </a:spcBef>
            </a:pPr>
            <a:r>
              <a:rPr lang="en-US" b="true" sz="3529">
                <a:solidFill>
                  <a:srgbClr val="FFFFFF"/>
                </a:solidFill>
                <a:latin typeface="Glacial Indifference Bold"/>
                <a:ea typeface="Glacial Indifference Bold"/>
                <a:cs typeface="Glacial Indifference Bold"/>
                <a:sym typeface="Glacial Indifference Bold"/>
              </a:rPr>
              <a:t>1</a:t>
            </a:r>
          </a:p>
        </p:txBody>
      </p:sp>
      <p:grpSp>
        <p:nvGrpSpPr>
          <p:cNvPr name="Group 14" id="14"/>
          <p:cNvGrpSpPr/>
          <p:nvPr/>
        </p:nvGrpSpPr>
        <p:grpSpPr>
          <a:xfrm rot="0">
            <a:off x="8738570" y="2906310"/>
            <a:ext cx="753279" cy="753279"/>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15353"/>
            </a:solidFill>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marL="0" indent="0" lvl="0">
                <a:lnSpc>
                  <a:spcPts val="3244"/>
                </a:lnSpc>
              </a:pPr>
            </a:p>
          </p:txBody>
        </p:sp>
      </p:grpSp>
      <p:sp>
        <p:nvSpPr>
          <p:cNvPr name="TextBox 17" id="17"/>
          <p:cNvSpPr txBox="true"/>
          <p:nvPr/>
        </p:nvSpPr>
        <p:spPr>
          <a:xfrm rot="0">
            <a:off x="8722507" y="2883875"/>
            <a:ext cx="801008" cy="610658"/>
          </a:xfrm>
          <a:prstGeom prst="rect">
            <a:avLst/>
          </a:prstGeom>
        </p:spPr>
        <p:txBody>
          <a:bodyPr anchor="t" rtlCol="false" tIns="0" lIns="0" bIns="0" rIns="0">
            <a:spAutoFit/>
          </a:bodyPr>
          <a:lstStyle/>
          <a:p>
            <a:pPr algn="ctr" marL="0" indent="0" lvl="0">
              <a:lnSpc>
                <a:spcPts val="4941"/>
              </a:lnSpc>
              <a:spcBef>
                <a:spcPct val="0"/>
              </a:spcBef>
            </a:pPr>
            <a:r>
              <a:rPr lang="en-US" b="true" sz="3529">
                <a:solidFill>
                  <a:srgbClr val="FFFFFF"/>
                </a:solidFill>
                <a:latin typeface="Glacial Indifference Bold"/>
                <a:ea typeface="Glacial Indifference Bold"/>
                <a:cs typeface="Glacial Indifference Bold"/>
                <a:sym typeface="Glacial Indifference Bold"/>
              </a:rPr>
              <a:t>2</a:t>
            </a:r>
          </a:p>
        </p:txBody>
      </p:sp>
      <p:sp>
        <p:nvSpPr>
          <p:cNvPr name="Freeform 18" id="18"/>
          <p:cNvSpPr/>
          <p:nvPr/>
        </p:nvSpPr>
        <p:spPr>
          <a:xfrm flipH="false" flipV="false" rot="0">
            <a:off x="8738570" y="6307292"/>
            <a:ext cx="7416534" cy="3557173"/>
          </a:xfrm>
          <a:custGeom>
            <a:avLst/>
            <a:gdLst/>
            <a:ahLst/>
            <a:cxnLst/>
            <a:rect r="r" b="b" t="t" l="l"/>
            <a:pathLst>
              <a:path h="3557173" w="7416534">
                <a:moveTo>
                  <a:pt x="0" y="0"/>
                </a:moveTo>
                <a:lnTo>
                  <a:pt x="7416534" y="0"/>
                </a:lnTo>
                <a:lnTo>
                  <a:pt x="7416534" y="3557174"/>
                </a:lnTo>
                <a:lnTo>
                  <a:pt x="0" y="3557174"/>
                </a:lnTo>
                <a:lnTo>
                  <a:pt x="0" y="0"/>
                </a:lnTo>
                <a:close/>
              </a:path>
            </a:pathLst>
          </a:custGeom>
          <a:blipFill>
            <a:blip r:embed="rId4"/>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3420248" y="5067300"/>
            <a:ext cx="6204215" cy="1884472"/>
          </a:xfrm>
          <a:prstGeom prst="rect">
            <a:avLst/>
          </a:prstGeom>
        </p:spPr>
        <p:txBody>
          <a:bodyPr anchor="t" rtlCol="false" tIns="0" lIns="0" bIns="0" rIns="0">
            <a:spAutoFit/>
          </a:bodyPr>
          <a:lstStyle/>
          <a:p>
            <a:pPr algn="l" marL="0" indent="0" lvl="0">
              <a:lnSpc>
                <a:spcPts val="3046"/>
              </a:lnSpc>
            </a:pPr>
            <a:r>
              <a:rPr lang="en-US" sz="1904">
                <a:solidFill>
                  <a:srgbClr val="253439"/>
                </a:solidFill>
                <a:latin typeface="Aileron"/>
                <a:ea typeface="Aileron"/>
                <a:cs typeface="Aileron"/>
                <a:sym typeface="Aileron"/>
              </a:rPr>
              <a:t>Modelin çıktısı tek başına anlamlı değildir. Bunlar olasılık değil, logits'tir: modelin son katmanının ürettiği ham, normalleştirilmemiş puanlar.</a:t>
            </a:r>
          </a:p>
          <a:p>
            <a:pPr algn="l" marL="0" indent="0" lvl="0">
              <a:lnSpc>
                <a:spcPts val="3046"/>
              </a:lnSpc>
            </a:pPr>
            <a:r>
              <a:rPr lang="en-US" sz="1904">
                <a:solidFill>
                  <a:srgbClr val="253439"/>
                </a:solidFill>
                <a:latin typeface="Aileron"/>
                <a:ea typeface="Aileron"/>
                <a:cs typeface="Aileron"/>
                <a:sym typeface="Aileron"/>
              </a:rPr>
              <a:t>Olasılığa çevirmek için SoftMax katmanından geçmeleri gerekir.</a:t>
            </a:r>
          </a:p>
        </p:txBody>
      </p:sp>
      <p:sp>
        <p:nvSpPr>
          <p:cNvPr name="TextBox 3" id="3"/>
          <p:cNvSpPr txBox="true"/>
          <p:nvPr/>
        </p:nvSpPr>
        <p:spPr>
          <a:xfrm rot="0">
            <a:off x="3420248" y="3488174"/>
            <a:ext cx="9454479" cy="1060735"/>
          </a:xfrm>
          <a:prstGeom prst="rect">
            <a:avLst/>
          </a:prstGeom>
        </p:spPr>
        <p:txBody>
          <a:bodyPr anchor="t" rtlCol="false" tIns="0" lIns="0" bIns="0" rIns="0">
            <a:spAutoFit/>
          </a:bodyPr>
          <a:lstStyle/>
          <a:p>
            <a:pPr algn="l" marL="0" indent="0" lvl="0">
              <a:lnSpc>
                <a:spcPts val="8156"/>
              </a:lnSpc>
            </a:pPr>
            <a:r>
              <a:rPr lang="en-US" b="true" sz="7694">
                <a:solidFill>
                  <a:srgbClr val="253439"/>
                </a:solidFill>
                <a:latin typeface="Glacial Indifference Bold"/>
                <a:ea typeface="Glacial Indifference Bold"/>
                <a:cs typeface="Glacial Indifference Bold"/>
                <a:sym typeface="Glacial Indifference Bold"/>
              </a:rPr>
              <a:t>THE OUTPUT</a:t>
            </a:r>
          </a:p>
        </p:txBody>
      </p:sp>
      <p:sp>
        <p:nvSpPr>
          <p:cNvPr name="TextBox 4" id="4"/>
          <p:cNvSpPr txBox="true"/>
          <p:nvPr/>
        </p:nvSpPr>
        <p:spPr>
          <a:xfrm rot="0">
            <a:off x="3420248" y="2432804"/>
            <a:ext cx="7216494" cy="908487"/>
          </a:xfrm>
          <a:prstGeom prst="rect">
            <a:avLst/>
          </a:prstGeom>
        </p:spPr>
        <p:txBody>
          <a:bodyPr anchor="t" rtlCol="false" tIns="0" lIns="0" bIns="0" rIns="0">
            <a:spAutoFit/>
          </a:bodyPr>
          <a:lstStyle/>
          <a:p>
            <a:pPr algn="l" marL="0" indent="0" lvl="0">
              <a:lnSpc>
                <a:spcPts val="6912"/>
              </a:lnSpc>
            </a:pPr>
            <a:r>
              <a:rPr lang="en-US" b="true" sz="6284" spc="201">
                <a:solidFill>
                  <a:srgbClr val="000000"/>
                </a:solidFill>
                <a:latin typeface="HK Grotesk Bold"/>
                <a:ea typeface="HK Grotesk Bold"/>
                <a:cs typeface="HK Grotesk Bold"/>
                <a:sym typeface="HK Grotesk Bold"/>
              </a:rPr>
              <a:t>POSTPROCESSING</a:t>
            </a:r>
          </a:p>
        </p:txBody>
      </p:sp>
      <p:sp>
        <p:nvSpPr>
          <p:cNvPr name="AutoShape 5" id="5"/>
          <p:cNvSpPr/>
          <p:nvPr/>
        </p:nvSpPr>
        <p:spPr>
          <a:xfrm>
            <a:off x="2827158" y="2385179"/>
            <a:ext cx="0" cy="2029276"/>
          </a:xfrm>
          <a:prstGeom prst="line">
            <a:avLst/>
          </a:prstGeom>
          <a:ln cap="flat" w="133350">
            <a:solidFill>
              <a:srgbClr val="D15353"/>
            </a:solidFill>
            <a:prstDash val="solid"/>
            <a:headEnd type="none" len="sm" w="sm"/>
            <a:tailEnd type="none" len="sm" w="sm"/>
          </a:ln>
        </p:spPr>
      </p:sp>
      <p:sp>
        <p:nvSpPr>
          <p:cNvPr name="Freeform 6" id="6"/>
          <p:cNvSpPr/>
          <p:nvPr/>
        </p:nvSpPr>
        <p:spPr>
          <a:xfrm flipH="false" flipV="false" rot="-10800000">
            <a:off x="8526020" y="-219399"/>
            <a:ext cx="12650960" cy="8371105"/>
          </a:xfrm>
          <a:custGeom>
            <a:avLst/>
            <a:gdLst/>
            <a:ahLst/>
            <a:cxnLst/>
            <a:rect r="r" b="b" t="t" l="l"/>
            <a:pathLst>
              <a:path h="8371105" w="12650960">
                <a:moveTo>
                  <a:pt x="0" y="0"/>
                </a:moveTo>
                <a:lnTo>
                  <a:pt x="12650959" y="0"/>
                </a:lnTo>
                <a:lnTo>
                  <a:pt x="12650959" y="8371106"/>
                </a:lnTo>
                <a:lnTo>
                  <a:pt x="0" y="83711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9367890" y="4748644"/>
            <a:ext cx="5691693" cy="4691106"/>
            <a:chOff x="0" y="0"/>
            <a:chExt cx="1499047" cy="1235518"/>
          </a:xfrm>
        </p:grpSpPr>
        <p:sp>
          <p:nvSpPr>
            <p:cNvPr name="Freeform 3" id="3"/>
            <p:cNvSpPr/>
            <p:nvPr/>
          </p:nvSpPr>
          <p:spPr>
            <a:xfrm flipH="false" flipV="false" rot="0">
              <a:off x="0" y="0"/>
              <a:ext cx="1499047" cy="1235518"/>
            </a:xfrm>
            <a:custGeom>
              <a:avLst/>
              <a:gdLst/>
              <a:ahLst/>
              <a:cxnLst/>
              <a:rect r="r" b="b" t="t" l="l"/>
              <a:pathLst>
                <a:path h="1235518" w="1499047">
                  <a:moveTo>
                    <a:pt x="0" y="0"/>
                  </a:moveTo>
                  <a:lnTo>
                    <a:pt x="1499047" y="0"/>
                  </a:lnTo>
                  <a:lnTo>
                    <a:pt x="1499047" y="1235518"/>
                  </a:lnTo>
                  <a:lnTo>
                    <a:pt x="0" y="1235518"/>
                  </a:lnTo>
                  <a:close/>
                </a:path>
              </a:pathLst>
            </a:custGeom>
            <a:solidFill>
              <a:srgbClr val="D15353"/>
            </a:solidFill>
          </p:spPr>
        </p:sp>
        <p:sp>
          <p:nvSpPr>
            <p:cNvPr name="TextBox 4" id="4"/>
            <p:cNvSpPr txBox="true"/>
            <p:nvPr/>
          </p:nvSpPr>
          <p:spPr>
            <a:xfrm>
              <a:off x="0" y="-47625"/>
              <a:ext cx="1499047" cy="1283143"/>
            </a:xfrm>
            <a:prstGeom prst="rect">
              <a:avLst/>
            </a:prstGeom>
          </p:spPr>
          <p:txBody>
            <a:bodyPr anchor="ctr" rtlCol="false" tIns="50800" lIns="50800" bIns="50800" rIns="50800"/>
            <a:lstStyle/>
            <a:p>
              <a:pPr algn="ctr" marL="0" indent="0" lvl="0">
                <a:lnSpc>
                  <a:spcPts val="3244"/>
                </a:lnSpc>
              </a:pPr>
            </a:p>
          </p:txBody>
        </p:sp>
      </p:grpSp>
      <p:sp>
        <p:nvSpPr>
          <p:cNvPr name="Freeform 5" id="5"/>
          <p:cNvSpPr/>
          <p:nvPr/>
        </p:nvSpPr>
        <p:spPr>
          <a:xfrm flipH="false" flipV="false" rot="6979616">
            <a:off x="-2427420" y="-2668197"/>
            <a:ext cx="11173984" cy="7393795"/>
          </a:xfrm>
          <a:custGeom>
            <a:avLst/>
            <a:gdLst/>
            <a:ahLst/>
            <a:cxnLst/>
            <a:rect r="r" b="b" t="t" l="l"/>
            <a:pathLst>
              <a:path h="7393795" w="11173984">
                <a:moveTo>
                  <a:pt x="0" y="0"/>
                </a:moveTo>
                <a:lnTo>
                  <a:pt x="11173984" y="0"/>
                </a:lnTo>
                <a:lnTo>
                  <a:pt x="11173984" y="7393794"/>
                </a:lnTo>
                <a:lnTo>
                  <a:pt x="0" y="73937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6" id="6"/>
          <p:cNvSpPr/>
          <p:nvPr/>
        </p:nvSpPr>
        <p:spPr>
          <a:xfrm>
            <a:off x="856539" y="2876981"/>
            <a:ext cx="0" cy="1247775"/>
          </a:xfrm>
          <a:prstGeom prst="line">
            <a:avLst/>
          </a:prstGeom>
          <a:ln cap="flat" w="133350">
            <a:solidFill>
              <a:srgbClr val="D15353"/>
            </a:solidFill>
            <a:prstDash val="solid"/>
            <a:headEnd type="none" len="sm" w="sm"/>
            <a:tailEnd type="none" len="sm" w="sm"/>
          </a:ln>
        </p:spPr>
      </p:sp>
      <p:sp>
        <p:nvSpPr>
          <p:cNvPr name="Freeform 7" id="7"/>
          <p:cNvSpPr/>
          <p:nvPr/>
        </p:nvSpPr>
        <p:spPr>
          <a:xfrm flipH="false" flipV="false" rot="0">
            <a:off x="9720315" y="1862191"/>
            <a:ext cx="11650233" cy="7264505"/>
          </a:xfrm>
          <a:custGeom>
            <a:avLst/>
            <a:gdLst/>
            <a:ahLst/>
            <a:cxnLst/>
            <a:rect r="r" b="b" t="t" l="l"/>
            <a:pathLst>
              <a:path h="7264505" w="11650233">
                <a:moveTo>
                  <a:pt x="0" y="0"/>
                </a:moveTo>
                <a:lnTo>
                  <a:pt x="11650233" y="0"/>
                </a:lnTo>
                <a:lnTo>
                  <a:pt x="11650233" y="7264505"/>
                </a:lnTo>
                <a:lnTo>
                  <a:pt x="0" y="7264505"/>
                </a:lnTo>
                <a:lnTo>
                  <a:pt x="0" y="0"/>
                </a:lnTo>
                <a:close/>
              </a:path>
            </a:pathLst>
          </a:custGeom>
          <a:blipFill>
            <a:blip r:embed="rId4"/>
            <a:stretch>
              <a:fillRect l="-185" t="0" r="-185" b="0"/>
            </a:stretch>
          </a:blipFill>
        </p:spPr>
      </p:sp>
      <p:sp>
        <p:nvSpPr>
          <p:cNvPr name="TextBox 8" id="8"/>
          <p:cNvSpPr txBox="true"/>
          <p:nvPr/>
        </p:nvSpPr>
        <p:spPr>
          <a:xfrm rot="0">
            <a:off x="1028700" y="2876981"/>
            <a:ext cx="6587858" cy="1162050"/>
          </a:xfrm>
          <a:prstGeom prst="rect">
            <a:avLst/>
          </a:prstGeom>
        </p:spPr>
        <p:txBody>
          <a:bodyPr anchor="t" rtlCol="false" tIns="0" lIns="0" bIns="0" rIns="0">
            <a:spAutoFit/>
          </a:bodyPr>
          <a:lstStyle/>
          <a:p>
            <a:pPr algn="l" marL="0" indent="0" lvl="0">
              <a:lnSpc>
                <a:spcPts val="4590"/>
              </a:lnSpc>
              <a:spcBef>
                <a:spcPct val="0"/>
              </a:spcBef>
            </a:pPr>
            <a:r>
              <a:rPr lang="en-US" b="true" sz="3825">
                <a:solidFill>
                  <a:srgbClr val="253439"/>
                </a:solidFill>
                <a:latin typeface="Glacial Indifference Bold"/>
                <a:ea typeface="Glacial Indifference Bold"/>
                <a:cs typeface="Glacial Indifference Bold"/>
                <a:sym typeface="Glacial Indifference Bold"/>
              </a:rPr>
              <a:t>ETIKETLERI BULMAK: ID2LABEL</a:t>
            </a:r>
          </a:p>
        </p:txBody>
      </p:sp>
      <p:sp>
        <p:nvSpPr>
          <p:cNvPr name="TextBox 9" id="9"/>
          <p:cNvSpPr txBox="true"/>
          <p:nvPr/>
        </p:nvSpPr>
        <p:spPr>
          <a:xfrm rot="0">
            <a:off x="789864" y="4681969"/>
            <a:ext cx="8160946" cy="3502632"/>
          </a:xfrm>
          <a:prstGeom prst="rect">
            <a:avLst/>
          </a:prstGeom>
        </p:spPr>
        <p:txBody>
          <a:bodyPr anchor="t" rtlCol="false" tIns="0" lIns="0" bIns="0" rIns="0">
            <a:spAutoFit/>
          </a:bodyPr>
          <a:lstStyle/>
          <a:p>
            <a:pPr algn="l" marL="0" indent="0" lvl="0">
              <a:lnSpc>
                <a:spcPts val="3101"/>
              </a:lnSpc>
              <a:spcBef>
                <a:spcPct val="0"/>
              </a:spcBef>
            </a:pPr>
            <a:r>
              <a:rPr lang="en-US" sz="2067">
                <a:solidFill>
                  <a:srgbClr val="253439"/>
                </a:solidFill>
                <a:latin typeface="Aileron"/>
                <a:ea typeface="Aileron"/>
                <a:cs typeface="Aileron"/>
                <a:sym typeface="Aileron"/>
              </a:rPr>
              <a:t>Her konuma karşılık gelen etiketi bulmak için modelin config'indeki id2label özelliğine bakarız:</a:t>
            </a:r>
          </a:p>
          <a:p>
            <a:pPr algn="l" marL="0" indent="0" lvl="0">
              <a:lnSpc>
                <a:spcPts val="3101"/>
              </a:lnSpc>
              <a:spcBef>
                <a:spcPct val="0"/>
              </a:spcBef>
            </a:pPr>
            <a:r>
              <a:rPr lang="en-US" sz="2067">
                <a:solidFill>
                  <a:srgbClr val="253439"/>
                </a:solidFill>
                <a:latin typeface="Aileron"/>
                <a:ea typeface="Aileron"/>
                <a:cs typeface="Aileron"/>
                <a:sym typeface="Aileron"/>
              </a:rPr>
              <a:t>model.config.id2label</a:t>
            </a:r>
          </a:p>
          <a:p>
            <a:pPr algn="l" marL="0" indent="0" lvl="0">
              <a:lnSpc>
                <a:spcPts val="3101"/>
              </a:lnSpc>
              <a:spcBef>
                <a:spcPct val="0"/>
              </a:spcBef>
            </a:pPr>
            <a:r>
              <a:rPr lang="en-US" sz="2067">
                <a:solidFill>
                  <a:srgbClr val="253439"/>
                </a:solidFill>
                <a:latin typeface="Aileron"/>
                <a:ea typeface="Aileron"/>
                <a:cs typeface="Aileron"/>
                <a:sym typeface="Aileron"/>
              </a:rPr>
              <a:t>→ {0: 'NEGATIVE', 1: 'POSITIVE'}</a:t>
            </a:r>
          </a:p>
          <a:p>
            <a:pPr algn="l" marL="0" indent="0" lvl="0">
              <a:lnSpc>
                <a:spcPts val="3101"/>
              </a:lnSpc>
              <a:spcBef>
                <a:spcPct val="0"/>
              </a:spcBef>
            </a:pPr>
            <a:r>
              <a:rPr lang="en-US" sz="2067">
                <a:solidFill>
                  <a:srgbClr val="253439"/>
                </a:solidFill>
                <a:latin typeface="Aileron"/>
                <a:ea typeface="Aileron"/>
                <a:cs typeface="Aileron"/>
                <a:sym typeface="Aileron"/>
              </a:rPr>
              <a:t>Sonuçlar:</a:t>
            </a:r>
          </a:p>
          <a:p>
            <a:pPr algn="l" marL="0" indent="0" lvl="0">
              <a:lnSpc>
                <a:spcPts val="3101"/>
              </a:lnSpc>
              <a:spcBef>
                <a:spcPct val="0"/>
              </a:spcBef>
            </a:pPr>
            <a:r>
              <a:rPr lang="en-US" sz="2067">
                <a:solidFill>
                  <a:srgbClr val="253439"/>
                </a:solidFill>
                <a:latin typeface="Aileron"/>
                <a:ea typeface="Aileron"/>
                <a:cs typeface="Aileron"/>
                <a:sym typeface="Aileron"/>
              </a:rPr>
              <a:t>• Birinci cümle: NEGATIVE: 0.0402, POSITIVE: 0.9598</a:t>
            </a:r>
          </a:p>
          <a:p>
            <a:pPr algn="l" marL="0" indent="0" lvl="0">
              <a:lnSpc>
                <a:spcPts val="3101"/>
              </a:lnSpc>
              <a:spcBef>
                <a:spcPct val="0"/>
              </a:spcBef>
            </a:pPr>
            <a:r>
              <a:rPr lang="en-US" sz="2067">
                <a:solidFill>
                  <a:srgbClr val="253439"/>
                </a:solidFill>
                <a:latin typeface="Aileron"/>
                <a:ea typeface="Aileron"/>
                <a:cs typeface="Aileron"/>
                <a:sym typeface="Aileron"/>
              </a:rPr>
              <a:t>• İkinci cümle: NEGATIVE: 0.9995, POSITIVE: 0.0005</a:t>
            </a:r>
          </a:p>
          <a:p>
            <a:pPr algn="l" marL="0" indent="0" lvl="0">
              <a:lnSpc>
                <a:spcPts val="3101"/>
              </a:lnSpc>
              <a:spcBef>
                <a:spcPct val="0"/>
              </a:spcBef>
            </a:pPr>
            <a:r>
              <a:rPr lang="en-US" sz="2067">
                <a:solidFill>
                  <a:srgbClr val="253439"/>
                </a:solidFill>
                <a:latin typeface="Aileron"/>
                <a:ea typeface="Aileron"/>
                <a:cs typeface="Aileron"/>
                <a:sym typeface="Aileron"/>
              </a:rPr>
              <a:t>Pipeline'ın üç adımını başarıyla yeniden ürettik: tokenizer ile ön işleme, girdileri modelden geçirme ve son işleme.</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 r="0" b="-555"/>
            </a:stretch>
          </a:blipFill>
        </p:spPr>
      </p:sp>
      <p:sp>
        <p:nvSpPr>
          <p:cNvPr name="AutoShape 3" id="3"/>
          <p:cNvSpPr/>
          <p:nvPr/>
        </p:nvSpPr>
        <p:spPr>
          <a:xfrm>
            <a:off x="1794021" y="2089170"/>
            <a:ext cx="0" cy="1164590"/>
          </a:xfrm>
          <a:prstGeom prst="line">
            <a:avLst/>
          </a:prstGeom>
          <a:ln cap="flat" w="133350">
            <a:solidFill>
              <a:srgbClr val="D15353"/>
            </a:solidFill>
            <a:prstDash val="solid"/>
            <a:headEnd type="none" len="sm" w="sm"/>
            <a:tailEnd type="none" len="sm" w="sm"/>
          </a:ln>
        </p:spPr>
      </p:sp>
      <p:pic>
        <p:nvPicPr>
          <p:cNvPr name="Picture 4" id="4">
            <a:hlinkClick action="ppaction://media"/>
          </p:cNvPr>
          <p:cNvPicPr>
            <a:picLocks noChangeAspect="true"/>
          </p:cNvPicPr>
          <p:nvPr>
            <a:videoFile r:link="rId4"/>
            <p:extLst>
              <p:ext uri="{DAA4B4D4-6D71-4841-9C94-3DE7FCFB9230}">
                <p14:media xmlns:p14="http://schemas.microsoft.com/office/powerpoint/2010/main" r:embed="rId5"/>
              </p:ext>
            </p:extLst>
          </p:nvPr>
        </p:nvPicPr>
        <p:blipFill>
          <a:blip r:embed="rId3"/>
          <a:srcRect l="0" t="0" r="0" b="0"/>
          <a:stretch>
            <a:fillRect/>
          </a:stretch>
        </p:blipFill>
        <p:spPr>
          <a:xfrm flipH="false" flipV="false" rot="0">
            <a:off x="2371344" y="2293726"/>
            <a:ext cx="13545311" cy="5699549"/>
          </a:xfrm>
          <a:prstGeom prst="rect">
            <a:avLst/>
          </a:prstGeom>
        </p:spPr>
      </p:pic>
      <p:sp>
        <p:nvSpPr>
          <p:cNvPr name="TextBox 5" id="5"/>
          <p:cNvSpPr txBox="true"/>
          <p:nvPr/>
        </p:nvSpPr>
        <p:spPr>
          <a:xfrm rot="0">
            <a:off x="2109520" y="1045928"/>
            <a:ext cx="4870432" cy="627341"/>
          </a:xfrm>
          <a:prstGeom prst="rect">
            <a:avLst/>
          </a:prstGeom>
        </p:spPr>
        <p:txBody>
          <a:bodyPr anchor="t" rtlCol="false" tIns="0" lIns="0" bIns="0" rIns="0">
            <a:spAutoFit/>
          </a:bodyPr>
          <a:lstStyle/>
          <a:p>
            <a:pPr algn="l" marL="0" indent="0" lvl="0">
              <a:lnSpc>
                <a:spcPts val="4836"/>
              </a:lnSpc>
            </a:pPr>
            <a:r>
              <a:rPr lang="en-US" sz="4396" spc="140">
                <a:solidFill>
                  <a:srgbClr val="FFFFFF"/>
                </a:solidFill>
                <a:latin typeface="HK Grotesk"/>
                <a:ea typeface="HK Grotesk"/>
                <a:cs typeface="HK Grotesk"/>
                <a:sym typeface="HK Grotesk"/>
              </a:rPr>
              <a:t>BEHIND THE</a:t>
            </a:r>
          </a:p>
        </p:txBody>
      </p:sp>
      <p:sp>
        <p:nvSpPr>
          <p:cNvPr name="TextBox 6" id="6"/>
          <p:cNvSpPr txBox="true"/>
          <p:nvPr/>
        </p:nvSpPr>
        <p:spPr>
          <a:xfrm rot="0">
            <a:off x="5872359" y="972273"/>
            <a:ext cx="4870432" cy="784176"/>
          </a:xfrm>
          <a:prstGeom prst="rect">
            <a:avLst/>
          </a:prstGeom>
        </p:spPr>
        <p:txBody>
          <a:bodyPr anchor="t" rtlCol="false" tIns="0" lIns="0" bIns="0" rIns="0">
            <a:spAutoFit/>
          </a:bodyPr>
          <a:lstStyle/>
          <a:p>
            <a:pPr algn="l" marL="0" indent="0" lvl="0">
              <a:lnSpc>
                <a:spcPts val="6045"/>
              </a:lnSpc>
            </a:pPr>
            <a:r>
              <a:rPr lang="en-US" b="true" sz="5496">
                <a:solidFill>
                  <a:srgbClr val="FFFFFF"/>
                </a:solidFill>
                <a:latin typeface="Glacial Indifference Bold"/>
                <a:ea typeface="Glacial Indifference Bold"/>
                <a:cs typeface="Glacial Indifference Bold"/>
                <a:sym typeface="Glacial Indifference Bold"/>
              </a:rPr>
              <a:t>PIPELINE</a:t>
            </a:r>
          </a:p>
        </p:txBody>
      </p:sp>
    </p:spTree>
  </p:cSld>
  <p:clrMapOvr>
    <a:masterClrMapping/>
  </p:clrMapOvr>
  <p:timing>
    <p:tnLst>
      <p:par>
        <p:cTn dur="indefinite" restart="never" nodeType="tmRoot">
          <p:childTnLst>
            <p:video>
              <p:cMediaNode vol="100000">
                <p:cTn fill="hold" display="false">
                  <p:stCondLst>
                    <p:cond delay="indefinite"/>
                  </p:stCondLst>
                </p:cTn>
                <p:tgtEl>
                  <p:spTgt spid="4"/>
                </p:tgtEl>
              </p:cMediaNode>
            </p:video>
          </p:childTnLst>
        </p:cTn>
      </p:par>
    </p:tnLst>
  </p:timing>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253439"/>
        </a:solidFill>
      </p:bgPr>
    </p:bg>
    <p:spTree>
      <p:nvGrpSpPr>
        <p:cNvPr id="1" name=""/>
        <p:cNvGrpSpPr/>
        <p:nvPr/>
      </p:nvGrpSpPr>
      <p:grpSpPr>
        <a:xfrm>
          <a:off x="0" y="0"/>
          <a:ext cx="0" cy="0"/>
          <a:chOff x="0" y="0"/>
          <a:chExt cx="0" cy="0"/>
        </a:xfrm>
      </p:grpSpPr>
      <p:sp>
        <p:nvSpPr>
          <p:cNvPr name="Freeform 2" id="2"/>
          <p:cNvSpPr/>
          <p:nvPr/>
        </p:nvSpPr>
        <p:spPr>
          <a:xfrm flipH="false" flipV="false" rot="0">
            <a:off x="292278" y="-594461"/>
            <a:ext cx="17680455" cy="12677500"/>
          </a:xfrm>
          <a:custGeom>
            <a:avLst/>
            <a:gdLst/>
            <a:ahLst/>
            <a:cxnLst/>
            <a:rect r="r" b="b" t="t" l="l"/>
            <a:pathLst>
              <a:path h="12677500" w="17680455">
                <a:moveTo>
                  <a:pt x="0" y="0"/>
                </a:moveTo>
                <a:lnTo>
                  <a:pt x="17680455" y="0"/>
                </a:lnTo>
                <a:lnTo>
                  <a:pt x="17680455" y="12677500"/>
                </a:lnTo>
                <a:lnTo>
                  <a:pt x="0" y="12677500"/>
                </a:lnTo>
                <a:lnTo>
                  <a:pt x="0" y="0"/>
                </a:lnTo>
                <a:close/>
              </a:path>
            </a:pathLst>
          </a:custGeom>
          <a:blipFill>
            <a:blip r:embed="rId2"/>
            <a:stretch>
              <a:fillRect l="-13286" t="-552" r="-13482" b="0"/>
            </a:stretch>
          </a:blipFill>
        </p:spPr>
      </p:sp>
      <p:sp>
        <p:nvSpPr>
          <p:cNvPr name="AutoShape 3" id="3"/>
          <p:cNvSpPr/>
          <p:nvPr/>
        </p:nvSpPr>
        <p:spPr>
          <a:xfrm>
            <a:off x="1095375" y="591859"/>
            <a:ext cx="0" cy="1164590"/>
          </a:xfrm>
          <a:prstGeom prst="line">
            <a:avLst/>
          </a:prstGeom>
          <a:ln cap="flat" w="133350">
            <a:solidFill>
              <a:srgbClr val="D15353"/>
            </a:solidFill>
            <a:prstDash val="solid"/>
            <a:headEnd type="none" len="sm" w="sm"/>
            <a:tailEnd type="none" len="sm" w="sm"/>
          </a:ln>
        </p:spPr>
      </p:sp>
      <p:sp>
        <p:nvSpPr>
          <p:cNvPr name="Freeform 4" id="4"/>
          <p:cNvSpPr/>
          <p:nvPr/>
        </p:nvSpPr>
        <p:spPr>
          <a:xfrm flipH="false" flipV="false" rot="0">
            <a:off x="1028700" y="1825444"/>
            <a:ext cx="7034480" cy="3318056"/>
          </a:xfrm>
          <a:custGeom>
            <a:avLst/>
            <a:gdLst/>
            <a:ahLst/>
            <a:cxnLst/>
            <a:rect r="r" b="b" t="t" l="l"/>
            <a:pathLst>
              <a:path h="3318056" w="7034480">
                <a:moveTo>
                  <a:pt x="0" y="0"/>
                </a:moveTo>
                <a:lnTo>
                  <a:pt x="7034480" y="0"/>
                </a:lnTo>
                <a:lnTo>
                  <a:pt x="7034480" y="3318056"/>
                </a:lnTo>
                <a:lnTo>
                  <a:pt x="0" y="3318056"/>
                </a:lnTo>
                <a:lnTo>
                  <a:pt x="0" y="0"/>
                </a:lnTo>
                <a:close/>
              </a:path>
            </a:pathLst>
          </a:custGeom>
          <a:blipFill>
            <a:blip r:embed="rId3"/>
            <a:stretch>
              <a:fillRect l="0" t="0" r="0" b="0"/>
            </a:stretch>
          </a:blipFill>
        </p:spPr>
      </p:sp>
      <p:sp>
        <p:nvSpPr>
          <p:cNvPr name="Freeform 5" id="5"/>
          <p:cNvSpPr/>
          <p:nvPr/>
        </p:nvSpPr>
        <p:spPr>
          <a:xfrm flipH="false" flipV="false" rot="0">
            <a:off x="1028700" y="5303630"/>
            <a:ext cx="7034480" cy="2077777"/>
          </a:xfrm>
          <a:custGeom>
            <a:avLst/>
            <a:gdLst/>
            <a:ahLst/>
            <a:cxnLst/>
            <a:rect r="r" b="b" t="t" l="l"/>
            <a:pathLst>
              <a:path h="2077777" w="7034480">
                <a:moveTo>
                  <a:pt x="0" y="0"/>
                </a:moveTo>
                <a:lnTo>
                  <a:pt x="7034480" y="0"/>
                </a:lnTo>
                <a:lnTo>
                  <a:pt x="7034480" y="2077777"/>
                </a:lnTo>
                <a:lnTo>
                  <a:pt x="0" y="2077777"/>
                </a:lnTo>
                <a:lnTo>
                  <a:pt x="0" y="0"/>
                </a:lnTo>
                <a:close/>
              </a:path>
            </a:pathLst>
          </a:custGeom>
          <a:blipFill>
            <a:blip r:embed="rId4"/>
            <a:stretch>
              <a:fillRect l="0" t="0" r="0" b="0"/>
            </a:stretch>
          </a:blipFill>
        </p:spPr>
      </p:sp>
      <p:sp>
        <p:nvSpPr>
          <p:cNvPr name="Freeform 6" id="6"/>
          <p:cNvSpPr/>
          <p:nvPr/>
        </p:nvSpPr>
        <p:spPr>
          <a:xfrm flipH="false" flipV="false" rot="0">
            <a:off x="1028700" y="7541537"/>
            <a:ext cx="7034480" cy="1964051"/>
          </a:xfrm>
          <a:custGeom>
            <a:avLst/>
            <a:gdLst/>
            <a:ahLst/>
            <a:cxnLst/>
            <a:rect r="r" b="b" t="t" l="l"/>
            <a:pathLst>
              <a:path h="1964051" w="7034480">
                <a:moveTo>
                  <a:pt x="0" y="0"/>
                </a:moveTo>
                <a:lnTo>
                  <a:pt x="7034480" y="0"/>
                </a:lnTo>
                <a:lnTo>
                  <a:pt x="7034480" y="1964051"/>
                </a:lnTo>
                <a:lnTo>
                  <a:pt x="0" y="1964051"/>
                </a:lnTo>
                <a:lnTo>
                  <a:pt x="0" y="0"/>
                </a:lnTo>
                <a:close/>
              </a:path>
            </a:pathLst>
          </a:custGeom>
          <a:blipFill>
            <a:blip r:embed="rId5"/>
            <a:stretch>
              <a:fillRect l="0" t="0" r="-25952" b="-116966"/>
            </a:stretch>
          </a:blipFill>
        </p:spPr>
      </p:sp>
      <p:sp>
        <p:nvSpPr>
          <p:cNvPr name="Freeform 7" id="7"/>
          <p:cNvSpPr/>
          <p:nvPr/>
        </p:nvSpPr>
        <p:spPr>
          <a:xfrm flipH="false" flipV="false" rot="0">
            <a:off x="9708719" y="2807023"/>
            <a:ext cx="6864719" cy="2336477"/>
          </a:xfrm>
          <a:custGeom>
            <a:avLst/>
            <a:gdLst/>
            <a:ahLst/>
            <a:cxnLst/>
            <a:rect r="r" b="b" t="t" l="l"/>
            <a:pathLst>
              <a:path h="2336477" w="6864719">
                <a:moveTo>
                  <a:pt x="0" y="0"/>
                </a:moveTo>
                <a:lnTo>
                  <a:pt x="6864718" y="0"/>
                </a:lnTo>
                <a:lnTo>
                  <a:pt x="6864718" y="2336477"/>
                </a:lnTo>
                <a:lnTo>
                  <a:pt x="0" y="2336477"/>
                </a:lnTo>
                <a:lnTo>
                  <a:pt x="0" y="0"/>
                </a:lnTo>
                <a:close/>
              </a:path>
            </a:pathLst>
          </a:custGeom>
          <a:blipFill>
            <a:blip r:embed="rId6"/>
            <a:stretch>
              <a:fillRect l="0" t="-80221" r="-27537" b="0"/>
            </a:stretch>
          </a:blipFill>
        </p:spPr>
      </p:sp>
      <p:sp>
        <p:nvSpPr>
          <p:cNvPr name="Freeform 8" id="8"/>
          <p:cNvSpPr/>
          <p:nvPr/>
        </p:nvSpPr>
        <p:spPr>
          <a:xfrm flipH="false" flipV="false" rot="0">
            <a:off x="9708719" y="6109527"/>
            <a:ext cx="7247155" cy="2543760"/>
          </a:xfrm>
          <a:custGeom>
            <a:avLst/>
            <a:gdLst/>
            <a:ahLst/>
            <a:cxnLst/>
            <a:rect r="r" b="b" t="t" l="l"/>
            <a:pathLst>
              <a:path h="2543760" w="7247155">
                <a:moveTo>
                  <a:pt x="0" y="0"/>
                </a:moveTo>
                <a:lnTo>
                  <a:pt x="7247155" y="0"/>
                </a:lnTo>
                <a:lnTo>
                  <a:pt x="7247155" y="2543760"/>
                </a:lnTo>
                <a:lnTo>
                  <a:pt x="0" y="2543760"/>
                </a:lnTo>
                <a:lnTo>
                  <a:pt x="0" y="0"/>
                </a:lnTo>
                <a:close/>
              </a:path>
            </a:pathLst>
          </a:custGeom>
          <a:blipFill>
            <a:blip r:embed="rId7"/>
            <a:stretch>
              <a:fillRect l="0" t="0" r="0" b="0"/>
            </a:stretch>
          </a:blipFill>
        </p:spPr>
      </p:sp>
      <p:sp>
        <p:nvSpPr>
          <p:cNvPr name="TextBox 9" id="9"/>
          <p:cNvSpPr txBox="true"/>
          <p:nvPr/>
        </p:nvSpPr>
        <p:spPr>
          <a:xfrm rot="0">
            <a:off x="1251216" y="844873"/>
            <a:ext cx="4870432" cy="627341"/>
          </a:xfrm>
          <a:prstGeom prst="rect">
            <a:avLst/>
          </a:prstGeom>
        </p:spPr>
        <p:txBody>
          <a:bodyPr anchor="t" rtlCol="false" tIns="0" lIns="0" bIns="0" rIns="0">
            <a:spAutoFit/>
          </a:bodyPr>
          <a:lstStyle/>
          <a:p>
            <a:pPr algn="l" marL="0" indent="0" lvl="0">
              <a:lnSpc>
                <a:spcPts val="4836"/>
              </a:lnSpc>
            </a:pPr>
            <a:r>
              <a:rPr lang="en-US" sz="4396" spc="140">
                <a:solidFill>
                  <a:srgbClr val="FFFFFF"/>
                </a:solidFill>
                <a:latin typeface="HK Grotesk"/>
                <a:ea typeface="HK Grotesk"/>
                <a:cs typeface="HK Grotesk"/>
                <a:sym typeface="HK Grotesk"/>
              </a:rPr>
              <a:t>BEHIND THE</a:t>
            </a:r>
          </a:p>
        </p:txBody>
      </p:sp>
      <p:sp>
        <p:nvSpPr>
          <p:cNvPr name="TextBox 10" id="10"/>
          <p:cNvSpPr txBox="true"/>
          <p:nvPr/>
        </p:nvSpPr>
        <p:spPr>
          <a:xfrm rot="0">
            <a:off x="4838287" y="771218"/>
            <a:ext cx="4870432" cy="784176"/>
          </a:xfrm>
          <a:prstGeom prst="rect">
            <a:avLst/>
          </a:prstGeom>
        </p:spPr>
        <p:txBody>
          <a:bodyPr anchor="t" rtlCol="false" tIns="0" lIns="0" bIns="0" rIns="0">
            <a:spAutoFit/>
          </a:bodyPr>
          <a:lstStyle/>
          <a:p>
            <a:pPr algn="l" marL="0" indent="0" lvl="0">
              <a:lnSpc>
                <a:spcPts val="6045"/>
              </a:lnSpc>
            </a:pPr>
            <a:r>
              <a:rPr lang="en-US" b="true" sz="5496">
                <a:solidFill>
                  <a:srgbClr val="FFFFFF"/>
                </a:solidFill>
                <a:latin typeface="Glacial Indifference Bold"/>
                <a:ea typeface="Glacial Indifference Bold"/>
                <a:cs typeface="Glacial Indifference Bold"/>
                <a:sym typeface="Glacial Indifference Bold"/>
              </a:rPr>
              <a:t>PIPELINE</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253439"/>
        </a:solidFill>
      </p:bgPr>
    </p:bg>
    <p:spTree>
      <p:nvGrpSpPr>
        <p:cNvPr id="1" name=""/>
        <p:cNvGrpSpPr/>
        <p:nvPr/>
      </p:nvGrpSpPr>
      <p:grpSpPr>
        <a:xfrm>
          <a:off x="0" y="0"/>
          <a:ext cx="0" cy="0"/>
          <a:chOff x="0" y="0"/>
          <a:chExt cx="0" cy="0"/>
        </a:xfrm>
      </p:grpSpPr>
      <p:sp>
        <p:nvSpPr>
          <p:cNvPr name="Freeform 2" id="2"/>
          <p:cNvSpPr/>
          <p:nvPr/>
        </p:nvSpPr>
        <p:spPr>
          <a:xfrm flipH="false" flipV="false" rot="-3554022">
            <a:off x="1768119" y="-7642360"/>
            <a:ext cx="24933943" cy="14869697"/>
          </a:xfrm>
          <a:custGeom>
            <a:avLst/>
            <a:gdLst/>
            <a:ahLst/>
            <a:cxnLst/>
            <a:rect r="r" b="b" t="t" l="l"/>
            <a:pathLst>
              <a:path h="14869697" w="24933943">
                <a:moveTo>
                  <a:pt x="0" y="0"/>
                </a:moveTo>
                <a:lnTo>
                  <a:pt x="24933943" y="0"/>
                </a:lnTo>
                <a:lnTo>
                  <a:pt x="24933943" y="14869697"/>
                </a:lnTo>
                <a:lnTo>
                  <a:pt x="0" y="148696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778715" y="1855807"/>
            <a:ext cx="19845431" cy="6575386"/>
            <a:chOff x="0" y="0"/>
            <a:chExt cx="5226780" cy="1731789"/>
          </a:xfrm>
        </p:grpSpPr>
        <p:sp>
          <p:nvSpPr>
            <p:cNvPr name="Freeform 4" id="4"/>
            <p:cNvSpPr/>
            <p:nvPr/>
          </p:nvSpPr>
          <p:spPr>
            <a:xfrm flipH="false" flipV="false" rot="0">
              <a:off x="0" y="0"/>
              <a:ext cx="5226780" cy="1731789"/>
            </a:xfrm>
            <a:custGeom>
              <a:avLst/>
              <a:gdLst/>
              <a:ahLst/>
              <a:cxnLst/>
              <a:rect r="r" b="b" t="t" l="l"/>
              <a:pathLst>
                <a:path h="1731789" w="5226780">
                  <a:moveTo>
                    <a:pt x="0" y="0"/>
                  </a:moveTo>
                  <a:lnTo>
                    <a:pt x="5226780" y="0"/>
                  </a:lnTo>
                  <a:lnTo>
                    <a:pt x="5226780" y="1731789"/>
                  </a:lnTo>
                  <a:lnTo>
                    <a:pt x="0" y="1731789"/>
                  </a:lnTo>
                  <a:close/>
                </a:path>
              </a:pathLst>
            </a:custGeom>
            <a:gradFill rotWithShape="true">
              <a:gsLst>
                <a:gs pos="0">
                  <a:srgbClr val="FDF7EF">
                    <a:alpha val="100000"/>
                  </a:srgbClr>
                </a:gs>
                <a:gs pos="100000">
                  <a:srgbClr val="FFFFFF">
                    <a:alpha val="100000"/>
                  </a:srgbClr>
                </a:gs>
              </a:gsLst>
              <a:lin ang="0"/>
            </a:gradFill>
            <a:ln cap="sq">
              <a:noFill/>
              <a:prstDash val="solid"/>
              <a:miter/>
            </a:ln>
          </p:spPr>
        </p:sp>
        <p:sp>
          <p:nvSpPr>
            <p:cNvPr name="TextBox 5" id="5"/>
            <p:cNvSpPr txBox="true"/>
            <p:nvPr/>
          </p:nvSpPr>
          <p:spPr>
            <a:xfrm>
              <a:off x="0" y="9525"/>
              <a:ext cx="5226780" cy="1722264"/>
            </a:xfrm>
            <a:prstGeom prst="rect">
              <a:avLst/>
            </a:prstGeom>
          </p:spPr>
          <p:txBody>
            <a:bodyPr anchor="ctr" rtlCol="false" tIns="50800" lIns="50800" bIns="50800" rIns="50800"/>
            <a:lstStyle/>
            <a:p>
              <a:pPr algn="ctr" marL="0" indent="0" lvl="0">
                <a:lnSpc>
                  <a:spcPts val="1869"/>
                </a:lnSpc>
              </a:pPr>
            </a:p>
          </p:txBody>
        </p:sp>
      </p:grpSp>
      <p:grpSp>
        <p:nvGrpSpPr>
          <p:cNvPr name="Group 6" id="6"/>
          <p:cNvGrpSpPr/>
          <p:nvPr/>
        </p:nvGrpSpPr>
        <p:grpSpPr>
          <a:xfrm rot="0">
            <a:off x="-1301698" y="5241448"/>
            <a:ext cx="4660796" cy="2601944"/>
            <a:chOff x="0" y="0"/>
            <a:chExt cx="1227535" cy="685286"/>
          </a:xfrm>
        </p:grpSpPr>
        <p:sp>
          <p:nvSpPr>
            <p:cNvPr name="Freeform 7" id="7"/>
            <p:cNvSpPr/>
            <p:nvPr/>
          </p:nvSpPr>
          <p:spPr>
            <a:xfrm flipH="false" flipV="false" rot="0">
              <a:off x="0" y="0"/>
              <a:ext cx="1227535" cy="685286"/>
            </a:xfrm>
            <a:custGeom>
              <a:avLst/>
              <a:gdLst/>
              <a:ahLst/>
              <a:cxnLst/>
              <a:rect r="r" b="b" t="t" l="l"/>
              <a:pathLst>
                <a:path h="685286" w="1227535">
                  <a:moveTo>
                    <a:pt x="0" y="0"/>
                  </a:moveTo>
                  <a:lnTo>
                    <a:pt x="1227535" y="0"/>
                  </a:lnTo>
                  <a:lnTo>
                    <a:pt x="1227535" y="685286"/>
                  </a:lnTo>
                  <a:lnTo>
                    <a:pt x="0" y="685286"/>
                  </a:lnTo>
                  <a:close/>
                </a:path>
              </a:pathLst>
            </a:custGeom>
            <a:solidFill>
              <a:srgbClr val="D15353"/>
            </a:solidFill>
          </p:spPr>
        </p:sp>
        <p:sp>
          <p:nvSpPr>
            <p:cNvPr name="TextBox 8" id="8"/>
            <p:cNvSpPr txBox="true"/>
            <p:nvPr/>
          </p:nvSpPr>
          <p:spPr>
            <a:xfrm>
              <a:off x="0" y="-47625"/>
              <a:ext cx="1227535" cy="732911"/>
            </a:xfrm>
            <a:prstGeom prst="rect">
              <a:avLst/>
            </a:prstGeom>
          </p:spPr>
          <p:txBody>
            <a:bodyPr anchor="ctr" rtlCol="false" tIns="50800" lIns="50800" bIns="50800" rIns="50800"/>
            <a:lstStyle/>
            <a:p>
              <a:pPr algn="ctr" marL="0" indent="0" lvl="0">
                <a:lnSpc>
                  <a:spcPts val="3244"/>
                </a:lnSpc>
              </a:pPr>
            </a:p>
          </p:txBody>
        </p:sp>
      </p:grpSp>
      <p:grpSp>
        <p:nvGrpSpPr>
          <p:cNvPr name="Group 9" id="9"/>
          <p:cNvGrpSpPr/>
          <p:nvPr/>
        </p:nvGrpSpPr>
        <p:grpSpPr>
          <a:xfrm rot="0">
            <a:off x="9641458" y="2546088"/>
            <a:ext cx="2373131" cy="2411751"/>
            <a:chOff x="0" y="0"/>
            <a:chExt cx="625022" cy="635194"/>
          </a:xfrm>
        </p:grpSpPr>
        <p:sp>
          <p:nvSpPr>
            <p:cNvPr name="Freeform 10" id="10"/>
            <p:cNvSpPr/>
            <p:nvPr/>
          </p:nvSpPr>
          <p:spPr>
            <a:xfrm flipH="false" flipV="false" rot="0">
              <a:off x="0" y="0"/>
              <a:ext cx="625022" cy="635194"/>
            </a:xfrm>
            <a:custGeom>
              <a:avLst/>
              <a:gdLst/>
              <a:ahLst/>
              <a:cxnLst/>
              <a:rect r="r" b="b" t="t" l="l"/>
              <a:pathLst>
                <a:path h="635194" w="625022">
                  <a:moveTo>
                    <a:pt x="0" y="0"/>
                  </a:moveTo>
                  <a:lnTo>
                    <a:pt x="625022" y="0"/>
                  </a:lnTo>
                  <a:lnTo>
                    <a:pt x="625022" y="635194"/>
                  </a:lnTo>
                  <a:lnTo>
                    <a:pt x="0" y="635194"/>
                  </a:lnTo>
                  <a:close/>
                </a:path>
              </a:pathLst>
            </a:custGeom>
            <a:solidFill>
              <a:srgbClr val="D15353"/>
            </a:solidFill>
          </p:spPr>
        </p:sp>
        <p:sp>
          <p:nvSpPr>
            <p:cNvPr name="TextBox 11" id="11"/>
            <p:cNvSpPr txBox="true"/>
            <p:nvPr/>
          </p:nvSpPr>
          <p:spPr>
            <a:xfrm>
              <a:off x="0" y="-47625"/>
              <a:ext cx="625022" cy="682819"/>
            </a:xfrm>
            <a:prstGeom prst="rect">
              <a:avLst/>
            </a:prstGeom>
          </p:spPr>
          <p:txBody>
            <a:bodyPr anchor="ctr" rtlCol="false" tIns="50800" lIns="50800" bIns="50800" rIns="50800"/>
            <a:lstStyle/>
            <a:p>
              <a:pPr algn="ctr" marL="0" indent="0" lvl="0">
                <a:lnSpc>
                  <a:spcPts val="3244"/>
                </a:lnSpc>
              </a:pPr>
            </a:p>
          </p:txBody>
        </p:sp>
      </p:grpSp>
      <p:sp>
        <p:nvSpPr>
          <p:cNvPr name="AutoShape 12" id="12"/>
          <p:cNvSpPr/>
          <p:nvPr/>
        </p:nvSpPr>
        <p:spPr>
          <a:xfrm flipV="true">
            <a:off x="16684546" y="3038963"/>
            <a:ext cx="21934" cy="4209074"/>
          </a:xfrm>
          <a:prstGeom prst="line">
            <a:avLst/>
          </a:prstGeom>
          <a:ln cap="flat" w="133350">
            <a:solidFill>
              <a:srgbClr val="D15353"/>
            </a:solidFill>
            <a:prstDash val="solid"/>
            <a:headEnd type="none" len="sm" w="sm"/>
            <a:tailEnd type="none" len="sm" w="sm"/>
          </a:ln>
        </p:spPr>
      </p:sp>
      <p:pic>
        <p:nvPicPr>
          <p:cNvPr name="Picture 13" id="13">
            <a:hlinkClick action="ppaction://media"/>
          </p:cNvPr>
          <p:cNvPicPr>
            <a:picLocks noChangeAspect="true"/>
          </p:cNvPicPr>
          <p:nvPr>
            <a:videoFile r:link="rId5"/>
            <p:extLst>
              <p:ext uri="{DAA4B4D4-6D71-4841-9C94-3DE7FCFB9230}">
                <p14:media xmlns:p14="http://schemas.microsoft.com/office/powerpoint/2010/main" r:embed="rId6"/>
              </p:ext>
            </p:extLst>
          </p:nvPr>
        </p:nvPicPr>
        <p:blipFill>
          <a:blip r:embed="rId4"/>
          <a:srcRect l="0" t="0" r="0" b="0"/>
          <a:stretch>
            <a:fillRect/>
          </a:stretch>
        </p:blipFill>
        <p:spPr>
          <a:xfrm flipH="false" flipV="false" rot="0">
            <a:off x="318735" y="3209362"/>
            <a:ext cx="10953586" cy="4183404"/>
          </a:xfrm>
          <a:prstGeom prst="rect">
            <a:avLst/>
          </a:prstGeom>
        </p:spPr>
      </p:pic>
      <p:sp>
        <p:nvSpPr>
          <p:cNvPr name="TextBox 14" id="14"/>
          <p:cNvSpPr txBox="true"/>
          <p:nvPr/>
        </p:nvSpPr>
        <p:spPr>
          <a:xfrm rot="0">
            <a:off x="10392293" y="3067190"/>
            <a:ext cx="5931221" cy="947314"/>
          </a:xfrm>
          <a:prstGeom prst="rect">
            <a:avLst/>
          </a:prstGeom>
        </p:spPr>
        <p:txBody>
          <a:bodyPr anchor="t" rtlCol="false" tIns="0" lIns="0" bIns="0" rIns="0">
            <a:spAutoFit/>
          </a:bodyPr>
          <a:lstStyle/>
          <a:p>
            <a:pPr algn="r" marL="0" indent="0" lvl="0">
              <a:lnSpc>
                <a:spcPts val="3675"/>
              </a:lnSpc>
            </a:pPr>
            <a:r>
              <a:rPr lang="en-US" b="true" sz="3341" spc="106">
                <a:solidFill>
                  <a:srgbClr val="000000"/>
                </a:solidFill>
                <a:latin typeface="Glacial Indifference Bold"/>
                <a:ea typeface="Glacial Indifference Bold"/>
                <a:cs typeface="Glacial Indifference Bold"/>
                <a:sym typeface="Glacial Indifference Bold"/>
              </a:rPr>
              <a:t> BİR TRANSFORMER OLUŞTURMAK</a:t>
            </a:r>
          </a:p>
        </p:txBody>
      </p:sp>
      <p:sp>
        <p:nvSpPr>
          <p:cNvPr name="TextBox 15" id="15"/>
          <p:cNvSpPr txBox="true"/>
          <p:nvPr/>
        </p:nvSpPr>
        <p:spPr>
          <a:xfrm rot="0">
            <a:off x="12309864" y="4427865"/>
            <a:ext cx="4013650" cy="1570017"/>
          </a:xfrm>
          <a:prstGeom prst="rect">
            <a:avLst/>
          </a:prstGeom>
        </p:spPr>
        <p:txBody>
          <a:bodyPr anchor="t" rtlCol="false" tIns="0" lIns="0" bIns="0" rIns="0">
            <a:spAutoFit/>
          </a:bodyPr>
          <a:lstStyle/>
          <a:p>
            <a:pPr algn="r" marL="0" indent="0" lvl="0">
              <a:lnSpc>
                <a:spcPts val="2518"/>
              </a:lnSpc>
            </a:pPr>
            <a:r>
              <a:rPr lang="en-US" sz="1713">
                <a:solidFill>
                  <a:srgbClr val="000000"/>
                </a:solidFill>
                <a:latin typeface="Aileron"/>
                <a:ea typeface="Aileron"/>
                <a:cs typeface="Aileron"/>
                <a:sym typeface="Aileron"/>
              </a:rPr>
              <a:t>AutoModel sınıfı, checkpoint'e uygun mimariyi tahmin edip doğru model sınıfını oluşturur. "bert-base-cased" checkpoint'i, 12 katman, 768 hidden size ve 12 attention head'e sahip temel </a:t>
            </a:r>
          </a:p>
        </p:txBody>
      </p:sp>
      <p:sp>
        <p:nvSpPr>
          <p:cNvPr name="TextBox 16" id="16"/>
          <p:cNvSpPr txBox="true"/>
          <p:nvPr/>
        </p:nvSpPr>
        <p:spPr>
          <a:xfrm rot="0">
            <a:off x="1028700" y="602793"/>
            <a:ext cx="5931221" cy="480589"/>
          </a:xfrm>
          <a:prstGeom prst="rect">
            <a:avLst/>
          </a:prstGeom>
        </p:spPr>
        <p:txBody>
          <a:bodyPr anchor="t" rtlCol="false" tIns="0" lIns="0" bIns="0" rIns="0">
            <a:spAutoFit/>
          </a:bodyPr>
          <a:lstStyle/>
          <a:p>
            <a:pPr algn="just" marL="0" indent="0" lvl="0">
              <a:lnSpc>
                <a:spcPts val="3675"/>
              </a:lnSpc>
            </a:pPr>
            <a:r>
              <a:rPr lang="en-US" b="true" sz="3341" spc="106">
                <a:solidFill>
                  <a:srgbClr val="FFFFFF"/>
                </a:solidFill>
                <a:latin typeface="Glacial Indifference Bold"/>
                <a:ea typeface="Glacial Indifference Bold"/>
                <a:cs typeface="Glacial Indifference Bold"/>
                <a:sym typeface="Glacial Indifference Bold"/>
              </a:rPr>
              <a:t>MODELS</a:t>
            </a:r>
          </a:p>
        </p:txBody>
      </p:sp>
    </p:spTree>
  </p:cSld>
  <p:clrMapOvr>
    <a:masterClrMapping/>
  </p:clrMapOvr>
  <p:timing>
    <p:tnLst>
      <p:par>
        <p:cTn dur="indefinite" restart="never" nodeType="tmRoot">
          <p:childTnLst>
            <p:video>
              <p:cMediaNode vol="100000">
                <p:cTn fill="hold" display="false">
                  <p:stCondLst>
                    <p:cond delay="indefinite"/>
                  </p:stCondLst>
                </p:cTn>
                <p:tgtEl>
                  <p:spTgt spid="13"/>
                </p:tgtEl>
              </p:cMediaNode>
            </p:video>
          </p:childTnLst>
        </p:cTn>
      </p:par>
    </p:tnLst>
  </p:timing>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253439"/>
        </a:solidFill>
      </p:bgPr>
    </p:bg>
    <p:spTree>
      <p:nvGrpSpPr>
        <p:cNvPr id="1" name=""/>
        <p:cNvGrpSpPr/>
        <p:nvPr/>
      </p:nvGrpSpPr>
      <p:grpSpPr>
        <a:xfrm>
          <a:off x="0" y="0"/>
          <a:ext cx="0" cy="0"/>
          <a:chOff x="0" y="0"/>
          <a:chExt cx="0" cy="0"/>
        </a:xfrm>
      </p:grpSpPr>
      <p:grpSp>
        <p:nvGrpSpPr>
          <p:cNvPr name="Group 2" id="2"/>
          <p:cNvGrpSpPr/>
          <p:nvPr/>
        </p:nvGrpSpPr>
        <p:grpSpPr>
          <a:xfrm rot="0">
            <a:off x="-572419" y="-788281"/>
            <a:ext cx="8902298" cy="12171720"/>
            <a:chOff x="0" y="0"/>
            <a:chExt cx="1846378" cy="2524471"/>
          </a:xfrm>
        </p:grpSpPr>
        <p:sp>
          <p:nvSpPr>
            <p:cNvPr name="Freeform 3" id="3"/>
            <p:cNvSpPr/>
            <p:nvPr/>
          </p:nvSpPr>
          <p:spPr>
            <a:xfrm flipH="false" flipV="false" rot="0">
              <a:off x="0" y="0"/>
              <a:ext cx="1846378" cy="2524471"/>
            </a:xfrm>
            <a:custGeom>
              <a:avLst/>
              <a:gdLst/>
              <a:ahLst/>
              <a:cxnLst/>
              <a:rect r="r" b="b" t="t" l="l"/>
              <a:pathLst>
                <a:path h="2524471" w="1846378">
                  <a:moveTo>
                    <a:pt x="0" y="0"/>
                  </a:moveTo>
                  <a:lnTo>
                    <a:pt x="1846378" y="0"/>
                  </a:lnTo>
                  <a:lnTo>
                    <a:pt x="1846378" y="2524471"/>
                  </a:lnTo>
                  <a:lnTo>
                    <a:pt x="0" y="2524471"/>
                  </a:lnTo>
                  <a:close/>
                </a:path>
              </a:pathLst>
            </a:custGeom>
            <a:gradFill rotWithShape="true">
              <a:gsLst>
                <a:gs pos="0">
                  <a:srgbClr val="FDF7EF">
                    <a:alpha val="100000"/>
                  </a:srgbClr>
                </a:gs>
                <a:gs pos="100000">
                  <a:srgbClr val="FFFFFF">
                    <a:alpha val="100000"/>
                  </a:srgbClr>
                </a:gs>
              </a:gsLst>
              <a:lin ang="0"/>
            </a:gradFill>
            <a:ln cap="sq">
              <a:noFill/>
              <a:prstDash val="solid"/>
              <a:miter/>
            </a:ln>
          </p:spPr>
        </p:sp>
        <p:sp>
          <p:nvSpPr>
            <p:cNvPr name="TextBox 4" id="4"/>
            <p:cNvSpPr txBox="true"/>
            <p:nvPr/>
          </p:nvSpPr>
          <p:spPr>
            <a:xfrm>
              <a:off x="0" y="9525"/>
              <a:ext cx="1846378" cy="2514946"/>
            </a:xfrm>
            <a:prstGeom prst="rect">
              <a:avLst/>
            </a:prstGeom>
          </p:spPr>
          <p:txBody>
            <a:bodyPr anchor="ctr" rtlCol="false" tIns="50800" lIns="50800" bIns="50800" rIns="50800"/>
            <a:lstStyle/>
            <a:p>
              <a:pPr algn="ctr" marL="0" indent="0" lvl="0">
                <a:lnSpc>
                  <a:spcPts val="1869"/>
                </a:lnSpc>
              </a:pPr>
            </a:p>
          </p:txBody>
        </p:sp>
      </p:grpSp>
      <p:sp>
        <p:nvSpPr>
          <p:cNvPr name="Freeform 5" id="5"/>
          <p:cNvSpPr/>
          <p:nvPr/>
        </p:nvSpPr>
        <p:spPr>
          <a:xfrm flipH="false" flipV="false" rot="-10800000">
            <a:off x="-960741" y="-2722833"/>
            <a:ext cx="20209482" cy="13372559"/>
          </a:xfrm>
          <a:custGeom>
            <a:avLst/>
            <a:gdLst/>
            <a:ahLst/>
            <a:cxnLst/>
            <a:rect r="r" b="b" t="t" l="l"/>
            <a:pathLst>
              <a:path h="13372559" w="20209482">
                <a:moveTo>
                  <a:pt x="0" y="0"/>
                </a:moveTo>
                <a:lnTo>
                  <a:pt x="20209482" y="0"/>
                </a:lnTo>
                <a:lnTo>
                  <a:pt x="20209482" y="13372559"/>
                </a:lnTo>
                <a:lnTo>
                  <a:pt x="0" y="133725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6" id="6"/>
          <p:cNvSpPr/>
          <p:nvPr/>
        </p:nvSpPr>
        <p:spPr>
          <a:xfrm>
            <a:off x="1561399" y="3963447"/>
            <a:ext cx="0" cy="1180053"/>
          </a:xfrm>
          <a:prstGeom prst="line">
            <a:avLst/>
          </a:prstGeom>
          <a:ln cap="flat" w="133350">
            <a:solidFill>
              <a:srgbClr val="D15353"/>
            </a:solidFill>
            <a:prstDash val="solid"/>
            <a:headEnd type="none" len="sm" w="sm"/>
            <a:tailEnd type="none" len="sm" w="sm"/>
          </a:ln>
        </p:spPr>
      </p:sp>
      <p:sp>
        <p:nvSpPr>
          <p:cNvPr name="Freeform 7" id="7"/>
          <p:cNvSpPr/>
          <p:nvPr/>
        </p:nvSpPr>
        <p:spPr>
          <a:xfrm flipH="false" flipV="false" rot="0">
            <a:off x="9144000" y="1848709"/>
            <a:ext cx="8759801" cy="988223"/>
          </a:xfrm>
          <a:custGeom>
            <a:avLst/>
            <a:gdLst/>
            <a:ahLst/>
            <a:cxnLst/>
            <a:rect r="r" b="b" t="t" l="l"/>
            <a:pathLst>
              <a:path h="988223" w="8759801">
                <a:moveTo>
                  <a:pt x="0" y="0"/>
                </a:moveTo>
                <a:lnTo>
                  <a:pt x="8759801" y="0"/>
                </a:lnTo>
                <a:lnTo>
                  <a:pt x="8759801" y="988222"/>
                </a:lnTo>
                <a:lnTo>
                  <a:pt x="0" y="988222"/>
                </a:lnTo>
                <a:lnTo>
                  <a:pt x="0" y="0"/>
                </a:lnTo>
                <a:close/>
              </a:path>
            </a:pathLst>
          </a:custGeom>
          <a:blipFill>
            <a:blip r:embed="rId4"/>
            <a:stretch>
              <a:fillRect l="0" t="0" r="0" b="0"/>
            </a:stretch>
          </a:blipFill>
        </p:spPr>
      </p:sp>
      <p:sp>
        <p:nvSpPr>
          <p:cNvPr name="Freeform 8" id="8"/>
          <p:cNvSpPr/>
          <p:nvPr/>
        </p:nvSpPr>
        <p:spPr>
          <a:xfrm flipH="false" flipV="false" rot="0">
            <a:off x="9144000" y="3319396"/>
            <a:ext cx="8813227" cy="2474556"/>
          </a:xfrm>
          <a:custGeom>
            <a:avLst/>
            <a:gdLst/>
            <a:ahLst/>
            <a:cxnLst/>
            <a:rect r="r" b="b" t="t" l="l"/>
            <a:pathLst>
              <a:path h="2474556" w="8813227">
                <a:moveTo>
                  <a:pt x="0" y="0"/>
                </a:moveTo>
                <a:lnTo>
                  <a:pt x="8813227" y="0"/>
                </a:lnTo>
                <a:lnTo>
                  <a:pt x="8813227" y="2474556"/>
                </a:lnTo>
                <a:lnTo>
                  <a:pt x="0" y="2474556"/>
                </a:lnTo>
                <a:lnTo>
                  <a:pt x="0" y="0"/>
                </a:lnTo>
                <a:close/>
              </a:path>
            </a:pathLst>
          </a:custGeom>
          <a:blipFill>
            <a:blip r:embed="rId5"/>
            <a:stretch>
              <a:fillRect l="0" t="0" r="0" b="0"/>
            </a:stretch>
          </a:blipFill>
        </p:spPr>
      </p:sp>
      <p:sp>
        <p:nvSpPr>
          <p:cNvPr name="Freeform 9" id="9"/>
          <p:cNvSpPr/>
          <p:nvPr/>
        </p:nvSpPr>
        <p:spPr>
          <a:xfrm flipH="false" flipV="false" rot="0">
            <a:off x="9144000" y="6279727"/>
            <a:ext cx="8623947" cy="1282218"/>
          </a:xfrm>
          <a:custGeom>
            <a:avLst/>
            <a:gdLst/>
            <a:ahLst/>
            <a:cxnLst/>
            <a:rect r="r" b="b" t="t" l="l"/>
            <a:pathLst>
              <a:path h="1282218" w="8623947">
                <a:moveTo>
                  <a:pt x="0" y="0"/>
                </a:moveTo>
                <a:lnTo>
                  <a:pt x="8623947" y="0"/>
                </a:lnTo>
                <a:lnTo>
                  <a:pt x="8623947" y="1282218"/>
                </a:lnTo>
                <a:lnTo>
                  <a:pt x="0" y="1282218"/>
                </a:lnTo>
                <a:lnTo>
                  <a:pt x="0" y="0"/>
                </a:lnTo>
                <a:close/>
              </a:path>
            </a:pathLst>
          </a:custGeom>
          <a:blipFill>
            <a:blip r:embed="rId6"/>
            <a:stretch>
              <a:fillRect l="0" t="0" r="0" b="0"/>
            </a:stretch>
          </a:blipFill>
        </p:spPr>
      </p:sp>
      <p:sp>
        <p:nvSpPr>
          <p:cNvPr name="TextBox 10" id="10"/>
          <p:cNvSpPr txBox="true"/>
          <p:nvPr/>
        </p:nvSpPr>
        <p:spPr>
          <a:xfrm rot="0">
            <a:off x="1561399" y="5460926"/>
            <a:ext cx="5935862" cy="2827317"/>
          </a:xfrm>
          <a:prstGeom prst="rect">
            <a:avLst/>
          </a:prstGeom>
        </p:spPr>
        <p:txBody>
          <a:bodyPr anchor="t" rtlCol="false" tIns="0" lIns="0" bIns="0" rIns="0">
            <a:spAutoFit/>
          </a:bodyPr>
          <a:lstStyle/>
          <a:p>
            <a:pPr algn="l" marL="0" indent="0" lvl="0">
              <a:lnSpc>
                <a:spcPts val="2518"/>
              </a:lnSpc>
            </a:pPr>
            <a:r>
              <a:rPr lang="en-US" sz="1713">
                <a:solidFill>
                  <a:srgbClr val="000000"/>
                </a:solidFill>
                <a:latin typeface="Aileron"/>
                <a:ea typeface="Aileron"/>
                <a:cs typeface="Aileron"/>
                <a:sym typeface="Aileron"/>
              </a:rPr>
              <a:t>Model kaydetmek, tokenizer kaydetmek kadar basittir. save_pretrained() metodu modeli diske kaydeder:</a:t>
            </a:r>
          </a:p>
          <a:p>
            <a:pPr algn="l" marL="0" indent="0" lvl="0">
              <a:lnSpc>
                <a:spcPts val="2518"/>
              </a:lnSpc>
            </a:pPr>
            <a:r>
              <a:rPr lang="en-US" sz="1713">
                <a:solidFill>
                  <a:srgbClr val="000000"/>
                </a:solidFill>
                <a:latin typeface="Aileron"/>
                <a:ea typeface="Aileron"/>
                <a:cs typeface="Aileron"/>
                <a:sym typeface="Aileron"/>
              </a:rPr>
              <a:t>model.save_pretrained("directory_on_my_computer")</a:t>
            </a:r>
          </a:p>
          <a:p>
            <a:pPr algn="l" marL="0" indent="0" lvl="0">
              <a:lnSpc>
                <a:spcPts val="2518"/>
              </a:lnSpc>
            </a:pPr>
            <a:r>
              <a:rPr lang="en-US" sz="1713">
                <a:solidFill>
                  <a:srgbClr val="000000"/>
                </a:solidFill>
                <a:latin typeface="Aileron"/>
                <a:ea typeface="Aileron"/>
                <a:cs typeface="Aileron"/>
                <a:sym typeface="Aileron"/>
              </a:rPr>
              <a:t>Bu işlem iki dosya oluşturur: config.json (mimari yapılandırması) ve model.safetensors (ağırlıklar).</a:t>
            </a:r>
          </a:p>
          <a:p>
            <a:pPr algn="l" marL="0" indent="0" lvl="0">
              <a:lnSpc>
                <a:spcPts val="2518"/>
              </a:lnSpc>
            </a:pPr>
            <a:r>
              <a:rPr lang="en-US" sz="1713">
                <a:solidFill>
                  <a:srgbClr val="000000"/>
                </a:solidFill>
                <a:latin typeface="Aileron"/>
                <a:ea typeface="Aileron"/>
                <a:cs typeface="Aileron"/>
                <a:sym typeface="Aileron"/>
              </a:rPr>
              <a:t>Kaydedilmiş modeli tekrar yüklemek için:</a:t>
            </a:r>
          </a:p>
          <a:p>
            <a:pPr algn="l" marL="0" indent="0" lvl="0">
              <a:lnSpc>
                <a:spcPts val="2518"/>
              </a:lnSpc>
            </a:pPr>
            <a:r>
              <a:rPr lang="en-US" sz="1713">
                <a:solidFill>
                  <a:srgbClr val="000000"/>
                </a:solidFill>
                <a:latin typeface="Aileron"/>
                <a:ea typeface="Aileron"/>
                <a:cs typeface="Aileron"/>
                <a:sym typeface="Aileron"/>
              </a:rPr>
              <a:t>from transformers import AutoModel</a:t>
            </a:r>
          </a:p>
          <a:p>
            <a:pPr algn="l" marL="0" indent="0" lvl="0">
              <a:lnSpc>
                <a:spcPts val="2518"/>
              </a:lnSpc>
            </a:pPr>
            <a:r>
              <a:rPr lang="en-US" sz="1713">
                <a:solidFill>
                  <a:srgbClr val="000000"/>
                </a:solidFill>
                <a:latin typeface="Aileron"/>
                <a:ea typeface="Aileron"/>
                <a:cs typeface="Aileron"/>
                <a:sym typeface="Aileron"/>
              </a:rPr>
              <a:t>model = AutoModel.from_pretrained("directory_on_my_computer")</a:t>
            </a:r>
          </a:p>
        </p:txBody>
      </p:sp>
      <p:sp>
        <p:nvSpPr>
          <p:cNvPr name="TextBox 11" id="11"/>
          <p:cNvSpPr txBox="true"/>
          <p:nvPr/>
        </p:nvSpPr>
        <p:spPr>
          <a:xfrm rot="0">
            <a:off x="2023291" y="4007485"/>
            <a:ext cx="5473970" cy="1126954"/>
          </a:xfrm>
          <a:prstGeom prst="rect">
            <a:avLst/>
          </a:prstGeom>
        </p:spPr>
        <p:txBody>
          <a:bodyPr anchor="t" rtlCol="false" tIns="0" lIns="0" bIns="0" rIns="0">
            <a:spAutoFit/>
          </a:bodyPr>
          <a:lstStyle/>
          <a:p>
            <a:pPr algn="l" marL="0" indent="0" lvl="0">
              <a:lnSpc>
                <a:spcPts val="4385"/>
              </a:lnSpc>
            </a:pPr>
            <a:r>
              <a:rPr lang="en-US" b="true" sz="3986" spc="131">
                <a:solidFill>
                  <a:srgbClr val="000000"/>
                </a:solidFill>
                <a:latin typeface="Glacial Indifference Bold"/>
                <a:ea typeface="Glacial Indifference Bold"/>
                <a:cs typeface="Glacial Indifference Bold"/>
                <a:sym typeface="Glacial Indifference Bold"/>
              </a:rPr>
              <a:t>LOADING AND SAVING</a:t>
            </a:r>
          </a:p>
        </p:txBody>
      </p:sp>
    </p:spTree>
  </p:cSld>
  <p:clrMapOvr>
    <a:masterClrMapping/>
  </p:clrMapOvr>
</p:sld>
</file>

<file path=ppt/slides/slide23.xml><?xml version="1.0" encoding="utf-8"?>
<p:sld xmlns:p="http://schemas.openxmlformats.org/presentationml/2006/main" xmlns:a="http://schemas.openxmlformats.org/drawingml/2006/main">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2762229" y="5057775"/>
            <a:ext cx="6204215" cy="2493918"/>
          </a:xfrm>
          <a:prstGeom prst="rect">
            <a:avLst/>
          </a:prstGeom>
        </p:spPr>
        <p:txBody>
          <a:bodyPr anchor="t" rtlCol="false" tIns="0" lIns="0" bIns="0" rIns="0">
            <a:spAutoFit/>
          </a:bodyPr>
          <a:lstStyle/>
          <a:p>
            <a:pPr algn="l" marL="0" indent="0" lvl="0">
              <a:lnSpc>
                <a:spcPts val="3351"/>
              </a:lnSpc>
            </a:pPr>
            <a:r>
              <a:rPr lang="en-US" sz="2094">
                <a:solidFill>
                  <a:srgbClr val="253439"/>
                </a:solidFill>
                <a:latin typeface="Aileron"/>
                <a:ea typeface="Aileron"/>
                <a:cs typeface="Aileron"/>
                <a:sym typeface="Aileron"/>
              </a:rPr>
              <a:t>🤗 Transformers'ın harika bir özelliği, model ve tokenizer'ları toplulukla kolayca paylaşabilmektir. Bunun için Hugging Face'te hesabın olması gerekir.</a:t>
            </a:r>
          </a:p>
          <a:p>
            <a:pPr algn="l" marL="0" indent="0" lvl="0">
              <a:lnSpc>
                <a:spcPts val="3351"/>
              </a:lnSpc>
            </a:pPr>
            <a:r>
              <a:rPr lang="en-US" sz="2094">
                <a:solidFill>
                  <a:srgbClr val="253439"/>
                </a:solidFill>
                <a:latin typeface="Aileron"/>
                <a:ea typeface="Aileron"/>
                <a:cs typeface="Aileron"/>
                <a:sym typeface="Aileron"/>
              </a:rPr>
              <a:t>Note defteri kullanıyorsan şöyle giriş yapabilirsin:</a:t>
            </a:r>
          </a:p>
          <a:p>
            <a:pPr algn="l" marL="0" indent="0" lvl="0">
              <a:lnSpc>
                <a:spcPts val="3351"/>
              </a:lnSpc>
            </a:pPr>
            <a:r>
              <a:rPr lang="en-US" sz="2094">
                <a:solidFill>
                  <a:srgbClr val="253439"/>
                </a:solidFill>
                <a:latin typeface="Aileron"/>
                <a:ea typeface="Aileron"/>
                <a:cs typeface="Aileron"/>
                <a:sym typeface="Aileron"/>
              </a:rPr>
              <a:t>from huggingface_hub import notebook_login</a:t>
            </a:r>
          </a:p>
          <a:p>
            <a:pPr algn="l" marL="0" indent="0" lvl="0">
              <a:lnSpc>
                <a:spcPts val="3351"/>
              </a:lnSpc>
            </a:pPr>
            <a:r>
              <a:rPr lang="en-US" sz="2094">
                <a:solidFill>
                  <a:srgbClr val="253439"/>
                </a:solidFill>
                <a:latin typeface="Aileron"/>
                <a:ea typeface="Aileron"/>
                <a:cs typeface="Aileron"/>
                <a:sym typeface="Aileron"/>
              </a:rPr>
              <a:t>notebook_login()</a:t>
            </a:r>
          </a:p>
        </p:txBody>
      </p:sp>
      <p:sp>
        <p:nvSpPr>
          <p:cNvPr name="TextBox 3" id="3"/>
          <p:cNvSpPr txBox="true"/>
          <p:nvPr/>
        </p:nvSpPr>
        <p:spPr>
          <a:xfrm rot="0">
            <a:off x="9321556" y="5057775"/>
            <a:ext cx="5809403" cy="4170318"/>
          </a:xfrm>
          <a:prstGeom prst="rect">
            <a:avLst/>
          </a:prstGeom>
        </p:spPr>
        <p:txBody>
          <a:bodyPr anchor="t" rtlCol="false" tIns="0" lIns="0" bIns="0" rIns="0">
            <a:spAutoFit/>
          </a:bodyPr>
          <a:lstStyle/>
          <a:p>
            <a:pPr algn="l" marL="0" indent="0" lvl="0">
              <a:lnSpc>
                <a:spcPts val="3351"/>
              </a:lnSpc>
            </a:pPr>
            <a:r>
              <a:rPr lang="en-US" sz="2094">
                <a:solidFill>
                  <a:srgbClr val="253439"/>
                </a:solidFill>
                <a:latin typeface="Aileron"/>
                <a:ea typeface="Aileron"/>
                <a:cs typeface="Aileron"/>
                <a:sym typeface="Aileron"/>
              </a:rPr>
              <a:t>Aksi halde terminalde şunu çalıştır:</a:t>
            </a:r>
          </a:p>
          <a:p>
            <a:pPr algn="l" marL="0" indent="0" lvl="0">
              <a:lnSpc>
                <a:spcPts val="3351"/>
              </a:lnSpc>
            </a:pPr>
            <a:r>
              <a:rPr lang="en-US" sz="2094">
                <a:solidFill>
                  <a:srgbClr val="253439"/>
                </a:solidFill>
                <a:latin typeface="Aileron"/>
                <a:ea typeface="Aileron"/>
                <a:cs typeface="Aileron"/>
                <a:sym typeface="Aileron"/>
              </a:rPr>
              <a:t>huggingface-cli login</a:t>
            </a:r>
          </a:p>
          <a:p>
            <a:pPr algn="l" marL="0" indent="0" lvl="0">
              <a:lnSpc>
                <a:spcPts val="3351"/>
              </a:lnSpc>
            </a:pPr>
            <a:r>
              <a:rPr lang="en-US" sz="2094">
                <a:solidFill>
                  <a:srgbClr val="253439"/>
                </a:solidFill>
                <a:latin typeface="Aileron"/>
                <a:ea typeface="Aileron"/>
                <a:cs typeface="Aileron"/>
                <a:sym typeface="Aileron"/>
              </a:rPr>
              <a:t>Sonra push_to_hub() metodu ile modeli Hub'a gönderebilirsin:</a:t>
            </a:r>
          </a:p>
          <a:p>
            <a:pPr algn="l" marL="0" indent="0" lvl="0">
              <a:lnSpc>
                <a:spcPts val="3351"/>
              </a:lnSpc>
            </a:pPr>
            <a:r>
              <a:rPr lang="en-US" sz="2094">
                <a:solidFill>
                  <a:srgbClr val="253439"/>
                </a:solidFill>
                <a:latin typeface="Aileron"/>
                <a:ea typeface="Aileron"/>
                <a:cs typeface="Aileron"/>
                <a:sym typeface="Aileron"/>
              </a:rPr>
              <a:t>model.push_to_hub("my-awesome-model")</a:t>
            </a:r>
          </a:p>
          <a:p>
            <a:pPr algn="l" marL="0" indent="0" lvl="0">
              <a:lnSpc>
                <a:spcPts val="3351"/>
              </a:lnSpc>
            </a:pPr>
            <a:r>
              <a:rPr lang="en-US" sz="2094">
                <a:solidFill>
                  <a:srgbClr val="253439"/>
                </a:solidFill>
                <a:latin typeface="Aileron"/>
                <a:ea typeface="Aileron"/>
                <a:cs typeface="Aileron"/>
                <a:sym typeface="Aileron"/>
              </a:rPr>
              <a:t>Artık herkes modeli from_pretrained() ile yükleyebilir:</a:t>
            </a:r>
          </a:p>
          <a:p>
            <a:pPr algn="l" marL="0" indent="0" lvl="0">
              <a:lnSpc>
                <a:spcPts val="3351"/>
              </a:lnSpc>
            </a:pPr>
            <a:r>
              <a:rPr lang="en-US" sz="2094">
                <a:solidFill>
                  <a:srgbClr val="253439"/>
                </a:solidFill>
                <a:latin typeface="Aileron"/>
                <a:ea typeface="Aileron"/>
                <a:cs typeface="Aileron"/>
                <a:sym typeface="Aileron"/>
              </a:rPr>
              <a:t>from transformers import AutoModel</a:t>
            </a:r>
          </a:p>
          <a:p>
            <a:pPr algn="l" marL="0" indent="0" lvl="0">
              <a:lnSpc>
                <a:spcPts val="3351"/>
              </a:lnSpc>
            </a:pPr>
            <a:r>
              <a:rPr lang="en-US" sz="2094">
                <a:solidFill>
                  <a:srgbClr val="253439"/>
                </a:solidFill>
                <a:latin typeface="Aileron"/>
                <a:ea typeface="Aileron"/>
                <a:cs typeface="Aileron"/>
                <a:sym typeface="Aileron"/>
              </a:rPr>
              <a:t>model = AutoModel.from_pretrained("your-username/my-awesome-model")</a:t>
            </a:r>
          </a:p>
        </p:txBody>
      </p:sp>
      <p:sp>
        <p:nvSpPr>
          <p:cNvPr name="TextBox 4" id="4"/>
          <p:cNvSpPr txBox="true"/>
          <p:nvPr/>
        </p:nvSpPr>
        <p:spPr>
          <a:xfrm rot="0">
            <a:off x="3420248" y="3488174"/>
            <a:ext cx="9454479" cy="1060735"/>
          </a:xfrm>
          <a:prstGeom prst="rect">
            <a:avLst/>
          </a:prstGeom>
        </p:spPr>
        <p:txBody>
          <a:bodyPr anchor="t" rtlCol="false" tIns="0" lIns="0" bIns="0" rIns="0">
            <a:spAutoFit/>
          </a:bodyPr>
          <a:lstStyle/>
          <a:p>
            <a:pPr algn="l" marL="0" indent="0" lvl="0">
              <a:lnSpc>
                <a:spcPts val="8156"/>
              </a:lnSpc>
            </a:pPr>
            <a:r>
              <a:rPr lang="en-US" b="true" sz="7694">
                <a:solidFill>
                  <a:srgbClr val="253439"/>
                </a:solidFill>
                <a:latin typeface="Glacial Indifference Bold"/>
                <a:ea typeface="Glacial Indifference Bold"/>
                <a:cs typeface="Glacial Indifference Bold"/>
                <a:sym typeface="Glacial Indifference Bold"/>
              </a:rPr>
              <a:t>HUB'DA PAYLAŞMAK</a:t>
            </a:r>
          </a:p>
        </p:txBody>
      </p:sp>
      <p:sp>
        <p:nvSpPr>
          <p:cNvPr name="TextBox 5" id="5"/>
          <p:cNvSpPr txBox="true"/>
          <p:nvPr/>
        </p:nvSpPr>
        <p:spPr>
          <a:xfrm rot="0">
            <a:off x="3420248" y="2442329"/>
            <a:ext cx="7216494" cy="941011"/>
          </a:xfrm>
          <a:prstGeom prst="rect">
            <a:avLst/>
          </a:prstGeom>
        </p:spPr>
        <p:txBody>
          <a:bodyPr anchor="t" rtlCol="false" tIns="0" lIns="0" bIns="0" rIns="0">
            <a:spAutoFit/>
          </a:bodyPr>
          <a:lstStyle/>
          <a:p>
            <a:pPr algn="l" marL="0" indent="0" lvl="0">
              <a:lnSpc>
                <a:spcPts val="7254"/>
              </a:lnSpc>
            </a:pPr>
            <a:r>
              <a:rPr lang="en-US" b="true" sz="6595" spc="211">
                <a:solidFill>
                  <a:srgbClr val="000000"/>
                </a:solidFill>
                <a:latin typeface="HK Grotesk Bold"/>
                <a:ea typeface="HK Grotesk Bold"/>
                <a:cs typeface="HK Grotesk Bold"/>
                <a:sym typeface="HK Grotesk Bold"/>
              </a:rPr>
              <a:t>MODELLERI</a:t>
            </a:r>
          </a:p>
        </p:txBody>
      </p:sp>
      <p:sp>
        <p:nvSpPr>
          <p:cNvPr name="AutoShape 6" id="6"/>
          <p:cNvSpPr/>
          <p:nvPr/>
        </p:nvSpPr>
        <p:spPr>
          <a:xfrm>
            <a:off x="2827158" y="2385179"/>
            <a:ext cx="0" cy="2029276"/>
          </a:xfrm>
          <a:prstGeom prst="line">
            <a:avLst/>
          </a:prstGeom>
          <a:ln cap="flat" w="133350">
            <a:solidFill>
              <a:srgbClr val="D15353"/>
            </a:solidFill>
            <a:prstDash val="solid"/>
            <a:headEnd type="none" len="sm" w="sm"/>
            <a:tailEnd type="none" len="sm" w="sm"/>
          </a:ln>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253439"/>
        </a:solidFill>
      </p:bgPr>
    </p:bg>
    <p:spTree>
      <p:nvGrpSpPr>
        <p:cNvPr id="1" name=""/>
        <p:cNvGrpSpPr/>
        <p:nvPr/>
      </p:nvGrpSpPr>
      <p:grpSpPr>
        <a:xfrm>
          <a:off x="0" y="0"/>
          <a:ext cx="0" cy="0"/>
          <a:chOff x="0" y="0"/>
          <a:chExt cx="0" cy="0"/>
        </a:xfrm>
      </p:grpSpPr>
      <p:sp>
        <p:nvSpPr>
          <p:cNvPr name="Freeform 2" id="2"/>
          <p:cNvSpPr/>
          <p:nvPr/>
        </p:nvSpPr>
        <p:spPr>
          <a:xfrm flipH="false" flipV="false" rot="-3554022">
            <a:off x="1768119" y="-7642360"/>
            <a:ext cx="24933943" cy="14869697"/>
          </a:xfrm>
          <a:custGeom>
            <a:avLst/>
            <a:gdLst/>
            <a:ahLst/>
            <a:cxnLst/>
            <a:rect r="r" b="b" t="t" l="l"/>
            <a:pathLst>
              <a:path h="14869697" w="24933943">
                <a:moveTo>
                  <a:pt x="0" y="0"/>
                </a:moveTo>
                <a:lnTo>
                  <a:pt x="24933943" y="0"/>
                </a:lnTo>
                <a:lnTo>
                  <a:pt x="24933943" y="14869697"/>
                </a:lnTo>
                <a:lnTo>
                  <a:pt x="0" y="148696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778715" y="1855807"/>
            <a:ext cx="19845431" cy="6575386"/>
            <a:chOff x="0" y="0"/>
            <a:chExt cx="5226780" cy="1731789"/>
          </a:xfrm>
        </p:grpSpPr>
        <p:sp>
          <p:nvSpPr>
            <p:cNvPr name="Freeform 4" id="4"/>
            <p:cNvSpPr/>
            <p:nvPr/>
          </p:nvSpPr>
          <p:spPr>
            <a:xfrm flipH="false" flipV="false" rot="0">
              <a:off x="0" y="0"/>
              <a:ext cx="5226780" cy="1731789"/>
            </a:xfrm>
            <a:custGeom>
              <a:avLst/>
              <a:gdLst/>
              <a:ahLst/>
              <a:cxnLst/>
              <a:rect r="r" b="b" t="t" l="l"/>
              <a:pathLst>
                <a:path h="1731789" w="5226780">
                  <a:moveTo>
                    <a:pt x="0" y="0"/>
                  </a:moveTo>
                  <a:lnTo>
                    <a:pt x="5226780" y="0"/>
                  </a:lnTo>
                  <a:lnTo>
                    <a:pt x="5226780" y="1731789"/>
                  </a:lnTo>
                  <a:lnTo>
                    <a:pt x="0" y="1731789"/>
                  </a:lnTo>
                  <a:close/>
                </a:path>
              </a:pathLst>
            </a:custGeom>
            <a:gradFill rotWithShape="true">
              <a:gsLst>
                <a:gs pos="0">
                  <a:srgbClr val="FDF7EF">
                    <a:alpha val="100000"/>
                  </a:srgbClr>
                </a:gs>
                <a:gs pos="100000">
                  <a:srgbClr val="FFFFFF">
                    <a:alpha val="100000"/>
                  </a:srgbClr>
                </a:gs>
              </a:gsLst>
              <a:lin ang="0"/>
            </a:gradFill>
            <a:ln cap="sq">
              <a:noFill/>
              <a:prstDash val="solid"/>
              <a:miter/>
            </a:ln>
          </p:spPr>
        </p:sp>
        <p:sp>
          <p:nvSpPr>
            <p:cNvPr name="TextBox 5" id="5"/>
            <p:cNvSpPr txBox="true"/>
            <p:nvPr/>
          </p:nvSpPr>
          <p:spPr>
            <a:xfrm>
              <a:off x="0" y="9525"/>
              <a:ext cx="5226780" cy="1722264"/>
            </a:xfrm>
            <a:prstGeom prst="rect">
              <a:avLst/>
            </a:prstGeom>
          </p:spPr>
          <p:txBody>
            <a:bodyPr anchor="ctr" rtlCol="false" tIns="50800" lIns="50800" bIns="50800" rIns="50800"/>
            <a:lstStyle/>
            <a:p>
              <a:pPr algn="ctr" marL="0" indent="0" lvl="0">
                <a:lnSpc>
                  <a:spcPts val="1869"/>
                </a:lnSpc>
              </a:pPr>
            </a:p>
          </p:txBody>
        </p:sp>
      </p:grpSp>
      <p:grpSp>
        <p:nvGrpSpPr>
          <p:cNvPr name="Group 6" id="6"/>
          <p:cNvGrpSpPr/>
          <p:nvPr/>
        </p:nvGrpSpPr>
        <p:grpSpPr>
          <a:xfrm rot="0">
            <a:off x="1399216" y="4698798"/>
            <a:ext cx="4660796" cy="4559502"/>
            <a:chOff x="0" y="0"/>
            <a:chExt cx="1227535" cy="1200856"/>
          </a:xfrm>
        </p:grpSpPr>
        <p:sp>
          <p:nvSpPr>
            <p:cNvPr name="Freeform 7" id="7"/>
            <p:cNvSpPr/>
            <p:nvPr/>
          </p:nvSpPr>
          <p:spPr>
            <a:xfrm flipH="false" flipV="false" rot="0">
              <a:off x="0" y="0"/>
              <a:ext cx="1227535" cy="1200856"/>
            </a:xfrm>
            <a:custGeom>
              <a:avLst/>
              <a:gdLst/>
              <a:ahLst/>
              <a:cxnLst/>
              <a:rect r="r" b="b" t="t" l="l"/>
              <a:pathLst>
                <a:path h="1200856" w="1227535">
                  <a:moveTo>
                    <a:pt x="0" y="0"/>
                  </a:moveTo>
                  <a:lnTo>
                    <a:pt x="1227535" y="0"/>
                  </a:lnTo>
                  <a:lnTo>
                    <a:pt x="1227535" y="1200856"/>
                  </a:lnTo>
                  <a:lnTo>
                    <a:pt x="0" y="1200856"/>
                  </a:lnTo>
                  <a:close/>
                </a:path>
              </a:pathLst>
            </a:custGeom>
            <a:solidFill>
              <a:srgbClr val="D15353"/>
            </a:solidFill>
          </p:spPr>
        </p:sp>
        <p:sp>
          <p:nvSpPr>
            <p:cNvPr name="TextBox 8" id="8"/>
            <p:cNvSpPr txBox="true"/>
            <p:nvPr/>
          </p:nvSpPr>
          <p:spPr>
            <a:xfrm>
              <a:off x="0" y="-47625"/>
              <a:ext cx="1227535" cy="1248481"/>
            </a:xfrm>
            <a:prstGeom prst="rect">
              <a:avLst/>
            </a:prstGeom>
          </p:spPr>
          <p:txBody>
            <a:bodyPr anchor="ctr" rtlCol="false" tIns="50800" lIns="50800" bIns="50800" rIns="50800"/>
            <a:lstStyle/>
            <a:p>
              <a:pPr algn="ctr" marL="0" indent="0" lvl="0">
                <a:lnSpc>
                  <a:spcPts val="3244"/>
                </a:lnSpc>
              </a:pPr>
            </a:p>
          </p:txBody>
        </p:sp>
      </p:grpSp>
      <p:grpSp>
        <p:nvGrpSpPr>
          <p:cNvPr name="Group 9" id="9"/>
          <p:cNvGrpSpPr/>
          <p:nvPr/>
        </p:nvGrpSpPr>
        <p:grpSpPr>
          <a:xfrm rot="0">
            <a:off x="7178645" y="1083383"/>
            <a:ext cx="2373131" cy="2411751"/>
            <a:chOff x="0" y="0"/>
            <a:chExt cx="625022" cy="635194"/>
          </a:xfrm>
        </p:grpSpPr>
        <p:sp>
          <p:nvSpPr>
            <p:cNvPr name="Freeform 10" id="10"/>
            <p:cNvSpPr/>
            <p:nvPr/>
          </p:nvSpPr>
          <p:spPr>
            <a:xfrm flipH="false" flipV="false" rot="0">
              <a:off x="0" y="0"/>
              <a:ext cx="625022" cy="635194"/>
            </a:xfrm>
            <a:custGeom>
              <a:avLst/>
              <a:gdLst/>
              <a:ahLst/>
              <a:cxnLst/>
              <a:rect r="r" b="b" t="t" l="l"/>
              <a:pathLst>
                <a:path h="635194" w="625022">
                  <a:moveTo>
                    <a:pt x="0" y="0"/>
                  </a:moveTo>
                  <a:lnTo>
                    <a:pt x="625022" y="0"/>
                  </a:lnTo>
                  <a:lnTo>
                    <a:pt x="625022" y="635194"/>
                  </a:lnTo>
                  <a:lnTo>
                    <a:pt x="0" y="635194"/>
                  </a:lnTo>
                  <a:close/>
                </a:path>
              </a:pathLst>
            </a:custGeom>
            <a:solidFill>
              <a:srgbClr val="D15353"/>
            </a:solidFill>
          </p:spPr>
        </p:sp>
        <p:sp>
          <p:nvSpPr>
            <p:cNvPr name="TextBox 11" id="11"/>
            <p:cNvSpPr txBox="true"/>
            <p:nvPr/>
          </p:nvSpPr>
          <p:spPr>
            <a:xfrm>
              <a:off x="0" y="-47625"/>
              <a:ext cx="625022" cy="682819"/>
            </a:xfrm>
            <a:prstGeom prst="rect">
              <a:avLst/>
            </a:prstGeom>
          </p:spPr>
          <p:txBody>
            <a:bodyPr anchor="ctr" rtlCol="false" tIns="50800" lIns="50800" bIns="50800" rIns="50800"/>
            <a:lstStyle/>
            <a:p>
              <a:pPr algn="ctr" marL="0" indent="0" lvl="0">
                <a:lnSpc>
                  <a:spcPts val="3244"/>
                </a:lnSpc>
              </a:pPr>
            </a:p>
          </p:txBody>
        </p:sp>
      </p:grpSp>
      <p:grpSp>
        <p:nvGrpSpPr>
          <p:cNvPr name="Group 12" id="12"/>
          <p:cNvGrpSpPr>
            <a:grpSpLocks noChangeAspect="true"/>
          </p:cNvGrpSpPr>
          <p:nvPr/>
        </p:nvGrpSpPr>
        <p:grpSpPr>
          <a:xfrm rot="0">
            <a:off x="1859172" y="1501101"/>
            <a:ext cx="7284828" cy="7284799"/>
            <a:chOff x="0" y="0"/>
            <a:chExt cx="6350025" cy="6350000"/>
          </a:xfrm>
        </p:grpSpPr>
        <p:sp>
          <p:nvSpPr>
            <p:cNvPr name="Freeform 13" id="13"/>
            <p:cNvSpPr/>
            <p:nvPr/>
          </p:nvSpPr>
          <p:spPr>
            <a:xfrm flipH="false" flipV="false" rot="0">
              <a:off x="0" y="0"/>
              <a:ext cx="6350026" cy="6350000"/>
            </a:xfrm>
            <a:custGeom>
              <a:avLst/>
              <a:gdLst/>
              <a:ahLst/>
              <a:cxnLst/>
              <a:rect r="r" b="b" t="t" l="l"/>
              <a:pathLst>
                <a:path h="6350000" w="6350026">
                  <a:moveTo>
                    <a:pt x="0" y="0"/>
                  </a:moveTo>
                  <a:lnTo>
                    <a:pt x="6350026" y="0"/>
                  </a:lnTo>
                  <a:lnTo>
                    <a:pt x="6350026" y="6350000"/>
                  </a:lnTo>
                  <a:lnTo>
                    <a:pt x="0" y="6350000"/>
                  </a:lnTo>
                  <a:close/>
                </a:path>
              </a:pathLst>
            </a:custGeom>
            <a:blipFill>
              <a:blip r:embed="rId4"/>
              <a:stretch>
                <a:fillRect l="0" t="0" r="0" b="0"/>
              </a:stretch>
            </a:blipFill>
          </p:spPr>
        </p:sp>
      </p:grpSp>
      <p:sp>
        <p:nvSpPr>
          <p:cNvPr name="AutoShape 14" id="14"/>
          <p:cNvSpPr/>
          <p:nvPr/>
        </p:nvSpPr>
        <p:spPr>
          <a:xfrm flipV="true">
            <a:off x="16684546" y="3038963"/>
            <a:ext cx="21934" cy="4209074"/>
          </a:xfrm>
          <a:prstGeom prst="line">
            <a:avLst/>
          </a:prstGeom>
          <a:ln cap="flat" w="133350">
            <a:solidFill>
              <a:srgbClr val="D15353"/>
            </a:solidFill>
            <a:prstDash val="solid"/>
            <a:headEnd type="none" len="sm" w="sm"/>
            <a:tailEnd type="none" len="sm" w="sm"/>
          </a:ln>
        </p:spPr>
      </p:sp>
      <p:sp>
        <p:nvSpPr>
          <p:cNvPr name="TextBox 15" id="15"/>
          <p:cNvSpPr txBox="true"/>
          <p:nvPr/>
        </p:nvSpPr>
        <p:spPr>
          <a:xfrm rot="0">
            <a:off x="10392293" y="3067190"/>
            <a:ext cx="5931221" cy="1126954"/>
          </a:xfrm>
          <a:prstGeom prst="rect">
            <a:avLst/>
          </a:prstGeom>
        </p:spPr>
        <p:txBody>
          <a:bodyPr anchor="t" rtlCol="false" tIns="0" lIns="0" bIns="0" rIns="0">
            <a:spAutoFit/>
          </a:bodyPr>
          <a:lstStyle/>
          <a:p>
            <a:pPr algn="r" marL="0" indent="0" lvl="0">
              <a:lnSpc>
                <a:spcPts val="4385"/>
              </a:lnSpc>
            </a:pPr>
            <a:r>
              <a:rPr lang="en-US" b="true" sz="3986" spc="127">
                <a:solidFill>
                  <a:srgbClr val="000000"/>
                </a:solidFill>
                <a:latin typeface="Glacial Indifference Bold"/>
                <a:ea typeface="Glacial Indifference Bold"/>
                <a:cs typeface="Glacial Indifference Bold"/>
                <a:sym typeface="Glacial Indifference Bold"/>
              </a:rPr>
              <a:t>ENCODING TEXT: İLK CÜMLE</a:t>
            </a:r>
          </a:p>
        </p:txBody>
      </p:sp>
      <p:sp>
        <p:nvSpPr>
          <p:cNvPr name="TextBox 16" id="16"/>
          <p:cNvSpPr txBox="true"/>
          <p:nvPr/>
        </p:nvSpPr>
        <p:spPr>
          <a:xfrm rot="0">
            <a:off x="10223163" y="4446915"/>
            <a:ext cx="6100351" cy="2738409"/>
          </a:xfrm>
          <a:prstGeom prst="rect">
            <a:avLst/>
          </a:prstGeom>
        </p:spPr>
        <p:txBody>
          <a:bodyPr anchor="t" rtlCol="false" tIns="0" lIns="0" bIns="0" rIns="0">
            <a:spAutoFit/>
          </a:bodyPr>
          <a:lstStyle/>
          <a:p>
            <a:pPr algn="r" marL="0" indent="0" lvl="0">
              <a:lnSpc>
                <a:spcPts val="1838"/>
              </a:lnSpc>
            </a:pPr>
            <a:r>
              <a:rPr lang="en-US" sz="1250">
                <a:solidFill>
                  <a:srgbClr val="000000"/>
                </a:solidFill>
                <a:latin typeface="Aileron"/>
                <a:ea typeface="Aileron"/>
                <a:cs typeface="Aileron"/>
                <a:sym typeface="Aileron"/>
              </a:rPr>
              <a:t>Transformer modelleri metni sayılara çevirerek işler. Tokenizer metni önce token'lara böler, sonra sayılara çevirir.</a:t>
            </a:r>
          </a:p>
          <a:p>
            <a:pPr algn="r" marL="0" indent="0" lvl="0">
              <a:lnSpc>
                <a:spcPts val="1838"/>
              </a:lnSpc>
            </a:pPr>
            <a:r>
              <a:rPr lang="en-US" sz="1250">
                <a:solidFill>
                  <a:srgbClr val="000000"/>
                </a:solidFill>
                <a:latin typeface="Aileron"/>
                <a:ea typeface="Aileron"/>
                <a:cs typeface="Aileron"/>
                <a:sym typeface="Aileron"/>
              </a:rPr>
              <a:t>from transformers import AutoTokenizer</a:t>
            </a:r>
          </a:p>
          <a:p>
            <a:pPr algn="r" marL="0" indent="0" lvl="0">
              <a:lnSpc>
                <a:spcPts val="1838"/>
              </a:lnSpc>
            </a:pPr>
            <a:r>
              <a:rPr lang="en-US" sz="1250">
                <a:solidFill>
                  <a:srgbClr val="000000"/>
                </a:solidFill>
                <a:latin typeface="Aileron"/>
                <a:ea typeface="Aileron"/>
                <a:cs typeface="Aileron"/>
                <a:sym typeface="Aileron"/>
              </a:rPr>
              <a:t>tokenizer = AutoTokenizer.from_pretrained("bert-base-cased")</a:t>
            </a:r>
          </a:p>
          <a:p>
            <a:pPr algn="r" marL="0" indent="0" lvl="0">
              <a:lnSpc>
                <a:spcPts val="1838"/>
              </a:lnSpc>
            </a:pPr>
            <a:r>
              <a:rPr lang="en-US" sz="1250">
                <a:solidFill>
                  <a:srgbClr val="000000"/>
                </a:solidFill>
                <a:latin typeface="Aileron"/>
                <a:ea typeface="Aileron"/>
                <a:cs typeface="Aileron"/>
                <a:sym typeface="Aileron"/>
              </a:rPr>
              <a:t>encoded_input = tokenizer("Hello, I'm a single sentence!")</a:t>
            </a:r>
          </a:p>
          <a:p>
            <a:pPr algn="r" marL="0" indent="0" lvl="0">
              <a:lnSpc>
                <a:spcPts val="1838"/>
              </a:lnSpc>
            </a:pPr>
            <a:r>
              <a:rPr lang="en-US" sz="1250">
                <a:solidFill>
                  <a:srgbClr val="000000"/>
                </a:solidFill>
                <a:latin typeface="Aileron"/>
                <a:ea typeface="Aileron"/>
                <a:cs typeface="Aileron"/>
                <a:sym typeface="Aileron"/>
              </a:rPr>
              <a:t>Çıktı:</a:t>
            </a:r>
          </a:p>
          <a:p>
            <a:pPr algn="r" marL="0" indent="0" lvl="0">
              <a:lnSpc>
                <a:spcPts val="1838"/>
              </a:lnSpc>
            </a:pPr>
            <a:r>
              <a:rPr lang="en-US" sz="1250">
                <a:solidFill>
                  <a:srgbClr val="000000"/>
                </a:solidFill>
                <a:latin typeface="Aileron"/>
                <a:ea typeface="Aileron"/>
                <a:cs typeface="Aileron"/>
                <a:sym typeface="Aileron"/>
              </a:rPr>
              <a:t>{'input_ids': [101, 8667, 117, 1000, 1045, 1005, 1049, 2235, 17662, 12172, 1012, 102],</a:t>
            </a:r>
          </a:p>
          <a:p>
            <a:pPr algn="r" marL="0" indent="0" lvl="0">
              <a:lnSpc>
                <a:spcPts val="1838"/>
              </a:lnSpc>
            </a:pPr>
            <a:r>
              <a:rPr lang="en-US" sz="1250">
                <a:solidFill>
                  <a:srgbClr val="000000"/>
                </a:solidFill>
                <a:latin typeface="Aileron"/>
                <a:ea typeface="Aileron"/>
                <a:cs typeface="Aileron"/>
                <a:sym typeface="Aileron"/>
              </a:rPr>
              <a:t>'token_type_ids': [0, 0, 0, 0, 0, 0, 0, 0, 0, 0, 0, 0],</a:t>
            </a:r>
          </a:p>
          <a:p>
            <a:pPr algn="r" marL="0" indent="0" lvl="0">
              <a:lnSpc>
                <a:spcPts val="1838"/>
              </a:lnSpc>
            </a:pPr>
            <a:r>
              <a:rPr lang="en-US" sz="1250">
                <a:solidFill>
                  <a:srgbClr val="000000"/>
                </a:solidFill>
                <a:latin typeface="Aileron"/>
                <a:ea typeface="Aileron"/>
                <a:cs typeface="Aileron"/>
                <a:sym typeface="Aileron"/>
              </a:rPr>
              <a:t>'attention_mask': [1, 1, 1, 1, 1, 1, 1, 1, 1, 1, 1, 1]}</a:t>
            </a:r>
          </a:p>
          <a:p>
            <a:pPr algn="r" marL="0" indent="0" lvl="0">
              <a:lnSpc>
                <a:spcPts val="1838"/>
              </a:lnSpc>
            </a:pPr>
            <a:r>
              <a:rPr lang="en-US" sz="1250">
                <a:solidFill>
                  <a:srgbClr val="000000"/>
                </a:solidFill>
                <a:latin typeface="Aileron"/>
                <a:ea typeface="Aileron"/>
                <a:cs typeface="Aileron"/>
                <a:sym typeface="Aileron"/>
              </a:rPr>
              <a:t>input_ids: token'ların sayısal karşılıkları</a:t>
            </a:r>
          </a:p>
          <a:p>
            <a:pPr algn="r" marL="0" indent="0" lvl="0">
              <a:lnSpc>
                <a:spcPts val="1838"/>
              </a:lnSpc>
            </a:pPr>
            <a:r>
              <a:rPr lang="en-US" sz="1250">
                <a:solidFill>
                  <a:srgbClr val="000000"/>
                </a:solidFill>
                <a:latin typeface="Aileron"/>
                <a:ea typeface="Aileron"/>
                <a:cs typeface="Aileron"/>
                <a:sym typeface="Aileron"/>
              </a:rPr>
              <a:t>token_type_ids: A veya B cümlesi olduğunu söyler</a:t>
            </a:r>
          </a:p>
          <a:p>
            <a:pPr algn="r" marL="0" indent="0" lvl="0">
              <a:lnSpc>
                <a:spcPts val="1838"/>
              </a:lnSpc>
            </a:pPr>
            <a:r>
              <a:rPr lang="en-US" sz="1250">
                <a:solidFill>
                  <a:srgbClr val="000000"/>
                </a:solidFill>
                <a:latin typeface="Aileron"/>
                <a:ea typeface="Aileron"/>
                <a:cs typeface="Aileron"/>
                <a:sym typeface="Aileron"/>
              </a:rPr>
              <a:t>attention_mask: hangi token'lara dikkat edileceğini gösterir</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9367890" y="4748644"/>
            <a:ext cx="5691693" cy="4691106"/>
            <a:chOff x="0" y="0"/>
            <a:chExt cx="1499047" cy="1235518"/>
          </a:xfrm>
        </p:grpSpPr>
        <p:sp>
          <p:nvSpPr>
            <p:cNvPr name="Freeform 3" id="3"/>
            <p:cNvSpPr/>
            <p:nvPr/>
          </p:nvSpPr>
          <p:spPr>
            <a:xfrm flipH="false" flipV="false" rot="0">
              <a:off x="0" y="0"/>
              <a:ext cx="1499047" cy="1235518"/>
            </a:xfrm>
            <a:custGeom>
              <a:avLst/>
              <a:gdLst/>
              <a:ahLst/>
              <a:cxnLst/>
              <a:rect r="r" b="b" t="t" l="l"/>
              <a:pathLst>
                <a:path h="1235518" w="1499047">
                  <a:moveTo>
                    <a:pt x="0" y="0"/>
                  </a:moveTo>
                  <a:lnTo>
                    <a:pt x="1499047" y="0"/>
                  </a:lnTo>
                  <a:lnTo>
                    <a:pt x="1499047" y="1235518"/>
                  </a:lnTo>
                  <a:lnTo>
                    <a:pt x="0" y="1235518"/>
                  </a:lnTo>
                  <a:close/>
                </a:path>
              </a:pathLst>
            </a:custGeom>
            <a:solidFill>
              <a:srgbClr val="D15353"/>
            </a:solidFill>
          </p:spPr>
        </p:sp>
        <p:sp>
          <p:nvSpPr>
            <p:cNvPr name="TextBox 4" id="4"/>
            <p:cNvSpPr txBox="true"/>
            <p:nvPr/>
          </p:nvSpPr>
          <p:spPr>
            <a:xfrm>
              <a:off x="0" y="-47625"/>
              <a:ext cx="1499047" cy="1283143"/>
            </a:xfrm>
            <a:prstGeom prst="rect">
              <a:avLst/>
            </a:prstGeom>
          </p:spPr>
          <p:txBody>
            <a:bodyPr anchor="ctr" rtlCol="false" tIns="50800" lIns="50800" bIns="50800" rIns="50800"/>
            <a:lstStyle/>
            <a:p>
              <a:pPr algn="ctr" marL="0" indent="0" lvl="0">
                <a:lnSpc>
                  <a:spcPts val="3244"/>
                </a:lnSpc>
              </a:pPr>
            </a:p>
          </p:txBody>
        </p:sp>
      </p:grpSp>
      <p:sp>
        <p:nvSpPr>
          <p:cNvPr name="Freeform 5" id="5"/>
          <p:cNvSpPr/>
          <p:nvPr/>
        </p:nvSpPr>
        <p:spPr>
          <a:xfrm flipH="false" flipV="false" rot="6979616">
            <a:off x="-2806960" y="-1213622"/>
            <a:ext cx="11173984" cy="7393795"/>
          </a:xfrm>
          <a:custGeom>
            <a:avLst/>
            <a:gdLst/>
            <a:ahLst/>
            <a:cxnLst/>
            <a:rect r="r" b="b" t="t" l="l"/>
            <a:pathLst>
              <a:path h="7393795" w="11173984">
                <a:moveTo>
                  <a:pt x="0" y="0"/>
                </a:moveTo>
                <a:lnTo>
                  <a:pt x="11173984" y="0"/>
                </a:lnTo>
                <a:lnTo>
                  <a:pt x="11173984" y="7393795"/>
                </a:lnTo>
                <a:lnTo>
                  <a:pt x="0" y="73937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6" id="6"/>
          <p:cNvSpPr/>
          <p:nvPr/>
        </p:nvSpPr>
        <p:spPr>
          <a:xfrm>
            <a:off x="2363286" y="3500869"/>
            <a:ext cx="0" cy="1247775"/>
          </a:xfrm>
          <a:prstGeom prst="line">
            <a:avLst/>
          </a:prstGeom>
          <a:ln cap="flat" w="133350">
            <a:solidFill>
              <a:srgbClr val="D15353"/>
            </a:solidFill>
            <a:prstDash val="solid"/>
            <a:headEnd type="none" len="sm" w="sm"/>
            <a:tailEnd type="none" len="sm" w="sm"/>
          </a:ln>
        </p:spPr>
      </p:sp>
      <p:sp>
        <p:nvSpPr>
          <p:cNvPr name="Freeform 7" id="7"/>
          <p:cNvSpPr/>
          <p:nvPr/>
        </p:nvSpPr>
        <p:spPr>
          <a:xfrm flipH="false" flipV="false" rot="0">
            <a:off x="9720315" y="1862191"/>
            <a:ext cx="11650233" cy="7264505"/>
          </a:xfrm>
          <a:custGeom>
            <a:avLst/>
            <a:gdLst/>
            <a:ahLst/>
            <a:cxnLst/>
            <a:rect r="r" b="b" t="t" l="l"/>
            <a:pathLst>
              <a:path h="7264505" w="11650233">
                <a:moveTo>
                  <a:pt x="0" y="0"/>
                </a:moveTo>
                <a:lnTo>
                  <a:pt x="11650233" y="0"/>
                </a:lnTo>
                <a:lnTo>
                  <a:pt x="11650233" y="7264505"/>
                </a:lnTo>
                <a:lnTo>
                  <a:pt x="0" y="7264505"/>
                </a:lnTo>
                <a:lnTo>
                  <a:pt x="0" y="0"/>
                </a:lnTo>
                <a:close/>
              </a:path>
            </a:pathLst>
          </a:custGeom>
          <a:blipFill>
            <a:blip r:embed="rId4"/>
            <a:stretch>
              <a:fillRect l="-185" t="0" r="-185" b="0"/>
            </a:stretch>
          </a:blipFill>
        </p:spPr>
      </p:sp>
      <p:sp>
        <p:nvSpPr>
          <p:cNvPr name="TextBox 8" id="8"/>
          <p:cNvSpPr txBox="true"/>
          <p:nvPr/>
        </p:nvSpPr>
        <p:spPr>
          <a:xfrm rot="0">
            <a:off x="2780032" y="3491344"/>
            <a:ext cx="6587858" cy="657225"/>
          </a:xfrm>
          <a:prstGeom prst="rect">
            <a:avLst/>
          </a:prstGeom>
        </p:spPr>
        <p:txBody>
          <a:bodyPr anchor="t" rtlCol="false" tIns="0" lIns="0" bIns="0" rIns="0">
            <a:spAutoFit/>
          </a:bodyPr>
          <a:lstStyle/>
          <a:p>
            <a:pPr algn="l" marL="0" indent="0" lvl="0">
              <a:lnSpc>
                <a:spcPts val="5122"/>
              </a:lnSpc>
              <a:spcBef>
                <a:spcPct val="0"/>
              </a:spcBef>
            </a:pPr>
            <a:r>
              <a:rPr lang="en-US" b="true" sz="4268">
                <a:solidFill>
                  <a:srgbClr val="253439"/>
                </a:solidFill>
                <a:latin typeface="Glacial Indifference Bold"/>
                <a:ea typeface="Glacial Indifference Bold"/>
                <a:cs typeface="Glacial Indifference Bold"/>
                <a:sym typeface="Glacial Indifference Bold"/>
              </a:rPr>
              <a:t>ENCODE ÇIKTISI: ÜÇ ALAN</a:t>
            </a:r>
          </a:p>
        </p:txBody>
      </p:sp>
      <p:sp>
        <p:nvSpPr>
          <p:cNvPr name="TextBox 9" id="9"/>
          <p:cNvSpPr txBox="true"/>
          <p:nvPr/>
        </p:nvSpPr>
        <p:spPr>
          <a:xfrm rot="0">
            <a:off x="2296611" y="4945221"/>
            <a:ext cx="6234050" cy="3893157"/>
          </a:xfrm>
          <a:prstGeom prst="rect">
            <a:avLst/>
          </a:prstGeom>
        </p:spPr>
        <p:txBody>
          <a:bodyPr anchor="t" rtlCol="false" tIns="0" lIns="0" bIns="0" rIns="0">
            <a:spAutoFit/>
          </a:bodyPr>
          <a:lstStyle/>
          <a:p>
            <a:pPr algn="l" marL="0" indent="0" lvl="0">
              <a:lnSpc>
                <a:spcPts val="3101"/>
              </a:lnSpc>
              <a:spcBef>
                <a:spcPct val="0"/>
              </a:spcBef>
            </a:pPr>
            <a:r>
              <a:rPr lang="en-US" sz="2067">
                <a:solidFill>
                  <a:srgbClr val="253439"/>
                </a:solidFill>
                <a:latin typeface="Aileron"/>
                <a:ea typeface="Aileron"/>
                <a:cs typeface="Aileron"/>
                <a:sym typeface="Aileron"/>
              </a:rPr>
              <a:t>Tokenizer çıktısı üç anahtarlı bir sözlüktür:</a:t>
            </a:r>
          </a:p>
          <a:p>
            <a:pPr algn="l" marL="0" indent="0" lvl="0">
              <a:lnSpc>
                <a:spcPts val="3101"/>
              </a:lnSpc>
              <a:spcBef>
                <a:spcPct val="0"/>
              </a:spcBef>
            </a:pPr>
            <a:r>
              <a:rPr lang="en-US" sz="2067">
                <a:solidFill>
                  <a:srgbClr val="253439"/>
                </a:solidFill>
                <a:latin typeface="Aileron"/>
                <a:ea typeface="Aileron"/>
                <a:cs typeface="Aileron"/>
                <a:sym typeface="Aileron"/>
              </a:rPr>
              <a:t>• input_ids: Token'ların sayısal karşılıkları. Her kelime veya sembolün modelin anlayabileceği benzersiz numarası.</a:t>
            </a:r>
          </a:p>
          <a:p>
            <a:pPr algn="l" marL="0" indent="0" lvl="0">
              <a:lnSpc>
                <a:spcPts val="3101"/>
              </a:lnSpc>
              <a:spcBef>
                <a:spcPct val="0"/>
              </a:spcBef>
            </a:pPr>
            <a:r>
              <a:rPr lang="en-US" sz="2067">
                <a:solidFill>
                  <a:srgbClr val="253439"/>
                </a:solidFill>
                <a:latin typeface="Aileron"/>
                <a:ea typeface="Aileron"/>
                <a:cs typeface="Aileron"/>
                <a:sym typeface="Aileron"/>
              </a:rPr>
              <a:t>• token_type_ids: Girdinin hangi kısmının A cümlesi, hangisinin B cümlesi olduğunu söyler. Sıfır = A cümlesi, bir = B cümlesi.</a:t>
            </a:r>
          </a:p>
          <a:p>
            <a:pPr algn="l" marL="0" indent="0" lvl="0">
              <a:lnSpc>
                <a:spcPts val="3101"/>
              </a:lnSpc>
              <a:spcBef>
                <a:spcPct val="0"/>
              </a:spcBef>
            </a:pPr>
            <a:r>
              <a:rPr lang="en-US" sz="2067">
                <a:solidFill>
                  <a:srgbClr val="253439"/>
                </a:solidFill>
                <a:latin typeface="Aileron"/>
                <a:ea typeface="Aileron"/>
                <a:cs typeface="Aileron"/>
                <a:sym typeface="Aileron"/>
              </a:rPr>
              <a:t>• attention_mask: Hangi token'lara dikkat edileceğini, hangilerine edilmeyeceğini gösterir. Bir = gerçek token, sıfır = padding.</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253439"/>
        </a:solidFill>
      </p:bgPr>
    </p:bg>
    <p:spTree>
      <p:nvGrpSpPr>
        <p:cNvPr id="1" name=""/>
        <p:cNvGrpSpPr/>
        <p:nvPr/>
      </p:nvGrpSpPr>
      <p:grpSpPr>
        <a:xfrm>
          <a:off x="0" y="0"/>
          <a:ext cx="0" cy="0"/>
          <a:chOff x="0" y="0"/>
          <a:chExt cx="0" cy="0"/>
        </a:xfrm>
      </p:grpSpPr>
      <p:grpSp>
        <p:nvGrpSpPr>
          <p:cNvPr name="Group 2" id="2"/>
          <p:cNvGrpSpPr/>
          <p:nvPr/>
        </p:nvGrpSpPr>
        <p:grpSpPr>
          <a:xfrm rot="0">
            <a:off x="-572419" y="-788281"/>
            <a:ext cx="8902298" cy="12171720"/>
            <a:chOff x="0" y="0"/>
            <a:chExt cx="1846378" cy="2524471"/>
          </a:xfrm>
        </p:grpSpPr>
        <p:sp>
          <p:nvSpPr>
            <p:cNvPr name="Freeform 3" id="3"/>
            <p:cNvSpPr/>
            <p:nvPr/>
          </p:nvSpPr>
          <p:spPr>
            <a:xfrm flipH="false" flipV="false" rot="0">
              <a:off x="0" y="0"/>
              <a:ext cx="1846378" cy="2524471"/>
            </a:xfrm>
            <a:custGeom>
              <a:avLst/>
              <a:gdLst/>
              <a:ahLst/>
              <a:cxnLst/>
              <a:rect r="r" b="b" t="t" l="l"/>
              <a:pathLst>
                <a:path h="2524471" w="1846378">
                  <a:moveTo>
                    <a:pt x="0" y="0"/>
                  </a:moveTo>
                  <a:lnTo>
                    <a:pt x="1846378" y="0"/>
                  </a:lnTo>
                  <a:lnTo>
                    <a:pt x="1846378" y="2524471"/>
                  </a:lnTo>
                  <a:lnTo>
                    <a:pt x="0" y="2524471"/>
                  </a:lnTo>
                  <a:close/>
                </a:path>
              </a:pathLst>
            </a:custGeom>
            <a:gradFill rotWithShape="true">
              <a:gsLst>
                <a:gs pos="0">
                  <a:srgbClr val="FDF7EF">
                    <a:alpha val="100000"/>
                  </a:srgbClr>
                </a:gs>
                <a:gs pos="100000">
                  <a:srgbClr val="FFFFFF">
                    <a:alpha val="100000"/>
                  </a:srgbClr>
                </a:gs>
              </a:gsLst>
              <a:lin ang="0"/>
            </a:gradFill>
            <a:ln cap="sq">
              <a:noFill/>
              <a:prstDash val="solid"/>
              <a:miter/>
            </a:ln>
          </p:spPr>
        </p:sp>
        <p:sp>
          <p:nvSpPr>
            <p:cNvPr name="TextBox 4" id="4"/>
            <p:cNvSpPr txBox="true"/>
            <p:nvPr/>
          </p:nvSpPr>
          <p:spPr>
            <a:xfrm>
              <a:off x="0" y="9525"/>
              <a:ext cx="1846378" cy="2514946"/>
            </a:xfrm>
            <a:prstGeom prst="rect">
              <a:avLst/>
            </a:prstGeom>
          </p:spPr>
          <p:txBody>
            <a:bodyPr anchor="ctr" rtlCol="false" tIns="50800" lIns="50800" bIns="50800" rIns="50800"/>
            <a:lstStyle/>
            <a:p>
              <a:pPr algn="ctr" marL="0" indent="0" lvl="0">
                <a:lnSpc>
                  <a:spcPts val="1869"/>
                </a:lnSpc>
              </a:pPr>
            </a:p>
          </p:txBody>
        </p:sp>
      </p:grpSp>
      <p:sp>
        <p:nvSpPr>
          <p:cNvPr name="Freeform 5" id="5"/>
          <p:cNvSpPr/>
          <p:nvPr/>
        </p:nvSpPr>
        <p:spPr>
          <a:xfrm flipH="false" flipV="false" rot="-10800000">
            <a:off x="-941691" y="-2722833"/>
            <a:ext cx="20209482" cy="13372559"/>
          </a:xfrm>
          <a:custGeom>
            <a:avLst/>
            <a:gdLst/>
            <a:ahLst/>
            <a:cxnLst/>
            <a:rect r="r" b="b" t="t" l="l"/>
            <a:pathLst>
              <a:path h="13372559" w="20209482">
                <a:moveTo>
                  <a:pt x="0" y="0"/>
                </a:moveTo>
                <a:lnTo>
                  <a:pt x="20209482" y="0"/>
                </a:lnTo>
                <a:lnTo>
                  <a:pt x="20209482" y="13372559"/>
                </a:lnTo>
                <a:lnTo>
                  <a:pt x="0" y="133725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6" id="6"/>
          <p:cNvSpPr/>
          <p:nvPr/>
        </p:nvSpPr>
        <p:spPr>
          <a:xfrm>
            <a:off x="1561399" y="3963447"/>
            <a:ext cx="0" cy="1180053"/>
          </a:xfrm>
          <a:prstGeom prst="line">
            <a:avLst/>
          </a:prstGeom>
          <a:ln cap="flat" w="133350">
            <a:solidFill>
              <a:srgbClr val="D15353"/>
            </a:solidFill>
            <a:prstDash val="solid"/>
            <a:headEnd type="none" len="sm" w="sm"/>
            <a:tailEnd type="none" len="sm" w="sm"/>
          </a:ln>
        </p:spPr>
      </p:sp>
      <p:sp>
        <p:nvSpPr>
          <p:cNvPr name="Freeform 7" id="7"/>
          <p:cNvSpPr/>
          <p:nvPr/>
        </p:nvSpPr>
        <p:spPr>
          <a:xfrm flipH="false" flipV="false" rot="0">
            <a:off x="9012250" y="5297579"/>
            <a:ext cx="7961908" cy="3561920"/>
          </a:xfrm>
          <a:custGeom>
            <a:avLst/>
            <a:gdLst/>
            <a:ahLst/>
            <a:cxnLst/>
            <a:rect r="r" b="b" t="t" l="l"/>
            <a:pathLst>
              <a:path h="3561920" w="7961908">
                <a:moveTo>
                  <a:pt x="0" y="0"/>
                </a:moveTo>
                <a:lnTo>
                  <a:pt x="7961908" y="0"/>
                </a:lnTo>
                <a:lnTo>
                  <a:pt x="7961908" y="3561920"/>
                </a:lnTo>
                <a:lnTo>
                  <a:pt x="0" y="3561920"/>
                </a:lnTo>
                <a:lnTo>
                  <a:pt x="0" y="0"/>
                </a:lnTo>
                <a:close/>
              </a:path>
            </a:pathLst>
          </a:custGeom>
          <a:blipFill>
            <a:blip r:embed="rId4"/>
            <a:stretch>
              <a:fillRect l="0" t="-14" r="0" b="-14"/>
            </a:stretch>
          </a:blipFill>
        </p:spPr>
      </p:sp>
      <p:sp>
        <p:nvSpPr>
          <p:cNvPr name="Freeform 8" id="8"/>
          <p:cNvSpPr/>
          <p:nvPr/>
        </p:nvSpPr>
        <p:spPr>
          <a:xfrm flipH="false" flipV="false" rot="0">
            <a:off x="9012250" y="1427501"/>
            <a:ext cx="7961908" cy="3605788"/>
          </a:xfrm>
          <a:custGeom>
            <a:avLst/>
            <a:gdLst/>
            <a:ahLst/>
            <a:cxnLst/>
            <a:rect r="r" b="b" t="t" l="l"/>
            <a:pathLst>
              <a:path h="3605788" w="7961908">
                <a:moveTo>
                  <a:pt x="0" y="0"/>
                </a:moveTo>
                <a:lnTo>
                  <a:pt x="7961908" y="0"/>
                </a:lnTo>
                <a:lnTo>
                  <a:pt x="7961908" y="3605788"/>
                </a:lnTo>
                <a:lnTo>
                  <a:pt x="0" y="3605788"/>
                </a:lnTo>
                <a:lnTo>
                  <a:pt x="0" y="0"/>
                </a:lnTo>
                <a:close/>
              </a:path>
            </a:pathLst>
          </a:custGeom>
          <a:blipFill>
            <a:blip r:embed="rId5"/>
            <a:stretch>
              <a:fillRect l="0" t="-510" r="0" b="-510"/>
            </a:stretch>
          </a:blipFill>
        </p:spPr>
      </p:sp>
      <p:sp>
        <p:nvSpPr>
          <p:cNvPr name="TextBox 9" id="9"/>
          <p:cNvSpPr txBox="true"/>
          <p:nvPr/>
        </p:nvSpPr>
        <p:spPr>
          <a:xfrm rot="0">
            <a:off x="1561399" y="5470451"/>
            <a:ext cx="5935862" cy="2757651"/>
          </a:xfrm>
          <a:prstGeom prst="rect">
            <a:avLst/>
          </a:prstGeom>
        </p:spPr>
        <p:txBody>
          <a:bodyPr anchor="t" rtlCol="false" tIns="0" lIns="0" bIns="0" rIns="0">
            <a:spAutoFit/>
          </a:bodyPr>
          <a:lstStyle/>
          <a:p>
            <a:pPr algn="l" marL="0" indent="0" lvl="0">
              <a:lnSpc>
                <a:spcPts val="2238"/>
              </a:lnSpc>
            </a:pPr>
            <a:r>
              <a:rPr lang="en-US" sz="1523">
                <a:solidFill>
                  <a:srgbClr val="000000"/>
                </a:solidFill>
                <a:latin typeface="Aileron"/>
                <a:ea typeface="Aileron"/>
                <a:cs typeface="Aileron"/>
                <a:sym typeface="Aileron"/>
              </a:rPr>
              <a:t>Birden fazla cümleyi, ya toplu (batch) halde ya da liste vererek aynı anda kodlayabiliriz:</a:t>
            </a:r>
          </a:p>
          <a:p>
            <a:pPr algn="l" marL="0" indent="0" lvl="0">
              <a:lnSpc>
                <a:spcPts val="2238"/>
              </a:lnSpc>
            </a:pPr>
            <a:r>
              <a:rPr lang="en-US" sz="1523">
                <a:solidFill>
                  <a:srgbClr val="000000"/>
                </a:solidFill>
                <a:latin typeface="Aileron"/>
                <a:ea typeface="Aileron"/>
                <a:cs typeface="Aileron"/>
                <a:sym typeface="Aileron"/>
              </a:rPr>
              <a:t>Kod:</a:t>
            </a:r>
          </a:p>
          <a:p>
            <a:pPr algn="l" marL="0" indent="0" lvl="0">
              <a:lnSpc>
                <a:spcPts val="2238"/>
              </a:lnSpc>
            </a:pPr>
            <a:r>
              <a:rPr lang="en-US" sz="1523">
                <a:solidFill>
                  <a:srgbClr val="000000"/>
                </a:solidFill>
                <a:latin typeface="Aileron"/>
                <a:ea typeface="Aileron"/>
                <a:cs typeface="Aileron"/>
                <a:sym typeface="Aileron"/>
              </a:rPr>
              <a:t>encoded_input = tokenizer("How are you?", "I'm fine, thank you!")</a:t>
            </a:r>
          </a:p>
          <a:p>
            <a:pPr algn="l" marL="0" indent="0" lvl="0">
              <a:lnSpc>
                <a:spcPts val="2238"/>
              </a:lnSpc>
            </a:pPr>
            <a:r>
              <a:rPr lang="en-US" sz="1523">
                <a:solidFill>
                  <a:srgbClr val="000000"/>
                </a:solidFill>
                <a:latin typeface="Aileron"/>
                <a:ea typeface="Aileron"/>
                <a:cs typeface="Aileron"/>
                <a:sym typeface="Aileron"/>
              </a:rPr>
              <a:t>print(encoded_input)</a:t>
            </a:r>
          </a:p>
          <a:p>
            <a:pPr algn="l" marL="0" indent="0" lvl="0">
              <a:lnSpc>
                <a:spcPts val="2238"/>
              </a:lnSpc>
            </a:pPr>
            <a:r>
              <a:rPr lang="en-US" sz="1523">
                <a:solidFill>
                  <a:srgbClr val="000000"/>
                </a:solidFill>
                <a:latin typeface="Aileron"/>
                <a:ea typeface="Aileron"/>
                <a:cs typeface="Aileron"/>
                <a:sym typeface="Aileron"/>
              </a:rPr>
              <a:t>Çıktı:</a:t>
            </a:r>
          </a:p>
          <a:p>
            <a:pPr algn="l" marL="0" indent="0" lvl="0">
              <a:lnSpc>
                <a:spcPts val="2238"/>
              </a:lnSpc>
            </a:pPr>
            <a:r>
              <a:rPr lang="en-US" sz="1523">
                <a:solidFill>
                  <a:srgbClr val="000000"/>
                </a:solidFill>
                <a:latin typeface="Aileron"/>
                <a:ea typeface="Aileron"/>
                <a:cs typeface="Aileron"/>
                <a:sym typeface="Aileron"/>
              </a:rPr>
              <a:t>{'input_ids': [[101, 1731, 1132, 1128, 136, 102],</a:t>
            </a:r>
          </a:p>
          <a:p>
            <a:pPr algn="l" marL="0" indent="0" lvl="0">
              <a:lnSpc>
                <a:spcPts val="2238"/>
              </a:lnSpc>
            </a:pPr>
            <a:r>
              <a:rPr lang="en-US" sz="1523">
                <a:solidFill>
                  <a:srgbClr val="000000"/>
                </a:solidFill>
                <a:latin typeface="Aileron"/>
                <a:ea typeface="Aileron"/>
                <a:cs typeface="Aileron"/>
                <a:sym typeface="Aileron"/>
              </a:rPr>
              <a:t>               [101, 1045, 1005, 1049, 2503, 117, 5763, 1128, 136, 102]],</a:t>
            </a:r>
          </a:p>
          <a:p>
            <a:pPr algn="l" marL="0" indent="0" lvl="0">
              <a:lnSpc>
                <a:spcPts val="2238"/>
              </a:lnSpc>
            </a:pPr>
            <a:r>
              <a:rPr lang="en-US" sz="1523">
                <a:solidFill>
                  <a:srgbClr val="000000"/>
                </a:solidFill>
                <a:latin typeface="Aileron"/>
                <a:ea typeface="Aileron"/>
                <a:cs typeface="Aileron"/>
                <a:sym typeface="Aileron"/>
              </a:rPr>
              <a:t>'token_type_ids': [[0, 0, 0, 0, 0, 0], [0, 0, 0, 0, 0, 0, 0, 0, 0, 0]],</a:t>
            </a:r>
          </a:p>
          <a:p>
            <a:pPr algn="l" marL="0" indent="0" lvl="0">
              <a:lnSpc>
                <a:spcPts val="2238"/>
              </a:lnSpc>
            </a:pPr>
            <a:r>
              <a:rPr lang="en-US" sz="1523">
                <a:solidFill>
                  <a:srgbClr val="000000"/>
                </a:solidFill>
                <a:latin typeface="Aileron"/>
                <a:ea typeface="Aileron"/>
                <a:cs typeface="Aileron"/>
                <a:sym typeface="Aileron"/>
              </a:rPr>
              <a:t>'attention_mask': [[1, 1, 1, 1, 1, 1], [1, 1, 1, 1, 1, 1, 1, 1, 1, 1]]}</a:t>
            </a:r>
          </a:p>
        </p:txBody>
      </p:sp>
      <p:sp>
        <p:nvSpPr>
          <p:cNvPr name="TextBox 10" id="10"/>
          <p:cNvSpPr txBox="true"/>
          <p:nvPr/>
        </p:nvSpPr>
        <p:spPr>
          <a:xfrm rot="0">
            <a:off x="2023291" y="4007485"/>
            <a:ext cx="5473970" cy="1126954"/>
          </a:xfrm>
          <a:prstGeom prst="rect">
            <a:avLst/>
          </a:prstGeom>
        </p:spPr>
        <p:txBody>
          <a:bodyPr anchor="t" rtlCol="false" tIns="0" lIns="0" bIns="0" rIns="0">
            <a:spAutoFit/>
          </a:bodyPr>
          <a:lstStyle/>
          <a:p>
            <a:pPr algn="l" marL="0" indent="0" lvl="0">
              <a:lnSpc>
                <a:spcPts val="4385"/>
              </a:lnSpc>
            </a:pPr>
            <a:r>
              <a:rPr lang="en-US" b="true" sz="3986" spc="131">
                <a:solidFill>
                  <a:srgbClr val="000000"/>
                </a:solidFill>
                <a:latin typeface="Glacial Indifference Bold"/>
                <a:ea typeface="Glacial Indifference Bold"/>
                <a:cs typeface="Glacial Indifference Bold"/>
                <a:sym typeface="Glacial Indifference Bold"/>
              </a:rPr>
              <a:t>BIRDEN FAZLA CÜMLEYI KODLAMAK</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 r="0" b="-555"/>
            </a:stretch>
          </a:blipFill>
        </p:spPr>
      </p:sp>
      <p:sp>
        <p:nvSpPr>
          <p:cNvPr name="AutoShape 3" id="3"/>
          <p:cNvSpPr/>
          <p:nvPr/>
        </p:nvSpPr>
        <p:spPr>
          <a:xfrm>
            <a:off x="1794021" y="2089170"/>
            <a:ext cx="0" cy="1164590"/>
          </a:xfrm>
          <a:prstGeom prst="line">
            <a:avLst/>
          </a:prstGeom>
          <a:ln cap="flat" w="133350">
            <a:solidFill>
              <a:srgbClr val="D15353"/>
            </a:solidFill>
            <a:prstDash val="solid"/>
            <a:headEnd type="none" len="sm" w="sm"/>
            <a:tailEnd type="none" len="sm" w="sm"/>
          </a:ln>
        </p:spPr>
      </p:sp>
      <p:pic>
        <p:nvPicPr>
          <p:cNvPr name="Picture 4" id="4">
            <a:hlinkClick action="ppaction://media"/>
          </p:cNvPr>
          <p:cNvPicPr>
            <a:picLocks noChangeAspect="true"/>
          </p:cNvPicPr>
          <p:nvPr>
            <a:videoFile r:link="rId4"/>
            <p:extLst>
              <p:ext uri="{DAA4B4D4-6D71-4841-9C94-3DE7FCFB9230}">
                <p14:media xmlns:p14="http://schemas.microsoft.com/office/powerpoint/2010/main" r:embed="rId5"/>
              </p:ext>
            </p:extLst>
          </p:nvPr>
        </p:nvPicPr>
        <p:blipFill>
          <a:blip r:embed="rId3"/>
          <a:srcRect l="0" t="0" r="0" b="0"/>
          <a:stretch>
            <a:fillRect/>
          </a:stretch>
        </p:blipFill>
        <p:spPr>
          <a:xfrm flipH="false" flipV="false" rot="0">
            <a:off x="2464802" y="2219371"/>
            <a:ext cx="13898726" cy="5848257"/>
          </a:xfrm>
          <a:prstGeom prst="rect">
            <a:avLst/>
          </a:prstGeom>
        </p:spPr>
      </p:pic>
      <p:sp>
        <p:nvSpPr>
          <p:cNvPr name="TextBox 5" id="5"/>
          <p:cNvSpPr txBox="true"/>
          <p:nvPr/>
        </p:nvSpPr>
        <p:spPr>
          <a:xfrm rot="0">
            <a:off x="1794021" y="838295"/>
            <a:ext cx="4870432" cy="784176"/>
          </a:xfrm>
          <a:prstGeom prst="rect">
            <a:avLst/>
          </a:prstGeom>
        </p:spPr>
        <p:txBody>
          <a:bodyPr anchor="t" rtlCol="false" tIns="0" lIns="0" bIns="0" rIns="0">
            <a:spAutoFit/>
          </a:bodyPr>
          <a:lstStyle/>
          <a:p>
            <a:pPr algn="l" marL="0" indent="0" lvl="0">
              <a:lnSpc>
                <a:spcPts val="6045"/>
              </a:lnSpc>
            </a:pPr>
            <a:r>
              <a:rPr lang="en-US" b="true" sz="5496">
                <a:solidFill>
                  <a:srgbClr val="FFFFFF"/>
                </a:solidFill>
                <a:latin typeface="Glacial Indifference Bold"/>
                <a:ea typeface="Glacial Indifference Bold"/>
                <a:cs typeface="Glacial Indifference Bold"/>
                <a:sym typeface="Glacial Indifference Bold"/>
              </a:rPr>
              <a:t>MODELS</a:t>
            </a:r>
          </a:p>
        </p:txBody>
      </p:sp>
    </p:spTree>
  </p:cSld>
  <p:clrMapOvr>
    <a:masterClrMapping/>
  </p:clrMapOvr>
  <p:timing>
    <p:tnLst>
      <p:par>
        <p:cTn dur="indefinite" restart="never" nodeType="tmRoot">
          <p:childTnLst>
            <p:video>
              <p:cMediaNode vol="100000">
                <p:cTn fill="hold" display="false">
                  <p:stCondLst>
                    <p:cond delay="indefinite"/>
                  </p:stCondLst>
                </p:cTn>
                <p:tgtEl>
                  <p:spTgt spid="4"/>
                </p:tgtEl>
              </p:cMediaNode>
            </p:video>
          </p:childTnLst>
        </p:cTn>
      </p:par>
    </p:tnLst>
  </p:timing>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1F0034"/>
        </a:solidFill>
      </p:bgPr>
    </p:bg>
    <p:spTree>
      <p:nvGrpSpPr>
        <p:cNvPr id="1" name=""/>
        <p:cNvGrpSpPr/>
        <p:nvPr/>
      </p:nvGrpSpPr>
      <p:grpSpPr>
        <a:xfrm>
          <a:off x="0" y="0"/>
          <a:ext cx="0" cy="0"/>
          <a:chOff x="0" y="0"/>
          <a:chExt cx="0" cy="0"/>
        </a:xfrm>
      </p:grpSpPr>
      <p:sp>
        <p:nvSpPr>
          <p:cNvPr name="Freeform 2" id="2"/>
          <p:cNvSpPr/>
          <p:nvPr/>
        </p:nvSpPr>
        <p:spPr>
          <a:xfrm flipH="false" flipV="false" rot="4862015">
            <a:off x="10157954" y="2652590"/>
            <a:ext cx="13034898" cy="6446038"/>
          </a:xfrm>
          <a:custGeom>
            <a:avLst/>
            <a:gdLst/>
            <a:ahLst/>
            <a:cxnLst/>
            <a:rect r="r" b="b" t="t" l="l"/>
            <a:pathLst>
              <a:path h="6446038" w="13034898">
                <a:moveTo>
                  <a:pt x="0" y="0"/>
                </a:moveTo>
                <a:lnTo>
                  <a:pt x="13034898" y="0"/>
                </a:lnTo>
                <a:lnTo>
                  <a:pt x="13034898" y="6446038"/>
                </a:lnTo>
                <a:lnTo>
                  <a:pt x="0" y="6446038"/>
                </a:lnTo>
                <a:lnTo>
                  <a:pt x="0" y="0"/>
                </a:lnTo>
                <a:close/>
              </a:path>
            </a:pathLst>
          </a:custGeom>
          <a:blipFill>
            <a:blip r:embed="rId2">
              <a:extLst>
                <a:ext uri="{96DAC541-7B7A-43D3-8B79-37D633B846F1}">
                  <asvg:svgBlip xmlns:asvg="http://schemas.microsoft.com/office/drawing/2016/SVG/main" r:embed="rId3"/>
                </a:ext>
              </a:extLst>
            </a:blip>
            <a:stretch>
              <a:fillRect l="0" t="0" r="-134" b="-129447"/>
            </a:stretch>
          </a:blipFill>
        </p:spPr>
      </p:sp>
      <p:sp>
        <p:nvSpPr>
          <p:cNvPr name="Freeform 3" id="3"/>
          <p:cNvSpPr/>
          <p:nvPr/>
        </p:nvSpPr>
        <p:spPr>
          <a:xfrm flipH="false" flipV="false" rot="-6492416">
            <a:off x="-4102332" y="4826625"/>
            <a:ext cx="13034898" cy="6446038"/>
          </a:xfrm>
          <a:custGeom>
            <a:avLst/>
            <a:gdLst/>
            <a:ahLst/>
            <a:cxnLst/>
            <a:rect r="r" b="b" t="t" l="l"/>
            <a:pathLst>
              <a:path h="6446038" w="13034898">
                <a:moveTo>
                  <a:pt x="0" y="0"/>
                </a:moveTo>
                <a:lnTo>
                  <a:pt x="13034898" y="0"/>
                </a:lnTo>
                <a:lnTo>
                  <a:pt x="13034898" y="6446039"/>
                </a:lnTo>
                <a:lnTo>
                  <a:pt x="0" y="6446039"/>
                </a:lnTo>
                <a:lnTo>
                  <a:pt x="0" y="0"/>
                </a:lnTo>
                <a:close/>
              </a:path>
            </a:pathLst>
          </a:custGeom>
          <a:blipFill>
            <a:blip r:embed="rId4">
              <a:extLst>
                <a:ext uri="{96DAC541-7B7A-43D3-8B79-37D633B846F1}">
                  <asvg:svgBlip xmlns:asvg="http://schemas.microsoft.com/office/drawing/2016/SVG/main" r:embed="rId5"/>
                </a:ext>
              </a:extLst>
            </a:blip>
            <a:stretch>
              <a:fillRect l="0" t="0" r="-134" b="-129447"/>
            </a:stretch>
          </a:blipFill>
        </p:spPr>
      </p:sp>
      <p:sp>
        <p:nvSpPr>
          <p:cNvPr name="Freeform 4" id="4"/>
          <p:cNvSpPr/>
          <p:nvPr/>
        </p:nvSpPr>
        <p:spPr>
          <a:xfrm flipH="false" flipV="false" rot="0">
            <a:off x="13411200" y="-2353991"/>
            <a:ext cx="8229600" cy="8229600"/>
          </a:xfrm>
          <a:custGeom>
            <a:avLst/>
            <a:gdLst/>
            <a:ahLst/>
            <a:cxnLst/>
            <a:rect r="r" b="b" t="t" l="l"/>
            <a:pathLst>
              <a:path h="8229600" w="8229600">
                <a:moveTo>
                  <a:pt x="0" y="0"/>
                </a:moveTo>
                <a:lnTo>
                  <a:pt x="8229600" y="0"/>
                </a:lnTo>
                <a:lnTo>
                  <a:pt x="8229600" y="8229600"/>
                </a:lnTo>
                <a:lnTo>
                  <a:pt x="0" y="8229600"/>
                </a:lnTo>
                <a:lnTo>
                  <a:pt x="0" y="0"/>
                </a:lnTo>
                <a:close/>
              </a:path>
            </a:pathLst>
          </a:custGeom>
          <a:blipFill>
            <a:blip r:embed="rId6"/>
            <a:stretch>
              <a:fillRect l="0" t="0" r="0" b="0"/>
            </a:stretch>
          </a:blipFill>
        </p:spPr>
      </p:sp>
      <p:sp>
        <p:nvSpPr>
          <p:cNvPr name="Freeform 5" id="5"/>
          <p:cNvSpPr/>
          <p:nvPr/>
        </p:nvSpPr>
        <p:spPr>
          <a:xfrm flipH="false" flipV="false" rot="6621428">
            <a:off x="-5698100" y="-3688390"/>
            <a:ext cx="10550923" cy="11871643"/>
          </a:xfrm>
          <a:custGeom>
            <a:avLst/>
            <a:gdLst/>
            <a:ahLst/>
            <a:cxnLst/>
            <a:rect r="r" b="b" t="t" l="l"/>
            <a:pathLst>
              <a:path h="11871643" w="10550923">
                <a:moveTo>
                  <a:pt x="0" y="0"/>
                </a:moveTo>
                <a:lnTo>
                  <a:pt x="10550923" y="0"/>
                </a:lnTo>
                <a:lnTo>
                  <a:pt x="10550923" y="11871643"/>
                </a:lnTo>
                <a:lnTo>
                  <a:pt x="0" y="11871643"/>
                </a:lnTo>
                <a:lnTo>
                  <a:pt x="0" y="0"/>
                </a:lnTo>
                <a:close/>
              </a:path>
            </a:pathLst>
          </a:custGeom>
          <a:blipFill>
            <a:blip r:embed="rId7"/>
            <a:stretch>
              <a:fillRect l="0" t="0" r="0" b="0"/>
            </a:stretch>
          </a:blipFill>
        </p:spPr>
      </p:sp>
      <p:sp>
        <p:nvSpPr>
          <p:cNvPr name="Freeform 6" id="6"/>
          <p:cNvSpPr/>
          <p:nvPr/>
        </p:nvSpPr>
        <p:spPr>
          <a:xfrm flipH="false" flipV="false" rot="0">
            <a:off x="5850664" y="-2792995"/>
            <a:ext cx="14097816" cy="8229600"/>
          </a:xfrm>
          <a:custGeom>
            <a:avLst/>
            <a:gdLst/>
            <a:ahLst/>
            <a:cxnLst/>
            <a:rect r="r" b="b" t="t" l="l"/>
            <a:pathLst>
              <a:path h="8229600" w="14097816">
                <a:moveTo>
                  <a:pt x="0" y="0"/>
                </a:moveTo>
                <a:lnTo>
                  <a:pt x="14097815" y="0"/>
                </a:lnTo>
                <a:lnTo>
                  <a:pt x="14097815" y="8229600"/>
                </a:lnTo>
                <a:lnTo>
                  <a:pt x="0" y="8229600"/>
                </a:lnTo>
                <a:lnTo>
                  <a:pt x="0" y="0"/>
                </a:lnTo>
                <a:close/>
              </a:path>
            </a:pathLst>
          </a:custGeom>
          <a:blipFill>
            <a:blip r:embed="rId8">
              <a:alphaModFix amt="70000"/>
            </a:blip>
            <a:stretch>
              <a:fillRect l="0" t="0" r="0" b="0"/>
            </a:stretch>
          </a:blipFill>
        </p:spPr>
      </p:sp>
      <p:sp>
        <p:nvSpPr>
          <p:cNvPr name="TextBox 7" id="7"/>
          <p:cNvSpPr txBox="true"/>
          <p:nvPr/>
        </p:nvSpPr>
        <p:spPr>
          <a:xfrm rot="0">
            <a:off x="4125238" y="3969128"/>
            <a:ext cx="10037524" cy="1467477"/>
          </a:xfrm>
          <a:prstGeom prst="rect">
            <a:avLst/>
          </a:prstGeom>
        </p:spPr>
        <p:txBody>
          <a:bodyPr anchor="t" rtlCol="false" tIns="0" lIns="0" bIns="0" rIns="0">
            <a:spAutoFit/>
          </a:bodyPr>
          <a:lstStyle/>
          <a:p>
            <a:pPr algn="ctr">
              <a:lnSpc>
                <a:spcPts val="12040"/>
              </a:lnSpc>
            </a:pPr>
            <a:r>
              <a:rPr lang="en-US" b="true" sz="8600" spc="335">
                <a:solidFill>
                  <a:srgbClr val="FFFFFF"/>
                </a:solidFill>
                <a:latin typeface="Montserrat Bold"/>
                <a:ea typeface="Montserrat Bold"/>
                <a:cs typeface="Montserrat Bold"/>
                <a:sym typeface="Montserrat Bold"/>
              </a:rPr>
              <a:t>TOKENIZERS</a:t>
            </a:r>
          </a:p>
        </p:txBody>
      </p:sp>
      <p:sp>
        <p:nvSpPr>
          <p:cNvPr name="TextBox 8" id="8"/>
          <p:cNvSpPr txBox="true"/>
          <p:nvPr/>
        </p:nvSpPr>
        <p:spPr>
          <a:xfrm rot="0">
            <a:off x="4359481" y="6048311"/>
            <a:ext cx="9569038" cy="613465"/>
          </a:xfrm>
          <a:prstGeom prst="rect">
            <a:avLst/>
          </a:prstGeom>
        </p:spPr>
        <p:txBody>
          <a:bodyPr anchor="t" rtlCol="false" tIns="0" lIns="0" bIns="0" rIns="0">
            <a:spAutoFit/>
          </a:bodyPr>
          <a:lstStyle/>
          <a:p>
            <a:pPr algn="ctr">
              <a:lnSpc>
                <a:spcPts val="5036"/>
              </a:lnSpc>
            </a:pPr>
            <a:r>
              <a:rPr lang="en-US" b="true" sz="3597" spc="140">
                <a:solidFill>
                  <a:srgbClr val="FFFFFF"/>
                </a:solidFill>
                <a:latin typeface="Montserrat Bold"/>
                <a:ea typeface="Montserrat Bold"/>
                <a:cs typeface="Montserrat Bold"/>
                <a:sym typeface="Montserrat Bold"/>
              </a:rPr>
              <a:t>TOKENLEŞTİRİCİLER</a:t>
            </a:r>
          </a:p>
        </p:txBody>
      </p:sp>
      <p:sp>
        <p:nvSpPr>
          <p:cNvPr name="AutoShape 9" id="9"/>
          <p:cNvSpPr/>
          <p:nvPr/>
        </p:nvSpPr>
        <p:spPr>
          <a:xfrm>
            <a:off x="5380784" y="7132790"/>
            <a:ext cx="7526432" cy="0"/>
          </a:xfrm>
          <a:prstGeom prst="line">
            <a:avLst/>
          </a:prstGeom>
          <a:ln cap="flat" w="19050">
            <a:solidFill>
              <a:srgbClr val="9570FF"/>
            </a:solidFill>
            <a:prstDash val="solid"/>
            <a:headEnd type="none" len="sm" w="sm"/>
            <a:tailEnd type="none" len="sm" w="sm"/>
          </a:ln>
        </p:spPr>
      </p:sp>
      <p:sp>
        <p:nvSpPr>
          <p:cNvPr name="AutoShape 10" id="10"/>
          <p:cNvSpPr/>
          <p:nvPr/>
        </p:nvSpPr>
        <p:spPr>
          <a:xfrm>
            <a:off x="5380784" y="5928622"/>
            <a:ext cx="7526432" cy="0"/>
          </a:xfrm>
          <a:prstGeom prst="line">
            <a:avLst/>
          </a:prstGeom>
          <a:ln cap="flat" w="19050">
            <a:solidFill>
              <a:srgbClr val="9570FF"/>
            </a:solidFill>
            <a:prstDash val="solid"/>
            <a:headEnd type="none" len="sm" w="sm"/>
            <a:tailEnd type="none" len="sm" w="sm"/>
          </a:ln>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1F0034"/>
        </a:solidFill>
      </p:bgPr>
    </p:bg>
    <p:spTree>
      <p:nvGrpSpPr>
        <p:cNvPr id="1" name=""/>
        <p:cNvGrpSpPr/>
        <p:nvPr/>
      </p:nvGrpSpPr>
      <p:grpSpPr>
        <a:xfrm>
          <a:off x="0" y="0"/>
          <a:ext cx="0" cy="0"/>
          <a:chOff x="0" y="0"/>
          <a:chExt cx="0" cy="0"/>
        </a:xfrm>
      </p:grpSpPr>
      <p:sp>
        <p:nvSpPr>
          <p:cNvPr name="Freeform 2" id="2"/>
          <p:cNvSpPr/>
          <p:nvPr/>
        </p:nvSpPr>
        <p:spPr>
          <a:xfrm flipH="false" flipV="false" rot="5469527">
            <a:off x="13777439" y="3645056"/>
            <a:ext cx="10151296" cy="5020035"/>
          </a:xfrm>
          <a:custGeom>
            <a:avLst/>
            <a:gdLst/>
            <a:ahLst/>
            <a:cxnLst/>
            <a:rect r="r" b="b" t="t" l="l"/>
            <a:pathLst>
              <a:path h="5020035" w="10151296">
                <a:moveTo>
                  <a:pt x="0" y="0"/>
                </a:moveTo>
                <a:lnTo>
                  <a:pt x="10151296" y="0"/>
                </a:lnTo>
                <a:lnTo>
                  <a:pt x="10151296" y="5020035"/>
                </a:lnTo>
                <a:lnTo>
                  <a:pt x="0" y="5020035"/>
                </a:lnTo>
                <a:lnTo>
                  <a:pt x="0" y="0"/>
                </a:lnTo>
                <a:close/>
              </a:path>
            </a:pathLst>
          </a:custGeom>
          <a:blipFill>
            <a:blip r:embed="rId2">
              <a:extLst>
                <a:ext uri="{96DAC541-7B7A-43D3-8B79-37D633B846F1}">
                  <asvg:svgBlip xmlns:asvg="http://schemas.microsoft.com/office/drawing/2016/SVG/main" r:embed="rId3"/>
                </a:ext>
              </a:extLst>
            </a:blip>
            <a:stretch>
              <a:fillRect l="0" t="0" r="-134" b="-129447"/>
            </a:stretch>
          </a:blipFill>
        </p:spPr>
      </p:sp>
      <p:sp>
        <p:nvSpPr>
          <p:cNvPr name="Freeform 3" id="3"/>
          <p:cNvSpPr/>
          <p:nvPr/>
        </p:nvSpPr>
        <p:spPr>
          <a:xfrm flipH="false" flipV="false" rot="-5437769">
            <a:off x="-5508075" y="4288992"/>
            <a:ext cx="10908441" cy="5394460"/>
          </a:xfrm>
          <a:custGeom>
            <a:avLst/>
            <a:gdLst/>
            <a:ahLst/>
            <a:cxnLst/>
            <a:rect r="r" b="b" t="t" l="l"/>
            <a:pathLst>
              <a:path h="5394460" w="10908441">
                <a:moveTo>
                  <a:pt x="0" y="0"/>
                </a:moveTo>
                <a:lnTo>
                  <a:pt x="10908441" y="0"/>
                </a:lnTo>
                <a:lnTo>
                  <a:pt x="10908441" y="5394459"/>
                </a:lnTo>
                <a:lnTo>
                  <a:pt x="0" y="5394459"/>
                </a:lnTo>
                <a:lnTo>
                  <a:pt x="0" y="0"/>
                </a:lnTo>
                <a:close/>
              </a:path>
            </a:pathLst>
          </a:custGeom>
          <a:blipFill>
            <a:blip r:embed="rId4">
              <a:extLst>
                <a:ext uri="{96DAC541-7B7A-43D3-8B79-37D633B846F1}">
                  <asvg:svgBlip xmlns:asvg="http://schemas.microsoft.com/office/drawing/2016/SVG/main" r:embed="rId5"/>
                </a:ext>
              </a:extLst>
            </a:blip>
            <a:stretch>
              <a:fillRect l="0" t="0" r="-134" b="-129447"/>
            </a:stretch>
          </a:blipFill>
        </p:spPr>
      </p:sp>
      <p:sp>
        <p:nvSpPr>
          <p:cNvPr name="Freeform 4" id="4"/>
          <p:cNvSpPr/>
          <p:nvPr/>
        </p:nvSpPr>
        <p:spPr>
          <a:xfrm flipH="false" flipV="false" rot="0">
            <a:off x="15824471" y="-2981378"/>
            <a:ext cx="6409034" cy="6409034"/>
          </a:xfrm>
          <a:custGeom>
            <a:avLst/>
            <a:gdLst/>
            <a:ahLst/>
            <a:cxnLst/>
            <a:rect r="r" b="b" t="t" l="l"/>
            <a:pathLst>
              <a:path h="6409034" w="6409034">
                <a:moveTo>
                  <a:pt x="0" y="0"/>
                </a:moveTo>
                <a:lnTo>
                  <a:pt x="6409035" y="0"/>
                </a:lnTo>
                <a:lnTo>
                  <a:pt x="6409035" y="6409035"/>
                </a:lnTo>
                <a:lnTo>
                  <a:pt x="0" y="6409035"/>
                </a:lnTo>
                <a:lnTo>
                  <a:pt x="0" y="0"/>
                </a:lnTo>
                <a:close/>
              </a:path>
            </a:pathLst>
          </a:custGeom>
          <a:blipFill>
            <a:blip r:embed="rId6"/>
            <a:stretch>
              <a:fillRect l="0" t="0" r="0" b="0"/>
            </a:stretch>
          </a:blipFill>
        </p:spPr>
      </p:sp>
      <p:sp>
        <p:nvSpPr>
          <p:cNvPr name="Freeform 5" id="5"/>
          <p:cNvSpPr/>
          <p:nvPr/>
        </p:nvSpPr>
        <p:spPr>
          <a:xfrm flipH="false" flipV="false" rot="7676076">
            <a:off x="-5266249" y="-3327390"/>
            <a:ext cx="8829691" cy="9934955"/>
          </a:xfrm>
          <a:custGeom>
            <a:avLst/>
            <a:gdLst/>
            <a:ahLst/>
            <a:cxnLst/>
            <a:rect r="r" b="b" t="t" l="l"/>
            <a:pathLst>
              <a:path h="9934955" w="8829691">
                <a:moveTo>
                  <a:pt x="0" y="0"/>
                </a:moveTo>
                <a:lnTo>
                  <a:pt x="8829692" y="0"/>
                </a:lnTo>
                <a:lnTo>
                  <a:pt x="8829692" y="9934955"/>
                </a:lnTo>
                <a:lnTo>
                  <a:pt x="0" y="9934955"/>
                </a:lnTo>
                <a:lnTo>
                  <a:pt x="0" y="0"/>
                </a:lnTo>
                <a:close/>
              </a:path>
            </a:pathLst>
          </a:custGeom>
          <a:blipFill>
            <a:blip r:embed="rId7"/>
            <a:stretch>
              <a:fillRect l="0" t="0" r="0" b="0"/>
            </a:stretch>
          </a:blipFill>
        </p:spPr>
      </p:sp>
      <p:sp>
        <p:nvSpPr>
          <p:cNvPr name="Freeform 6" id="6"/>
          <p:cNvSpPr/>
          <p:nvPr/>
        </p:nvSpPr>
        <p:spPr>
          <a:xfrm flipH="false" flipV="false" rot="0">
            <a:off x="9144000" y="-2981378"/>
            <a:ext cx="10979074" cy="6409034"/>
          </a:xfrm>
          <a:custGeom>
            <a:avLst/>
            <a:gdLst/>
            <a:ahLst/>
            <a:cxnLst/>
            <a:rect r="r" b="b" t="t" l="l"/>
            <a:pathLst>
              <a:path h="6409034" w="10979074">
                <a:moveTo>
                  <a:pt x="0" y="0"/>
                </a:moveTo>
                <a:lnTo>
                  <a:pt x="10979074" y="0"/>
                </a:lnTo>
                <a:lnTo>
                  <a:pt x="10979074" y="6409035"/>
                </a:lnTo>
                <a:lnTo>
                  <a:pt x="0" y="6409035"/>
                </a:lnTo>
                <a:lnTo>
                  <a:pt x="0" y="0"/>
                </a:lnTo>
                <a:close/>
              </a:path>
            </a:pathLst>
          </a:custGeom>
          <a:blipFill>
            <a:blip r:embed="rId8">
              <a:alphaModFix amt="70000"/>
            </a:blip>
            <a:stretch>
              <a:fillRect l="0" t="0" r="0" b="0"/>
            </a:stretch>
          </a:blipFill>
        </p:spPr>
      </p:sp>
      <p:sp>
        <p:nvSpPr>
          <p:cNvPr name="TextBox 7" id="7"/>
          <p:cNvSpPr txBox="true"/>
          <p:nvPr/>
        </p:nvSpPr>
        <p:spPr>
          <a:xfrm rot="0">
            <a:off x="2119372" y="3164845"/>
            <a:ext cx="13705099" cy="2395916"/>
          </a:xfrm>
          <a:prstGeom prst="rect">
            <a:avLst/>
          </a:prstGeom>
        </p:spPr>
        <p:txBody>
          <a:bodyPr anchor="t" rtlCol="false" tIns="0" lIns="0" bIns="0" rIns="0">
            <a:spAutoFit/>
          </a:bodyPr>
          <a:lstStyle/>
          <a:p>
            <a:pPr algn="ctr" marL="0" indent="0" lvl="0">
              <a:lnSpc>
                <a:spcPts val="3862"/>
              </a:lnSpc>
              <a:spcBef>
                <a:spcPct val="0"/>
              </a:spcBef>
            </a:pPr>
            <a:r>
              <a:rPr lang="en-US" sz="2439">
                <a:solidFill>
                  <a:srgbClr val="FFFFFF"/>
                </a:solidFill>
                <a:latin typeface="Montserrat Light"/>
                <a:ea typeface="Montserrat Light"/>
                <a:cs typeface="Montserrat Light"/>
                <a:sym typeface="Montserrat Light"/>
              </a:rPr>
              <a:t>Tokenleştiriciler, doğal dil işleme (NLP) işlem hattının temel bileşenlerinden biridir. Tek bir amaca hizmet ederler: metni model tarafından işlenebilecek verilere çevirmek. Modeller yalnızca sayıları işleyebilir, bu nedenle tokenleştiricilerin metin girdilerimizi sayısal verilere dönüştürmesi gerekir. Bu bölümde, tokenleştirme işlem hattında tam olarak neler olduğunu inceleyeceğiz.</a:t>
            </a:r>
          </a:p>
        </p:txBody>
      </p:sp>
      <p:sp>
        <p:nvSpPr>
          <p:cNvPr name="Freeform 8" id="8"/>
          <p:cNvSpPr/>
          <p:nvPr/>
        </p:nvSpPr>
        <p:spPr>
          <a:xfrm flipH="false" flipV="false" rot="0">
            <a:off x="4034394" y="7365529"/>
            <a:ext cx="10219212" cy="1290201"/>
          </a:xfrm>
          <a:custGeom>
            <a:avLst/>
            <a:gdLst/>
            <a:ahLst/>
            <a:cxnLst/>
            <a:rect r="r" b="b" t="t" l="l"/>
            <a:pathLst>
              <a:path h="1290201" w="10219212">
                <a:moveTo>
                  <a:pt x="0" y="0"/>
                </a:moveTo>
                <a:lnTo>
                  <a:pt x="10219212" y="0"/>
                </a:lnTo>
                <a:lnTo>
                  <a:pt x="10219212" y="1290201"/>
                </a:lnTo>
                <a:lnTo>
                  <a:pt x="0" y="1290201"/>
                </a:lnTo>
                <a:lnTo>
                  <a:pt x="0" y="0"/>
                </a:lnTo>
                <a:close/>
              </a:path>
            </a:pathLst>
          </a:custGeom>
          <a:blipFill>
            <a:blip r:embed="rId9"/>
            <a:stretch>
              <a:fillRect l="0" t="0" r="0" b="0"/>
            </a:stretch>
          </a:blipFill>
        </p:spPr>
      </p:sp>
      <p:sp>
        <p:nvSpPr>
          <p:cNvPr name="TextBox 9" id="9"/>
          <p:cNvSpPr txBox="true"/>
          <p:nvPr/>
        </p:nvSpPr>
        <p:spPr>
          <a:xfrm rot="0">
            <a:off x="2291450" y="6069349"/>
            <a:ext cx="13705099" cy="938591"/>
          </a:xfrm>
          <a:prstGeom prst="rect">
            <a:avLst/>
          </a:prstGeom>
        </p:spPr>
        <p:txBody>
          <a:bodyPr anchor="t" rtlCol="false" tIns="0" lIns="0" bIns="0" rIns="0">
            <a:spAutoFit/>
          </a:bodyPr>
          <a:lstStyle/>
          <a:p>
            <a:pPr algn="ctr">
              <a:lnSpc>
                <a:spcPts val="3862"/>
              </a:lnSpc>
            </a:pPr>
            <a:r>
              <a:rPr lang="en-US" sz="2439">
                <a:solidFill>
                  <a:srgbClr val="FFFFFF"/>
                </a:solidFill>
                <a:latin typeface="Montserrat Light"/>
                <a:ea typeface="Montserrat Light"/>
                <a:cs typeface="Montserrat Light"/>
                <a:sym typeface="Montserrat Light"/>
              </a:rPr>
              <a:t>Doğal dil işleme (NLP) görevlerinde genellikle işlenen veri ham metindir. ÖRNEĞİN</a:t>
            </a:r>
          </a:p>
          <a:p>
            <a:pPr algn="ctr" marL="0" indent="0" lvl="0">
              <a:lnSpc>
                <a:spcPts val="3862"/>
              </a:lnSpc>
              <a:spcBef>
                <a:spcPct val="0"/>
              </a:spcBef>
            </a:pP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1F0034"/>
        </a:solidFill>
      </p:bgPr>
    </p:bg>
    <p:spTree>
      <p:nvGrpSpPr>
        <p:cNvPr id="1" name=""/>
        <p:cNvGrpSpPr/>
        <p:nvPr/>
      </p:nvGrpSpPr>
      <p:grpSpPr>
        <a:xfrm>
          <a:off x="0" y="0"/>
          <a:ext cx="0" cy="0"/>
          <a:chOff x="0" y="0"/>
          <a:chExt cx="0" cy="0"/>
        </a:xfrm>
      </p:grpSpPr>
      <p:sp>
        <p:nvSpPr>
          <p:cNvPr name="Freeform 2" id="2"/>
          <p:cNvSpPr/>
          <p:nvPr/>
        </p:nvSpPr>
        <p:spPr>
          <a:xfrm flipH="false" flipV="false" rot="5469527">
            <a:off x="13777439" y="3645056"/>
            <a:ext cx="10151296" cy="5020035"/>
          </a:xfrm>
          <a:custGeom>
            <a:avLst/>
            <a:gdLst/>
            <a:ahLst/>
            <a:cxnLst/>
            <a:rect r="r" b="b" t="t" l="l"/>
            <a:pathLst>
              <a:path h="5020035" w="10151296">
                <a:moveTo>
                  <a:pt x="0" y="0"/>
                </a:moveTo>
                <a:lnTo>
                  <a:pt x="10151296" y="0"/>
                </a:lnTo>
                <a:lnTo>
                  <a:pt x="10151296" y="5020035"/>
                </a:lnTo>
                <a:lnTo>
                  <a:pt x="0" y="5020035"/>
                </a:lnTo>
                <a:lnTo>
                  <a:pt x="0" y="0"/>
                </a:lnTo>
                <a:close/>
              </a:path>
            </a:pathLst>
          </a:custGeom>
          <a:blipFill>
            <a:blip r:embed="rId2">
              <a:extLst>
                <a:ext uri="{96DAC541-7B7A-43D3-8B79-37D633B846F1}">
                  <asvg:svgBlip xmlns:asvg="http://schemas.microsoft.com/office/drawing/2016/SVG/main" r:embed="rId3"/>
                </a:ext>
              </a:extLst>
            </a:blip>
            <a:stretch>
              <a:fillRect l="0" t="0" r="-134" b="-129447"/>
            </a:stretch>
          </a:blipFill>
        </p:spPr>
      </p:sp>
      <p:sp>
        <p:nvSpPr>
          <p:cNvPr name="Freeform 3" id="3"/>
          <p:cNvSpPr/>
          <p:nvPr/>
        </p:nvSpPr>
        <p:spPr>
          <a:xfrm flipH="false" flipV="false" rot="-5437769">
            <a:off x="-5508075" y="4288992"/>
            <a:ext cx="10908441" cy="5394460"/>
          </a:xfrm>
          <a:custGeom>
            <a:avLst/>
            <a:gdLst/>
            <a:ahLst/>
            <a:cxnLst/>
            <a:rect r="r" b="b" t="t" l="l"/>
            <a:pathLst>
              <a:path h="5394460" w="10908441">
                <a:moveTo>
                  <a:pt x="0" y="0"/>
                </a:moveTo>
                <a:lnTo>
                  <a:pt x="10908441" y="0"/>
                </a:lnTo>
                <a:lnTo>
                  <a:pt x="10908441" y="5394459"/>
                </a:lnTo>
                <a:lnTo>
                  <a:pt x="0" y="5394459"/>
                </a:lnTo>
                <a:lnTo>
                  <a:pt x="0" y="0"/>
                </a:lnTo>
                <a:close/>
              </a:path>
            </a:pathLst>
          </a:custGeom>
          <a:blipFill>
            <a:blip r:embed="rId4">
              <a:extLst>
                <a:ext uri="{96DAC541-7B7A-43D3-8B79-37D633B846F1}">
                  <asvg:svgBlip xmlns:asvg="http://schemas.microsoft.com/office/drawing/2016/SVG/main" r:embed="rId5"/>
                </a:ext>
              </a:extLst>
            </a:blip>
            <a:stretch>
              <a:fillRect l="0" t="0" r="-134" b="-129447"/>
            </a:stretch>
          </a:blipFill>
        </p:spPr>
      </p:sp>
      <p:sp>
        <p:nvSpPr>
          <p:cNvPr name="Freeform 4" id="4"/>
          <p:cNvSpPr/>
          <p:nvPr/>
        </p:nvSpPr>
        <p:spPr>
          <a:xfrm flipH="false" flipV="false" rot="0">
            <a:off x="15824471" y="-2981378"/>
            <a:ext cx="6409034" cy="6409034"/>
          </a:xfrm>
          <a:custGeom>
            <a:avLst/>
            <a:gdLst/>
            <a:ahLst/>
            <a:cxnLst/>
            <a:rect r="r" b="b" t="t" l="l"/>
            <a:pathLst>
              <a:path h="6409034" w="6409034">
                <a:moveTo>
                  <a:pt x="0" y="0"/>
                </a:moveTo>
                <a:lnTo>
                  <a:pt x="6409035" y="0"/>
                </a:lnTo>
                <a:lnTo>
                  <a:pt x="6409035" y="6409035"/>
                </a:lnTo>
                <a:lnTo>
                  <a:pt x="0" y="6409035"/>
                </a:lnTo>
                <a:lnTo>
                  <a:pt x="0" y="0"/>
                </a:lnTo>
                <a:close/>
              </a:path>
            </a:pathLst>
          </a:custGeom>
          <a:blipFill>
            <a:blip r:embed="rId6"/>
            <a:stretch>
              <a:fillRect l="0" t="0" r="0" b="0"/>
            </a:stretch>
          </a:blipFill>
        </p:spPr>
      </p:sp>
      <p:sp>
        <p:nvSpPr>
          <p:cNvPr name="Freeform 5" id="5"/>
          <p:cNvSpPr/>
          <p:nvPr/>
        </p:nvSpPr>
        <p:spPr>
          <a:xfrm flipH="false" flipV="false" rot="7676076">
            <a:off x="-5266249" y="-3327390"/>
            <a:ext cx="8829691" cy="9934955"/>
          </a:xfrm>
          <a:custGeom>
            <a:avLst/>
            <a:gdLst/>
            <a:ahLst/>
            <a:cxnLst/>
            <a:rect r="r" b="b" t="t" l="l"/>
            <a:pathLst>
              <a:path h="9934955" w="8829691">
                <a:moveTo>
                  <a:pt x="0" y="0"/>
                </a:moveTo>
                <a:lnTo>
                  <a:pt x="8829692" y="0"/>
                </a:lnTo>
                <a:lnTo>
                  <a:pt x="8829692" y="9934955"/>
                </a:lnTo>
                <a:lnTo>
                  <a:pt x="0" y="9934955"/>
                </a:lnTo>
                <a:lnTo>
                  <a:pt x="0" y="0"/>
                </a:lnTo>
                <a:close/>
              </a:path>
            </a:pathLst>
          </a:custGeom>
          <a:blipFill>
            <a:blip r:embed="rId7"/>
            <a:stretch>
              <a:fillRect l="0" t="0" r="0" b="0"/>
            </a:stretch>
          </a:blipFill>
        </p:spPr>
      </p:sp>
      <p:sp>
        <p:nvSpPr>
          <p:cNvPr name="Freeform 6" id="6"/>
          <p:cNvSpPr/>
          <p:nvPr/>
        </p:nvSpPr>
        <p:spPr>
          <a:xfrm flipH="false" flipV="false" rot="0">
            <a:off x="9144000" y="-2415716"/>
            <a:ext cx="10979074" cy="6409034"/>
          </a:xfrm>
          <a:custGeom>
            <a:avLst/>
            <a:gdLst/>
            <a:ahLst/>
            <a:cxnLst/>
            <a:rect r="r" b="b" t="t" l="l"/>
            <a:pathLst>
              <a:path h="6409034" w="10979074">
                <a:moveTo>
                  <a:pt x="0" y="0"/>
                </a:moveTo>
                <a:lnTo>
                  <a:pt x="10979074" y="0"/>
                </a:lnTo>
                <a:lnTo>
                  <a:pt x="10979074" y="6409035"/>
                </a:lnTo>
                <a:lnTo>
                  <a:pt x="0" y="6409035"/>
                </a:lnTo>
                <a:lnTo>
                  <a:pt x="0" y="0"/>
                </a:lnTo>
                <a:close/>
              </a:path>
            </a:pathLst>
          </a:custGeom>
          <a:blipFill>
            <a:blip r:embed="rId8">
              <a:alphaModFix amt="70000"/>
            </a:blip>
            <a:stretch>
              <a:fillRect l="0" t="0" r="0" b="0"/>
            </a:stretch>
          </a:blipFill>
        </p:spPr>
      </p:sp>
      <p:sp>
        <p:nvSpPr>
          <p:cNvPr name="AutoShape 7" id="7"/>
          <p:cNvSpPr/>
          <p:nvPr/>
        </p:nvSpPr>
        <p:spPr>
          <a:xfrm>
            <a:off x="7917277" y="4840976"/>
            <a:ext cx="2453446" cy="0"/>
          </a:xfrm>
          <a:prstGeom prst="line">
            <a:avLst/>
          </a:prstGeom>
          <a:ln cap="flat" w="19050">
            <a:solidFill>
              <a:srgbClr val="EA9267"/>
            </a:solidFill>
            <a:prstDash val="solid"/>
            <a:headEnd type="none" len="sm" w="sm"/>
            <a:tailEnd type="none" len="sm" w="sm"/>
          </a:ln>
        </p:spPr>
      </p:sp>
      <p:sp>
        <p:nvSpPr>
          <p:cNvPr name="TextBox 8" id="8"/>
          <p:cNvSpPr txBox="true"/>
          <p:nvPr/>
        </p:nvSpPr>
        <p:spPr>
          <a:xfrm rot="0">
            <a:off x="3298379" y="5452402"/>
            <a:ext cx="11691242" cy="2395916"/>
          </a:xfrm>
          <a:prstGeom prst="rect">
            <a:avLst/>
          </a:prstGeom>
        </p:spPr>
        <p:txBody>
          <a:bodyPr anchor="t" rtlCol="false" tIns="0" lIns="0" bIns="0" rIns="0">
            <a:spAutoFit/>
          </a:bodyPr>
          <a:lstStyle/>
          <a:p>
            <a:pPr algn="ctr" marL="0" indent="0" lvl="0">
              <a:lnSpc>
                <a:spcPts val="3862"/>
              </a:lnSpc>
              <a:spcBef>
                <a:spcPct val="0"/>
              </a:spcBef>
            </a:pPr>
            <a:r>
              <a:rPr lang="en-US" sz="2439">
                <a:solidFill>
                  <a:srgbClr val="FFFFFF"/>
                </a:solidFill>
                <a:latin typeface="Montserrat Light"/>
                <a:ea typeface="Montserrat Light"/>
                <a:cs typeface="Montserrat Light"/>
                <a:sym typeface="Montserrat Light"/>
              </a:rPr>
              <a:t>Ancak modeller yalnızca sayıları işleyebilir, bu nedenle ham metni sayılara dönüştürmenin bir yolunu bulmamız gerekiyor. </a:t>
            </a:r>
            <a:r>
              <a:rPr lang="en-US" b="true" sz="2439">
                <a:solidFill>
                  <a:srgbClr val="FFFFFF"/>
                </a:solidFill>
                <a:latin typeface="Montserrat Bold"/>
                <a:ea typeface="Montserrat Bold"/>
                <a:cs typeface="Montserrat Bold"/>
                <a:sym typeface="Montserrat Bold"/>
              </a:rPr>
              <a:t>Tokenleştiriciler tam olarak bunu yapar </a:t>
            </a:r>
            <a:r>
              <a:rPr lang="en-US" sz="2439">
                <a:solidFill>
                  <a:srgbClr val="FFFFFF"/>
                </a:solidFill>
                <a:latin typeface="Montserrat Light"/>
                <a:ea typeface="Montserrat Light"/>
                <a:cs typeface="Montserrat Light"/>
                <a:sym typeface="Montserrat Light"/>
              </a:rPr>
              <a:t>ve bunu yapmanın birçok yolu vardır. Amaç, en anlamlı gösterimi -yani model için en mantıklı olanı- ve mümkünse en küçük gösterimi bulmaktır.</a:t>
            </a:r>
          </a:p>
        </p:txBody>
      </p:sp>
      <p:sp>
        <p:nvSpPr>
          <p:cNvPr name="TextBox 9" id="9"/>
          <p:cNvSpPr txBox="true"/>
          <p:nvPr/>
        </p:nvSpPr>
        <p:spPr>
          <a:xfrm rot="0">
            <a:off x="4637356" y="2237897"/>
            <a:ext cx="9013288" cy="1755422"/>
          </a:xfrm>
          <a:prstGeom prst="rect">
            <a:avLst/>
          </a:prstGeom>
        </p:spPr>
        <p:txBody>
          <a:bodyPr anchor="t" rtlCol="false" tIns="0" lIns="0" bIns="0" rIns="0">
            <a:spAutoFit/>
          </a:bodyPr>
          <a:lstStyle/>
          <a:p>
            <a:pPr algn="ctr">
              <a:lnSpc>
                <a:spcPts val="6944"/>
              </a:lnSpc>
            </a:pPr>
            <a:r>
              <a:rPr lang="en-US" b="true" sz="5555" spc="216">
                <a:solidFill>
                  <a:srgbClr val="EA9267"/>
                </a:solidFill>
                <a:latin typeface="Montserrat Bold"/>
                <a:ea typeface="Montserrat Bold"/>
                <a:cs typeface="Montserrat Bold"/>
                <a:sym typeface="Montserrat Bold"/>
              </a:rPr>
              <a:t>TOOKENIZERS TAM OLARAK NE YAPAR?</a:t>
            </a:r>
          </a:p>
        </p:txBody>
      </p:sp>
      <p:sp>
        <p:nvSpPr>
          <p:cNvPr name="TextBox 10" id="10"/>
          <p:cNvSpPr txBox="true"/>
          <p:nvPr/>
        </p:nvSpPr>
        <p:spPr>
          <a:xfrm rot="0">
            <a:off x="3298379" y="8483024"/>
            <a:ext cx="11691242" cy="452816"/>
          </a:xfrm>
          <a:prstGeom prst="rect">
            <a:avLst/>
          </a:prstGeom>
        </p:spPr>
        <p:txBody>
          <a:bodyPr anchor="t" rtlCol="false" tIns="0" lIns="0" bIns="0" rIns="0">
            <a:spAutoFit/>
          </a:bodyPr>
          <a:lstStyle/>
          <a:p>
            <a:pPr algn="ctr" marL="0" indent="0" lvl="0">
              <a:lnSpc>
                <a:spcPts val="3862"/>
              </a:lnSpc>
              <a:spcBef>
                <a:spcPct val="0"/>
              </a:spcBef>
            </a:pPr>
            <a:r>
              <a:rPr lang="en-US" sz="2439">
                <a:solidFill>
                  <a:srgbClr val="FFFFFF"/>
                </a:solidFill>
                <a:latin typeface="Montserrat Light"/>
                <a:ea typeface="Montserrat Light"/>
                <a:cs typeface="Montserrat Light"/>
                <a:sym typeface="Montserrat Light"/>
              </a:rPr>
              <a:t>O halde bazı tookenizer algoritmalarını inceleyelim ...</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1F0034"/>
        </a:solidFill>
      </p:bgPr>
    </p:bg>
    <p:spTree>
      <p:nvGrpSpPr>
        <p:cNvPr id="1" name=""/>
        <p:cNvGrpSpPr/>
        <p:nvPr/>
      </p:nvGrpSpPr>
      <p:grpSpPr>
        <a:xfrm>
          <a:off x="0" y="0"/>
          <a:ext cx="0" cy="0"/>
          <a:chOff x="0" y="0"/>
          <a:chExt cx="0" cy="0"/>
        </a:xfrm>
      </p:grpSpPr>
      <p:sp>
        <p:nvSpPr>
          <p:cNvPr name="Freeform 2" id="2"/>
          <p:cNvSpPr/>
          <p:nvPr/>
        </p:nvSpPr>
        <p:spPr>
          <a:xfrm flipH="false" flipV="false" rot="-1466913">
            <a:off x="458922" y="2966242"/>
            <a:ext cx="20477644" cy="14641516"/>
          </a:xfrm>
          <a:custGeom>
            <a:avLst/>
            <a:gdLst/>
            <a:ahLst/>
            <a:cxnLst/>
            <a:rect r="r" b="b" t="t" l="l"/>
            <a:pathLst>
              <a:path h="14641516" w="20477644">
                <a:moveTo>
                  <a:pt x="0" y="0"/>
                </a:moveTo>
                <a:lnTo>
                  <a:pt x="20477645" y="0"/>
                </a:lnTo>
                <a:lnTo>
                  <a:pt x="20477645" y="14641516"/>
                </a:lnTo>
                <a:lnTo>
                  <a:pt x="0" y="146415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1028862" y="925196"/>
            <a:ext cx="1639632" cy="0"/>
          </a:xfrm>
          <a:prstGeom prst="line">
            <a:avLst/>
          </a:prstGeom>
          <a:ln cap="flat" w="19050">
            <a:solidFill>
              <a:srgbClr val="FFFFFF"/>
            </a:solidFill>
            <a:prstDash val="solid"/>
            <a:headEnd type="none" len="sm" w="sm"/>
            <a:tailEnd type="none" len="sm" w="sm"/>
          </a:ln>
        </p:spPr>
      </p:sp>
      <p:sp>
        <p:nvSpPr>
          <p:cNvPr name="Freeform 4" id="4"/>
          <p:cNvSpPr/>
          <p:nvPr/>
        </p:nvSpPr>
        <p:spPr>
          <a:xfrm flipH="false" flipV="false" rot="0">
            <a:off x="14131841" y="-1915390"/>
            <a:ext cx="10020822" cy="8229600"/>
          </a:xfrm>
          <a:custGeom>
            <a:avLst/>
            <a:gdLst/>
            <a:ahLst/>
            <a:cxnLst/>
            <a:rect r="r" b="b" t="t" l="l"/>
            <a:pathLst>
              <a:path h="8229600" w="10020822">
                <a:moveTo>
                  <a:pt x="0" y="0"/>
                </a:moveTo>
                <a:lnTo>
                  <a:pt x="10020822" y="0"/>
                </a:lnTo>
                <a:lnTo>
                  <a:pt x="10020822" y="8229600"/>
                </a:lnTo>
                <a:lnTo>
                  <a:pt x="0" y="8229600"/>
                </a:lnTo>
                <a:lnTo>
                  <a:pt x="0" y="0"/>
                </a:lnTo>
                <a:close/>
              </a:path>
            </a:pathLst>
          </a:custGeom>
          <a:blipFill>
            <a:blip r:embed="rId4"/>
            <a:stretch>
              <a:fillRect l="0" t="0" r="0" b="0"/>
            </a:stretch>
          </a:blipFill>
        </p:spPr>
      </p:sp>
      <p:sp>
        <p:nvSpPr>
          <p:cNvPr name="Freeform 5" id="5"/>
          <p:cNvSpPr/>
          <p:nvPr/>
        </p:nvSpPr>
        <p:spPr>
          <a:xfrm flipH="false" flipV="false" rot="0">
            <a:off x="1028862" y="4203739"/>
            <a:ext cx="12978673" cy="4220940"/>
          </a:xfrm>
          <a:custGeom>
            <a:avLst/>
            <a:gdLst/>
            <a:ahLst/>
            <a:cxnLst/>
            <a:rect r="r" b="b" t="t" l="l"/>
            <a:pathLst>
              <a:path h="4220940" w="12978673">
                <a:moveTo>
                  <a:pt x="0" y="0"/>
                </a:moveTo>
                <a:lnTo>
                  <a:pt x="12978673" y="0"/>
                </a:lnTo>
                <a:lnTo>
                  <a:pt x="12978673" y="4220941"/>
                </a:lnTo>
                <a:lnTo>
                  <a:pt x="0" y="4220941"/>
                </a:lnTo>
                <a:lnTo>
                  <a:pt x="0" y="0"/>
                </a:lnTo>
                <a:close/>
              </a:path>
            </a:pathLst>
          </a:custGeom>
          <a:blipFill>
            <a:blip r:embed="rId5"/>
            <a:stretch>
              <a:fillRect l="0" t="0" r="0" b="0"/>
            </a:stretch>
          </a:blipFill>
        </p:spPr>
      </p:sp>
      <p:sp>
        <p:nvSpPr>
          <p:cNvPr name="TextBox 6" id="6"/>
          <p:cNvSpPr txBox="true"/>
          <p:nvPr/>
        </p:nvSpPr>
        <p:spPr>
          <a:xfrm rot="0">
            <a:off x="1028862" y="1083300"/>
            <a:ext cx="15788204" cy="1726141"/>
          </a:xfrm>
          <a:prstGeom prst="rect">
            <a:avLst/>
          </a:prstGeom>
        </p:spPr>
        <p:txBody>
          <a:bodyPr anchor="t" rtlCol="false" tIns="0" lIns="0" bIns="0" rIns="0">
            <a:spAutoFit/>
          </a:bodyPr>
          <a:lstStyle/>
          <a:p>
            <a:pPr algn="l">
              <a:lnSpc>
                <a:spcPts val="6983"/>
              </a:lnSpc>
            </a:pPr>
            <a:r>
              <a:rPr lang="en-US" b="true" sz="4988" spc="194">
                <a:solidFill>
                  <a:srgbClr val="EA9267"/>
                </a:solidFill>
                <a:latin typeface="Montserrat Bold"/>
                <a:ea typeface="Montserrat Bold"/>
                <a:cs typeface="Montserrat Bold"/>
                <a:sym typeface="Montserrat Bold"/>
              </a:rPr>
              <a:t>KELIME TABANLI</a:t>
            </a:r>
          </a:p>
          <a:p>
            <a:pPr algn="l">
              <a:lnSpc>
                <a:spcPts val="6983"/>
              </a:lnSpc>
            </a:pPr>
          </a:p>
        </p:txBody>
      </p:sp>
      <p:sp>
        <p:nvSpPr>
          <p:cNvPr name="TextBox 7" id="7"/>
          <p:cNvSpPr txBox="true"/>
          <p:nvPr/>
        </p:nvSpPr>
        <p:spPr>
          <a:xfrm rot="0">
            <a:off x="1028862" y="2161310"/>
            <a:ext cx="14435144" cy="1243497"/>
          </a:xfrm>
          <a:prstGeom prst="rect">
            <a:avLst/>
          </a:prstGeom>
        </p:spPr>
        <p:txBody>
          <a:bodyPr anchor="t" rtlCol="false" tIns="0" lIns="0" bIns="0" rIns="0">
            <a:spAutoFit/>
          </a:bodyPr>
          <a:lstStyle/>
          <a:p>
            <a:pPr algn="l" marL="0" indent="0" lvl="0">
              <a:lnSpc>
                <a:spcPts val="3383"/>
              </a:lnSpc>
              <a:spcBef>
                <a:spcPct val="0"/>
              </a:spcBef>
            </a:pPr>
            <a:r>
              <a:rPr lang="en-US" sz="2137">
                <a:solidFill>
                  <a:srgbClr val="FFFFFF"/>
                </a:solidFill>
                <a:latin typeface="Montserrat Light"/>
                <a:ea typeface="Montserrat Light"/>
                <a:cs typeface="Montserrat Light"/>
                <a:sym typeface="Montserrat Light"/>
              </a:rPr>
              <a:t>Akla ilk gelen tokenizasyon türü kelime tabanlı olanıdır . Genellikle kurulumu ve kullanımı çok kolaydır, sadece birkaç kural gerektirir ve çoğu zaman tatmin edici sonuçlar verir. Örneğin, aşağıdaki resimde amaç, ham metni kelimelere ayırmak ve her biri için sayısal bir karşılık bulmaktır:</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1F0034"/>
        </a:solidFill>
      </p:bgPr>
    </p:bg>
    <p:spTree>
      <p:nvGrpSpPr>
        <p:cNvPr id="1" name=""/>
        <p:cNvGrpSpPr/>
        <p:nvPr/>
      </p:nvGrpSpPr>
      <p:grpSpPr>
        <a:xfrm>
          <a:off x="0" y="0"/>
          <a:ext cx="0" cy="0"/>
          <a:chOff x="0" y="0"/>
          <a:chExt cx="0" cy="0"/>
        </a:xfrm>
      </p:grpSpPr>
      <p:sp>
        <p:nvSpPr>
          <p:cNvPr name="Freeform 2" id="2"/>
          <p:cNvSpPr/>
          <p:nvPr/>
        </p:nvSpPr>
        <p:spPr>
          <a:xfrm flipH="false" flipV="false" rot="0">
            <a:off x="-523690" y="6012206"/>
            <a:ext cx="10926020" cy="9273459"/>
          </a:xfrm>
          <a:custGeom>
            <a:avLst/>
            <a:gdLst/>
            <a:ahLst/>
            <a:cxnLst/>
            <a:rect r="r" b="b" t="t" l="l"/>
            <a:pathLst>
              <a:path h="9273459" w="10926020">
                <a:moveTo>
                  <a:pt x="0" y="0"/>
                </a:moveTo>
                <a:lnTo>
                  <a:pt x="10926019" y="0"/>
                </a:lnTo>
                <a:lnTo>
                  <a:pt x="10926019" y="9273459"/>
                </a:lnTo>
                <a:lnTo>
                  <a:pt x="0" y="9273459"/>
                </a:lnTo>
                <a:lnTo>
                  <a:pt x="0" y="0"/>
                </a:lnTo>
                <a:close/>
              </a:path>
            </a:pathLst>
          </a:custGeom>
          <a:blipFill>
            <a:blip r:embed="rId2"/>
            <a:stretch>
              <a:fillRect l="0" t="0" r="0" b="0"/>
            </a:stretch>
          </a:blipFill>
        </p:spPr>
      </p:sp>
      <p:sp>
        <p:nvSpPr>
          <p:cNvPr name="AutoShape 3" id="3"/>
          <p:cNvSpPr/>
          <p:nvPr/>
        </p:nvSpPr>
        <p:spPr>
          <a:xfrm>
            <a:off x="1028700" y="1372363"/>
            <a:ext cx="1603721" cy="0"/>
          </a:xfrm>
          <a:prstGeom prst="line">
            <a:avLst/>
          </a:prstGeom>
          <a:ln cap="flat" w="19050">
            <a:solidFill>
              <a:srgbClr val="FFFFFF"/>
            </a:solidFill>
            <a:prstDash val="solid"/>
            <a:headEnd type="none" len="sm" w="sm"/>
            <a:tailEnd type="none" len="sm" w="sm"/>
          </a:ln>
        </p:spPr>
      </p:sp>
      <p:sp>
        <p:nvSpPr>
          <p:cNvPr name="Freeform 4" id="4"/>
          <p:cNvSpPr/>
          <p:nvPr/>
        </p:nvSpPr>
        <p:spPr>
          <a:xfrm flipH="false" flipV="false" rot="0">
            <a:off x="13278610" y="-1588578"/>
            <a:ext cx="6726874" cy="5902832"/>
          </a:xfrm>
          <a:custGeom>
            <a:avLst/>
            <a:gdLst/>
            <a:ahLst/>
            <a:cxnLst/>
            <a:rect r="r" b="b" t="t" l="l"/>
            <a:pathLst>
              <a:path h="5902832" w="6726874">
                <a:moveTo>
                  <a:pt x="0" y="0"/>
                </a:moveTo>
                <a:lnTo>
                  <a:pt x="6726874" y="0"/>
                </a:lnTo>
                <a:lnTo>
                  <a:pt x="6726874" y="5902832"/>
                </a:lnTo>
                <a:lnTo>
                  <a:pt x="0" y="590283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3823" y="5143500"/>
            <a:ext cx="8088313" cy="7367105"/>
          </a:xfrm>
          <a:custGeom>
            <a:avLst/>
            <a:gdLst/>
            <a:ahLst/>
            <a:cxnLst/>
            <a:rect r="r" b="b" t="t" l="l"/>
            <a:pathLst>
              <a:path h="7367105" w="8088313">
                <a:moveTo>
                  <a:pt x="0" y="0"/>
                </a:moveTo>
                <a:lnTo>
                  <a:pt x="8088313" y="0"/>
                </a:lnTo>
                <a:lnTo>
                  <a:pt x="8088313" y="7367105"/>
                </a:lnTo>
                <a:lnTo>
                  <a:pt x="0" y="736710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pic>
        <p:nvPicPr>
          <p:cNvPr name="Picture 6" id="6">
            <a:hlinkClick action="ppaction://media"/>
          </p:cNvPr>
          <p:cNvPicPr>
            <a:picLocks noChangeAspect="true"/>
          </p:cNvPicPr>
          <p:nvPr>
            <a:videoFile r:link="rId8"/>
            <p:extLst>
              <p:ext uri="{DAA4B4D4-6D71-4841-9C94-3DE7FCFB9230}">
                <p14:media xmlns:p14="http://schemas.microsoft.com/office/powerpoint/2010/main" r:embed="rId9"/>
              </p:ext>
            </p:extLst>
          </p:nvPr>
        </p:nvPicPr>
        <p:blipFill>
          <a:blip r:embed="rId7"/>
          <a:srcRect l="0" t="0" r="0" b="0"/>
          <a:stretch>
            <a:fillRect/>
          </a:stretch>
        </p:blipFill>
        <p:spPr>
          <a:xfrm flipH="false" flipV="false" rot="0">
            <a:off x="1028700" y="4146488"/>
            <a:ext cx="16230600" cy="3731436"/>
          </a:xfrm>
          <a:prstGeom prst="rect">
            <a:avLst/>
          </a:prstGeom>
        </p:spPr>
      </p:pic>
      <p:sp>
        <p:nvSpPr>
          <p:cNvPr name="TextBox 7" id="7"/>
          <p:cNvSpPr txBox="true"/>
          <p:nvPr/>
        </p:nvSpPr>
        <p:spPr>
          <a:xfrm rot="0">
            <a:off x="1028700" y="1848234"/>
            <a:ext cx="16230600" cy="1632402"/>
          </a:xfrm>
          <a:prstGeom prst="rect">
            <a:avLst/>
          </a:prstGeom>
        </p:spPr>
        <p:txBody>
          <a:bodyPr anchor="t" rtlCol="false" tIns="0" lIns="0" bIns="0" rIns="0">
            <a:spAutoFit/>
          </a:bodyPr>
          <a:lstStyle/>
          <a:p>
            <a:pPr algn="l">
              <a:lnSpc>
                <a:spcPts val="3309"/>
              </a:lnSpc>
            </a:pPr>
            <a:r>
              <a:rPr lang="en-US" sz="2090">
                <a:solidFill>
                  <a:srgbClr val="FFFFFF"/>
                </a:solidFill>
                <a:latin typeface="Montserrat Light"/>
                <a:ea typeface="Montserrat Light"/>
                <a:cs typeface="Montserrat Light"/>
                <a:sym typeface="Montserrat Light"/>
              </a:rPr>
              <a:t>Metni bölmenin farklı yolları vardır. Örneğin, Python'ın fonksiyonunu kullanarak metni kelimelere ayırmak için boşluklardan yararlanabiliriz split():</a:t>
            </a:r>
          </a:p>
          <a:p>
            <a:pPr algn="l" marL="0" indent="0" lvl="0">
              <a:lnSpc>
                <a:spcPts val="3309"/>
              </a:lnSpc>
              <a:spcBef>
                <a:spcPct val="0"/>
              </a:spcBef>
            </a:pPr>
            <a:r>
              <a:rPr lang="en-US" sz="2090">
                <a:solidFill>
                  <a:srgbClr val="FFFFFF"/>
                </a:solidFill>
                <a:latin typeface="Montserrat Light"/>
                <a:ea typeface="Montserrat Light"/>
                <a:cs typeface="Montserrat Light"/>
                <a:sym typeface="Montserrat Light"/>
              </a:rPr>
              <a:t>Her kelimeye, 0'dan başlayıp kelime dağarcığının büyüklüğüne kadar giden bir kimlik numarası atanır. Model, her kelimeyi tanımlamak için bu kimlik numaralarını kullanır.</a:t>
            </a:r>
          </a:p>
        </p:txBody>
      </p:sp>
    </p:spTree>
  </p:cSld>
  <p:clrMapOvr>
    <a:masterClrMapping/>
  </p:clrMapOvr>
  <p:timing>
    <p:tnLst>
      <p:par>
        <p:cTn dur="indefinite" restart="never" nodeType="tmRoot">
          <p:childTnLst>
            <p:video>
              <p:cMediaNode vol="100000">
                <p:cTn fill="hold" display="false">
                  <p:stCondLst>
                    <p:cond delay="indefinite"/>
                  </p:stCondLst>
                </p:cTn>
                <p:tgtEl>
                  <p:spTgt spid="6"/>
                </p:tgtEl>
              </p:cMediaNode>
            </p:video>
          </p:childTnLst>
        </p:cTn>
      </p:par>
    </p:tnLst>
  </p:timing>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1F0034"/>
        </a:solidFill>
      </p:bgPr>
    </p:bg>
    <p:spTree>
      <p:nvGrpSpPr>
        <p:cNvPr id="1" name=""/>
        <p:cNvGrpSpPr/>
        <p:nvPr/>
      </p:nvGrpSpPr>
      <p:grpSpPr>
        <a:xfrm>
          <a:off x="0" y="0"/>
          <a:ext cx="0" cy="0"/>
          <a:chOff x="0" y="0"/>
          <a:chExt cx="0" cy="0"/>
        </a:xfrm>
      </p:grpSpPr>
      <p:sp>
        <p:nvSpPr>
          <p:cNvPr name="Freeform 2" id="2"/>
          <p:cNvSpPr/>
          <p:nvPr/>
        </p:nvSpPr>
        <p:spPr>
          <a:xfrm flipH="false" flipV="false" rot="0">
            <a:off x="-523690" y="6012206"/>
            <a:ext cx="10926020" cy="9273459"/>
          </a:xfrm>
          <a:custGeom>
            <a:avLst/>
            <a:gdLst/>
            <a:ahLst/>
            <a:cxnLst/>
            <a:rect r="r" b="b" t="t" l="l"/>
            <a:pathLst>
              <a:path h="9273459" w="10926020">
                <a:moveTo>
                  <a:pt x="0" y="0"/>
                </a:moveTo>
                <a:lnTo>
                  <a:pt x="10926019" y="0"/>
                </a:lnTo>
                <a:lnTo>
                  <a:pt x="10926019" y="9273459"/>
                </a:lnTo>
                <a:lnTo>
                  <a:pt x="0" y="9273459"/>
                </a:lnTo>
                <a:lnTo>
                  <a:pt x="0" y="0"/>
                </a:lnTo>
                <a:close/>
              </a:path>
            </a:pathLst>
          </a:custGeom>
          <a:blipFill>
            <a:blip r:embed="rId2"/>
            <a:stretch>
              <a:fillRect l="0" t="0" r="0" b="0"/>
            </a:stretch>
          </a:blipFill>
        </p:spPr>
      </p:sp>
      <p:sp>
        <p:nvSpPr>
          <p:cNvPr name="AutoShape 3" id="3"/>
          <p:cNvSpPr/>
          <p:nvPr/>
        </p:nvSpPr>
        <p:spPr>
          <a:xfrm>
            <a:off x="1028700" y="1372363"/>
            <a:ext cx="1603721" cy="0"/>
          </a:xfrm>
          <a:prstGeom prst="line">
            <a:avLst/>
          </a:prstGeom>
          <a:ln cap="flat" w="19050">
            <a:solidFill>
              <a:srgbClr val="FFFFFF"/>
            </a:solidFill>
            <a:prstDash val="solid"/>
            <a:headEnd type="none" len="sm" w="sm"/>
            <a:tailEnd type="none" len="sm" w="sm"/>
          </a:ln>
        </p:spPr>
      </p:sp>
      <p:sp>
        <p:nvSpPr>
          <p:cNvPr name="Freeform 4" id="4"/>
          <p:cNvSpPr/>
          <p:nvPr/>
        </p:nvSpPr>
        <p:spPr>
          <a:xfrm flipH="false" flipV="false" rot="0">
            <a:off x="13278610" y="-1588578"/>
            <a:ext cx="6726874" cy="5902832"/>
          </a:xfrm>
          <a:custGeom>
            <a:avLst/>
            <a:gdLst/>
            <a:ahLst/>
            <a:cxnLst/>
            <a:rect r="r" b="b" t="t" l="l"/>
            <a:pathLst>
              <a:path h="5902832" w="6726874">
                <a:moveTo>
                  <a:pt x="0" y="0"/>
                </a:moveTo>
                <a:lnTo>
                  <a:pt x="6726874" y="0"/>
                </a:lnTo>
                <a:lnTo>
                  <a:pt x="6726874" y="5902832"/>
                </a:lnTo>
                <a:lnTo>
                  <a:pt x="0" y="590283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3823" y="5143500"/>
            <a:ext cx="8088313" cy="7367105"/>
          </a:xfrm>
          <a:custGeom>
            <a:avLst/>
            <a:gdLst/>
            <a:ahLst/>
            <a:cxnLst/>
            <a:rect r="r" b="b" t="t" l="l"/>
            <a:pathLst>
              <a:path h="7367105" w="8088313">
                <a:moveTo>
                  <a:pt x="0" y="0"/>
                </a:moveTo>
                <a:lnTo>
                  <a:pt x="8088313" y="0"/>
                </a:lnTo>
                <a:lnTo>
                  <a:pt x="8088313" y="7367105"/>
                </a:lnTo>
                <a:lnTo>
                  <a:pt x="0" y="736710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1028700" y="1848234"/>
            <a:ext cx="12897740" cy="1632402"/>
          </a:xfrm>
          <a:prstGeom prst="rect">
            <a:avLst/>
          </a:prstGeom>
        </p:spPr>
        <p:txBody>
          <a:bodyPr anchor="t" rtlCol="false" tIns="0" lIns="0" bIns="0" rIns="0">
            <a:spAutoFit/>
          </a:bodyPr>
          <a:lstStyle/>
          <a:p>
            <a:pPr algn="l" marL="0" indent="0" lvl="0">
              <a:lnSpc>
                <a:spcPts val="3309"/>
              </a:lnSpc>
              <a:spcBef>
                <a:spcPct val="0"/>
              </a:spcBef>
            </a:pPr>
            <a:r>
              <a:rPr lang="en-US" sz="2090">
                <a:solidFill>
                  <a:srgbClr val="FFFFFF"/>
                </a:solidFill>
                <a:latin typeface="Montserrat Light"/>
                <a:ea typeface="Montserrat Light"/>
                <a:cs typeface="Montserrat Light"/>
                <a:sym typeface="Montserrat Light"/>
              </a:rPr>
              <a:t>Bir dili kelime tabanlı bir belirteçleyici ile tamamen kapsamak istiyorsak, dildeki her kelime için bir tanımlayıcıya ihtiyacımız olacak ve bu da çok büyük miktarda belirteç üretecektir. Örneğin, İngilizce'de 500.000'den fazla kelime vardır, bu nedenle her kelimeyi bir giriş kimliğine eşlemek için bu kadar çok kimliği takip etmemiz gerekecektir.</a:t>
            </a:r>
          </a:p>
        </p:txBody>
      </p:sp>
      <p:sp>
        <p:nvSpPr>
          <p:cNvPr name="TextBox 7" id="7"/>
          <p:cNvSpPr txBox="true"/>
          <p:nvPr/>
        </p:nvSpPr>
        <p:spPr>
          <a:xfrm rot="0">
            <a:off x="1028700" y="3892120"/>
            <a:ext cx="12897740" cy="1632402"/>
          </a:xfrm>
          <a:prstGeom prst="rect">
            <a:avLst/>
          </a:prstGeom>
        </p:spPr>
        <p:txBody>
          <a:bodyPr anchor="t" rtlCol="false" tIns="0" lIns="0" bIns="0" rIns="0">
            <a:spAutoFit/>
          </a:bodyPr>
          <a:lstStyle/>
          <a:p>
            <a:pPr algn="l" marL="0" indent="0" lvl="0">
              <a:lnSpc>
                <a:spcPts val="3309"/>
              </a:lnSpc>
              <a:spcBef>
                <a:spcPct val="0"/>
              </a:spcBef>
            </a:pPr>
            <a:r>
              <a:rPr lang="en-US" sz="2090">
                <a:solidFill>
                  <a:srgbClr val="FFFFFF"/>
                </a:solidFill>
                <a:latin typeface="Montserrat Light"/>
                <a:ea typeface="Montserrat Light"/>
                <a:cs typeface="Montserrat Light"/>
                <a:sym typeface="Montserrat Light"/>
              </a:rPr>
              <a:t>Son olarak, kelime dağarcığımızda olmayan kelimeleri temsil etmek için özel bir belirtece ihtiyacımız var. Bu, genellikle "[UNK]" veya "&lt;unk&gt;" olarak gösterilen "bilinmeyen" belirteç olarak bilinir. Belirteçleyici çok sayıda bu tür belirteç üretiyorsa, bu genellikle kötü bir işarettir, çünkü kelimenin anlamlı bir temsilini elde edememiştir ve bu süreçte bilgi kaybı yaşanmaktadır. </a:t>
            </a:r>
          </a:p>
        </p:txBody>
      </p:sp>
      <p:sp>
        <p:nvSpPr>
          <p:cNvPr name="TextBox 8" id="8"/>
          <p:cNvSpPr txBox="true"/>
          <p:nvPr/>
        </p:nvSpPr>
        <p:spPr>
          <a:xfrm rot="0">
            <a:off x="1028700" y="5936006"/>
            <a:ext cx="12897740" cy="803461"/>
          </a:xfrm>
          <a:prstGeom prst="rect">
            <a:avLst/>
          </a:prstGeom>
        </p:spPr>
        <p:txBody>
          <a:bodyPr anchor="t" rtlCol="false" tIns="0" lIns="0" bIns="0" rIns="0">
            <a:spAutoFit/>
          </a:bodyPr>
          <a:lstStyle/>
          <a:p>
            <a:pPr algn="l" marL="0" indent="0" lvl="0">
              <a:lnSpc>
                <a:spcPts val="3309"/>
              </a:lnSpc>
              <a:spcBef>
                <a:spcPct val="0"/>
              </a:spcBef>
            </a:pPr>
            <a:r>
              <a:rPr lang="en-US" sz="2090">
                <a:solidFill>
                  <a:srgbClr val="FFFFFF"/>
                </a:solidFill>
                <a:latin typeface="Montserrat Light"/>
                <a:ea typeface="Montserrat Light"/>
                <a:cs typeface="Montserrat Light"/>
                <a:sym typeface="Montserrat Light"/>
              </a:rPr>
              <a:t>Bilinmeyen belirteçlerin sayısını azaltmanın bir yolu, karakter tabanlı bir belirteçleyici kullanarak bir seviye daha derine inmek olabilir.</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1F0034"/>
        </a:solidFill>
      </p:bgPr>
    </p:bg>
    <p:spTree>
      <p:nvGrpSpPr>
        <p:cNvPr id="1" name=""/>
        <p:cNvGrpSpPr/>
        <p:nvPr/>
      </p:nvGrpSpPr>
      <p:grpSpPr>
        <a:xfrm>
          <a:off x="0" y="0"/>
          <a:ext cx="0" cy="0"/>
          <a:chOff x="0" y="0"/>
          <a:chExt cx="0" cy="0"/>
        </a:xfrm>
      </p:grpSpPr>
      <p:sp>
        <p:nvSpPr>
          <p:cNvPr name="Freeform 2" id="2"/>
          <p:cNvSpPr/>
          <p:nvPr/>
        </p:nvSpPr>
        <p:spPr>
          <a:xfrm flipH="false" flipV="false" rot="-1466913">
            <a:off x="458922" y="2966242"/>
            <a:ext cx="20477644" cy="14641516"/>
          </a:xfrm>
          <a:custGeom>
            <a:avLst/>
            <a:gdLst/>
            <a:ahLst/>
            <a:cxnLst/>
            <a:rect r="r" b="b" t="t" l="l"/>
            <a:pathLst>
              <a:path h="14641516" w="20477644">
                <a:moveTo>
                  <a:pt x="0" y="0"/>
                </a:moveTo>
                <a:lnTo>
                  <a:pt x="20477645" y="0"/>
                </a:lnTo>
                <a:lnTo>
                  <a:pt x="20477645" y="14641516"/>
                </a:lnTo>
                <a:lnTo>
                  <a:pt x="0" y="146415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1028862" y="925196"/>
            <a:ext cx="1639632" cy="0"/>
          </a:xfrm>
          <a:prstGeom prst="line">
            <a:avLst/>
          </a:prstGeom>
          <a:ln cap="flat" w="19050">
            <a:solidFill>
              <a:srgbClr val="FFFFFF"/>
            </a:solidFill>
            <a:prstDash val="solid"/>
            <a:headEnd type="none" len="sm" w="sm"/>
            <a:tailEnd type="none" len="sm" w="sm"/>
          </a:ln>
        </p:spPr>
      </p:sp>
      <p:sp>
        <p:nvSpPr>
          <p:cNvPr name="Freeform 4" id="4"/>
          <p:cNvSpPr/>
          <p:nvPr/>
        </p:nvSpPr>
        <p:spPr>
          <a:xfrm flipH="false" flipV="false" rot="0">
            <a:off x="14131841" y="-1915390"/>
            <a:ext cx="10020822" cy="8229600"/>
          </a:xfrm>
          <a:custGeom>
            <a:avLst/>
            <a:gdLst/>
            <a:ahLst/>
            <a:cxnLst/>
            <a:rect r="r" b="b" t="t" l="l"/>
            <a:pathLst>
              <a:path h="8229600" w="10020822">
                <a:moveTo>
                  <a:pt x="0" y="0"/>
                </a:moveTo>
                <a:lnTo>
                  <a:pt x="10020822" y="0"/>
                </a:lnTo>
                <a:lnTo>
                  <a:pt x="10020822" y="8229600"/>
                </a:lnTo>
                <a:lnTo>
                  <a:pt x="0" y="8229600"/>
                </a:lnTo>
                <a:lnTo>
                  <a:pt x="0" y="0"/>
                </a:lnTo>
                <a:close/>
              </a:path>
            </a:pathLst>
          </a:custGeom>
          <a:blipFill>
            <a:blip r:embed="rId4"/>
            <a:stretch>
              <a:fillRect l="0" t="0" r="0" b="0"/>
            </a:stretch>
          </a:blipFill>
        </p:spPr>
      </p:sp>
      <p:sp>
        <p:nvSpPr>
          <p:cNvPr name="Freeform 5" id="5"/>
          <p:cNvSpPr/>
          <p:nvPr/>
        </p:nvSpPr>
        <p:spPr>
          <a:xfrm flipH="false" flipV="false" rot="0">
            <a:off x="1028700" y="5595090"/>
            <a:ext cx="15788366" cy="1070398"/>
          </a:xfrm>
          <a:custGeom>
            <a:avLst/>
            <a:gdLst/>
            <a:ahLst/>
            <a:cxnLst/>
            <a:rect r="r" b="b" t="t" l="l"/>
            <a:pathLst>
              <a:path h="1070398" w="15788366">
                <a:moveTo>
                  <a:pt x="0" y="0"/>
                </a:moveTo>
                <a:lnTo>
                  <a:pt x="15788366" y="0"/>
                </a:lnTo>
                <a:lnTo>
                  <a:pt x="15788366" y="1070397"/>
                </a:lnTo>
                <a:lnTo>
                  <a:pt x="0" y="1070397"/>
                </a:lnTo>
                <a:lnTo>
                  <a:pt x="0" y="0"/>
                </a:lnTo>
                <a:close/>
              </a:path>
            </a:pathLst>
          </a:custGeom>
          <a:blipFill>
            <a:blip r:embed="rId5"/>
            <a:stretch>
              <a:fillRect l="0" t="0" r="0" b="0"/>
            </a:stretch>
          </a:blipFill>
        </p:spPr>
      </p:sp>
      <p:sp>
        <p:nvSpPr>
          <p:cNvPr name="TextBox 6" id="6"/>
          <p:cNvSpPr txBox="true"/>
          <p:nvPr/>
        </p:nvSpPr>
        <p:spPr>
          <a:xfrm rot="0">
            <a:off x="1028862" y="1083300"/>
            <a:ext cx="15788204" cy="1726141"/>
          </a:xfrm>
          <a:prstGeom prst="rect">
            <a:avLst/>
          </a:prstGeom>
        </p:spPr>
        <p:txBody>
          <a:bodyPr anchor="t" rtlCol="false" tIns="0" lIns="0" bIns="0" rIns="0">
            <a:spAutoFit/>
          </a:bodyPr>
          <a:lstStyle/>
          <a:p>
            <a:pPr algn="l">
              <a:lnSpc>
                <a:spcPts val="6983"/>
              </a:lnSpc>
            </a:pPr>
            <a:r>
              <a:rPr lang="en-US" b="true" sz="4988" spc="194">
                <a:solidFill>
                  <a:srgbClr val="EA9267"/>
                </a:solidFill>
                <a:latin typeface="Montserrat Bold"/>
                <a:ea typeface="Montserrat Bold"/>
                <a:cs typeface="Montserrat Bold"/>
                <a:sym typeface="Montserrat Bold"/>
              </a:rPr>
              <a:t>KARAKTER TABANLI</a:t>
            </a:r>
          </a:p>
          <a:p>
            <a:pPr algn="l">
              <a:lnSpc>
                <a:spcPts val="6983"/>
              </a:lnSpc>
            </a:pPr>
          </a:p>
        </p:txBody>
      </p:sp>
      <p:sp>
        <p:nvSpPr>
          <p:cNvPr name="TextBox 7" id="7"/>
          <p:cNvSpPr txBox="true"/>
          <p:nvPr/>
        </p:nvSpPr>
        <p:spPr>
          <a:xfrm rot="0">
            <a:off x="1028862" y="2398337"/>
            <a:ext cx="14435144" cy="2514751"/>
          </a:xfrm>
          <a:prstGeom prst="rect">
            <a:avLst/>
          </a:prstGeom>
        </p:spPr>
        <p:txBody>
          <a:bodyPr anchor="t" rtlCol="false" tIns="0" lIns="0" bIns="0" rIns="0">
            <a:spAutoFit/>
          </a:bodyPr>
          <a:lstStyle/>
          <a:p>
            <a:pPr algn="l">
              <a:lnSpc>
                <a:spcPts val="3383"/>
              </a:lnSpc>
            </a:pPr>
            <a:r>
              <a:rPr lang="en-US" sz="2137">
                <a:solidFill>
                  <a:srgbClr val="FFFFFF"/>
                </a:solidFill>
                <a:latin typeface="Montserrat Light"/>
                <a:ea typeface="Montserrat Light"/>
                <a:cs typeface="Montserrat Light"/>
                <a:sym typeface="Montserrat Light"/>
              </a:rPr>
              <a:t>Karakter tabanlı belirteçleyiciler, metni kelimeler yerine karakterlere ayırır. Bunun iki temel avantajı vardır:</a:t>
            </a:r>
          </a:p>
          <a:p>
            <a:pPr algn="l" marL="461424" indent="-230712" lvl="1">
              <a:lnSpc>
                <a:spcPts val="3383"/>
              </a:lnSpc>
              <a:buFont typeface="Arial"/>
              <a:buChar char="•"/>
            </a:pPr>
            <a:r>
              <a:rPr lang="en-US" sz="2137">
                <a:solidFill>
                  <a:srgbClr val="FFFFFF"/>
                </a:solidFill>
                <a:latin typeface="Montserrat Light"/>
                <a:ea typeface="Montserrat Light"/>
                <a:cs typeface="Montserrat Light"/>
                <a:sym typeface="Montserrat Light"/>
              </a:rPr>
              <a:t>Kelime dağarcığı çok daha sınırlı.</a:t>
            </a:r>
          </a:p>
          <a:p>
            <a:pPr algn="l" marL="461424" indent="-230712" lvl="1">
              <a:lnSpc>
                <a:spcPts val="3383"/>
              </a:lnSpc>
              <a:buFont typeface="Arial"/>
              <a:buChar char="•"/>
            </a:pPr>
            <a:r>
              <a:rPr lang="en-US" sz="2137">
                <a:solidFill>
                  <a:srgbClr val="FFFFFF"/>
                </a:solidFill>
                <a:latin typeface="Montserrat Light"/>
                <a:ea typeface="Montserrat Light"/>
                <a:cs typeface="Montserrat Light"/>
                <a:sym typeface="Montserrat Light"/>
              </a:rPr>
              <a:t>Her kelime karakterlerden oluşturulabildiği için, sözlük dışı (bilinmeyen) kelimelerin sayısı çok daha azdır.</a:t>
            </a:r>
          </a:p>
          <a:p>
            <a:pPr algn="l" marL="0" indent="0" lvl="0">
              <a:lnSpc>
                <a:spcPts val="3383"/>
              </a:lnSpc>
              <a:spcBef>
                <a:spcPct val="0"/>
              </a:spcBef>
            </a:pPr>
            <a:r>
              <a:rPr lang="en-US" sz="2137">
                <a:solidFill>
                  <a:srgbClr val="FFFFFF"/>
                </a:solidFill>
                <a:latin typeface="Montserrat Light"/>
                <a:ea typeface="Montserrat Light"/>
                <a:cs typeface="Montserrat Light"/>
                <a:sym typeface="Montserrat Light"/>
              </a:rPr>
              <a:t>Ancak burada da boşluklar ve noktalama işaretleriyle ilgili bazı sorular ortaya çıkıyor:</a:t>
            </a:r>
          </a:p>
          <a:p>
            <a:pPr algn="l" marL="0" indent="0" lvl="0">
              <a:lnSpc>
                <a:spcPts val="3383"/>
              </a:lnSpc>
              <a:spcBef>
                <a:spcPct val="0"/>
              </a:spcBef>
            </a:pPr>
          </a:p>
        </p:txBody>
      </p:sp>
      <p:sp>
        <p:nvSpPr>
          <p:cNvPr name="TextBox 8" id="8"/>
          <p:cNvSpPr txBox="true"/>
          <p:nvPr/>
        </p:nvSpPr>
        <p:spPr>
          <a:xfrm rot="0">
            <a:off x="1028862" y="7275087"/>
            <a:ext cx="14435144" cy="1667249"/>
          </a:xfrm>
          <a:prstGeom prst="rect">
            <a:avLst/>
          </a:prstGeom>
        </p:spPr>
        <p:txBody>
          <a:bodyPr anchor="t" rtlCol="false" tIns="0" lIns="0" bIns="0" rIns="0">
            <a:spAutoFit/>
          </a:bodyPr>
          <a:lstStyle/>
          <a:p>
            <a:pPr algn="l" marL="0" indent="0" lvl="0">
              <a:lnSpc>
                <a:spcPts val="3383"/>
              </a:lnSpc>
              <a:spcBef>
                <a:spcPct val="0"/>
              </a:spcBef>
            </a:pPr>
            <a:r>
              <a:rPr lang="en-US" sz="2137">
                <a:solidFill>
                  <a:srgbClr val="FFFFFF"/>
                </a:solidFill>
                <a:latin typeface="Montserrat Light"/>
                <a:ea typeface="Montserrat Light"/>
                <a:cs typeface="Montserrat Light"/>
                <a:sym typeface="Montserrat Light"/>
              </a:rPr>
              <a:t>Bu yaklaşım da mükemmel değil. Temsil artık kelimeler yerine karakterlere dayandığı için, sezgisel olarak daha az anlamlı olduğu söylenebilir: her karakter kendi başına çok fazla anlam ifade etmezken, kelimelerde durum böyle değildir. Ancak bu da dile göre değişir; örneğin Çincede her karakter, Latin dillerindeki bir karakterden daha fazla bilgi taşır.</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1F0034"/>
        </a:solidFill>
      </p:bgPr>
    </p:bg>
    <p:spTree>
      <p:nvGrpSpPr>
        <p:cNvPr id="1" name=""/>
        <p:cNvGrpSpPr/>
        <p:nvPr/>
      </p:nvGrpSpPr>
      <p:grpSpPr>
        <a:xfrm>
          <a:off x="0" y="0"/>
          <a:ext cx="0" cy="0"/>
          <a:chOff x="0" y="0"/>
          <a:chExt cx="0" cy="0"/>
        </a:xfrm>
      </p:grpSpPr>
      <p:sp>
        <p:nvSpPr>
          <p:cNvPr name="Freeform 2" id="2"/>
          <p:cNvSpPr/>
          <p:nvPr/>
        </p:nvSpPr>
        <p:spPr>
          <a:xfrm flipH="false" flipV="false" rot="-1466913">
            <a:off x="458922" y="2966242"/>
            <a:ext cx="20477644" cy="14641516"/>
          </a:xfrm>
          <a:custGeom>
            <a:avLst/>
            <a:gdLst/>
            <a:ahLst/>
            <a:cxnLst/>
            <a:rect r="r" b="b" t="t" l="l"/>
            <a:pathLst>
              <a:path h="14641516" w="20477644">
                <a:moveTo>
                  <a:pt x="0" y="0"/>
                </a:moveTo>
                <a:lnTo>
                  <a:pt x="20477645" y="0"/>
                </a:lnTo>
                <a:lnTo>
                  <a:pt x="20477645" y="14641516"/>
                </a:lnTo>
                <a:lnTo>
                  <a:pt x="0" y="146415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1028862" y="925196"/>
            <a:ext cx="1639632" cy="0"/>
          </a:xfrm>
          <a:prstGeom prst="line">
            <a:avLst/>
          </a:prstGeom>
          <a:ln cap="flat" w="19050">
            <a:solidFill>
              <a:srgbClr val="FFFFFF"/>
            </a:solidFill>
            <a:prstDash val="solid"/>
            <a:headEnd type="none" len="sm" w="sm"/>
            <a:tailEnd type="none" len="sm" w="sm"/>
          </a:ln>
        </p:spPr>
      </p:sp>
      <p:sp>
        <p:nvSpPr>
          <p:cNvPr name="Freeform 4" id="4"/>
          <p:cNvSpPr/>
          <p:nvPr/>
        </p:nvSpPr>
        <p:spPr>
          <a:xfrm flipH="false" flipV="false" rot="0">
            <a:off x="14131841" y="-1915390"/>
            <a:ext cx="10020822" cy="8229600"/>
          </a:xfrm>
          <a:custGeom>
            <a:avLst/>
            <a:gdLst/>
            <a:ahLst/>
            <a:cxnLst/>
            <a:rect r="r" b="b" t="t" l="l"/>
            <a:pathLst>
              <a:path h="8229600" w="10020822">
                <a:moveTo>
                  <a:pt x="0" y="0"/>
                </a:moveTo>
                <a:lnTo>
                  <a:pt x="10020822" y="0"/>
                </a:lnTo>
                <a:lnTo>
                  <a:pt x="10020822" y="8229600"/>
                </a:lnTo>
                <a:lnTo>
                  <a:pt x="0" y="8229600"/>
                </a:lnTo>
                <a:lnTo>
                  <a:pt x="0" y="0"/>
                </a:lnTo>
                <a:close/>
              </a:path>
            </a:pathLst>
          </a:custGeom>
          <a:blipFill>
            <a:blip r:embed="rId4"/>
            <a:stretch>
              <a:fillRect l="0" t="0" r="0" b="0"/>
            </a:stretch>
          </a:blipFill>
        </p:spPr>
      </p:sp>
      <p:sp>
        <p:nvSpPr>
          <p:cNvPr name="TextBox 5" id="5"/>
          <p:cNvSpPr txBox="true"/>
          <p:nvPr/>
        </p:nvSpPr>
        <p:spPr>
          <a:xfrm rot="0">
            <a:off x="1028700" y="3695031"/>
            <a:ext cx="14435144" cy="1667249"/>
          </a:xfrm>
          <a:prstGeom prst="rect">
            <a:avLst/>
          </a:prstGeom>
        </p:spPr>
        <p:txBody>
          <a:bodyPr anchor="t" rtlCol="false" tIns="0" lIns="0" bIns="0" rIns="0">
            <a:spAutoFit/>
          </a:bodyPr>
          <a:lstStyle/>
          <a:p>
            <a:pPr algn="l">
              <a:lnSpc>
                <a:spcPts val="3383"/>
              </a:lnSpc>
            </a:pPr>
            <a:r>
              <a:rPr lang="en-US" sz="2137">
                <a:solidFill>
                  <a:srgbClr val="FFFFFF"/>
                </a:solidFill>
                <a:latin typeface="Montserrat Light"/>
                <a:ea typeface="Montserrat Light"/>
                <a:cs typeface="Montserrat Light"/>
                <a:sym typeface="Montserrat Light"/>
              </a:rPr>
              <a:t>İşte bir alt kelime tokenizasyon algoritmasının "Let's do tokenization!" dizisini nasıl tokenize edeceğini gösteren bir örnek:</a:t>
            </a:r>
          </a:p>
          <a:p>
            <a:pPr algn="l">
              <a:lnSpc>
                <a:spcPts val="3383"/>
              </a:lnSpc>
            </a:pPr>
          </a:p>
          <a:p>
            <a:pPr algn="l" marL="0" indent="0" lvl="0">
              <a:lnSpc>
                <a:spcPts val="3383"/>
              </a:lnSpc>
              <a:spcBef>
                <a:spcPct val="0"/>
              </a:spcBef>
            </a:pPr>
          </a:p>
        </p:txBody>
      </p:sp>
      <p:sp>
        <p:nvSpPr>
          <p:cNvPr name="Freeform 6" id="6"/>
          <p:cNvSpPr/>
          <p:nvPr/>
        </p:nvSpPr>
        <p:spPr>
          <a:xfrm flipH="false" flipV="false" rot="0">
            <a:off x="1581537" y="5380084"/>
            <a:ext cx="14152008" cy="934126"/>
          </a:xfrm>
          <a:custGeom>
            <a:avLst/>
            <a:gdLst/>
            <a:ahLst/>
            <a:cxnLst/>
            <a:rect r="r" b="b" t="t" l="l"/>
            <a:pathLst>
              <a:path h="934126" w="14152008">
                <a:moveTo>
                  <a:pt x="0" y="0"/>
                </a:moveTo>
                <a:lnTo>
                  <a:pt x="14152008" y="0"/>
                </a:lnTo>
                <a:lnTo>
                  <a:pt x="14152008" y="934126"/>
                </a:lnTo>
                <a:lnTo>
                  <a:pt x="0" y="934126"/>
                </a:lnTo>
                <a:lnTo>
                  <a:pt x="0" y="0"/>
                </a:lnTo>
                <a:close/>
              </a:path>
            </a:pathLst>
          </a:custGeom>
          <a:blipFill>
            <a:blip r:embed="rId5"/>
            <a:stretch>
              <a:fillRect l="0" t="0" r="0" b="0"/>
            </a:stretch>
          </a:blipFill>
        </p:spPr>
      </p:sp>
      <p:sp>
        <p:nvSpPr>
          <p:cNvPr name="TextBox 7" id="7"/>
          <p:cNvSpPr txBox="true"/>
          <p:nvPr/>
        </p:nvSpPr>
        <p:spPr>
          <a:xfrm rot="0">
            <a:off x="1028862" y="1083300"/>
            <a:ext cx="15788204" cy="1726141"/>
          </a:xfrm>
          <a:prstGeom prst="rect">
            <a:avLst/>
          </a:prstGeom>
        </p:spPr>
        <p:txBody>
          <a:bodyPr anchor="t" rtlCol="false" tIns="0" lIns="0" bIns="0" rIns="0">
            <a:spAutoFit/>
          </a:bodyPr>
          <a:lstStyle/>
          <a:p>
            <a:pPr algn="l">
              <a:lnSpc>
                <a:spcPts val="6983"/>
              </a:lnSpc>
            </a:pPr>
            <a:r>
              <a:rPr lang="en-US" b="true" sz="4988" spc="194">
                <a:solidFill>
                  <a:srgbClr val="EA9267"/>
                </a:solidFill>
                <a:latin typeface="Montserrat Bold"/>
                <a:ea typeface="Montserrat Bold"/>
                <a:cs typeface="Montserrat Bold"/>
                <a:sym typeface="Montserrat Bold"/>
              </a:rPr>
              <a:t>ALT KELIME BELIRTEÇLEME</a:t>
            </a:r>
          </a:p>
          <a:p>
            <a:pPr algn="l">
              <a:lnSpc>
                <a:spcPts val="6983"/>
              </a:lnSpc>
            </a:pPr>
          </a:p>
        </p:txBody>
      </p:sp>
      <p:sp>
        <p:nvSpPr>
          <p:cNvPr name="TextBox 8" id="8"/>
          <p:cNvSpPr txBox="true"/>
          <p:nvPr/>
        </p:nvSpPr>
        <p:spPr>
          <a:xfrm rot="0">
            <a:off x="1028862" y="2398337"/>
            <a:ext cx="14435144" cy="819746"/>
          </a:xfrm>
          <a:prstGeom prst="rect">
            <a:avLst/>
          </a:prstGeom>
        </p:spPr>
        <p:txBody>
          <a:bodyPr anchor="t" rtlCol="false" tIns="0" lIns="0" bIns="0" rIns="0">
            <a:spAutoFit/>
          </a:bodyPr>
          <a:lstStyle/>
          <a:p>
            <a:pPr algn="l" marL="0" indent="0" lvl="0">
              <a:lnSpc>
                <a:spcPts val="3383"/>
              </a:lnSpc>
              <a:spcBef>
                <a:spcPct val="0"/>
              </a:spcBef>
            </a:pPr>
            <a:r>
              <a:rPr lang="en-US" sz="2137">
                <a:solidFill>
                  <a:srgbClr val="FFFFFF"/>
                </a:solidFill>
                <a:latin typeface="Montserrat Light"/>
                <a:ea typeface="Montserrat Light"/>
                <a:cs typeface="Montserrat Light"/>
                <a:sym typeface="Montserrat Light"/>
              </a:rPr>
              <a:t>Alt kelime tokenizasyon algoritmaları, sık kullanılan kelimelerin daha küçük alt kelimelere bölünmemesi, ancak nadir kullanılan kelimelerin anlamlı alt kelimelere ayrıştırılması gerektiği ilkesine dayanır.</a:t>
            </a:r>
          </a:p>
        </p:txBody>
      </p:sp>
      <p:sp>
        <p:nvSpPr>
          <p:cNvPr name="TextBox 9" id="9"/>
          <p:cNvSpPr txBox="true"/>
          <p:nvPr/>
        </p:nvSpPr>
        <p:spPr>
          <a:xfrm rot="0">
            <a:off x="1028862" y="6959050"/>
            <a:ext cx="14435144" cy="1243497"/>
          </a:xfrm>
          <a:prstGeom prst="rect">
            <a:avLst/>
          </a:prstGeom>
        </p:spPr>
        <p:txBody>
          <a:bodyPr anchor="t" rtlCol="false" tIns="0" lIns="0" bIns="0" rIns="0">
            <a:spAutoFit/>
          </a:bodyPr>
          <a:lstStyle/>
          <a:p>
            <a:pPr algn="l" marL="0" indent="0" lvl="0">
              <a:lnSpc>
                <a:spcPts val="3383"/>
              </a:lnSpc>
              <a:spcBef>
                <a:spcPct val="0"/>
              </a:spcBef>
            </a:pPr>
            <a:r>
              <a:rPr lang="en-US" sz="2137">
                <a:solidFill>
                  <a:srgbClr val="FFFFFF"/>
                </a:solidFill>
                <a:latin typeface="Montserrat Light"/>
                <a:ea typeface="Montserrat Light"/>
                <a:cs typeface="Montserrat Light"/>
                <a:sym typeface="Montserrat Light"/>
              </a:rPr>
              <a:t>Bu alt kelimeler sonuçta çok fazla anlamsal anlam sağlıyor: örneğin, yukarıdaki örnekte "tokenizasyon" "token" ve "ization" olmak üzere iki token'a ayrıldı; bu iki token hem anlamsal anlam taşıyor hem de yer tasarrufu sağlıyor (uzun bir kelimeyi temsil etmek için sadece iki token gerekiyor).</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1F0034"/>
        </a:solidFill>
      </p:bgPr>
    </p:bg>
    <p:spTree>
      <p:nvGrpSpPr>
        <p:cNvPr id="1" name=""/>
        <p:cNvGrpSpPr/>
        <p:nvPr/>
      </p:nvGrpSpPr>
      <p:grpSpPr>
        <a:xfrm>
          <a:off x="0" y="0"/>
          <a:ext cx="0" cy="0"/>
          <a:chOff x="0" y="0"/>
          <a:chExt cx="0" cy="0"/>
        </a:xfrm>
      </p:grpSpPr>
      <p:sp>
        <p:nvSpPr>
          <p:cNvPr name="Freeform 2" id="2"/>
          <p:cNvSpPr/>
          <p:nvPr/>
        </p:nvSpPr>
        <p:spPr>
          <a:xfrm flipH="false" flipV="false" rot="-1466913">
            <a:off x="458922" y="2966242"/>
            <a:ext cx="20477644" cy="14641516"/>
          </a:xfrm>
          <a:custGeom>
            <a:avLst/>
            <a:gdLst/>
            <a:ahLst/>
            <a:cxnLst/>
            <a:rect r="r" b="b" t="t" l="l"/>
            <a:pathLst>
              <a:path h="14641516" w="20477644">
                <a:moveTo>
                  <a:pt x="0" y="0"/>
                </a:moveTo>
                <a:lnTo>
                  <a:pt x="20477645" y="0"/>
                </a:lnTo>
                <a:lnTo>
                  <a:pt x="20477645" y="14641516"/>
                </a:lnTo>
                <a:lnTo>
                  <a:pt x="0" y="146415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131841" y="-1915390"/>
            <a:ext cx="10020822" cy="8229600"/>
          </a:xfrm>
          <a:custGeom>
            <a:avLst/>
            <a:gdLst/>
            <a:ahLst/>
            <a:cxnLst/>
            <a:rect r="r" b="b" t="t" l="l"/>
            <a:pathLst>
              <a:path h="8229600" w="10020822">
                <a:moveTo>
                  <a:pt x="0" y="0"/>
                </a:moveTo>
                <a:lnTo>
                  <a:pt x="10020822" y="0"/>
                </a:lnTo>
                <a:lnTo>
                  <a:pt x="10020822" y="8229600"/>
                </a:lnTo>
                <a:lnTo>
                  <a:pt x="0" y="8229600"/>
                </a:lnTo>
                <a:lnTo>
                  <a:pt x="0" y="0"/>
                </a:lnTo>
                <a:close/>
              </a:path>
            </a:pathLst>
          </a:custGeom>
          <a:blipFill>
            <a:blip r:embed="rId4"/>
            <a:stretch>
              <a:fillRect l="0" t="0" r="0" b="0"/>
            </a:stretch>
          </a:blipFill>
        </p:spPr>
      </p:sp>
      <p:sp>
        <p:nvSpPr>
          <p:cNvPr name="TextBox 4" id="4"/>
          <p:cNvSpPr txBox="true"/>
          <p:nvPr/>
        </p:nvSpPr>
        <p:spPr>
          <a:xfrm rot="0">
            <a:off x="1028862" y="1687158"/>
            <a:ext cx="15788204" cy="1726141"/>
          </a:xfrm>
          <a:prstGeom prst="rect">
            <a:avLst/>
          </a:prstGeom>
        </p:spPr>
        <p:txBody>
          <a:bodyPr anchor="t" rtlCol="false" tIns="0" lIns="0" bIns="0" rIns="0">
            <a:spAutoFit/>
          </a:bodyPr>
          <a:lstStyle/>
          <a:p>
            <a:pPr algn="l">
              <a:lnSpc>
                <a:spcPts val="6983"/>
              </a:lnSpc>
            </a:pPr>
            <a:r>
              <a:rPr lang="en-US" b="true" sz="4988" spc="194">
                <a:solidFill>
                  <a:srgbClr val="EA9267"/>
                </a:solidFill>
                <a:latin typeface="Montserrat Bold"/>
                <a:ea typeface="Montserrat Bold"/>
                <a:cs typeface="Montserrat Bold"/>
                <a:sym typeface="Montserrat Bold"/>
              </a:rPr>
              <a:t>VE DAHASI!</a:t>
            </a:r>
          </a:p>
          <a:p>
            <a:pPr algn="l">
              <a:lnSpc>
                <a:spcPts val="6983"/>
              </a:lnSpc>
            </a:pPr>
          </a:p>
        </p:txBody>
      </p:sp>
      <p:sp>
        <p:nvSpPr>
          <p:cNvPr name="TextBox 5" id="5"/>
          <p:cNvSpPr txBox="true"/>
          <p:nvPr/>
        </p:nvSpPr>
        <p:spPr>
          <a:xfrm rot="0">
            <a:off x="1028700" y="3337099"/>
            <a:ext cx="14435144" cy="2514751"/>
          </a:xfrm>
          <a:prstGeom prst="rect">
            <a:avLst/>
          </a:prstGeom>
        </p:spPr>
        <p:txBody>
          <a:bodyPr anchor="t" rtlCol="false" tIns="0" lIns="0" bIns="0" rIns="0">
            <a:spAutoFit/>
          </a:bodyPr>
          <a:lstStyle/>
          <a:p>
            <a:pPr algn="l">
              <a:lnSpc>
                <a:spcPts val="3383"/>
              </a:lnSpc>
            </a:pPr>
            <a:r>
              <a:rPr lang="en-US" sz="2137">
                <a:solidFill>
                  <a:srgbClr val="FFFFFF"/>
                </a:solidFill>
                <a:latin typeface="Montserrat Light"/>
                <a:ea typeface="Montserrat Light"/>
                <a:cs typeface="Montserrat Light"/>
                <a:sym typeface="Montserrat Light"/>
              </a:rPr>
              <a:t>Tahmin edilebileceği gibi, daha birçok teknik mevcut. Bunlardan birkaçını şöyle sıralayabiliriz:</a:t>
            </a:r>
          </a:p>
          <a:p>
            <a:pPr algn="l" marL="461424" indent="-230712" lvl="1">
              <a:lnSpc>
                <a:spcPts val="3383"/>
              </a:lnSpc>
              <a:buFont typeface="Arial"/>
              <a:buChar char="•"/>
            </a:pPr>
            <a:r>
              <a:rPr lang="en-US" sz="2137">
                <a:solidFill>
                  <a:srgbClr val="FFFFFF"/>
                </a:solidFill>
                <a:latin typeface="Montserrat Light"/>
                <a:ea typeface="Montserrat Light"/>
                <a:cs typeface="Montserrat Light"/>
                <a:sym typeface="Montserrat Light"/>
              </a:rPr>
              <a:t>GPT-2'de kullanılan bayt düzeyinde BPE.</a:t>
            </a:r>
          </a:p>
          <a:p>
            <a:pPr algn="l" marL="461424" indent="-230712" lvl="1">
              <a:lnSpc>
                <a:spcPts val="3383"/>
              </a:lnSpc>
              <a:buFont typeface="Arial"/>
              <a:buChar char="•"/>
            </a:pPr>
            <a:r>
              <a:rPr lang="en-US" sz="2137">
                <a:solidFill>
                  <a:srgbClr val="FFFFFF"/>
                </a:solidFill>
                <a:latin typeface="Montserrat Light"/>
                <a:ea typeface="Montserrat Light"/>
                <a:cs typeface="Montserrat Light"/>
                <a:sym typeface="Montserrat Light"/>
              </a:rPr>
              <a:t>BERT'te kullanılan WordPiece</a:t>
            </a:r>
          </a:p>
          <a:p>
            <a:pPr algn="l" marL="461424" indent="-230712" lvl="1">
              <a:lnSpc>
                <a:spcPts val="3383"/>
              </a:lnSpc>
              <a:buFont typeface="Arial"/>
              <a:buChar char="•"/>
            </a:pPr>
            <a:r>
              <a:rPr lang="en-US" sz="2137">
                <a:solidFill>
                  <a:srgbClr val="FFFFFF"/>
                </a:solidFill>
                <a:latin typeface="Montserrat Light"/>
                <a:ea typeface="Montserrat Light"/>
                <a:cs typeface="Montserrat Light"/>
                <a:sym typeface="Montserrat Light"/>
              </a:rPr>
              <a:t>SentencePiece veya Unigram, çeşitli çok dilli modellerde kullanıldığı şekliyle.</a:t>
            </a:r>
          </a:p>
          <a:p>
            <a:pPr algn="l" marL="0" indent="0" lvl="0">
              <a:lnSpc>
                <a:spcPts val="3383"/>
              </a:lnSpc>
              <a:spcBef>
                <a:spcPct val="0"/>
              </a:spcBef>
            </a:pPr>
            <a:r>
              <a:rPr lang="en-US" sz="2137">
                <a:solidFill>
                  <a:srgbClr val="FFFFFF"/>
                </a:solidFill>
                <a:latin typeface="Montserrat Light"/>
                <a:ea typeface="Montserrat Light"/>
                <a:cs typeface="Montserrat Light"/>
                <a:sym typeface="Montserrat Light"/>
              </a:rPr>
              <a:t>Artık API'yi kullanmaya başlamak için tokenleştiricilerin nasıl çalıştığına dair yeterli bilgiye sahip olmalısınız.</a:t>
            </a:r>
          </a:p>
          <a:p>
            <a:pPr algn="l" marL="0" indent="0" lvl="0">
              <a:lnSpc>
                <a:spcPts val="3383"/>
              </a:lnSpc>
              <a:spcBef>
                <a:spcPct val="0"/>
              </a:spcBef>
            </a:pPr>
          </a:p>
        </p:txBody>
      </p:sp>
    </p:spTree>
  </p:cSld>
  <p:clrMapOvr>
    <a:masterClrMapping/>
  </p:clrMapOvr>
</p:sld>
</file>

<file path=ppt/slides/slide37.xml><?xml version="1.0" encoding="utf-8"?>
<p:sld xmlns:p="http://schemas.openxmlformats.org/presentationml/2006/main" xmlns:a="http://schemas.openxmlformats.org/drawingml/2006/main">
  <p:cSld>
    <p:bg>
      <p:bgPr>
        <a:solidFill>
          <a:srgbClr val="9D0000"/>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33350" cy="614172"/>
            <a:chOff x="0" y="0"/>
            <a:chExt cx="177800" cy="818896"/>
          </a:xfrm>
        </p:grpSpPr>
        <p:sp>
          <p:nvSpPr>
            <p:cNvPr name="Freeform 3" id="3"/>
            <p:cNvSpPr/>
            <p:nvPr/>
          </p:nvSpPr>
          <p:spPr>
            <a:xfrm flipH="false" flipV="false" rot="0">
              <a:off x="0" y="0"/>
              <a:ext cx="177800" cy="818896"/>
            </a:xfrm>
            <a:custGeom>
              <a:avLst/>
              <a:gdLst/>
              <a:ahLst/>
              <a:cxnLst/>
              <a:rect r="r" b="b" t="t" l="l"/>
              <a:pathLst>
                <a:path h="818896" w="177800">
                  <a:moveTo>
                    <a:pt x="0" y="0"/>
                  </a:moveTo>
                  <a:lnTo>
                    <a:pt x="177800" y="0"/>
                  </a:lnTo>
                  <a:lnTo>
                    <a:pt x="177800" y="818896"/>
                  </a:lnTo>
                  <a:lnTo>
                    <a:pt x="0" y="818896"/>
                  </a:lnTo>
                  <a:close/>
                </a:path>
              </a:pathLst>
            </a:custGeom>
            <a:solidFill>
              <a:srgbClr val="F5A623"/>
            </a:solidFill>
            <a:ln cap="sq">
              <a:noFill/>
              <a:prstDash val="solid"/>
              <a:miter/>
            </a:ln>
          </p:spPr>
        </p:sp>
        <p:sp>
          <p:nvSpPr>
            <p:cNvPr name="TextBox 4" id="4"/>
            <p:cNvSpPr txBox="true"/>
            <p:nvPr/>
          </p:nvSpPr>
          <p:spPr>
            <a:xfrm>
              <a:off x="0" y="-38100"/>
              <a:ext cx="177800" cy="856996"/>
            </a:xfrm>
            <a:prstGeom prst="rect">
              <a:avLst/>
            </a:prstGeom>
          </p:spPr>
          <p:txBody>
            <a:bodyPr anchor="ctr" rtlCol="false" tIns="50800" lIns="50800" bIns="50800" rIns="50800"/>
            <a:lstStyle/>
            <a:p>
              <a:pPr algn="l">
                <a:lnSpc>
                  <a:spcPts val="1679"/>
                </a:lnSpc>
              </a:pPr>
            </a:p>
          </p:txBody>
        </p:sp>
      </p:grpSp>
      <p:sp>
        <p:nvSpPr>
          <p:cNvPr name="TextBox 5" id="5"/>
          <p:cNvSpPr txBox="true"/>
          <p:nvPr/>
        </p:nvSpPr>
        <p:spPr>
          <a:xfrm rot="0">
            <a:off x="1047750" y="723900"/>
            <a:ext cx="14287500" cy="557022"/>
          </a:xfrm>
          <a:prstGeom prst="rect">
            <a:avLst/>
          </a:prstGeom>
        </p:spPr>
        <p:txBody>
          <a:bodyPr anchor="t" rtlCol="false" tIns="0" lIns="0" bIns="0" rIns="0">
            <a:spAutoFit/>
          </a:bodyPr>
          <a:lstStyle/>
          <a:p>
            <a:pPr algn="l">
              <a:lnSpc>
                <a:spcPts val="4374"/>
              </a:lnSpc>
            </a:pPr>
            <a:r>
              <a:rPr lang="en-US" sz="4050" b="true">
                <a:solidFill>
                  <a:srgbClr val="FFFFFF"/>
                </a:solidFill>
                <a:latin typeface="Montserrat Bold"/>
                <a:ea typeface="Montserrat Bold"/>
                <a:cs typeface="Montserrat Bold"/>
                <a:sym typeface="Montserrat Bold"/>
              </a:rPr>
              <a:t>Türkçe için neden güçlü?</a:t>
            </a:r>
          </a:p>
        </p:txBody>
      </p:sp>
      <p:sp>
        <p:nvSpPr>
          <p:cNvPr name="TextBox 6" id="6"/>
          <p:cNvSpPr txBox="true"/>
          <p:nvPr/>
        </p:nvSpPr>
        <p:spPr>
          <a:xfrm rot="0">
            <a:off x="15811500" y="742950"/>
            <a:ext cx="1428750" cy="331470"/>
          </a:xfrm>
          <a:prstGeom prst="rect">
            <a:avLst/>
          </a:prstGeom>
        </p:spPr>
        <p:txBody>
          <a:bodyPr anchor="t" rtlCol="false" tIns="0" lIns="0" bIns="0" rIns="0">
            <a:spAutoFit/>
          </a:bodyPr>
          <a:lstStyle/>
          <a:p>
            <a:pPr algn="r">
              <a:lnSpc>
                <a:spcPts val="2729"/>
              </a:lnSpc>
            </a:pPr>
            <a:r>
              <a:rPr lang="en-US" sz="1950">
                <a:solidFill>
                  <a:srgbClr val="627D98"/>
                </a:solidFill>
                <a:latin typeface="IBM Plex Mono"/>
                <a:ea typeface="IBM Plex Mono"/>
                <a:cs typeface="IBM Plex Mono"/>
                <a:sym typeface="IBM Plex Mono"/>
              </a:rPr>
              <a:t>37</a:t>
            </a:r>
          </a:p>
        </p:txBody>
      </p:sp>
      <p:sp>
        <p:nvSpPr>
          <p:cNvPr name="TextBox 7" id="7"/>
          <p:cNvSpPr txBox="true"/>
          <p:nvPr/>
        </p:nvSpPr>
        <p:spPr>
          <a:xfrm rot="0">
            <a:off x="1047750" y="1781175"/>
            <a:ext cx="15621000" cy="747713"/>
          </a:xfrm>
          <a:prstGeom prst="rect">
            <a:avLst/>
          </a:prstGeom>
        </p:spPr>
        <p:txBody>
          <a:bodyPr anchor="t" rtlCol="false" tIns="0" lIns="0" bIns="0" rIns="0">
            <a:spAutoFit/>
          </a:bodyPr>
          <a:lstStyle/>
          <a:p>
            <a:pPr algn="l">
              <a:lnSpc>
                <a:spcPts val="3037"/>
              </a:lnSpc>
            </a:pPr>
            <a:r>
              <a:rPr lang="en-US" sz="2250">
                <a:solidFill>
                  <a:srgbClr val="FFFFFF"/>
                </a:solidFill>
                <a:latin typeface="Source Sans 3"/>
                <a:ea typeface="Source Sans 3"/>
                <a:cs typeface="Source Sans 3"/>
                <a:sym typeface="Source Sans 3"/>
              </a:rPr>
              <a:t>Subword yaklaşımı, Türkçe gibi eklemeli dillerde özellikle faydalıdır. Alt kelimeleri art arda dizerek neredeyse istenildiği kadar uzun ve karmaşık kelimeler temsil edilebilir.</a:t>
            </a:r>
          </a:p>
        </p:txBody>
      </p:sp>
      <p:grpSp>
        <p:nvGrpSpPr>
          <p:cNvPr name="Group 8" id="8"/>
          <p:cNvGrpSpPr/>
          <p:nvPr/>
        </p:nvGrpSpPr>
        <p:grpSpPr>
          <a:xfrm rot="0">
            <a:off x="1047750" y="3714750"/>
            <a:ext cx="3733800" cy="2476500"/>
            <a:chOff x="0" y="0"/>
            <a:chExt cx="4978400" cy="3302000"/>
          </a:xfrm>
        </p:grpSpPr>
        <p:grpSp>
          <p:nvGrpSpPr>
            <p:cNvPr name="Group 9" id="9"/>
            <p:cNvGrpSpPr/>
            <p:nvPr/>
          </p:nvGrpSpPr>
          <p:grpSpPr>
            <a:xfrm rot="0">
              <a:off x="0" y="0"/>
              <a:ext cx="4978400" cy="3302000"/>
              <a:chOff x="0" y="0"/>
              <a:chExt cx="4978400" cy="3302000"/>
            </a:xfrm>
          </p:grpSpPr>
          <p:sp>
            <p:nvSpPr>
              <p:cNvPr name="Freeform 10" id="10"/>
              <p:cNvSpPr/>
              <p:nvPr/>
            </p:nvSpPr>
            <p:spPr>
              <a:xfrm flipH="false" flipV="false" rot="0">
                <a:off x="0" y="0"/>
                <a:ext cx="4978400" cy="3302000"/>
              </a:xfrm>
              <a:custGeom>
                <a:avLst/>
                <a:gdLst/>
                <a:ahLst/>
                <a:cxnLst/>
                <a:rect r="r" b="b" t="t" l="l"/>
                <a:pathLst>
                  <a:path h="3302000" w="4978400">
                    <a:moveTo>
                      <a:pt x="0" y="0"/>
                    </a:moveTo>
                    <a:lnTo>
                      <a:pt x="4978400" y="0"/>
                    </a:lnTo>
                    <a:lnTo>
                      <a:pt x="4978400" y="3302000"/>
                    </a:lnTo>
                    <a:lnTo>
                      <a:pt x="0" y="3302000"/>
                    </a:lnTo>
                    <a:close/>
                  </a:path>
                </a:pathLst>
              </a:custGeom>
              <a:solidFill>
                <a:srgbClr val="FFF1CF"/>
              </a:solidFill>
              <a:ln w="19050" cap="sq">
                <a:solidFill>
                  <a:srgbClr val="D8D3C7"/>
                </a:solidFill>
                <a:prstDash val="solid"/>
                <a:miter/>
              </a:ln>
            </p:spPr>
          </p:sp>
          <p:sp>
            <p:nvSpPr>
              <p:cNvPr name="TextBox 11" id="11"/>
              <p:cNvSpPr txBox="true"/>
              <p:nvPr/>
            </p:nvSpPr>
            <p:spPr>
              <a:xfrm>
                <a:off x="0" y="-38100"/>
                <a:ext cx="4978400" cy="3340100"/>
              </a:xfrm>
              <a:prstGeom prst="rect">
                <a:avLst/>
              </a:prstGeom>
            </p:spPr>
            <p:txBody>
              <a:bodyPr anchor="ctr" rtlCol="false" tIns="50800" lIns="50800" bIns="50800" rIns="50800"/>
              <a:lstStyle/>
              <a:p>
                <a:pPr algn="l">
                  <a:lnSpc>
                    <a:spcPts val="1679"/>
                  </a:lnSpc>
                </a:pPr>
              </a:p>
            </p:txBody>
          </p:sp>
        </p:grpSp>
        <p:sp>
          <p:nvSpPr>
            <p:cNvPr name="TextBox 12" id="12"/>
            <p:cNvSpPr txBox="true"/>
            <p:nvPr/>
          </p:nvSpPr>
          <p:spPr>
            <a:xfrm rot="0">
              <a:off x="406400" y="1416050"/>
              <a:ext cx="4165600" cy="460375"/>
            </a:xfrm>
            <a:prstGeom prst="rect">
              <a:avLst/>
            </a:prstGeom>
          </p:spPr>
          <p:txBody>
            <a:bodyPr anchor="t" rtlCol="false" tIns="0" lIns="0" bIns="0" rIns="0">
              <a:spAutoFit/>
            </a:bodyPr>
            <a:lstStyle/>
            <a:p>
              <a:pPr algn="ctr">
                <a:lnSpc>
                  <a:spcPts val="2812"/>
                </a:lnSpc>
              </a:pPr>
              <a:r>
                <a:rPr lang="en-US" sz="2250" b="true">
                  <a:solidFill>
                    <a:srgbClr val="102A43"/>
                  </a:solidFill>
                  <a:latin typeface="Source Sans 3 Bold"/>
                  <a:ea typeface="Source Sans 3 Bold"/>
                  <a:cs typeface="Source Sans 3 Bold"/>
                  <a:sym typeface="Source Sans 3 Bold"/>
                </a:rPr>
                <a:t>kök</a:t>
              </a:r>
            </a:p>
          </p:txBody>
        </p:sp>
      </p:grpSp>
      <p:grpSp>
        <p:nvGrpSpPr>
          <p:cNvPr name="Group 13" id="13"/>
          <p:cNvGrpSpPr/>
          <p:nvPr/>
        </p:nvGrpSpPr>
        <p:grpSpPr>
          <a:xfrm rot="0">
            <a:off x="5010150" y="3714750"/>
            <a:ext cx="3733800" cy="2476500"/>
            <a:chOff x="0" y="0"/>
            <a:chExt cx="4978400" cy="3302000"/>
          </a:xfrm>
        </p:grpSpPr>
        <p:grpSp>
          <p:nvGrpSpPr>
            <p:cNvPr name="Group 14" id="14"/>
            <p:cNvGrpSpPr/>
            <p:nvPr/>
          </p:nvGrpSpPr>
          <p:grpSpPr>
            <a:xfrm rot="0">
              <a:off x="0" y="0"/>
              <a:ext cx="4978400" cy="3302000"/>
              <a:chOff x="0" y="0"/>
              <a:chExt cx="4978400" cy="3302000"/>
            </a:xfrm>
          </p:grpSpPr>
          <p:sp>
            <p:nvSpPr>
              <p:cNvPr name="Freeform 15" id="15"/>
              <p:cNvSpPr/>
              <p:nvPr/>
            </p:nvSpPr>
            <p:spPr>
              <a:xfrm flipH="false" flipV="false" rot="0">
                <a:off x="0" y="0"/>
                <a:ext cx="4978400" cy="3302000"/>
              </a:xfrm>
              <a:custGeom>
                <a:avLst/>
                <a:gdLst/>
                <a:ahLst/>
                <a:cxnLst/>
                <a:rect r="r" b="b" t="t" l="l"/>
                <a:pathLst>
                  <a:path h="3302000" w="4978400">
                    <a:moveTo>
                      <a:pt x="0" y="0"/>
                    </a:moveTo>
                    <a:lnTo>
                      <a:pt x="4978400" y="0"/>
                    </a:lnTo>
                    <a:lnTo>
                      <a:pt x="4978400" y="3302000"/>
                    </a:lnTo>
                    <a:lnTo>
                      <a:pt x="0" y="3302000"/>
                    </a:lnTo>
                    <a:close/>
                  </a:path>
                </a:pathLst>
              </a:custGeom>
              <a:solidFill>
                <a:srgbClr val="FFFFFF"/>
              </a:solidFill>
              <a:ln w="19050" cap="sq">
                <a:solidFill>
                  <a:srgbClr val="D8D3C7"/>
                </a:solidFill>
                <a:prstDash val="solid"/>
                <a:miter/>
              </a:ln>
            </p:spPr>
          </p:sp>
          <p:sp>
            <p:nvSpPr>
              <p:cNvPr name="TextBox 16" id="16"/>
              <p:cNvSpPr txBox="true"/>
              <p:nvPr/>
            </p:nvSpPr>
            <p:spPr>
              <a:xfrm>
                <a:off x="0" y="-38100"/>
                <a:ext cx="4978400" cy="3340100"/>
              </a:xfrm>
              <a:prstGeom prst="rect">
                <a:avLst/>
              </a:prstGeom>
            </p:spPr>
            <p:txBody>
              <a:bodyPr anchor="ctr" rtlCol="false" tIns="50800" lIns="50800" bIns="50800" rIns="50800"/>
              <a:lstStyle/>
              <a:p>
                <a:pPr algn="l">
                  <a:lnSpc>
                    <a:spcPts val="1679"/>
                  </a:lnSpc>
                </a:pPr>
              </a:p>
            </p:txBody>
          </p:sp>
        </p:grpSp>
        <p:sp>
          <p:nvSpPr>
            <p:cNvPr name="TextBox 17" id="17"/>
            <p:cNvSpPr txBox="true"/>
            <p:nvPr/>
          </p:nvSpPr>
          <p:spPr>
            <a:xfrm rot="0">
              <a:off x="406400" y="1416050"/>
              <a:ext cx="4165600" cy="460375"/>
            </a:xfrm>
            <a:prstGeom prst="rect">
              <a:avLst/>
            </a:prstGeom>
          </p:spPr>
          <p:txBody>
            <a:bodyPr anchor="t" rtlCol="false" tIns="0" lIns="0" bIns="0" rIns="0">
              <a:spAutoFit/>
            </a:bodyPr>
            <a:lstStyle/>
            <a:p>
              <a:pPr algn="ctr">
                <a:lnSpc>
                  <a:spcPts val="2812"/>
                </a:lnSpc>
              </a:pPr>
              <a:r>
                <a:rPr lang="en-US" sz="2250" b="true">
                  <a:solidFill>
                    <a:srgbClr val="102A43"/>
                  </a:solidFill>
                  <a:latin typeface="Source Sans 3 Bold"/>
                  <a:ea typeface="Source Sans 3 Bold"/>
                  <a:cs typeface="Source Sans 3 Bold"/>
                  <a:sym typeface="Source Sans 3 Bold"/>
                </a:rPr>
                <a:t>yapım eki</a:t>
              </a:r>
            </a:p>
          </p:txBody>
        </p:sp>
      </p:grpSp>
      <p:grpSp>
        <p:nvGrpSpPr>
          <p:cNvPr name="Group 18" id="18"/>
          <p:cNvGrpSpPr/>
          <p:nvPr/>
        </p:nvGrpSpPr>
        <p:grpSpPr>
          <a:xfrm rot="0">
            <a:off x="8972550" y="3714750"/>
            <a:ext cx="3733800" cy="2476500"/>
            <a:chOff x="0" y="0"/>
            <a:chExt cx="4978400" cy="3302000"/>
          </a:xfrm>
        </p:grpSpPr>
        <p:grpSp>
          <p:nvGrpSpPr>
            <p:cNvPr name="Group 19" id="19"/>
            <p:cNvGrpSpPr/>
            <p:nvPr/>
          </p:nvGrpSpPr>
          <p:grpSpPr>
            <a:xfrm rot="0">
              <a:off x="0" y="0"/>
              <a:ext cx="4978400" cy="3302000"/>
              <a:chOff x="0" y="0"/>
              <a:chExt cx="4978400" cy="3302000"/>
            </a:xfrm>
          </p:grpSpPr>
          <p:sp>
            <p:nvSpPr>
              <p:cNvPr name="Freeform 20" id="20"/>
              <p:cNvSpPr/>
              <p:nvPr/>
            </p:nvSpPr>
            <p:spPr>
              <a:xfrm flipH="false" flipV="false" rot="0">
                <a:off x="0" y="0"/>
                <a:ext cx="4978400" cy="3302000"/>
              </a:xfrm>
              <a:custGeom>
                <a:avLst/>
                <a:gdLst/>
                <a:ahLst/>
                <a:cxnLst/>
                <a:rect r="r" b="b" t="t" l="l"/>
                <a:pathLst>
                  <a:path h="3302000" w="4978400">
                    <a:moveTo>
                      <a:pt x="0" y="0"/>
                    </a:moveTo>
                    <a:lnTo>
                      <a:pt x="4978400" y="0"/>
                    </a:lnTo>
                    <a:lnTo>
                      <a:pt x="4978400" y="3302000"/>
                    </a:lnTo>
                    <a:lnTo>
                      <a:pt x="0" y="3302000"/>
                    </a:lnTo>
                    <a:close/>
                  </a:path>
                </a:pathLst>
              </a:custGeom>
              <a:solidFill>
                <a:srgbClr val="FFF1CF"/>
              </a:solidFill>
              <a:ln w="19050" cap="sq">
                <a:solidFill>
                  <a:srgbClr val="D8D3C7"/>
                </a:solidFill>
                <a:prstDash val="solid"/>
                <a:miter/>
              </a:ln>
            </p:spPr>
          </p:sp>
          <p:sp>
            <p:nvSpPr>
              <p:cNvPr name="TextBox 21" id="21"/>
              <p:cNvSpPr txBox="true"/>
              <p:nvPr/>
            </p:nvSpPr>
            <p:spPr>
              <a:xfrm>
                <a:off x="0" y="-38100"/>
                <a:ext cx="4978400" cy="3340100"/>
              </a:xfrm>
              <a:prstGeom prst="rect">
                <a:avLst/>
              </a:prstGeom>
            </p:spPr>
            <p:txBody>
              <a:bodyPr anchor="ctr" rtlCol="false" tIns="50800" lIns="50800" bIns="50800" rIns="50800"/>
              <a:lstStyle/>
              <a:p>
                <a:pPr algn="l">
                  <a:lnSpc>
                    <a:spcPts val="1679"/>
                  </a:lnSpc>
                </a:pPr>
              </a:p>
            </p:txBody>
          </p:sp>
        </p:grpSp>
        <p:sp>
          <p:nvSpPr>
            <p:cNvPr name="TextBox 22" id="22"/>
            <p:cNvSpPr txBox="true"/>
            <p:nvPr/>
          </p:nvSpPr>
          <p:spPr>
            <a:xfrm rot="0">
              <a:off x="406400" y="1416050"/>
              <a:ext cx="4165600" cy="460375"/>
            </a:xfrm>
            <a:prstGeom prst="rect">
              <a:avLst/>
            </a:prstGeom>
          </p:spPr>
          <p:txBody>
            <a:bodyPr anchor="t" rtlCol="false" tIns="0" lIns="0" bIns="0" rIns="0">
              <a:spAutoFit/>
            </a:bodyPr>
            <a:lstStyle/>
            <a:p>
              <a:pPr algn="ctr">
                <a:lnSpc>
                  <a:spcPts val="2812"/>
                </a:lnSpc>
              </a:pPr>
              <a:r>
                <a:rPr lang="en-US" sz="2250" b="true">
                  <a:solidFill>
                    <a:srgbClr val="102A43"/>
                  </a:solidFill>
                  <a:latin typeface="Source Sans 3 Bold"/>
                  <a:ea typeface="Source Sans 3 Bold"/>
                  <a:cs typeface="Source Sans 3 Bold"/>
                  <a:sym typeface="Source Sans 3 Bold"/>
                </a:rPr>
                <a:t>çekim eki</a:t>
              </a:r>
            </a:p>
          </p:txBody>
        </p:sp>
      </p:grpSp>
      <p:grpSp>
        <p:nvGrpSpPr>
          <p:cNvPr name="Group 23" id="23"/>
          <p:cNvGrpSpPr/>
          <p:nvPr/>
        </p:nvGrpSpPr>
        <p:grpSpPr>
          <a:xfrm rot="0">
            <a:off x="12934950" y="3714750"/>
            <a:ext cx="3733800" cy="2476500"/>
            <a:chOff x="0" y="0"/>
            <a:chExt cx="4978400" cy="3302000"/>
          </a:xfrm>
        </p:grpSpPr>
        <p:grpSp>
          <p:nvGrpSpPr>
            <p:cNvPr name="Group 24" id="24"/>
            <p:cNvGrpSpPr/>
            <p:nvPr/>
          </p:nvGrpSpPr>
          <p:grpSpPr>
            <a:xfrm rot="0">
              <a:off x="0" y="0"/>
              <a:ext cx="4978400" cy="3302000"/>
              <a:chOff x="0" y="0"/>
              <a:chExt cx="4978400" cy="3302000"/>
            </a:xfrm>
          </p:grpSpPr>
          <p:sp>
            <p:nvSpPr>
              <p:cNvPr name="Freeform 25" id="25"/>
              <p:cNvSpPr/>
              <p:nvPr/>
            </p:nvSpPr>
            <p:spPr>
              <a:xfrm flipH="false" flipV="false" rot="0">
                <a:off x="0" y="0"/>
                <a:ext cx="4978400" cy="3302000"/>
              </a:xfrm>
              <a:custGeom>
                <a:avLst/>
                <a:gdLst/>
                <a:ahLst/>
                <a:cxnLst/>
                <a:rect r="r" b="b" t="t" l="l"/>
                <a:pathLst>
                  <a:path h="3302000" w="4978400">
                    <a:moveTo>
                      <a:pt x="0" y="0"/>
                    </a:moveTo>
                    <a:lnTo>
                      <a:pt x="4978400" y="0"/>
                    </a:lnTo>
                    <a:lnTo>
                      <a:pt x="4978400" y="3302000"/>
                    </a:lnTo>
                    <a:lnTo>
                      <a:pt x="0" y="3302000"/>
                    </a:lnTo>
                    <a:close/>
                  </a:path>
                </a:pathLst>
              </a:custGeom>
              <a:solidFill>
                <a:srgbClr val="FFFFFF"/>
              </a:solidFill>
              <a:ln w="19050" cap="sq">
                <a:solidFill>
                  <a:srgbClr val="D8D3C7"/>
                </a:solidFill>
                <a:prstDash val="solid"/>
                <a:miter/>
              </a:ln>
            </p:spPr>
          </p:sp>
          <p:sp>
            <p:nvSpPr>
              <p:cNvPr name="TextBox 26" id="26"/>
              <p:cNvSpPr txBox="true"/>
              <p:nvPr/>
            </p:nvSpPr>
            <p:spPr>
              <a:xfrm>
                <a:off x="0" y="-38100"/>
                <a:ext cx="4978400" cy="3340100"/>
              </a:xfrm>
              <a:prstGeom prst="rect">
                <a:avLst/>
              </a:prstGeom>
            </p:spPr>
            <p:txBody>
              <a:bodyPr anchor="ctr" rtlCol="false" tIns="50800" lIns="50800" bIns="50800" rIns="50800"/>
              <a:lstStyle/>
              <a:p>
                <a:pPr algn="l">
                  <a:lnSpc>
                    <a:spcPts val="1679"/>
                  </a:lnSpc>
                </a:pPr>
              </a:p>
            </p:txBody>
          </p:sp>
        </p:grpSp>
        <p:sp>
          <p:nvSpPr>
            <p:cNvPr name="TextBox 27" id="27"/>
            <p:cNvSpPr txBox="true"/>
            <p:nvPr/>
          </p:nvSpPr>
          <p:spPr>
            <a:xfrm rot="0">
              <a:off x="406400" y="1416050"/>
              <a:ext cx="4165600" cy="460375"/>
            </a:xfrm>
            <a:prstGeom prst="rect">
              <a:avLst/>
            </a:prstGeom>
          </p:spPr>
          <p:txBody>
            <a:bodyPr anchor="t" rtlCol="false" tIns="0" lIns="0" bIns="0" rIns="0">
              <a:spAutoFit/>
            </a:bodyPr>
            <a:lstStyle/>
            <a:p>
              <a:pPr algn="ctr">
                <a:lnSpc>
                  <a:spcPts val="2812"/>
                </a:lnSpc>
              </a:pPr>
              <a:r>
                <a:rPr lang="en-US" sz="2250" b="true">
                  <a:solidFill>
                    <a:srgbClr val="102A43"/>
                  </a:solidFill>
                  <a:latin typeface="Source Sans 3 Bold"/>
                  <a:ea typeface="Source Sans 3 Bold"/>
                  <a:cs typeface="Source Sans 3 Bold"/>
                  <a:sym typeface="Source Sans 3 Bold"/>
                </a:rPr>
                <a:t>…</a:t>
              </a:r>
            </a:p>
          </p:txBody>
        </p:sp>
      </p:grpSp>
      <p:grpSp>
        <p:nvGrpSpPr>
          <p:cNvPr name="Group 28" id="28"/>
          <p:cNvGrpSpPr/>
          <p:nvPr/>
        </p:nvGrpSpPr>
        <p:grpSpPr>
          <a:xfrm rot="0">
            <a:off x="1047750" y="6457950"/>
            <a:ext cx="15621000" cy="594360"/>
            <a:chOff x="0" y="0"/>
            <a:chExt cx="20828000" cy="792480"/>
          </a:xfrm>
        </p:grpSpPr>
        <p:grpSp>
          <p:nvGrpSpPr>
            <p:cNvPr name="Group 29" id="29"/>
            <p:cNvGrpSpPr/>
            <p:nvPr/>
          </p:nvGrpSpPr>
          <p:grpSpPr>
            <a:xfrm rot="0">
              <a:off x="0" y="0"/>
              <a:ext cx="20828000" cy="792480"/>
              <a:chOff x="0" y="0"/>
              <a:chExt cx="20828000" cy="792480"/>
            </a:xfrm>
          </p:grpSpPr>
          <p:sp>
            <p:nvSpPr>
              <p:cNvPr name="Freeform 30" id="30"/>
              <p:cNvSpPr/>
              <p:nvPr/>
            </p:nvSpPr>
            <p:spPr>
              <a:xfrm flipH="false" flipV="false" rot="0">
                <a:off x="0" y="0"/>
                <a:ext cx="20828000" cy="792480"/>
              </a:xfrm>
              <a:custGeom>
                <a:avLst/>
                <a:gdLst/>
                <a:ahLst/>
                <a:cxnLst/>
                <a:rect r="r" b="b" t="t" l="l"/>
                <a:pathLst>
                  <a:path h="792480" w="20828000">
                    <a:moveTo>
                      <a:pt x="0" y="0"/>
                    </a:moveTo>
                    <a:lnTo>
                      <a:pt x="20828000" y="0"/>
                    </a:lnTo>
                    <a:lnTo>
                      <a:pt x="20828000" y="792480"/>
                    </a:lnTo>
                    <a:lnTo>
                      <a:pt x="0" y="792480"/>
                    </a:lnTo>
                    <a:close/>
                  </a:path>
                </a:pathLst>
              </a:custGeom>
              <a:solidFill>
                <a:srgbClr val="FFF1CF"/>
              </a:solidFill>
              <a:ln cap="sq">
                <a:noFill/>
                <a:prstDash val="solid"/>
                <a:miter/>
              </a:ln>
            </p:spPr>
          </p:sp>
          <p:sp>
            <p:nvSpPr>
              <p:cNvPr name="TextBox 31" id="31"/>
              <p:cNvSpPr txBox="true"/>
              <p:nvPr/>
            </p:nvSpPr>
            <p:spPr>
              <a:xfrm>
                <a:off x="0" y="-38100"/>
                <a:ext cx="20828000" cy="830580"/>
              </a:xfrm>
              <a:prstGeom prst="rect">
                <a:avLst/>
              </a:prstGeom>
            </p:spPr>
            <p:txBody>
              <a:bodyPr anchor="ctr" rtlCol="false" tIns="50800" lIns="50800" bIns="50800" rIns="50800"/>
              <a:lstStyle/>
              <a:p>
                <a:pPr algn="l">
                  <a:lnSpc>
                    <a:spcPts val="1679"/>
                  </a:lnSpc>
                </a:pPr>
              </a:p>
            </p:txBody>
          </p:sp>
        </p:grpSp>
        <p:sp>
          <p:nvSpPr>
            <p:cNvPr name="TextBox 32" id="32"/>
            <p:cNvSpPr txBox="true"/>
            <p:nvPr/>
          </p:nvSpPr>
          <p:spPr>
            <a:xfrm rot="0">
              <a:off x="508000" y="174625"/>
              <a:ext cx="19812000" cy="414655"/>
            </a:xfrm>
            <a:prstGeom prst="rect">
              <a:avLst/>
            </a:prstGeom>
          </p:spPr>
          <p:txBody>
            <a:bodyPr anchor="t" rtlCol="false" tIns="0" lIns="0" bIns="0" rIns="0">
              <a:spAutoFit/>
            </a:bodyPr>
            <a:lstStyle/>
            <a:p>
              <a:pPr algn="l">
                <a:lnSpc>
                  <a:spcPts val="2535"/>
                </a:lnSpc>
              </a:pPr>
              <a:r>
                <a:rPr lang="en-US" sz="1950">
                  <a:solidFill>
                    <a:srgbClr val="000000"/>
                  </a:solidFill>
                  <a:latin typeface="Source Sans 3"/>
                  <a:ea typeface="Source Sans 3"/>
                  <a:cs typeface="Source Sans 3"/>
                  <a:sym typeface="Source Sans 3"/>
                </a:rPr>
                <a:t>Sonuç: küçük sözlük, iyi kapsama, neredeyse sıfır bilinmeyen token.</a:t>
              </a:r>
            </a:p>
          </p:txBody>
        </p:sp>
      </p:gr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1F0034"/>
        </a:solidFill>
      </p:bgPr>
    </p:bg>
    <p:spTree>
      <p:nvGrpSpPr>
        <p:cNvPr id="1" name=""/>
        <p:cNvGrpSpPr/>
        <p:nvPr/>
      </p:nvGrpSpPr>
      <p:grpSpPr>
        <a:xfrm>
          <a:off x="0" y="0"/>
          <a:ext cx="0" cy="0"/>
          <a:chOff x="0" y="0"/>
          <a:chExt cx="0" cy="0"/>
        </a:xfrm>
      </p:grpSpPr>
      <p:sp>
        <p:nvSpPr>
          <p:cNvPr name="Freeform 2" id="2"/>
          <p:cNvSpPr/>
          <p:nvPr/>
        </p:nvSpPr>
        <p:spPr>
          <a:xfrm flipH="false" flipV="false" rot="-1466913">
            <a:off x="458922" y="2966242"/>
            <a:ext cx="20477644" cy="14641516"/>
          </a:xfrm>
          <a:custGeom>
            <a:avLst/>
            <a:gdLst/>
            <a:ahLst/>
            <a:cxnLst/>
            <a:rect r="r" b="b" t="t" l="l"/>
            <a:pathLst>
              <a:path h="14641516" w="20477644">
                <a:moveTo>
                  <a:pt x="0" y="0"/>
                </a:moveTo>
                <a:lnTo>
                  <a:pt x="20477645" y="0"/>
                </a:lnTo>
                <a:lnTo>
                  <a:pt x="20477645" y="14641516"/>
                </a:lnTo>
                <a:lnTo>
                  <a:pt x="0" y="146415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131841" y="-1915390"/>
            <a:ext cx="10020822" cy="8229600"/>
          </a:xfrm>
          <a:custGeom>
            <a:avLst/>
            <a:gdLst/>
            <a:ahLst/>
            <a:cxnLst/>
            <a:rect r="r" b="b" t="t" l="l"/>
            <a:pathLst>
              <a:path h="8229600" w="10020822">
                <a:moveTo>
                  <a:pt x="0" y="0"/>
                </a:moveTo>
                <a:lnTo>
                  <a:pt x="10020822" y="0"/>
                </a:lnTo>
                <a:lnTo>
                  <a:pt x="10020822" y="8229600"/>
                </a:lnTo>
                <a:lnTo>
                  <a:pt x="0" y="8229600"/>
                </a:lnTo>
                <a:lnTo>
                  <a:pt x="0" y="0"/>
                </a:lnTo>
                <a:close/>
              </a:path>
            </a:pathLst>
          </a:custGeom>
          <a:blipFill>
            <a:blip r:embed="rId4"/>
            <a:stretch>
              <a:fillRect l="0" t="0" r="0" b="0"/>
            </a:stretch>
          </a:blipFill>
        </p:spPr>
      </p:sp>
      <p:pic>
        <p:nvPicPr>
          <p:cNvPr name="Picture 4" id="4">
            <a:hlinkClick action="ppaction://media"/>
          </p:cNvPr>
          <p:cNvPicPr>
            <a:picLocks noChangeAspect="true"/>
          </p:cNvPicPr>
          <p:nvPr>
            <a:videoFile r:link="rId6"/>
            <p:extLst>
              <p:ext uri="{DAA4B4D4-6D71-4841-9C94-3DE7FCFB9230}">
                <p14:media xmlns:p14="http://schemas.microsoft.com/office/powerpoint/2010/main" r:embed="rId7"/>
              </p:ext>
            </p:extLst>
          </p:nvPr>
        </p:nvPicPr>
        <p:blipFill>
          <a:blip r:embed="rId5"/>
          <a:srcRect l="0" t="0" r="0" b="0"/>
          <a:stretch>
            <a:fillRect/>
          </a:stretch>
        </p:blipFill>
        <p:spPr>
          <a:xfrm flipH="false" flipV="false" rot="0">
            <a:off x="1028862" y="4462609"/>
            <a:ext cx="16230600" cy="3703201"/>
          </a:xfrm>
          <a:prstGeom prst="rect">
            <a:avLst/>
          </a:prstGeom>
        </p:spPr>
      </p:pic>
      <p:sp>
        <p:nvSpPr>
          <p:cNvPr name="TextBox 5" id="5"/>
          <p:cNvSpPr txBox="true"/>
          <p:nvPr/>
        </p:nvSpPr>
        <p:spPr>
          <a:xfrm rot="0">
            <a:off x="1028862" y="1687158"/>
            <a:ext cx="15788204" cy="1726141"/>
          </a:xfrm>
          <a:prstGeom prst="rect">
            <a:avLst/>
          </a:prstGeom>
        </p:spPr>
        <p:txBody>
          <a:bodyPr anchor="t" rtlCol="false" tIns="0" lIns="0" bIns="0" rIns="0">
            <a:spAutoFit/>
          </a:bodyPr>
          <a:lstStyle/>
          <a:p>
            <a:pPr algn="l">
              <a:lnSpc>
                <a:spcPts val="6983"/>
              </a:lnSpc>
            </a:pPr>
            <a:r>
              <a:rPr lang="en-US" b="true" sz="4988" spc="194">
                <a:solidFill>
                  <a:srgbClr val="EA9267"/>
                </a:solidFill>
                <a:latin typeface="Montserrat Bold"/>
                <a:ea typeface="Montserrat Bold"/>
                <a:cs typeface="Montserrat Bold"/>
                <a:sym typeface="Montserrat Bold"/>
              </a:rPr>
              <a:t>YÜKLEME VE KAYDETME</a:t>
            </a:r>
          </a:p>
          <a:p>
            <a:pPr algn="l">
              <a:lnSpc>
                <a:spcPts val="6983"/>
              </a:lnSpc>
            </a:pPr>
          </a:p>
        </p:txBody>
      </p:sp>
      <p:sp>
        <p:nvSpPr>
          <p:cNvPr name="TextBox 6" id="6"/>
          <p:cNvSpPr txBox="true"/>
          <p:nvPr/>
        </p:nvSpPr>
        <p:spPr>
          <a:xfrm rot="0">
            <a:off x="1028700" y="2965326"/>
            <a:ext cx="14435144" cy="819746"/>
          </a:xfrm>
          <a:prstGeom prst="rect">
            <a:avLst/>
          </a:prstGeom>
        </p:spPr>
        <p:txBody>
          <a:bodyPr anchor="t" rtlCol="false" tIns="0" lIns="0" bIns="0" rIns="0">
            <a:spAutoFit/>
          </a:bodyPr>
          <a:lstStyle/>
          <a:p>
            <a:pPr algn="l" marL="0" indent="0" lvl="0">
              <a:lnSpc>
                <a:spcPts val="3383"/>
              </a:lnSpc>
              <a:spcBef>
                <a:spcPct val="0"/>
              </a:spcBef>
            </a:pPr>
            <a:r>
              <a:rPr lang="en-US" sz="2137">
                <a:solidFill>
                  <a:srgbClr val="FFFFFF"/>
                </a:solidFill>
                <a:latin typeface="Montserrat Light"/>
                <a:ea typeface="Montserrat Light"/>
                <a:cs typeface="Montserrat Light"/>
                <a:sym typeface="Montserrat Light"/>
              </a:rPr>
              <a:t>Tokenleştiricilerin yüklenmesi ve kaydedilmesi, modellerde olduğu kadar basittir. Aslında, aynı iki yönteme dayanır: from_pretrained()ve save_pretrained().</a:t>
            </a:r>
          </a:p>
        </p:txBody>
      </p:sp>
    </p:spTree>
  </p:cSld>
  <p:clrMapOvr>
    <a:masterClrMapping/>
  </p:clrMapOvr>
  <p:timing>
    <p:tnLst>
      <p:par>
        <p:cTn dur="indefinite" restart="never" nodeType="tmRoot">
          <p:childTnLst>
            <p:video>
              <p:cMediaNode vol="100000">
                <p:cTn fill="hold" display="false">
                  <p:stCondLst>
                    <p:cond delay="indefinite"/>
                  </p:stCondLst>
                </p:cTn>
                <p:tgtEl>
                  <p:spTgt spid="4"/>
                </p:tgtEl>
              </p:cMediaNode>
            </p:video>
          </p:childTnLst>
        </p:cTn>
      </p:par>
    </p:tnLst>
  </p:timing>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1F0034"/>
        </a:solidFill>
      </p:bgPr>
    </p:bg>
    <p:spTree>
      <p:nvGrpSpPr>
        <p:cNvPr id="1" name=""/>
        <p:cNvGrpSpPr/>
        <p:nvPr/>
      </p:nvGrpSpPr>
      <p:grpSpPr>
        <a:xfrm>
          <a:off x="0" y="0"/>
          <a:ext cx="0" cy="0"/>
          <a:chOff x="0" y="0"/>
          <a:chExt cx="0" cy="0"/>
        </a:xfrm>
      </p:grpSpPr>
      <p:sp>
        <p:nvSpPr>
          <p:cNvPr name="Freeform 2" id="2"/>
          <p:cNvSpPr/>
          <p:nvPr/>
        </p:nvSpPr>
        <p:spPr>
          <a:xfrm flipH="false" flipV="false" rot="-1466913">
            <a:off x="458922" y="2966242"/>
            <a:ext cx="20477644" cy="14641516"/>
          </a:xfrm>
          <a:custGeom>
            <a:avLst/>
            <a:gdLst/>
            <a:ahLst/>
            <a:cxnLst/>
            <a:rect r="r" b="b" t="t" l="l"/>
            <a:pathLst>
              <a:path h="14641516" w="20477644">
                <a:moveTo>
                  <a:pt x="0" y="0"/>
                </a:moveTo>
                <a:lnTo>
                  <a:pt x="20477645" y="0"/>
                </a:lnTo>
                <a:lnTo>
                  <a:pt x="20477645" y="14641516"/>
                </a:lnTo>
                <a:lnTo>
                  <a:pt x="0" y="146415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131841" y="-1915390"/>
            <a:ext cx="10020822" cy="8229600"/>
          </a:xfrm>
          <a:custGeom>
            <a:avLst/>
            <a:gdLst/>
            <a:ahLst/>
            <a:cxnLst/>
            <a:rect r="r" b="b" t="t" l="l"/>
            <a:pathLst>
              <a:path h="8229600" w="10020822">
                <a:moveTo>
                  <a:pt x="0" y="0"/>
                </a:moveTo>
                <a:lnTo>
                  <a:pt x="10020822" y="0"/>
                </a:lnTo>
                <a:lnTo>
                  <a:pt x="10020822" y="8229600"/>
                </a:lnTo>
                <a:lnTo>
                  <a:pt x="0" y="8229600"/>
                </a:lnTo>
                <a:lnTo>
                  <a:pt x="0" y="0"/>
                </a:lnTo>
                <a:close/>
              </a:path>
            </a:pathLst>
          </a:custGeom>
          <a:blipFill>
            <a:blip r:embed="rId4"/>
            <a:stretch>
              <a:fillRect l="0" t="0" r="0" b="0"/>
            </a:stretch>
          </a:blipFill>
        </p:spPr>
      </p:sp>
      <p:pic>
        <p:nvPicPr>
          <p:cNvPr name="Picture 4" id="4">
            <a:hlinkClick action="ppaction://media"/>
          </p:cNvPr>
          <p:cNvPicPr>
            <a:picLocks noChangeAspect="true"/>
          </p:cNvPicPr>
          <p:nvPr>
            <a:videoFile r:link="rId6"/>
            <p:extLst>
              <p:ext uri="{DAA4B4D4-6D71-4841-9C94-3DE7FCFB9230}">
                <p14:media xmlns:p14="http://schemas.microsoft.com/office/powerpoint/2010/main" r:embed="rId7"/>
              </p:ext>
            </p:extLst>
          </p:nvPr>
        </p:nvPicPr>
        <p:blipFill>
          <a:blip r:embed="rId5"/>
          <a:srcRect l="0" t="0" r="0" b="0"/>
          <a:stretch>
            <a:fillRect/>
          </a:stretch>
        </p:blipFill>
        <p:spPr>
          <a:xfrm flipH="false" flipV="false" rot="0">
            <a:off x="1028700" y="3649254"/>
            <a:ext cx="16230600" cy="2988491"/>
          </a:xfrm>
          <a:prstGeom prst="rect">
            <a:avLst/>
          </a:prstGeom>
        </p:spPr>
      </p:pic>
      <p:sp>
        <p:nvSpPr>
          <p:cNvPr name="TextBox 5" id="5"/>
          <p:cNvSpPr txBox="true"/>
          <p:nvPr/>
        </p:nvSpPr>
        <p:spPr>
          <a:xfrm rot="0">
            <a:off x="1028862" y="1687158"/>
            <a:ext cx="15788204" cy="842584"/>
          </a:xfrm>
          <a:prstGeom prst="rect">
            <a:avLst/>
          </a:prstGeom>
        </p:spPr>
        <p:txBody>
          <a:bodyPr anchor="t" rtlCol="false" tIns="0" lIns="0" bIns="0" rIns="0">
            <a:spAutoFit/>
          </a:bodyPr>
          <a:lstStyle/>
          <a:p>
            <a:pPr algn="l">
              <a:lnSpc>
                <a:spcPts val="6983"/>
              </a:lnSpc>
            </a:pPr>
            <a:r>
              <a:rPr lang="en-US" sz="4988" spc="194">
                <a:solidFill>
                  <a:srgbClr val="EA9267"/>
                </a:solidFill>
                <a:latin typeface="Montserrat"/>
                <a:ea typeface="Montserrat"/>
                <a:cs typeface="Montserrat"/>
                <a:sym typeface="Montserrat"/>
              </a:rPr>
              <a:t>KODLAMA VE TOOKENİZASYON</a:t>
            </a:r>
          </a:p>
        </p:txBody>
      </p:sp>
    </p:spTree>
  </p:cSld>
  <p:clrMapOvr>
    <a:masterClrMapping/>
  </p:clrMapOvr>
  <p:timing>
    <p:tnLst>
      <p:par>
        <p:cTn dur="indefinite" restart="never" nodeType="tmRoot">
          <p:childTnLst>
            <p:video>
              <p:cMediaNode vol="100000">
                <p:cTn fill="hold" display="false">
                  <p:stCondLst>
                    <p:cond delay="indefinite"/>
                  </p:stCondLst>
                </p:cTn>
                <p:tgtEl>
                  <p:spTgt spid="4"/>
                </p:tgtEl>
              </p:cMediaNode>
            </p:video>
          </p:childTnLst>
        </p:cTn>
      </p:par>
    </p:tnLst>
  </p:timing>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1F0034"/>
        </a:solidFill>
      </p:bgPr>
    </p:bg>
    <p:spTree>
      <p:nvGrpSpPr>
        <p:cNvPr id="1" name=""/>
        <p:cNvGrpSpPr/>
        <p:nvPr/>
      </p:nvGrpSpPr>
      <p:grpSpPr>
        <a:xfrm>
          <a:off x="0" y="0"/>
          <a:ext cx="0" cy="0"/>
          <a:chOff x="0" y="0"/>
          <a:chExt cx="0" cy="0"/>
        </a:xfrm>
      </p:grpSpPr>
      <p:sp>
        <p:nvSpPr>
          <p:cNvPr name="Freeform 2" id="2"/>
          <p:cNvSpPr/>
          <p:nvPr/>
        </p:nvSpPr>
        <p:spPr>
          <a:xfrm flipH="false" flipV="false" rot="4862015">
            <a:off x="10157954" y="2652590"/>
            <a:ext cx="13034898" cy="6446038"/>
          </a:xfrm>
          <a:custGeom>
            <a:avLst/>
            <a:gdLst/>
            <a:ahLst/>
            <a:cxnLst/>
            <a:rect r="r" b="b" t="t" l="l"/>
            <a:pathLst>
              <a:path h="6446038" w="13034898">
                <a:moveTo>
                  <a:pt x="0" y="0"/>
                </a:moveTo>
                <a:lnTo>
                  <a:pt x="13034898" y="0"/>
                </a:lnTo>
                <a:lnTo>
                  <a:pt x="13034898" y="6446038"/>
                </a:lnTo>
                <a:lnTo>
                  <a:pt x="0" y="6446038"/>
                </a:lnTo>
                <a:lnTo>
                  <a:pt x="0" y="0"/>
                </a:lnTo>
                <a:close/>
              </a:path>
            </a:pathLst>
          </a:custGeom>
          <a:blipFill>
            <a:blip r:embed="rId2">
              <a:extLst>
                <a:ext uri="{96DAC541-7B7A-43D3-8B79-37D633B846F1}">
                  <asvg:svgBlip xmlns:asvg="http://schemas.microsoft.com/office/drawing/2016/SVG/main" r:embed="rId3"/>
                </a:ext>
              </a:extLst>
            </a:blip>
            <a:stretch>
              <a:fillRect l="0" t="0" r="-134" b="-129447"/>
            </a:stretch>
          </a:blipFill>
        </p:spPr>
      </p:sp>
      <p:sp>
        <p:nvSpPr>
          <p:cNvPr name="Freeform 3" id="3"/>
          <p:cNvSpPr/>
          <p:nvPr/>
        </p:nvSpPr>
        <p:spPr>
          <a:xfrm flipH="false" flipV="false" rot="-6492416">
            <a:off x="-4102332" y="4826625"/>
            <a:ext cx="13034898" cy="6446038"/>
          </a:xfrm>
          <a:custGeom>
            <a:avLst/>
            <a:gdLst/>
            <a:ahLst/>
            <a:cxnLst/>
            <a:rect r="r" b="b" t="t" l="l"/>
            <a:pathLst>
              <a:path h="6446038" w="13034898">
                <a:moveTo>
                  <a:pt x="0" y="0"/>
                </a:moveTo>
                <a:lnTo>
                  <a:pt x="13034898" y="0"/>
                </a:lnTo>
                <a:lnTo>
                  <a:pt x="13034898" y="6446039"/>
                </a:lnTo>
                <a:lnTo>
                  <a:pt x="0" y="6446039"/>
                </a:lnTo>
                <a:lnTo>
                  <a:pt x="0" y="0"/>
                </a:lnTo>
                <a:close/>
              </a:path>
            </a:pathLst>
          </a:custGeom>
          <a:blipFill>
            <a:blip r:embed="rId4">
              <a:extLst>
                <a:ext uri="{96DAC541-7B7A-43D3-8B79-37D633B846F1}">
                  <asvg:svgBlip xmlns:asvg="http://schemas.microsoft.com/office/drawing/2016/SVG/main" r:embed="rId5"/>
                </a:ext>
              </a:extLst>
            </a:blip>
            <a:stretch>
              <a:fillRect l="0" t="0" r="-134" b="-129447"/>
            </a:stretch>
          </a:blipFill>
        </p:spPr>
      </p:sp>
      <p:sp>
        <p:nvSpPr>
          <p:cNvPr name="Freeform 4" id="4"/>
          <p:cNvSpPr/>
          <p:nvPr/>
        </p:nvSpPr>
        <p:spPr>
          <a:xfrm flipH="false" flipV="false" rot="0">
            <a:off x="13411200" y="-2353991"/>
            <a:ext cx="8229600" cy="8229600"/>
          </a:xfrm>
          <a:custGeom>
            <a:avLst/>
            <a:gdLst/>
            <a:ahLst/>
            <a:cxnLst/>
            <a:rect r="r" b="b" t="t" l="l"/>
            <a:pathLst>
              <a:path h="8229600" w="8229600">
                <a:moveTo>
                  <a:pt x="0" y="0"/>
                </a:moveTo>
                <a:lnTo>
                  <a:pt x="8229600" y="0"/>
                </a:lnTo>
                <a:lnTo>
                  <a:pt x="8229600" y="8229600"/>
                </a:lnTo>
                <a:lnTo>
                  <a:pt x="0" y="8229600"/>
                </a:lnTo>
                <a:lnTo>
                  <a:pt x="0" y="0"/>
                </a:lnTo>
                <a:close/>
              </a:path>
            </a:pathLst>
          </a:custGeom>
          <a:blipFill>
            <a:blip r:embed="rId6"/>
            <a:stretch>
              <a:fillRect l="0" t="0" r="0" b="0"/>
            </a:stretch>
          </a:blipFill>
        </p:spPr>
      </p:sp>
      <p:sp>
        <p:nvSpPr>
          <p:cNvPr name="Freeform 5" id="5"/>
          <p:cNvSpPr/>
          <p:nvPr/>
        </p:nvSpPr>
        <p:spPr>
          <a:xfrm flipH="false" flipV="false" rot="6621428">
            <a:off x="-5698100" y="-3688390"/>
            <a:ext cx="10550923" cy="11871643"/>
          </a:xfrm>
          <a:custGeom>
            <a:avLst/>
            <a:gdLst/>
            <a:ahLst/>
            <a:cxnLst/>
            <a:rect r="r" b="b" t="t" l="l"/>
            <a:pathLst>
              <a:path h="11871643" w="10550923">
                <a:moveTo>
                  <a:pt x="0" y="0"/>
                </a:moveTo>
                <a:lnTo>
                  <a:pt x="10550923" y="0"/>
                </a:lnTo>
                <a:lnTo>
                  <a:pt x="10550923" y="11871643"/>
                </a:lnTo>
                <a:lnTo>
                  <a:pt x="0" y="11871643"/>
                </a:lnTo>
                <a:lnTo>
                  <a:pt x="0" y="0"/>
                </a:lnTo>
                <a:close/>
              </a:path>
            </a:pathLst>
          </a:custGeom>
          <a:blipFill>
            <a:blip r:embed="rId7"/>
            <a:stretch>
              <a:fillRect l="0" t="0" r="0" b="0"/>
            </a:stretch>
          </a:blipFill>
        </p:spPr>
      </p:sp>
      <p:sp>
        <p:nvSpPr>
          <p:cNvPr name="Freeform 6" id="6"/>
          <p:cNvSpPr/>
          <p:nvPr/>
        </p:nvSpPr>
        <p:spPr>
          <a:xfrm flipH="false" flipV="false" rot="0">
            <a:off x="5850664" y="-2792995"/>
            <a:ext cx="14097816" cy="8229600"/>
          </a:xfrm>
          <a:custGeom>
            <a:avLst/>
            <a:gdLst/>
            <a:ahLst/>
            <a:cxnLst/>
            <a:rect r="r" b="b" t="t" l="l"/>
            <a:pathLst>
              <a:path h="8229600" w="14097816">
                <a:moveTo>
                  <a:pt x="0" y="0"/>
                </a:moveTo>
                <a:lnTo>
                  <a:pt x="14097815" y="0"/>
                </a:lnTo>
                <a:lnTo>
                  <a:pt x="14097815" y="8229600"/>
                </a:lnTo>
                <a:lnTo>
                  <a:pt x="0" y="8229600"/>
                </a:lnTo>
                <a:lnTo>
                  <a:pt x="0" y="0"/>
                </a:lnTo>
                <a:close/>
              </a:path>
            </a:pathLst>
          </a:custGeom>
          <a:blipFill>
            <a:blip r:embed="rId8">
              <a:alphaModFix amt="70000"/>
            </a:blip>
            <a:stretch>
              <a:fillRect l="0" t="0" r="0" b="0"/>
            </a:stretch>
          </a:blipFill>
        </p:spPr>
      </p:sp>
      <p:sp>
        <p:nvSpPr>
          <p:cNvPr name="TextBox 7" id="7"/>
          <p:cNvSpPr txBox="true"/>
          <p:nvPr/>
        </p:nvSpPr>
        <p:spPr>
          <a:xfrm rot="0">
            <a:off x="3419989" y="2805459"/>
            <a:ext cx="10905012" cy="2441575"/>
          </a:xfrm>
          <a:prstGeom prst="rect">
            <a:avLst/>
          </a:prstGeom>
        </p:spPr>
        <p:txBody>
          <a:bodyPr anchor="t" rtlCol="false" tIns="0" lIns="0" bIns="0" rIns="0">
            <a:spAutoFit/>
          </a:bodyPr>
          <a:lstStyle/>
          <a:p>
            <a:pPr algn="ctr">
              <a:lnSpc>
                <a:spcPts val="9800"/>
              </a:lnSpc>
            </a:pPr>
            <a:r>
              <a:rPr lang="en-US" b="true" sz="7000" spc="273">
                <a:solidFill>
                  <a:srgbClr val="FFFFFF"/>
                </a:solidFill>
                <a:latin typeface="Montserrat Bold"/>
                <a:ea typeface="Montserrat Bold"/>
                <a:cs typeface="Montserrat Bold"/>
                <a:sym typeface="Montserrat Bold"/>
              </a:rPr>
              <a:t>HANDLING MULTIPLE SEQUENCES</a:t>
            </a:r>
          </a:p>
        </p:txBody>
      </p:sp>
      <p:sp>
        <p:nvSpPr>
          <p:cNvPr name="TextBox 8" id="8"/>
          <p:cNvSpPr txBox="true"/>
          <p:nvPr/>
        </p:nvSpPr>
        <p:spPr>
          <a:xfrm rot="0">
            <a:off x="5832660" y="6273670"/>
            <a:ext cx="6622681" cy="466448"/>
          </a:xfrm>
          <a:prstGeom prst="rect">
            <a:avLst/>
          </a:prstGeom>
        </p:spPr>
        <p:txBody>
          <a:bodyPr anchor="t" rtlCol="false" tIns="0" lIns="0" bIns="0" rIns="0">
            <a:spAutoFit/>
          </a:bodyPr>
          <a:lstStyle/>
          <a:p>
            <a:pPr algn="ctr">
              <a:lnSpc>
                <a:spcPts val="3504"/>
              </a:lnSpc>
            </a:pPr>
            <a:r>
              <a:rPr lang="en-US" b="true" sz="2503" spc="97">
                <a:solidFill>
                  <a:srgbClr val="FFFFFF"/>
                </a:solidFill>
                <a:latin typeface="Montserrat Bold"/>
                <a:ea typeface="Montserrat Bold"/>
                <a:cs typeface="Montserrat Bold"/>
                <a:sym typeface="Montserrat Bold"/>
              </a:rPr>
              <a:t>BIRDEN FAZLA DIZININ IŞLENM</a:t>
            </a:r>
            <a:r>
              <a:rPr lang="en-US" b="true" sz="2503" spc="97">
                <a:solidFill>
                  <a:srgbClr val="FFFFFF"/>
                </a:solidFill>
                <a:latin typeface="Montserrat Bold"/>
                <a:ea typeface="Montserrat Bold"/>
                <a:cs typeface="Montserrat Bold"/>
                <a:sym typeface="Montserrat Bold"/>
              </a:rPr>
              <a:t>esi</a:t>
            </a:r>
          </a:p>
          <a:p>
            <a:pPr algn="ctr">
              <a:lnSpc>
                <a:spcPts val="50"/>
              </a:lnSpc>
            </a:pPr>
          </a:p>
        </p:txBody>
      </p:sp>
      <p:sp>
        <p:nvSpPr>
          <p:cNvPr name="AutoShape 9" id="9"/>
          <p:cNvSpPr/>
          <p:nvPr/>
        </p:nvSpPr>
        <p:spPr>
          <a:xfrm>
            <a:off x="5380784" y="7132790"/>
            <a:ext cx="7526432" cy="0"/>
          </a:xfrm>
          <a:prstGeom prst="line">
            <a:avLst/>
          </a:prstGeom>
          <a:ln cap="flat" w="19050">
            <a:solidFill>
              <a:srgbClr val="9570FF"/>
            </a:solidFill>
            <a:prstDash val="solid"/>
            <a:headEnd type="none" len="sm" w="sm"/>
            <a:tailEnd type="none" len="sm" w="sm"/>
          </a:ln>
        </p:spPr>
      </p:sp>
      <p:sp>
        <p:nvSpPr>
          <p:cNvPr name="AutoShape 10" id="10"/>
          <p:cNvSpPr/>
          <p:nvPr/>
        </p:nvSpPr>
        <p:spPr>
          <a:xfrm>
            <a:off x="5380784" y="5928622"/>
            <a:ext cx="7526432" cy="0"/>
          </a:xfrm>
          <a:prstGeom prst="line">
            <a:avLst/>
          </a:prstGeom>
          <a:ln cap="flat" w="19050">
            <a:solidFill>
              <a:srgbClr val="9570FF"/>
            </a:solidFill>
            <a:prstDash val="solid"/>
            <a:headEnd type="none" len="sm" w="sm"/>
            <a:tailEnd type="none" len="sm" w="sm"/>
          </a:ln>
        </p:spPr>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1F0034"/>
        </a:solidFill>
      </p:bgPr>
    </p:bg>
    <p:spTree>
      <p:nvGrpSpPr>
        <p:cNvPr id="1" name=""/>
        <p:cNvGrpSpPr/>
        <p:nvPr/>
      </p:nvGrpSpPr>
      <p:grpSpPr>
        <a:xfrm>
          <a:off x="0" y="0"/>
          <a:ext cx="0" cy="0"/>
          <a:chOff x="0" y="0"/>
          <a:chExt cx="0" cy="0"/>
        </a:xfrm>
      </p:grpSpPr>
      <p:sp>
        <p:nvSpPr>
          <p:cNvPr name="Freeform 2" id="2"/>
          <p:cNvSpPr/>
          <p:nvPr/>
        </p:nvSpPr>
        <p:spPr>
          <a:xfrm flipH="false" flipV="false" rot="1105660">
            <a:off x="-1622350" y="8415563"/>
            <a:ext cx="11979038" cy="7127528"/>
          </a:xfrm>
          <a:custGeom>
            <a:avLst/>
            <a:gdLst/>
            <a:ahLst/>
            <a:cxnLst/>
            <a:rect r="r" b="b" t="t" l="l"/>
            <a:pathLst>
              <a:path h="7127528" w="11979038">
                <a:moveTo>
                  <a:pt x="0" y="0"/>
                </a:moveTo>
                <a:lnTo>
                  <a:pt x="11979039" y="0"/>
                </a:lnTo>
                <a:lnTo>
                  <a:pt x="11979039" y="7127527"/>
                </a:lnTo>
                <a:lnTo>
                  <a:pt x="0" y="71275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978639">
            <a:off x="1608020" y="8527061"/>
            <a:ext cx="11979038" cy="7127528"/>
          </a:xfrm>
          <a:custGeom>
            <a:avLst/>
            <a:gdLst/>
            <a:ahLst/>
            <a:cxnLst/>
            <a:rect r="r" b="b" t="t" l="l"/>
            <a:pathLst>
              <a:path h="7127528" w="11979038">
                <a:moveTo>
                  <a:pt x="11979038" y="0"/>
                </a:moveTo>
                <a:lnTo>
                  <a:pt x="0" y="0"/>
                </a:lnTo>
                <a:lnTo>
                  <a:pt x="0" y="7127527"/>
                </a:lnTo>
                <a:lnTo>
                  <a:pt x="11979038" y="7127527"/>
                </a:lnTo>
                <a:lnTo>
                  <a:pt x="1197903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978639">
            <a:off x="7990915" y="8527061"/>
            <a:ext cx="11979038" cy="7127528"/>
          </a:xfrm>
          <a:custGeom>
            <a:avLst/>
            <a:gdLst/>
            <a:ahLst/>
            <a:cxnLst/>
            <a:rect r="r" b="b" t="t" l="l"/>
            <a:pathLst>
              <a:path h="7127528" w="11979038">
                <a:moveTo>
                  <a:pt x="11979038" y="0"/>
                </a:moveTo>
                <a:lnTo>
                  <a:pt x="0" y="0"/>
                </a:lnTo>
                <a:lnTo>
                  <a:pt x="0" y="7127527"/>
                </a:lnTo>
                <a:lnTo>
                  <a:pt x="11979038" y="7127527"/>
                </a:lnTo>
                <a:lnTo>
                  <a:pt x="1197903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2620375">
            <a:off x="-3762979" y="-1231160"/>
            <a:ext cx="9100772" cy="4500528"/>
          </a:xfrm>
          <a:custGeom>
            <a:avLst/>
            <a:gdLst/>
            <a:ahLst/>
            <a:cxnLst/>
            <a:rect r="r" b="b" t="t" l="l"/>
            <a:pathLst>
              <a:path h="4500528" w="9100772">
                <a:moveTo>
                  <a:pt x="0" y="0"/>
                </a:moveTo>
                <a:lnTo>
                  <a:pt x="9100772" y="0"/>
                </a:lnTo>
                <a:lnTo>
                  <a:pt x="9100772" y="4500528"/>
                </a:lnTo>
                <a:lnTo>
                  <a:pt x="0" y="4500528"/>
                </a:lnTo>
                <a:lnTo>
                  <a:pt x="0" y="0"/>
                </a:lnTo>
                <a:close/>
              </a:path>
            </a:pathLst>
          </a:custGeom>
          <a:blipFill>
            <a:blip r:embed="rId4">
              <a:extLst>
                <a:ext uri="{96DAC541-7B7A-43D3-8B79-37D633B846F1}">
                  <asvg:svgBlip xmlns:asvg="http://schemas.microsoft.com/office/drawing/2016/SVG/main" r:embed="rId5"/>
                </a:ext>
              </a:extLst>
            </a:blip>
            <a:stretch>
              <a:fillRect l="0" t="0" r="-134" b="-129447"/>
            </a:stretch>
          </a:blipFill>
          <a:ln cap="sq">
            <a:noFill/>
            <a:prstDash val="solid"/>
            <a:miter/>
          </a:ln>
        </p:spPr>
      </p:sp>
      <p:sp>
        <p:nvSpPr>
          <p:cNvPr name="Freeform 6" id="6"/>
          <p:cNvSpPr/>
          <p:nvPr/>
        </p:nvSpPr>
        <p:spPr>
          <a:xfrm flipH="true" flipV="true" rot="-7611712">
            <a:off x="13654322" y="-945318"/>
            <a:ext cx="9100772" cy="4500528"/>
          </a:xfrm>
          <a:custGeom>
            <a:avLst/>
            <a:gdLst/>
            <a:ahLst/>
            <a:cxnLst/>
            <a:rect r="r" b="b" t="t" l="l"/>
            <a:pathLst>
              <a:path h="4500528" w="9100772">
                <a:moveTo>
                  <a:pt x="9100772" y="4500528"/>
                </a:moveTo>
                <a:lnTo>
                  <a:pt x="0" y="4500528"/>
                </a:lnTo>
                <a:lnTo>
                  <a:pt x="0" y="0"/>
                </a:lnTo>
                <a:lnTo>
                  <a:pt x="9100772" y="0"/>
                </a:lnTo>
                <a:lnTo>
                  <a:pt x="9100772" y="4500528"/>
                </a:lnTo>
                <a:close/>
              </a:path>
            </a:pathLst>
          </a:custGeom>
          <a:blipFill>
            <a:blip r:embed="rId4">
              <a:extLst>
                <a:ext uri="{96DAC541-7B7A-43D3-8B79-37D633B846F1}">
                  <asvg:svgBlip xmlns:asvg="http://schemas.microsoft.com/office/drawing/2016/SVG/main" r:embed="rId5"/>
                </a:ext>
              </a:extLst>
            </a:blip>
            <a:stretch>
              <a:fillRect l="0" t="0" r="-134" b="-129447"/>
            </a:stretch>
          </a:blipFill>
          <a:ln cap="sq">
            <a:noFill/>
            <a:prstDash val="solid"/>
            <a:miter/>
          </a:ln>
        </p:spPr>
      </p:sp>
      <p:sp>
        <p:nvSpPr>
          <p:cNvPr name="Freeform 7" id="7"/>
          <p:cNvSpPr/>
          <p:nvPr/>
        </p:nvSpPr>
        <p:spPr>
          <a:xfrm flipH="false" flipV="false" rot="-2700000">
            <a:off x="-3581034" y="-3862329"/>
            <a:ext cx="10020822" cy="8229600"/>
          </a:xfrm>
          <a:custGeom>
            <a:avLst/>
            <a:gdLst/>
            <a:ahLst/>
            <a:cxnLst/>
            <a:rect r="r" b="b" t="t" l="l"/>
            <a:pathLst>
              <a:path h="8229600" w="10020822">
                <a:moveTo>
                  <a:pt x="0" y="0"/>
                </a:moveTo>
                <a:lnTo>
                  <a:pt x="10020822" y="0"/>
                </a:lnTo>
                <a:lnTo>
                  <a:pt x="10020822" y="8229600"/>
                </a:lnTo>
                <a:lnTo>
                  <a:pt x="0" y="8229600"/>
                </a:lnTo>
                <a:lnTo>
                  <a:pt x="0" y="0"/>
                </a:lnTo>
                <a:close/>
              </a:path>
            </a:pathLst>
          </a:custGeom>
          <a:blipFill>
            <a:blip r:embed="rId6"/>
            <a:stretch>
              <a:fillRect l="0" t="0" r="0" b="0"/>
            </a:stretch>
          </a:blipFill>
        </p:spPr>
      </p:sp>
      <p:sp>
        <p:nvSpPr>
          <p:cNvPr name="Freeform 8" id="8"/>
          <p:cNvSpPr/>
          <p:nvPr/>
        </p:nvSpPr>
        <p:spPr>
          <a:xfrm flipH="false" flipV="false" rot="0">
            <a:off x="15140613" y="6072317"/>
            <a:ext cx="4925747" cy="5425330"/>
          </a:xfrm>
          <a:custGeom>
            <a:avLst/>
            <a:gdLst/>
            <a:ahLst/>
            <a:cxnLst/>
            <a:rect r="r" b="b" t="t" l="l"/>
            <a:pathLst>
              <a:path h="5425330" w="4925747">
                <a:moveTo>
                  <a:pt x="0" y="0"/>
                </a:moveTo>
                <a:lnTo>
                  <a:pt x="4925748" y="0"/>
                </a:lnTo>
                <a:lnTo>
                  <a:pt x="4925748" y="5425330"/>
                </a:lnTo>
                <a:lnTo>
                  <a:pt x="0" y="5425330"/>
                </a:lnTo>
                <a:lnTo>
                  <a:pt x="0" y="0"/>
                </a:lnTo>
                <a:close/>
              </a:path>
            </a:pathLst>
          </a:custGeom>
          <a:blipFill>
            <a:blip r:embed="rId7"/>
            <a:stretch>
              <a:fillRect l="0" t="0" r="0" b="0"/>
            </a:stretch>
          </a:blipFill>
        </p:spPr>
      </p:sp>
      <p:sp>
        <p:nvSpPr>
          <p:cNvPr name="TextBox 9" id="9"/>
          <p:cNvSpPr txBox="true"/>
          <p:nvPr/>
        </p:nvSpPr>
        <p:spPr>
          <a:xfrm rot="0">
            <a:off x="2723534" y="3381661"/>
            <a:ext cx="13282514" cy="2690656"/>
          </a:xfrm>
          <a:prstGeom prst="rect">
            <a:avLst/>
          </a:prstGeom>
        </p:spPr>
        <p:txBody>
          <a:bodyPr anchor="t" rtlCol="false" tIns="0" lIns="0" bIns="0" rIns="0">
            <a:spAutoFit/>
          </a:bodyPr>
          <a:lstStyle/>
          <a:p>
            <a:pPr algn="just">
              <a:lnSpc>
                <a:spcPts val="3090"/>
              </a:lnSpc>
            </a:pPr>
            <a:r>
              <a:rPr lang="en-US" sz="1952">
                <a:solidFill>
                  <a:srgbClr val="FFFFFF"/>
                </a:solidFill>
                <a:latin typeface="Montserrat Light"/>
                <a:ea typeface="Montserrat Light"/>
                <a:cs typeface="Montserrat Light"/>
                <a:sym typeface="Montserrat Light"/>
              </a:rPr>
              <a:t>Önceki bölümde, en basit kullanım örneklerinden birini inceledik: kısa uzunluktaki tek bir dizi üzerinde çıkarım yapmak. Ancak, şimdiden bazı sorular ortaya çıkıyor:</a:t>
            </a:r>
          </a:p>
          <a:p>
            <a:pPr algn="just" marL="421470" indent="-210735" lvl="1">
              <a:lnSpc>
                <a:spcPts val="3090"/>
              </a:lnSpc>
              <a:buFont typeface="Arial"/>
              <a:buChar char="•"/>
            </a:pPr>
            <a:r>
              <a:rPr lang="en-US" sz="1952">
                <a:solidFill>
                  <a:srgbClr val="FFFFFF"/>
                </a:solidFill>
                <a:latin typeface="Montserrat Light"/>
                <a:ea typeface="Montserrat Light"/>
                <a:cs typeface="Montserrat Light"/>
                <a:sym typeface="Montserrat Light"/>
              </a:rPr>
              <a:t>Birden fazla diziyi nasıl ele alıyoruz?</a:t>
            </a:r>
          </a:p>
          <a:p>
            <a:pPr algn="just" marL="421470" indent="-210735" lvl="1">
              <a:lnSpc>
                <a:spcPts val="3090"/>
              </a:lnSpc>
              <a:buFont typeface="Arial"/>
              <a:buChar char="•"/>
            </a:pPr>
            <a:r>
              <a:rPr lang="en-US" sz="1952">
                <a:solidFill>
                  <a:srgbClr val="FFFFFF"/>
                </a:solidFill>
                <a:latin typeface="Montserrat Light"/>
                <a:ea typeface="Montserrat Light"/>
                <a:cs typeface="Montserrat Light"/>
                <a:sym typeface="Montserrat Light"/>
              </a:rPr>
              <a:t>Farklı uzunluklardaki birden fazla diziyi nasıl ele alırız ?</a:t>
            </a:r>
          </a:p>
          <a:p>
            <a:pPr algn="just" marL="421470" indent="-210735" lvl="1">
              <a:lnSpc>
                <a:spcPts val="3090"/>
              </a:lnSpc>
              <a:buFont typeface="Arial"/>
              <a:buChar char="•"/>
            </a:pPr>
            <a:r>
              <a:rPr lang="en-US" sz="1952">
                <a:solidFill>
                  <a:srgbClr val="FFFFFF"/>
                </a:solidFill>
                <a:latin typeface="Montserrat Light"/>
                <a:ea typeface="Montserrat Light"/>
                <a:cs typeface="Montserrat Light"/>
                <a:sym typeface="Montserrat Light"/>
              </a:rPr>
              <a:t>Bir modelin iyi çalışması için gereken tek girdi kelime dağarcığı indeksleri midir?</a:t>
            </a:r>
          </a:p>
          <a:p>
            <a:pPr algn="just" marL="421470" indent="-210735" lvl="1">
              <a:lnSpc>
                <a:spcPts val="3090"/>
              </a:lnSpc>
              <a:buFont typeface="Arial"/>
              <a:buChar char="•"/>
            </a:pPr>
            <a:r>
              <a:rPr lang="en-US" sz="1952">
                <a:solidFill>
                  <a:srgbClr val="FFFFFF"/>
                </a:solidFill>
                <a:latin typeface="Montserrat Light"/>
                <a:ea typeface="Montserrat Light"/>
                <a:cs typeface="Montserrat Light"/>
                <a:sym typeface="Montserrat Light"/>
              </a:rPr>
              <a:t>Çok uzun bir dizi diye bir şey var mı?</a:t>
            </a:r>
          </a:p>
          <a:p>
            <a:pPr algn="just" marL="0" indent="0" lvl="0">
              <a:lnSpc>
                <a:spcPts val="3090"/>
              </a:lnSpc>
              <a:spcBef>
                <a:spcPct val="0"/>
              </a:spcBef>
            </a:pP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1F0034"/>
        </a:solidFill>
      </p:bgPr>
    </p:bg>
    <p:spTree>
      <p:nvGrpSpPr>
        <p:cNvPr id="1" name=""/>
        <p:cNvGrpSpPr/>
        <p:nvPr/>
      </p:nvGrpSpPr>
      <p:grpSpPr>
        <a:xfrm>
          <a:off x="0" y="0"/>
          <a:ext cx="0" cy="0"/>
          <a:chOff x="0" y="0"/>
          <a:chExt cx="0" cy="0"/>
        </a:xfrm>
      </p:grpSpPr>
      <p:sp>
        <p:nvSpPr>
          <p:cNvPr name="Freeform 2" id="2"/>
          <p:cNvSpPr/>
          <p:nvPr/>
        </p:nvSpPr>
        <p:spPr>
          <a:xfrm flipH="false" flipV="false" rot="1105660">
            <a:off x="-1622350" y="8415563"/>
            <a:ext cx="11979038" cy="7127528"/>
          </a:xfrm>
          <a:custGeom>
            <a:avLst/>
            <a:gdLst/>
            <a:ahLst/>
            <a:cxnLst/>
            <a:rect r="r" b="b" t="t" l="l"/>
            <a:pathLst>
              <a:path h="7127528" w="11979038">
                <a:moveTo>
                  <a:pt x="0" y="0"/>
                </a:moveTo>
                <a:lnTo>
                  <a:pt x="11979039" y="0"/>
                </a:lnTo>
                <a:lnTo>
                  <a:pt x="11979039" y="7127527"/>
                </a:lnTo>
                <a:lnTo>
                  <a:pt x="0" y="71275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978639">
            <a:off x="1608020" y="8527061"/>
            <a:ext cx="11979038" cy="7127528"/>
          </a:xfrm>
          <a:custGeom>
            <a:avLst/>
            <a:gdLst/>
            <a:ahLst/>
            <a:cxnLst/>
            <a:rect r="r" b="b" t="t" l="l"/>
            <a:pathLst>
              <a:path h="7127528" w="11979038">
                <a:moveTo>
                  <a:pt x="11979038" y="0"/>
                </a:moveTo>
                <a:lnTo>
                  <a:pt x="0" y="0"/>
                </a:lnTo>
                <a:lnTo>
                  <a:pt x="0" y="7127527"/>
                </a:lnTo>
                <a:lnTo>
                  <a:pt x="11979038" y="7127527"/>
                </a:lnTo>
                <a:lnTo>
                  <a:pt x="1197903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978639">
            <a:off x="7990915" y="8527061"/>
            <a:ext cx="11979038" cy="7127528"/>
          </a:xfrm>
          <a:custGeom>
            <a:avLst/>
            <a:gdLst/>
            <a:ahLst/>
            <a:cxnLst/>
            <a:rect r="r" b="b" t="t" l="l"/>
            <a:pathLst>
              <a:path h="7127528" w="11979038">
                <a:moveTo>
                  <a:pt x="11979038" y="0"/>
                </a:moveTo>
                <a:lnTo>
                  <a:pt x="0" y="0"/>
                </a:lnTo>
                <a:lnTo>
                  <a:pt x="0" y="7127527"/>
                </a:lnTo>
                <a:lnTo>
                  <a:pt x="11979038" y="7127527"/>
                </a:lnTo>
                <a:lnTo>
                  <a:pt x="1197903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2620375">
            <a:off x="-3762979" y="-1231160"/>
            <a:ext cx="9100772" cy="4500528"/>
          </a:xfrm>
          <a:custGeom>
            <a:avLst/>
            <a:gdLst/>
            <a:ahLst/>
            <a:cxnLst/>
            <a:rect r="r" b="b" t="t" l="l"/>
            <a:pathLst>
              <a:path h="4500528" w="9100772">
                <a:moveTo>
                  <a:pt x="0" y="0"/>
                </a:moveTo>
                <a:lnTo>
                  <a:pt x="9100772" y="0"/>
                </a:lnTo>
                <a:lnTo>
                  <a:pt x="9100772" y="4500528"/>
                </a:lnTo>
                <a:lnTo>
                  <a:pt x="0" y="4500528"/>
                </a:lnTo>
                <a:lnTo>
                  <a:pt x="0" y="0"/>
                </a:lnTo>
                <a:close/>
              </a:path>
            </a:pathLst>
          </a:custGeom>
          <a:blipFill>
            <a:blip r:embed="rId4">
              <a:extLst>
                <a:ext uri="{96DAC541-7B7A-43D3-8B79-37D633B846F1}">
                  <asvg:svgBlip xmlns:asvg="http://schemas.microsoft.com/office/drawing/2016/SVG/main" r:embed="rId5"/>
                </a:ext>
              </a:extLst>
            </a:blip>
            <a:stretch>
              <a:fillRect l="0" t="0" r="-134" b="-129447"/>
            </a:stretch>
          </a:blipFill>
          <a:ln cap="sq">
            <a:noFill/>
            <a:prstDash val="solid"/>
            <a:miter/>
          </a:ln>
        </p:spPr>
      </p:sp>
      <p:sp>
        <p:nvSpPr>
          <p:cNvPr name="Freeform 6" id="6"/>
          <p:cNvSpPr/>
          <p:nvPr/>
        </p:nvSpPr>
        <p:spPr>
          <a:xfrm flipH="true" flipV="true" rot="-7611712">
            <a:off x="13654322" y="-945318"/>
            <a:ext cx="9100772" cy="4500528"/>
          </a:xfrm>
          <a:custGeom>
            <a:avLst/>
            <a:gdLst/>
            <a:ahLst/>
            <a:cxnLst/>
            <a:rect r="r" b="b" t="t" l="l"/>
            <a:pathLst>
              <a:path h="4500528" w="9100772">
                <a:moveTo>
                  <a:pt x="9100772" y="4500528"/>
                </a:moveTo>
                <a:lnTo>
                  <a:pt x="0" y="4500528"/>
                </a:lnTo>
                <a:lnTo>
                  <a:pt x="0" y="0"/>
                </a:lnTo>
                <a:lnTo>
                  <a:pt x="9100772" y="0"/>
                </a:lnTo>
                <a:lnTo>
                  <a:pt x="9100772" y="4500528"/>
                </a:lnTo>
                <a:close/>
              </a:path>
            </a:pathLst>
          </a:custGeom>
          <a:blipFill>
            <a:blip r:embed="rId4">
              <a:extLst>
                <a:ext uri="{96DAC541-7B7A-43D3-8B79-37D633B846F1}">
                  <asvg:svgBlip xmlns:asvg="http://schemas.microsoft.com/office/drawing/2016/SVG/main" r:embed="rId5"/>
                </a:ext>
              </a:extLst>
            </a:blip>
            <a:stretch>
              <a:fillRect l="0" t="0" r="-134" b="-129447"/>
            </a:stretch>
          </a:blipFill>
          <a:ln cap="sq">
            <a:noFill/>
            <a:prstDash val="solid"/>
            <a:miter/>
          </a:ln>
        </p:spPr>
      </p:sp>
      <p:sp>
        <p:nvSpPr>
          <p:cNvPr name="Freeform 7" id="7"/>
          <p:cNvSpPr/>
          <p:nvPr/>
        </p:nvSpPr>
        <p:spPr>
          <a:xfrm flipH="false" flipV="false" rot="-2700000">
            <a:off x="-3581034" y="-3862329"/>
            <a:ext cx="10020822" cy="8229600"/>
          </a:xfrm>
          <a:custGeom>
            <a:avLst/>
            <a:gdLst/>
            <a:ahLst/>
            <a:cxnLst/>
            <a:rect r="r" b="b" t="t" l="l"/>
            <a:pathLst>
              <a:path h="8229600" w="10020822">
                <a:moveTo>
                  <a:pt x="0" y="0"/>
                </a:moveTo>
                <a:lnTo>
                  <a:pt x="10020822" y="0"/>
                </a:lnTo>
                <a:lnTo>
                  <a:pt x="10020822" y="8229600"/>
                </a:lnTo>
                <a:lnTo>
                  <a:pt x="0" y="8229600"/>
                </a:lnTo>
                <a:lnTo>
                  <a:pt x="0" y="0"/>
                </a:lnTo>
                <a:close/>
              </a:path>
            </a:pathLst>
          </a:custGeom>
          <a:blipFill>
            <a:blip r:embed="rId6"/>
            <a:stretch>
              <a:fillRect l="0" t="0" r="0" b="0"/>
            </a:stretch>
          </a:blipFill>
        </p:spPr>
      </p:sp>
      <p:sp>
        <p:nvSpPr>
          <p:cNvPr name="Freeform 8" id="8"/>
          <p:cNvSpPr/>
          <p:nvPr/>
        </p:nvSpPr>
        <p:spPr>
          <a:xfrm flipH="false" flipV="false" rot="0">
            <a:off x="15140613" y="6072317"/>
            <a:ext cx="4925747" cy="5425330"/>
          </a:xfrm>
          <a:custGeom>
            <a:avLst/>
            <a:gdLst/>
            <a:ahLst/>
            <a:cxnLst/>
            <a:rect r="r" b="b" t="t" l="l"/>
            <a:pathLst>
              <a:path h="5425330" w="4925747">
                <a:moveTo>
                  <a:pt x="0" y="0"/>
                </a:moveTo>
                <a:lnTo>
                  <a:pt x="4925748" y="0"/>
                </a:lnTo>
                <a:lnTo>
                  <a:pt x="4925748" y="5425330"/>
                </a:lnTo>
                <a:lnTo>
                  <a:pt x="0" y="5425330"/>
                </a:lnTo>
                <a:lnTo>
                  <a:pt x="0" y="0"/>
                </a:lnTo>
                <a:close/>
              </a:path>
            </a:pathLst>
          </a:custGeom>
          <a:blipFill>
            <a:blip r:embed="rId7"/>
            <a:stretch>
              <a:fillRect l="0" t="0" r="0" b="0"/>
            </a:stretch>
          </a:blipFill>
        </p:spPr>
      </p:sp>
      <p:sp>
        <p:nvSpPr>
          <p:cNvPr name="TextBox 9" id="9"/>
          <p:cNvSpPr txBox="true"/>
          <p:nvPr/>
        </p:nvSpPr>
        <p:spPr>
          <a:xfrm rot="0">
            <a:off x="1429377" y="1811981"/>
            <a:ext cx="14147591" cy="1308967"/>
          </a:xfrm>
          <a:prstGeom prst="rect">
            <a:avLst/>
          </a:prstGeom>
        </p:spPr>
        <p:txBody>
          <a:bodyPr anchor="t" rtlCol="false" tIns="0" lIns="0" bIns="0" rIns="0">
            <a:spAutoFit/>
          </a:bodyPr>
          <a:lstStyle/>
          <a:p>
            <a:pPr algn="just">
              <a:lnSpc>
                <a:spcPts val="2658"/>
              </a:lnSpc>
            </a:pPr>
            <a:r>
              <a:rPr lang="en-US" sz="1679">
                <a:solidFill>
                  <a:srgbClr val="FFFFFF"/>
                </a:solidFill>
                <a:latin typeface="Montserrat Light"/>
                <a:ea typeface="Montserrat Light"/>
                <a:cs typeface="Montserrat Light"/>
                <a:sym typeface="Montserrat Light"/>
              </a:rPr>
              <a:t>Önceki alıştırmada dizilerin sayı listelerine nasıl çevrildiğini gördük. Bu sayı listesini tensor'a çevirip modele gönderelim.</a:t>
            </a:r>
          </a:p>
          <a:p>
            <a:pPr algn="just">
              <a:lnSpc>
                <a:spcPts val="2658"/>
              </a:lnSpc>
            </a:pPr>
            <a:r>
              <a:rPr lang="en-US" sz="1679">
                <a:solidFill>
                  <a:srgbClr val="FFFFFF"/>
                </a:solidFill>
                <a:latin typeface="Montserrat Light"/>
                <a:ea typeface="Montserrat Light"/>
                <a:cs typeface="Montserrat Light"/>
                <a:sym typeface="Montserrat Light"/>
              </a:rPr>
              <a:t>Oh hayır! Neden başarısız oldu? Pipeline'daki adımları izlemiştik. Sorun şu: modele tek bir dizi gönderdik, oysa 🙂 Transformers modelleri varsayılan olarak birden fazla cümle bekler.</a:t>
            </a:r>
          </a:p>
          <a:p>
            <a:pPr algn="just" marL="0" indent="0" lvl="0">
              <a:lnSpc>
                <a:spcPts val="2658"/>
              </a:lnSpc>
              <a:spcBef>
                <a:spcPct val="0"/>
              </a:spcBef>
            </a:pPr>
            <a:r>
              <a:rPr lang="en-US" sz="1679">
                <a:solidFill>
                  <a:srgbClr val="FFFFFF"/>
                </a:solidFill>
                <a:latin typeface="Montserrat Light"/>
                <a:ea typeface="Montserrat Light"/>
                <a:cs typeface="Montserrat Light"/>
                <a:sym typeface="Montserrat Light"/>
              </a:rPr>
              <a:t>Dikkatli bakarsak, tokenizer yalnızca input ID listesini tensor'a çevirmedi, üstüne bir boyut ekledi.</a:t>
            </a:r>
          </a:p>
        </p:txBody>
      </p:sp>
      <p:sp>
        <p:nvSpPr>
          <p:cNvPr name="TextBox 10" id="10"/>
          <p:cNvSpPr txBox="true"/>
          <p:nvPr/>
        </p:nvSpPr>
        <p:spPr>
          <a:xfrm rot="0">
            <a:off x="1038151" y="809493"/>
            <a:ext cx="15788204" cy="842584"/>
          </a:xfrm>
          <a:prstGeom prst="rect">
            <a:avLst/>
          </a:prstGeom>
        </p:spPr>
        <p:txBody>
          <a:bodyPr anchor="t" rtlCol="false" tIns="0" lIns="0" bIns="0" rIns="0">
            <a:spAutoFit/>
          </a:bodyPr>
          <a:lstStyle/>
          <a:p>
            <a:pPr algn="l">
              <a:lnSpc>
                <a:spcPts val="6983"/>
              </a:lnSpc>
            </a:pPr>
            <a:r>
              <a:rPr lang="en-US" sz="4988" spc="194">
                <a:solidFill>
                  <a:srgbClr val="EA9267"/>
                </a:solidFill>
                <a:latin typeface="Montserrat"/>
                <a:ea typeface="Montserrat"/>
                <a:cs typeface="Montserrat"/>
                <a:sym typeface="Montserrat"/>
              </a:rPr>
              <a:t>MODELS EXPECT A BATCH OF INPUTS (1/2)</a:t>
            </a:r>
          </a:p>
        </p:txBody>
      </p:sp>
      <p:sp>
        <p:nvSpPr>
          <p:cNvPr name="Freeform 11" id="11"/>
          <p:cNvSpPr/>
          <p:nvPr/>
        </p:nvSpPr>
        <p:spPr>
          <a:xfrm flipH="false" flipV="false" rot="0">
            <a:off x="1429377" y="3340023"/>
            <a:ext cx="8148775" cy="4312996"/>
          </a:xfrm>
          <a:custGeom>
            <a:avLst/>
            <a:gdLst/>
            <a:ahLst/>
            <a:cxnLst/>
            <a:rect r="r" b="b" t="t" l="l"/>
            <a:pathLst>
              <a:path h="4312996" w="8148775">
                <a:moveTo>
                  <a:pt x="0" y="0"/>
                </a:moveTo>
                <a:lnTo>
                  <a:pt x="8148774" y="0"/>
                </a:lnTo>
                <a:lnTo>
                  <a:pt x="8148774" y="4312996"/>
                </a:lnTo>
                <a:lnTo>
                  <a:pt x="0" y="4312996"/>
                </a:lnTo>
                <a:lnTo>
                  <a:pt x="0" y="0"/>
                </a:lnTo>
                <a:close/>
              </a:path>
            </a:pathLst>
          </a:custGeom>
          <a:blipFill>
            <a:blip r:embed="rId8"/>
            <a:stretch>
              <a:fillRect l="0" t="0" r="0" b="0"/>
            </a:stretch>
          </a:blipFill>
        </p:spPr>
      </p:sp>
      <p:sp>
        <p:nvSpPr>
          <p:cNvPr name="TextBox 12" id="12"/>
          <p:cNvSpPr txBox="true"/>
          <p:nvPr/>
        </p:nvSpPr>
        <p:spPr>
          <a:xfrm rot="0">
            <a:off x="1665605" y="4019188"/>
            <a:ext cx="7357328" cy="3097499"/>
          </a:xfrm>
          <a:prstGeom prst="rect">
            <a:avLst/>
          </a:prstGeom>
        </p:spPr>
        <p:txBody>
          <a:bodyPr anchor="t" rtlCol="false" tIns="0" lIns="0" bIns="0" rIns="0">
            <a:spAutoFit/>
          </a:bodyPr>
          <a:lstStyle/>
          <a:p>
            <a:pPr algn="l">
              <a:lnSpc>
                <a:spcPts val="1791"/>
              </a:lnSpc>
            </a:pPr>
            <a:r>
              <a:rPr lang="en-US" sz="1279" spc="-38">
                <a:solidFill>
                  <a:srgbClr val="FFFFFF">
                    <a:alpha val="80000"/>
                  </a:srgbClr>
                </a:solidFill>
                <a:latin typeface="Source Sans Pro"/>
                <a:ea typeface="Source Sans Pro"/>
                <a:cs typeface="Source Sans Pro"/>
                <a:sym typeface="Source Sans Pro"/>
              </a:rPr>
              <a:t>import torch</a:t>
            </a:r>
          </a:p>
          <a:p>
            <a:pPr algn="l">
              <a:lnSpc>
                <a:spcPts val="1791"/>
              </a:lnSpc>
            </a:pPr>
            <a:r>
              <a:rPr lang="en-US" sz="1279" spc="-38">
                <a:solidFill>
                  <a:srgbClr val="FFFFFF">
                    <a:alpha val="80000"/>
                  </a:srgbClr>
                </a:solidFill>
                <a:latin typeface="Source Sans Pro"/>
                <a:ea typeface="Source Sans Pro"/>
                <a:cs typeface="Source Sans Pro"/>
                <a:sym typeface="Source Sans Pro"/>
              </a:rPr>
              <a:t>from transformers import AutoTokenizer, AutoModelForSequenceClassification</a:t>
            </a:r>
          </a:p>
          <a:p>
            <a:pPr algn="l">
              <a:lnSpc>
                <a:spcPts val="1791"/>
              </a:lnSpc>
            </a:pPr>
          </a:p>
          <a:p>
            <a:pPr algn="l">
              <a:lnSpc>
                <a:spcPts val="1791"/>
              </a:lnSpc>
            </a:pPr>
            <a:r>
              <a:rPr lang="en-US" sz="1279" spc="-38">
                <a:solidFill>
                  <a:srgbClr val="FFFFFF">
                    <a:alpha val="80000"/>
                  </a:srgbClr>
                </a:solidFill>
                <a:latin typeface="Source Sans Pro"/>
                <a:ea typeface="Source Sans Pro"/>
                <a:cs typeface="Source Sans Pro"/>
                <a:sym typeface="Source Sans Pro"/>
              </a:rPr>
              <a:t>checkpoint = "distilbert-base-uncased-finetuned-sst-2-english"</a:t>
            </a:r>
          </a:p>
          <a:p>
            <a:pPr algn="l">
              <a:lnSpc>
                <a:spcPts val="1791"/>
              </a:lnSpc>
            </a:pPr>
            <a:r>
              <a:rPr lang="en-US" sz="1279" spc="-38">
                <a:solidFill>
                  <a:srgbClr val="FFFFFF">
                    <a:alpha val="80000"/>
                  </a:srgbClr>
                </a:solidFill>
                <a:latin typeface="Source Sans Pro"/>
                <a:ea typeface="Source Sans Pro"/>
                <a:cs typeface="Source Sans Pro"/>
                <a:sym typeface="Source Sans Pro"/>
              </a:rPr>
              <a:t>tokenizer = AutoTokenizer from pretrained checkpoint)</a:t>
            </a:r>
          </a:p>
          <a:p>
            <a:pPr algn="l">
              <a:lnSpc>
                <a:spcPts val="1791"/>
              </a:lnSpc>
            </a:pPr>
            <a:r>
              <a:rPr lang="en-US" sz="1279" spc="-38">
                <a:solidFill>
                  <a:srgbClr val="FFFFFF">
                    <a:alpha val="80000"/>
                  </a:srgbClr>
                </a:solidFill>
                <a:latin typeface="Source Sans Pro"/>
                <a:ea typeface="Source Sans Pro"/>
                <a:cs typeface="Source Sans Pro"/>
                <a:sym typeface="Source Sans Pro"/>
              </a:rPr>
              <a:t>model = AutoModelForSequenceClassification from pretrained checkpoint)</a:t>
            </a:r>
          </a:p>
          <a:p>
            <a:pPr algn="l">
              <a:lnSpc>
                <a:spcPts val="1791"/>
              </a:lnSpc>
            </a:pPr>
          </a:p>
          <a:p>
            <a:pPr algn="l">
              <a:lnSpc>
                <a:spcPts val="1791"/>
              </a:lnSpc>
            </a:pPr>
            <a:r>
              <a:rPr lang="en-US" sz="1279" spc="-38">
                <a:solidFill>
                  <a:srgbClr val="FFFFFF">
                    <a:alpha val="80000"/>
                  </a:srgbClr>
                </a:solidFill>
                <a:latin typeface="Source Sans Pro"/>
                <a:ea typeface="Source Sans Pro"/>
                <a:cs typeface="Source Sans Pro"/>
                <a:sym typeface="Source Sans Pro"/>
              </a:rPr>
              <a:t>sequence = "I've been waiting for a HuggingFace course my whole life."</a:t>
            </a:r>
          </a:p>
          <a:p>
            <a:pPr algn="l">
              <a:lnSpc>
                <a:spcPts val="1791"/>
              </a:lnSpc>
            </a:pPr>
          </a:p>
          <a:p>
            <a:pPr algn="l">
              <a:lnSpc>
                <a:spcPts val="1791"/>
              </a:lnSpc>
            </a:pPr>
            <a:r>
              <a:rPr lang="en-US" sz="1279" spc="-38">
                <a:solidFill>
                  <a:srgbClr val="FFFFFF">
                    <a:alpha val="80000"/>
                  </a:srgbClr>
                </a:solidFill>
                <a:latin typeface="Source Sans Pro"/>
                <a:ea typeface="Source Sans Pro"/>
                <a:cs typeface="Source Sans Pro"/>
                <a:sym typeface="Source Sans Pro"/>
              </a:rPr>
              <a:t>tokens = tokenizer.tokenize sequence)</a:t>
            </a:r>
          </a:p>
          <a:p>
            <a:pPr algn="l">
              <a:lnSpc>
                <a:spcPts val="1791"/>
              </a:lnSpc>
            </a:pPr>
            <a:r>
              <a:rPr lang="en-US" sz="1279" spc="-38">
                <a:solidFill>
                  <a:srgbClr val="FFFFFF">
                    <a:alpha val="80000"/>
                  </a:srgbClr>
                </a:solidFill>
                <a:latin typeface="Source Sans Pro"/>
                <a:ea typeface="Source Sans Pro"/>
                <a:cs typeface="Source Sans Pro"/>
                <a:sym typeface="Source Sans Pro"/>
              </a:rPr>
              <a:t>ids = tokenizer.convert tokens_to_ids(tokens)</a:t>
            </a:r>
          </a:p>
          <a:p>
            <a:pPr algn="l">
              <a:lnSpc>
                <a:spcPts val="1791"/>
              </a:lnSpc>
            </a:pPr>
            <a:r>
              <a:rPr lang="en-US" sz="1279" spc="-38">
                <a:solidFill>
                  <a:srgbClr val="FFFFFF">
                    <a:alpha val="80000"/>
                  </a:srgbClr>
                </a:solidFill>
                <a:latin typeface="Source Sans Pro"/>
                <a:ea typeface="Source Sans Pro"/>
                <a:cs typeface="Source Sans Pro"/>
                <a:sym typeface="Source Sans Pro"/>
              </a:rPr>
              <a:t>input_ids = torch tensor(ids)</a:t>
            </a:r>
          </a:p>
          <a:p>
            <a:pPr algn="l">
              <a:lnSpc>
                <a:spcPts val="1791"/>
              </a:lnSpc>
            </a:pPr>
            <a:r>
              <a:rPr lang="en-US" sz="1279" spc="-38">
                <a:solidFill>
                  <a:srgbClr val="FFFFFF">
                    <a:alpha val="80000"/>
                  </a:srgbClr>
                </a:solidFill>
                <a:latin typeface="Source Sans Pro"/>
                <a:ea typeface="Source Sans Pro"/>
                <a:cs typeface="Source Sans Pro"/>
                <a:sym typeface="Source Sans Pro"/>
              </a:rPr>
              <a:t># This line will fail.</a:t>
            </a:r>
          </a:p>
          <a:p>
            <a:pPr algn="l">
              <a:lnSpc>
                <a:spcPts val="1791"/>
              </a:lnSpc>
            </a:pPr>
            <a:r>
              <a:rPr lang="en-US" sz="1279" spc="-38">
                <a:solidFill>
                  <a:srgbClr val="FFFFFF">
                    <a:alpha val="80000"/>
                  </a:srgbClr>
                </a:solidFill>
                <a:latin typeface="Source Sans Pro"/>
                <a:ea typeface="Source Sans Pro"/>
                <a:cs typeface="Source Sans Pro"/>
                <a:sym typeface="Source Sans Pro"/>
              </a:rPr>
              <a:t>model Input_ids)</a:t>
            </a:r>
          </a:p>
        </p:txBody>
      </p:sp>
      <p:sp>
        <p:nvSpPr>
          <p:cNvPr name="Freeform 13" id="13"/>
          <p:cNvSpPr/>
          <p:nvPr/>
        </p:nvSpPr>
        <p:spPr>
          <a:xfrm flipH="false" flipV="false" rot="0">
            <a:off x="1665605" y="7921355"/>
            <a:ext cx="7912546" cy="1727254"/>
          </a:xfrm>
          <a:custGeom>
            <a:avLst/>
            <a:gdLst/>
            <a:ahLst/>
            <a:cxnLst/>
            <a:rect r="r" b="b" t="t" l="l"/>
            <a:pathLst>
              <a:path h="1727254" w="7912546">
                <a:moveTo>
                  <a:pt x="0" y="0"/>
                </a:moveTo>
                <a:lnTo>
                  <a:pt x="7912546" y="0"/>
                </a:lnTo>
                <a:lnTo>
                  <a:pt x="7912546" y="1727254"/>
                </a:lnTo>
                <a:lnTo>
                  <a:pt x="0" y="1727254"/>
                </a:lnTo>
                <a:lnTo>
                  <a:pt x="0" y="0"/>
                </a:lnTo>
                <a:close/>
              </a:path>
            </a:pathLst>
          </a:custGeom>
          <a:blipFill>
            <a:blip r:embed="rId9"/>
            <a:stretch>
              <a:fillRect l="-3772" t="0" r="-3772" b="0"/>
            </a:stretch>
          </a:blipFill>
        </p:spPr>
      </p:sp>
      <p:sp>
        <p:nvSpPr>
          <p:cNvPr name="TextBox 14" id="14"/>
          <p:cNvSpPr txBox="true"/>
          <p:nvPr/>
        </p:nvSpPr>
        <p:spPr>
          <a:xfrm rot="0">
            <a:off x="1909467" y="8804108"/>
            <a:ext cx="5695797" cy="449232"/>
          </a:xfrm>
          <a:prstGeom prst="rect">
            <a:avLst/>
          </a:prstGeom>
        </p:spPr>
        <p:txBody>
          <a:bodyPr anchor="t" rtlCol="false" tIns="0" lIns="0" bIns="0" rIns="0">
            <a:spAutoFit/>
          </a:bodyPr>
          <a:lstStyle/>
          <a:p>
            <a:pPr algn="l">
              <a:lnSpc>
                <a:spcPts val="1870"/>
              </a:lnSpc>
            </a:pPr>
            <a:r>
              <a:rPr lang="en-US" sz="1335" spc="-39">
                <a:solidFill>
                  <a:srgbClr val="FFFFFF">
                    <a:alpha val="80000"/>
                  </a:srgbClr>
                </a:solidFill>
                <a:latin typeface="Source Sans Pro"/>
                <a:ea typeface="Source Sans Pro"/>
                <a:cs typeface="Source Sans Pro"/>
                <a:sym typeface="Source Sans Pro"/>
              </a:rPr>
              <a:t>tokenized inputs = tokenizer sequence, return tensors="pt")</a:t>
            </a:r>
          </a:p>
          <a:p>
            <a:pPr algn="l">
              <a:lnSpc>
                <a:spcPts val="1870"/>
              </a:lnSpc>
            </a:pPr>
            <a:r>
              <a:rPr lang="en-US" sz="1335" spc="-39">
                <a:solidFill>
                  <a:srgbClr val="FFFFFF">
                    <a:alpha val="80000"/>
                  </a:srgbClr>
                </a:solidFill>
                <a:latin typeface="Source Sans Pro"/>
                <a:ea typeface="Source Sans Pro"/>
                <a:cs typeface="Source Sans Pro"/>
                <a:sym typeface="Source Sans Pro"/>
              </a:rPr>
              <a:t>print(tokenized inputs['input_ids']')</a:t>
            </a:r>
          </a:p>
        </p:txBody>
      </p:sp>
      <p:sp>
        <p:nvSpPr>
          <p:cNvPr name="TextBox 15" id="15"/>
          <p:cNvSpPr txBox="true"/>
          <p:nvPr/>
        </p:nvSpPr>
        <p:spPr>
          <a:xfrm rot="0">
            <a:off x="1911948" y="8310842"/>
            <a:ext cx="465891" cy="249738"/>
          </a:xfrm>
          <a:prstGeom prst="rect">
            <a:avLst/>
          </a:prstGeom>
        </p:spPr>
        <p:txBody>
          <a:bodyPr anchor="t" rtlCol="false" tIns="0" lIns="0" bIns="0" rIns="0">
            <a:spAutoFit/>
          </a:bodyPr>
          <a:lstStyle/>
          <a:p>
            <a:pPr algn="l">
              <a:lnSpc>
                <a:spcPts val="1934"/>
              </a:lnSpc>
            </a:pPr>
            <a:r>
              <a:rPr lang="en-US" sz="1916" spc="-18">
                <a:solidFill>
                  <a:srgbClr val="FFFFFF">
                    <a:alpha val="89804"/>
                  </a:srgbClr>
                </a:solidFill>
                <a:latin typeface="Source Sans Pro"/>
                <a:ea typeface="Source Sans Pro"/>
                <a:cs typeface="Source Sans Pro"/>
                <a:sym typeface="Source Sans Pro"/>
              </a:rPr>
              <a:t>Kod</a:t>
            </a:r>
          </a:p>
        </p:txBody>
      </p:sp>
      <p:sp>
        <p:nvSpPr>
          <p:cNvPr name="TextBox 16" id="16"/>
          <p:cNvSpPr txBox="true"/>
          <p:nvPr/>
        </p:nvSpPr>
        <p:spPr>
          <a:xfrm rot="0">
            <a:off x="1665605" y="3734166"/>
            <a:ext cx="501046" cy="249738"/>
          </a:xfrm>
          <a:prstGeom prst="rect">
            <a:avLst/>
          </a:prstGeom>
        </p:spPr>
        <p:txBody>
          <a:bodyPr anchor="t" rtlCol="false" tIns="0" lIns="0" bIns="0" rIns="0">
            <a:spAutoFit/>
          </a:bodyPr>
          <a:lstStyle/>
          <a:p>
            <a:pPr algn="l">
              <a:lnSpc>
                <a:spcPts val="1934"/>
              </a:lnSpc>
            </a:pPr>
            <a:r>
              <a:rPr lang="en-US" sz="1916" spc="-18">
                <a:solidFill>
                  <a:srgbClr val="FFFFFF">
                    <a:alpha val="89804"/>
                  </a:srgbClr>
                </a:solidFill>
                <a:latin typeface="Source Sans Pro"/>
                <a:ea typeface="Source Sans Pro"/>
                <a:cs typeface="Source Sans Pro"/>
                <a:sym typeface="Source Sans Pro"/>
              </a:rPr>
              <a:t>Kod</a:t>
            </a:r>
          </a:p>
        </p:txBody>
      </p:sp>
      <p:sp>
        <p:nvSpPr>
          <p:cNvPr name="Freeform 17" id="17"/>
          <p:cNvSpPr/>
          <p:nvPr/>
        </p:nvSpPr>
        <p:spPr>
          <a:xfrm flipH="false" flipV="false" rot="0">
            <a:off x="10079124" y="3591060"/>
            <a:ext cx="7190925" cy="3810922"/>
          </a:xfrm>
          <a:custGeom>
            <a:avLst/>
            <a:gdLst/>
            <a:ahLst/>
            <a:cxnLst/>
            <a:rect r="r" b="b" t="t" l="l"/>
            <a:pathLst>
              <a:path h="3810922" w="7190925">
                <a:moveTo>
                  <a:pt x="0" y="0"/>
                </a:moveTo>
                <a:lnTo>
                  <a:pt x="7190924" y="0"/>
                </a:lnTo>
                <a:lnTo>
                  <a:pt x="7190924" y="3810922"/>
                </a:lnTo>
                <a:lnTo>
                  <a:pt x="0" y="3810922"/>
                </a:lnTo>
                <a:lnTo>
                  <a:pt x="0" y="0"/>
                </a:lnTo>
                <a:close/>
              </a:path>
            </a:pathLst>
          </a:custGeom>
          <a:blipFill>
            <a:blip r:embed="rId10"/>
            <a:stretch>
              <a:fillRect l="0" t="0" r="0" b="0"/>
            </a:stretch>
          </a:blipFill>
        </p:spPr>
      </p:sp>
      <p:sp>
        <p:nvSpPr>
          <p:cNvPr name="TextBox 18" id="18"/>
          <p:cNvSpPr txBox="true"/>
          <p:nvPr/>
        </p:nvSpPr>
        <p:spPr>
          <a:xfrm rot="0">
            <a:off x="10210389" y="4428848"/>
            <a:ext cx="6727776" cy="177171"/>
          </a:xfrm>
          <a:prstGeom prst="rect">
            <a:avLst/>
          </a:prstGeom>
        </p:spPr>
        <p:txBody>
          <a:bodyPr anchor="t" rtlCol="false" tIns="0" lIns="0" bIns="0" rIns="0">
            <a:spAutoFit/>
          </a:bodyPr>
          <a:lstStyle/>
          <a:p>
            <a:pPr algn="ctr">
              <a:lnSpc>
                <a:spcPts val="1582"/>
              </a:lnSpc>
            </a:pPr>
            <a:r>
              <a:rPr lang="en-US" sz="1130" spc="-33">
                <a:solidFill>
                  <a:srgbClr val="FFFFFF">
                    <a:alpha val="80000"/>
                  </a:srgbClr>
                </a:solidFill>
                <a:latin typeface="Source Sans Pro"/>
                <a:ea typeface="Source Sans Pro"/>
                <a:cs typeface="Source Sans Pro"/>
                <a:sym typeface="Source Sans Pro"/>
              </a:rPr>
              <a:t>IndexError: Dimension out of range (expected to be in range of [-1, 0], but got 1)</a:t>
            </a:r>
          </a:p>
        </p:txBody>
      </p:sp>
      <p:sp>
        <p:nvSpPr>
          <p:cNvPr name="TextBox 19" id="19"/>
          <p:cNvSpPr txBox="true"/>
          <p:nvPr/>
        </p:nvSpPr>
        <p:spPr>
          <a:xfrm rot="0">
            <a:off x="10225151" y="3919087"/>
            <a:ext cx="508464" cy="206912"/>
          </a:xfrm>
          <a:prstGeom prst="rect">
            <a:avLst/>
          </a:prstGeom>
        </p:spPr>
        <p:txBody>
          <a:bodyPr anchor="t" rtlCol="false" tIns="0" lIns="0" bIns="0" rIns="0">
            <a:spAutoFit/>
          </a:bodyPr>
          <a:lstStyle/>
          <a:p>
            <a:pPr algn="l">
              <a:lnSpc>
                <a:spcPts val="1637"/>
              </a:lnSpc>
            </a:pPr>
            <a:r>
              <a:rPr lang="en-US" sz="1621" spc="-15">
                <a:solidFill>
                  <a:srgbClr val="FFFFFF">
                    <a:alpha val="89804"/>
                  </a:srgbClr>
                </a:solidFill>
                <a:latin typeface="Source Sans Pro"/>
                <a:ea typeface="Source Sans Pro"/>
                <a:cs typeface="Source Sans Pro"/>
                <a:sym typeface="Source Sans Pro"/>
              </a:rPr>
              <a:t>Çıktı</a:t>
            </a:r>
          </a:p>
        </p:txBody>
      </p:sp>
      <p:sp>
        <p:nvSpPr>
          <p:cNvPr name="Freeform 20" id="20"/>
          <p:cNvSpPr/>
          <p:nvPr/>
        </p:nvSpPr>
        <p:spPr>
          <a:xfrm flipH="false" flipV="false" rot="0">
            <a:off x="10210389" y="8069086"/>
            <a:ext cx="7044897" cy="1431792"/>
          </a:xfrm>
          <a:custGeom>
            <a:avLst/>
            <a:gdLst/>
            <a:ahLst/>
            <a:cxnLst/>
            <a:rect r="r" b="b" t="t" l="l"/>
            <a:pathLst>
              <a:path h="1431792" w="7044897">
                <a:moveTo>
                  <a:pt x="0" y="0"/>
                </a:moveTo>
                <a:lnTo>
                  <a:pt x="7044897" y="0"/>
                </a:lnTo>
                <a:lnTo>
                  <a:pt x="7044897" y="1431792"/>
                </a:lnTo>
                <a:lnTo>
                  <a:pt x="0" y="1431792"/>
                </a:lnTo>
                <a:lnTo>
                  <a:pt x="0" y="0"/>
                </a:lnTo>
                <a:close/>
              </a:path>
            </a:pathLst>
          </a:custGeom>
          <a:blipFill>
            <a:blip r:embed="rId11"/>
            <a:stretch>
              <a:fillRect l="0" t="0" r="0" b="0"/>
            </a:stretch>
          </a:blipFill>
        </p:spPr>
      </p:sp>
      <p:sp>
        <p:nvSpPr>
          <p:cNvPr name="TextBox 21" id="21"/>
          <p:cNvSpPr txBox="true"/>
          <p:nvPr/>
        </p:nvSpPr>
        <p:spPr>
          <a:xfrm rot="0">
            <a:off x="10579309" y="8893755"/>
            <a:ext cx="6110514" cy="183291"/>
          </a:xfrm>
          <a:prstGeom prst="rect">
            <a:avLst/>
          </a:prstGeom>
        </p:spPr>
        <p:txBody>
          <a:bodyPr anchor="t" rtlCol="false" tIns="0" lIns="0" bIns="0" rIns="0">
            <a:spAutoFit/>
          </a:bodyPr>
          <a:lstStyle/>
          <a:p>
            <a:pPr algn="ctr">
              <a:lnSpc>
                <a:spcPts val="1550"/>
              </a:lnSpc>
            </a:pPr>
            <a:r>
              <a:rPr lang="en-US" sz="1107" spc="-32">
                <a:solidFill>
                  <a:srgbClr val="FFFFFF">
                    <a:alpha val="80000"/>
                  </a:srgbClr>
                </a:solidFill>
                <a:latin typeface="Source Sans Pro"/>
                <a:ea typeface="Source Sans Pro"/>
                <a:cs typeface="Source Sans Pro"/>
                <a:sym typeface="Source Sans Pro"/>
              </a:rPr>
              <a:t>tensor[[  101,   1045,  1005,  2310,  2042,  3403,  2005,  1037, 17662, 12172, 2607,  2026,  2878,  2166,  1012,   102]])</a:t>
            </a:r>
          </a:p>
        </p:txBody>
      </p:sp>
      <p:sp>
        <p:nvSpPr>
          <p:cNvPr name="TextBox 22" id="22"/>
          <p:cNvSpPr txBox="true"/>
          <p:nvPr/>
        </p:nvSpPr>
        <p:spPr>
          <a:xfrm rot="0">
            <a:off x="10353452" y="8396836"/>
            <a:ext cx="498138" cy="202130"/>
          </a:xfrm>
          <a:prstGeom prst="rect">
            <a:avLst/>
          </a:prstGeom>
        </p:spPr>
        <p:txBody>
          <a:bodyPr anchor="t" rtlCol="false" tIns="0" lIns="0" bIns="0" rIns="0">
            <a:spAutoFit/>
          </a:bodyPr>
          <a:lstStyle/>
          <a:p>
            <a:pPr algn="l">
              <a:lnSpc>
                <a:spcPts val="1603"/>
              </a:lnSpc>
            </a:pPr>
            <a:r>
              <a:rPr lang="en-US" sz="1588" spc="-15">
                <a:solidFill>
                  <a:srgbClr val="FFFFFF">
                    <a:alpha val="89804"/>
                  </a:srgbClr>
                </a:solidFill>
                <a:latin typeface="Source Sans Pro"/>
                <a:ea typeface="Source Sans Pro"/>
                <a:cs typeface="Source Sans Pro"/>
                <a:sym typeface="Source Sans Pro"/>
              </a:rPr>
              <a:t>Çıktı</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1F0034"/>
        </a:solidFill>
      </p:bgPr>
    </p:bg>
    <p:spTree>
      <p:nvGrpSpPr>
        <p:cNvPr id="1" name=""/>
        <p:cNvGrpSpPr/>
        <p:nvPr/>
      </p:nvGrpSpPr>
      <p:grpSpPr>
        <a:xfrm>
          <a:off x="0" y="0"/>
          <a:ext cx="0" cy="0"/>
          <a:chOff x="0" y="0"/>
          <a:chExt cx="0" cy="0"/>
        </a:xfrm>
      </p:grpSpPr>
      <p:sp>
        <p:nvSpPr>
          <p:cNvPr name="TextBox 2" id="2"/>
          <p:cNvSpPr txBox="true"/>
          <p:nvPr/>
        </p:nvSpPr>
        <p:spPr>
          <a:xfrm rot="0">
            <a:off x="457548" y="816204"/>
            <a:ext cx="13181160" cy="696032"/>
          </a:xfrm>
          <a:prstGeom prst="rect">
            <a:avLst/>
          </a:prstGeom>
        </p:spPr>
        <p:txBody>
          <a:bodyPr anchor="t" rtlCol="false" tIns="0" lIns="0" bIns="0" rIns="0">
            <a:spAutoFit/>
          </a:bodyPr>
          <a:lstStyle/>
          <a:p>
            <a:pPr algn="l">
              <a:lnSpc>
                <a:spcPts val="5277"/>
              </a:lnSpc>
            </a:pPr>
            <a:r>
              <a:rPr lang="en-US" sz="5277" b="true">
                <a:solidFill>
                  <a:srgbClr val="F2472A"/>
                </a:solidFill>
                <a:latin typeface="Source Sans Pro Bold"/>
                <a:ea typeface="Source Sans Pro Bold"/>
                <a:cs typeface="Source Sans Pro Bold"/>
                <a:sym typeface="Source Sans Pro Bold"/>
              </a:rPr>
              <a:t>Models expect a batch of inputs (2/2)</a:t>
            </a:r>
          </a:p>
        </p:txBody>
      </p:sp>
      <p:sp>
        <p:nvSpPr>
          <p:cNvPr name="TextBox 3" id="3"/>
          <p:cNvSpPr txBox="true"/>
          <p:nvPr/>
        </p:nvSpPr>
        <p:spPr>
          <a:xfrm rot="0">
            <a:off x="588649" y="1732261"/>
            <a:ext cx="5428848" cy="382873"/>
          </a:xfrm>
          <a:prstGeom prst="rect">
            <a:avLst/>
          </a:prstGeom>
        </p:spPr>
        <p:txBody>
          <a:bodyPr anchor="t" rtlCol="false" tIns="0" lIns="0" bIns="0" rIns="0">
            <a:spAutoFit/>
          </a:bodyPr>
          <a:lstStyle/>
          <a:p>
            <a:pPr algn="l">
              <a:lnSpc>
                <a:spcPts val="3275"/>
              </a:lnSpc>
            </a:pPr>
            <a:r>
              <a:rPr lang="en-US" sz="2047">
                <a:solidFill>
                  <a:srgbClr val="FFFFFF"/>
                </a:solidFill>
                <a:latin typeface="Source Sans Pro"/>
                <a:ea typeface="Source Sans Pro"/>
                <a:cs typeface="Source Sans Pro"/>
                <a:sym typeface="Source Sans Pro"/>
              </a:rPr>
              <a:t>Yeni bir boyut ekleyerek tekrar deneyelim.</a:t>
            </a:r>
          </a:p>
        </p:txBody>
      </p:sp>
      <p:sp>
        <p:nvSpPr>
          <p:cNvPr name="TextBox 4" id="4"/>
          <p:cNvSpPr txBox="true"/>
          <p:nvPr/>
        </p:nvSpPr>
        <p:spPr>
          <a:xfrm rot="0">
            <a:off x="484196" y="2214877"/>
            <a:ext cx="15874101" cy="760841"/>
          </a:xfrm>
          <a:prstGeom prst="rect">
            <a:avLst/>
          </a:prstGeom>
        </p:spPr>
        <p:txBody>
          <a:bodyPr anchor="t" rtlCol="false" tIns="0" lIns="0" bIns="0" rIns="0">
            <a:spAutoFit/>
          </a:bodyPr>
          <a:lstStyle/>
          <a:p>
            <a:pPr algn="l">
              <a:lnSpc>
                <a:spcPts val="3177"/>
              </a:lnSpc>
            </a:pPr>
            <a:r>
              <a:rPr lang="en-US" sz="1986">
                <a:solidFill>
                  <a:srgbClr val="FFFFFF"/>
                </a:solidFill>
                <a:latin typeface="Source Sans Pro"/>
                <a:ea typeface="Source Sans Pro"/>
                <a:cs typeface="Source Sans Pro"/>
                <a:sym typeface="Source Sans Pro"/>
              </a:rPr>
              <a:t>Batching, birden fazla cümleyi modele aynı anda göndermektir. Tek bir cümlen varsa, tek diziden oluşan bir batch oluşturabilirsin.</a:t>
            </a:r>
          </a:p>
          <a:p>
            <a:pPr algn="l">
              <a:lnSpc>
                <a:spcPts val="3177"/>
              </a:lnSpc>
            </a:pPr>
            <a:r>
              <a:rPr lang="en-US" sz="1986">
                <a:solidFill>
                  <a:srgbClr val="FFFFFF"/>
                </a:solidFill>
                <a:latin typeface="Source Sans Pro"/>
                <a:ea typeface="Source Sans Pro"/>
                <a:cs typeface="Source Sans Pro"/>
                <a:sym typeface="Source Sans Pro"/>
              </a:rPr>
              <a:t>Bu, iki aynı dizinin batch'idir!</a:t>
            </a:r>
          </a:p>
        </p:txBody>
      </p:sp>
      <p:sp>
        <p:nvSpPr>
          <p:cNvPr name="Freeform 5" id="5"/>
          <p:cNvSpPr/>
          <p:nvPr/>
        </p:nvSpPr>
        <p:spPr>
          <a:xfrm flipH="false" flipV="false" rot="0">
            <a:off x="426574" y="2995365"/>
            <a:ext cx="667206" cy="655919"/>
          </a:xfrm>
          <a:custGeom>
            <a:avLst/>
            <a:gdLst/>
            <a:ahLst/>
            <a:cxnLst/>
            <a:rect r="r" b="b" t="t" l="l"/>
            <a:pathLst>
              <a:path h="655919" w="667206">
                <a:moveTo>
                  <a:pt x="0" y="0"/>
                </a:moveTo>
                <a:lnTo>
                  <a:pt x="667206" y="0"/>
                </a:lnTo>
                <a:lnTo>
                  <a:pt x="667206" y="655919"/>
                </a:lnTo>
                <a:lnTo>
                  <a:pt x="0" y="655919"/>
                </a:lnTo>
                <a:lnTo>
                  <a:pt x="0" y="0"/>
                </a:lnTo>
                <a:close/>
              </a:path>
            </a:pathLst>
          </a:custGeom>
          <a:blipFill>
            <a:blip r:embed="rId2"/>
            <a:stretch>
              <a:fillRect l="0" t="0" r="0" b="0"/>
            </a:stretch>
          </a:blipFill>
        </p:spPr>
      </p:sp>
      <p:sp>
        <p:nvSpPr>
          <p:cNvPr name="TextBox 6" id="6"/>
          <p:cNvSpPr txBox="true"/>
          <p:nvPr/>
        </p:nvSpPr>
        <p:spPr>
          <a:xfrm rot="0">
            <a:off x="475601" y="3585414"/>
            <a:ext cx="16733645" cy="760841"/>
          </a:xfrm>
          <a:prstGeom prst="rect">
            <a:avLst/>
          </a:prstGeom>
        </p:spPr>
        <p:txBody>
          <a:bodyPr anchor="t" rtlCol="false" tIns="0" lIns="0" bIns="0" rIns="0">
            <a:spAutoFit/>
          </a:bodyPr>
          <a:lstStyle/>
          <a:p>
            <a:pPr algn="l">
              <a:lnSpc>
                <a:spcPts val="3177"/>
              </a:lnSpc>
            </a:pPr>
            <a:r>
              <a:rPr lang="en-US" sz="1986">
                <a:solidFill>
                  <a:srgbClr val="FFFFFF"/>
                </a:solidFill>
                <a:latin typeface="Source Sans Pro"/>
                <a:ea typeface="Source Sans Pro"/>
                <a:cs typeface="Source Sans Pro"/>
                <a:sym typeface="Source Sans Pro"/>
              </a:rPr>
              <a:t>Batching, birden fazla cümle verdiğimizde modelin çalışmasını sağlar. Ama ikinci bir sorun var: iki (veya daha fazla) cümleyi birleştirirken uzunlukları farklı olabilir. Bunun için dizileri doldurma (pad) yaparız.</a:t>
            </a:r>
          </a:p>
        </p:txBody>
      </p:sp>
      <p:sp>
        <p:nvSpPr>
          <p:cNvPr name="Freeform 7" id="7"/>
          <p:cNvSpPr/>
          <p:nvPr/>
        </p:nvSpPr>
        <p:spPr>
          <a:xfrm flipH="false" flipV="false" rot="0">
            <a:off x="426574" y="4493047"/>
            <a:ext cx="8936182" cy="5159898"/>
          </a:xfrm>
          <a:custGeom>
            <a:avLst/>
            <a:gdLst/>
            <a:ahLst/>
            <a:cxnLst/>
            <a:rect r="r" b="b" t="t" l="l"/>
            <a:pathLst>
              <a:path h="5159898" w="8936182">
                <a:moveTo>
                  <a:pt x="0" y="0"/>
                </a:moveTo>
                <a:lnTo>
                  <a:pt x="8936182" y="0"/>
                </a:lnTo>
                <a:lnTo>
                  <a:pt x="8936182" y="5159898"/>
                </a:lnTo>
                <a:lnTo>
                  <a:pt x="0" y="5159898"/>
                </a:lnTo>
                <a:lnTo>
                  <a:pt x="0" y="0"/>
                </a:lnTo>
                <a:close/>
              </a:path>
            </a:pathLst>
          </a:custGeom>
          <a:blipFill>
            <a:blip r:embed="rId3"/>
            <a:stretch>
              <a:fillRect l="0" t="0" r="0" b="0"/>
            </a:stretch>
          </a:blipFill>
        </p:spPr>
      </p:sp>
      <p:sp>
        <p:nvSpPr>
          <p:cNvPr name="TextBox 8" id="8"/>
          <p:cNvSpPr txBox="true"/>
          <p:nvPr/>
        </p:nvSpPr>
        <p:spPr>
          <a:xfrm rot="0">
            <a:off x="805684" y="5395457"/>
            <a:ext cx="7835471" cy="3703374"/>
          </a:xfrm>
          <a:prstGeom prst="rect">
            <a:avLst/>
          </a:prstGeom>
        </p:spPr>
        <p:txBody>
          <a:bodyPr anchor="t" rtlCol="false" tIns="0" lIns="0" bIns="0" rIns="0">
            <a:spAutoFit/>
          </a:bodyPr>
          <a:lstStyle/>
          <a:p>
            <a:pPr algn="l">
              <a:lnSpc>
                <a:spcPts val="1942"/>
              </a:lnSpc>
            </a:pPr>
            <a:r>
              <a:rPr lang="en-US" sz="1494" spc="-44">
                <a:solidFill>
                  <a:srgbClr val="9966A8"/>
                </a:solidFill>
                <a:latin typeface="Source Sans Pro"/>
                <a:ea typeface="Source Sans Pro"/>
                <a:cs typeface="Source Sans Pro"/>
                <a:sym typeface="Source Sans Pro"/>
              </a:rPr>
              <a:t>import</a:t>
            </a:r>
            <a:r>
              <a:rPr lang="en-US" sz="1494" spc="-44">
                <a:solidFill>
                  <a:srgbClr val="FFFFFF"/>
                </a:solidFill>
                <a:latin typeface="Source Sans Pro"/>
                <a:ea typeface="Source Sans Pro"/>
                <a:cs typeface="Source Sans Pro"/>
                <a:sym typeface="Source Sans Pro"/>
              </a:rPr>
              <a:t> torch</a:t>
            </a:r>
          </a:p>
          <a:p>
            <a:pPr algn="l">
              <a:lnSpc>
                <a:spcPts val="1942"/>
              </a:lnSpc>
            </a:pPr>
            <a:r>
              <a:rPr lang="en-US" sz="1494" spc="-44">
                <a:solidFill>
                  <a:srgbClr val="FFFFFF"/>
                </a:solidFill>
                <a:latin typeface="Source Sans Pro"/>
                <a:ea typeface="Source Sans Pro"/>
                <a:cs typeface="Source Sans Pro"/>
                <a:sym typeface="Source Sans Pro"/>
              </a:rPr>
              <a:t>from transformers </a:t>
            </a:r>
            <a:r>
              <a:rPr lang="en-US" sz="1494" spc="-44">
                <a:solidFill>
                  <a:srgbClr val="9966A8"/>
                </a:solidFill>
                <a:latin typeface="Source Sans Pro"/>
                <a:ea typeface="Source Sans Pro"/>
                <a:cs typeface="Source Sans Pro"/>
                <a:sym typeface="Source Sans Pro"/>
              </a:rPr>
              <a:t>import</a:t>
            </a:r>
            <a:r>
              <a:rPr lang="en-US" sz="1494" spc="-44">
                <a:solidFill>
                  <a:srgbClr val="FFFFFF"/>
                </a:solidFill>
                <a:latin typeface="Source Sans Pro"/>
                <a:ea typeface="Source Sans Pro"/>
                <a:cs typeface="Source Sans Pro"/>
                <a:sym typeface="Source Sans Pro"/>
              </a:rPr>
              <a:t> AutoTokenizer, AutoModelForSequenceClassification</a:t>
            </a:r>
          </a:p>
          <a:p>
            <a:pPr algn="l">
              <a:lnSpc>
                <a:spcPts val="1942"/>
              </a:lnSpc>
            </a:pPr>
          </a:p>
          <a:p>
            <a:pPr algn="l">
              <a:lnSpc>
                <a:spcPts val="1942"/>
              </a:lnSpc>
            </a:pPr>
            <a:r>
              <a:rPr lang="en-US" sz="1494" spc="-44">
                <a:solidFill>
                  <a:srgbClr val="FFFFFF"/>
                </a:solidFill>
                <a:latin typeface="Source Sans Pro"/>
                <a:ea typeface="Source Sans Pro"/>
                <a:cs typeface="Source Sans Pro"/>
                <a:sym typeface="Source Sans Pro"/>
              </a:rPr>
              <a:t>checkpoint = </a:t>
            </a:r>
            <a:r>
              <a:rPr lang="en-US" sz="1494" spc="-44">
                <a:solidFill>
                  <a:srgbClr val="4CA246"/>
                </a:solidFill>
                <a:latin typeface="Source Sans Pro"/>
                <a:ea typeface="Source Sans Pro"/>
                <a:cs typeface="Source Sans Pro"/>
                <a:sym typeface="Source Sans Pro"/>
              </a:rPr>
              <a:t>"distilbert-base-uncased-finetuned-sst-2-english"</a:t>
            </a:r>
          </a:p>
          <a:p>
            <a:pPr algn="l">
              <a:lnSpc>
                <a:spcPts val="1942"/>
              </a:lnSpc>
            </a:pPr>
            <a:r>
              <a:rPr lang="en-US" sz="1494" spc="-44">
                <a:solidFill>
                  <a:srgbClr val="FFFFFF"/>
                </a:solidFill>
                <a:latin typeface="Source Sans Pro"/>
                <a:ea typeface="Source Sans Pro"/>
                <a:cs typeface="Source Sans Pro"/>
                <a:sym typeface="Source Sans Pro"/>
              </a:rPr>
              <a:t>tokenizer = AutoTokenizer fromPretrained(checkpoint)</a:t>
            </a:r>
          </a:p>
          <a:p>
            <a:pPr algn="l">
              <a:lnSpc>
                <a:spcPts val="1942"/>
              </a:lnSpc>
            </a:pPr>
            <a:r>
              <a:rPr lang="en-US" sz="1494" spc="-44">
                <a:solidFill>
                  <a:srgbClr val="FFFFFF"/>
                </a:solidFill>
                <a:latin typeface="Source Sans Pro"/>
                <a:ea typeface="Source Sans Pro"/>
                <a:cs typeface="Source Sans Pro"/>
                <a:sym typeface="Source Sans Pro"/>
              </a:rPr>
              <a:t>model = AutoModelForSequenceClassification fromPretrained(checkpoint)</a:t>
            </a:r>
          </a:p>
          <a:p>
            <a:pPr algn="l">
              <a:lnSpc>
                <a:spcPts val="1942"/>
              </a:lnSpc>
            </a:pPr>
          </a:p>
          <a:p>
            <a:pPr algn="l">
              <a:lnSpc>
                <a:spcPts val="1942"/>
              </a:lnSpc>
            </a:pPr>
            <a:r>
              <a:rPr lang="en-US" sz="1494" spc="-44">
                <a:solidFill>
                  <a:srgbClr val="FFFFFF"/>
                </a:solidFill>
                <a:latin typeface="Source Sans Pro"/>
                <a:ea typeface="Source Sans Pro"/>
                <a:cs typeface="Source Sans Pro"/>
                <a:sym typeface="Source Sans Pro"/>
              </a:rPr>
              <a:t>sequence = </a:t>
            </a:r>
            <a:r>
              <a:rPr lang="en-US" sz="1494" spc="-44">
                <a:solidFill>
                  <a:srgbClr val="4CA246"/>
                </a:solidFill>
                <a:latin typeface="Source Sans Pro"/>
                <a:ea typeface="Source Sans Pro"/>
                <a:cs typeface="Source Sans Pro"/>
                <a:sym typeface="Source Sans Pro"/>
              </a:rPr>
              <a:t>"I've been waiting for a HuggingFace course my whole life."</a:t>
            </a:r>
          </a:p>
          <a:p>
            <a:pPr algn="l">
              <a:lnSpc>
                <a:spcPts val="1942"/>
              </a:lnSpc>
            </a:pPr>
            <a:r>
              <a:rPr lang="en-US" sz="1494" spc="-44">
                <a:solidFill>
                  <a:srgbClr val="FFFFFF"/>
                </a:solidFill>
                <a:latin typeface="Source Sans Pro"/>
                <a:ea typeface="Source Sans Pro"/>
                <a:cs typeface="Source Sans Pro"/>
                <a:sym typeface="Source Sans Pro"/>
              </a:rPr>
              <a:t>tokens = tokenizer.tokenize(sequence)</a:t>
            </a:r>
          </a:p>
          <a:p>
            <a:pPr algn="l">
              <a:lnSpc>
                <a:spcPts val="1942"/>
              </a:lnSpc>
            </a:pPr>
            <a:r>
              <a:rPr lang="en-US" sz="1494" spc="-44">
                <a:solidFill>
                  <a:srgbClr val="FFFFFF"/>
                </a:solidFill>
                <a:latin typeface="Source Sans Pro"/>
                <a:ea typeface="Source Sans Pro"/>
                <a:cs typeface="Source Sans Pro"/>
                <a:sym typeface="Source Sans Pro"/>
              </a:rPr>
              <a:t>ids = tokenizer.convert tokens_to_ids(tokens)</a:t>
            </a:r>
          </a:p>
          <a:p>
            <a:pPr algn="l">
              <a:lnSpc>
                <a:spcPts val="1942"/>
              </a:lnSpc>
            </a:pPr>
          </a:p>
          <a:p>
            <a:pPr algn="l">
              <a:lnSpc>
                <a:spcPts val="1942"/>
              </a:lnSpc>
            </a:pPr>
            <a:r>
              <a:rPr lang="en-US" sz="1494" spc="-44">
                <a:solidFill>
                  <a:srgbClr val="FFFFFF"/>
                </a:solidFill>
                <a:latin typeface="Source Sans Pro"/>
                <a:ea typeface="Source Sans Pro"/>
                <a:cs typeface="Source Sans Pro"/>
                <a:sym typeface="Source Sans Pro"/>
              </a:rPr>
              <a:t>input_ids = torch tensor[{ids])</a:t>
            </a:r>
          </a:p>
          <a:p>
            <a:pPr algn="l">
              <a:lnSpc>
                <a:spcPts val="1942"/>
              </a:lnSpc>
            </a:pPr>
            <a:r>
              <a:rPr lang="en-US" sz="1494" spc="-44">
                <a:solidFill>
                  <a:srgbClr val="9966A8"/>
                </a:solidFill>
                <a:latin typeface="Source Sans Pro"/>
                <a:ea typeface="Source Sans Pro"/>
                <a:cs typeface="Source Sans Pro"/>
                <a:sym typeface="Source Sans Pro"/>
              </a:rPr>
              <a:t>print</a:t>
            </a:r>
            <a:r>
              <a:rPr lang="en-US" sz="1494" spc="-44">
                <a:solidFill>
                  <a:srgbClr val="4CA246"/>
                </a:solidFill>
                <a:latin typeface="Source Sans Pro"/>
                <a:ea typeface="Source Sans Pro"/>
                <a:cs typeface="Source Sans Pro"/>
                <a:sym typeface="Source Sans Pro"/>
              </a:rPr>
              <a:t>("Input IDs:", </a:t>
            </a:r>
            <a:r>
              <a:rPr lang="en-US" sz="1494" spc="-44">
                <a:solidFill>
                  <a:srgbClr val="9966A8"/>
                </a:solidFill>
                <a:latin typeface="Source Sans Pro"/>
                <a:ea typeface="Source Sans Pro"/>
                <a:cs typeface="Source Sans Pro"/>
                <a:sym typeface="Source Sans Pro"/>
              </a:rPr>
              <a:t>input</a:t>
            </a:r>
            <a:r>
              <a:rPr lang="en-US" sz="1494" spc="-44">
                <a:solidFill>
                  <a:srgbClr val="4CA246"/>
                </a:solidFill>
                <a:latin typeface="Source Sans Pro"/>
                <a:ea typeface="Source Sans Pro"/>
                <a:cs typeface="Source Sans Pro"/>
                <a:sym typeface="Source Sans Pro"/>
              </a:rPr>
              <a:t>_ids)</a:t>
            </a:r>
          </a:p>
          <a:p>
            <a:pPr algn="l">
              <a:lnSpc>
                <a:spcPts val="1942"/>
              </a:lnSpc>
            </a:pPr>
          </a:p>
          <a:p>
            <a:pPr algn="l">
              <a:lnSpc>
                <a:spcPts val="1942"/>
              </a:lnSpc>
            </a:pPr>
            <a:r>
              <a:rPr lang="en-US" sz="1494" spc="-44">
                <a:solidFill>
                  <a:srgbClr val="4CA246"/>
                </a:solidFill>
                <a:latin typeface="Source Sans Pro"/>
                <a:ea typeface="Source Sans Pro"/>
                <a:cs typeface="Source Sans Pro"/>
                <a:sym typeface="Source Sans Pro"/>
              </a:rPr>
              <a:t>output = model input_ids)</a:t>
            </a:r>
          </a:p>
          <a:p>
            <a:pPr algn="l">
              <a:lnSpc>
                <a:spcPts val="1942"/>
              </a:lnSpc>
            </a:pPr>
            <a:r>
              <a:rPr lang="en-US" sz="1494" spc="-44">
                <a:solidFill>
                  <a:srgbClr val="9966A8"/>
                </a:solidFill>
                <a:latin typeface="Source Sans Pro"/>
                <a:ea typeface="Source Sans Pro"/>
                <a:cs typeface="Source Sans Pro"/>
                <a:sym typeface="Source Sans Pro"/>
              </a:rPr>
              <a:t>print</a:t>
            </a:r>
            <a:r>
              <a:rPr lang="en-US" sz="1494" spc="-44">
                <a:solidFill>
                  <a:srgbClr val="4CA246"/>
                </a:solidFill>
                <a:latin typeface="Source Sans Pro"/>
                <a:ea typeface="Source Sans Pro"/>
                <a:cs typeface="Source Sans Pro"/>
                <a:sym typeface="Source Sans Pro"/>
              </a:rPr>
              <a:t>("Logits:", </a:t>
            </a:r>
            <a:r>
              <a:rPr lang="en-US" sz="1494" spc="-44">
                <a:solidFill>
                  <a:srgbClr val="9966A8"/>
                </a:solidFill>
                <a:latin typeface="Source Sans Pro"/>
                <a:ea typeface="Source Sans Pro"/>
                <a:cs typeface="Source Sans Pro"/>
                <a:sym typeface="Source Sans Pro"/>
              </a:rPr>
              <a:t>output</a:t>
            </a:r>
            <a:r>
              <a:rPr lang="en-US" sz="1494" spc="-44">
                <a:solidFill>
                  <a:srgbClr val="4CA246"/>
                </a:solidFill>
                <a:latin typeface="Source Sans Pro"/>
                <a:ea typeface="Source Sans Pro"/>
                <a:cs typeface="Source Sans Pro"/>
                <a:sym typeface="Source Sans Pro"/>
              </a:rPr>
              <a:t>_logits)</a:t>
            </a:r>
          </a:p>
        </p:txBody>
      </p:sp>
      <p:sp>
        <p:nvSpPr>
          <p:cNvPr name="Freeform 9" id="9"/>
          <p:cNvSpPr/>
          <p:nvPr/>
        </p:nvSpPr>
        <p:spPr>
          <a:xfrm flipH="false" flipV="false" rot="0">
            <a:off x="9351818" y="4493047"/>
            <a:ext cx="8290852" cy="2579949"/>
          </a:xfrm>
          <a:custGeom>
            <a:avLst/>
            <a:gdLst/>
            <a:ahLst/>
            <a:cxnLst/>
            <a:rect r="r" b="b" t="t" l="l"/>
            <a:pathLst>
              <a:path h="2579949" w="8290852">
                <a:moveTo>
                  <a:pt x="0" y="0"/>
                </a:moveTo>
                <a:lnTo>
                  <a:pt x="8290852" y="0"/>
                </a:lnTo>
                <a:lnTo>
                  <a:pt x="8290852" y="2579949"/>
                </a:lnTo>
                <a:lnTo>
                  <a:pt x="0" y="2579949"/>
                </a:lnTo>
                <a:lnTo>
                  <a:pt x="0" y="0"/>
                </a:lnTo>
                <a:close/>
              </a:path>
            </a:pathLst>
          </a:custGeom>
          <a:blipFill>
            <a:blip r:embed="rId4"/>
            <a:stretch>
              <a:fillRect l="0" t="0" r="0" b="0"/>
            </a:stretch>
          </a:blipFill>
        </p:spPr>
      </p:sp>
      <p:sp>
        <p:nvSpPr>
          <p:cNvPr name="TextBox 10" id="10"/>
          <p:cNvSpPr txBox="true"/>
          <p:nvPr/>
        </p:nvSpPr>
        <p:spPr>
          <a:xfrm rot="0">
            <a:off x="9677034" y="5558564"/>
            <a:ext cx="7418518" cy="835990"/>
          </a:xfrm>
          <a:prstGeom prst="rect">
            <a:avLst/>
          </a:prstGeom>
        </p:spPr>
        <p:txBody>
          <a:bodyPr anchor="t" rtlCol="false" tIns="0" lIns="0" bIns="0" rIns="0">
            <a:spAutoFit/>
          </a:bodyPr>
          <a:lstStyle/>
          <a:p>
            <a:pPr algn="l">
              <a:lnSpc>
                <a:spcPts val="2320"/>
              </a:lnSpc>
            </a:pPr>
            <a:r>
              <a:rPr lang="en-US" sz="1546" spc="-46">
                <a:solidFill>
                  <a:srgbClr val="FFFFFF"/>
                </a:solidFill>
                <a:latin typeface="Source Sans Pro"/>
                <a:ea typeface="Source Sans Pro"/>
                <a:cs typeface="Source Sans Pro"/>
                <a:sym typeface="Source Sans Pro"/>
              </a:rPr>
              <a:t>Input IDs: [[ 1045,  1085, 2310, 2042, 3403, 2085, 1037, 17662, 12172, 2607, 2026, 2878, 2166, 1012]]</a:t>
            </a:r>
          </a:p>
          <a:p>
            <a:pPr algn="l">
              <a:lnSpc>
                <a:spcPts val="2320"/>
              </a:lnSpc>
            </a:pPr>
          </a:p>
          <a:p>
            <a:pPr algn="l">
              <a:lnSpc>
                <a:spcPts val="2320"/>
              </a:lnSpc>
            </a:pPr>
            <a:r>
              <a:rPr lang="en-US" sz="1546" spc="-46">
                <a:solidFill>
                  <a:srgbClr val="FFFFFF"/>
                </a:solidFill>
                <a:latin typeface="Source Sans Pro"/>
                <a:ea typeface="Source Sans Pro"/>
                <a:cs typeface="Source Sans Pro"/>
                <a:sym typeface="Source Sans Pro"/>
              </a:rPr>
              <a:t>Logits: [[-2.7276,  2.8789]]</a:t>
            </a:r>
          </a:p>
        </p:txBody>
      </p:sp>
      <p:sp>
        <p:nvSpPr>
          <p:cNvPr name="Freeform 11" id="11"/>
          <p:cNvSpPr/>
          <p:nvPr/>
        </p:nvSpPr>
        <p:spPr>
          <a:xfrm flipH="false" flipV="false" rot="0">
            <a:off x="9351818" y="7280704"/>
            <a:ext cx="8290852" cy="1508614"/>
          </a:xfrm>
          <a:custGeom>
            <a:avLst/>
            <a:gdLst/>
            <a:ahLst/>
            <a:cxnLst/>
            <a:rect r="r" b="b" t="t" l="l"/>
            <a:pathLst>
              <a:path h="1508614" w="8290852">
                <a:moveTo>
                  <a:pt x="0" y="0"/>
                </a:moveTo>
                <a:lnTo>
                  <a:pt x="8290852" y="0"/>
                </a:lnTo>
                <a:lnTo>
                  <a:pt x="8290852" y="1508614"/>
                </a:lnTo>
                <a:lnTo>
                  <a:pt x="0" y="1508614"/>
                </a:lnTo>
                <a:lnTo>
                  <a:pt x="0" y="0"/>
                </a:lnTo>
                <a:close/>
              </a:path>
            </a:pathLst>
          </a:custGeom>
          <a:blipFill>
            <a:blip r:embed="rId5"/>
            <a:stretch>
              <a:fillRect l="0" t="0" r="0" b="0"/>
            </a:stretch>
          </a:blipFill>
        </p:spPr>
      </p:sp>
      <p:sp>
        <p:nvSpPr>
          <p:cNvPr name="TextBox 12" id="12"/>
          <p:cNvSpPr txBox="true"/>
          <p:nvPr/>
        </p:nvSpPr>
        <p:spPr>
          <a:xfrm rot="0">
            <a:off x="9720897" y="7448978"/>
            <a:ext cx="353263" cy="264794"/>
          </a:xfrm>
          <a:prstGeom prst="rect">
            <a:avLst/>
          </a:prstGeom>
        </p:spPr>
        <p:txBody>
          <a:bodyPr anchor="t" rtlCol="false" tIns="0" lIns="0" bIns="0" rIns="0">
            <a:spAutoFit/>
          </a:bodyPr>
          <a:lstStyle/>
          <a:p>
            <a:pPr algn="l">
              <a:lnSpc>
                <a:spcPts val="2320"/>
              </a:lnSpc>
            </a:pPr>
            <a:r>
              <a:rPr lang="en-US" sz="1546" spc="-46">
                <a:solidFill>
                  <a:srgbClr val="FFFFFF"/>
                </a:solidFill>
                <a:latin typeface="Source Sans Pro"/>
                <a:ea typeface="Source Sans Pro"/>
                <a:cs typeface="Source Sans Pro"/>
                <a:sym typeface="Source Sans Pro"/>
              </a:rPr>
              <a:t>Kod</a:t>
            </a:r>
          </a:p>
        </p:txBody>
      </p:sp>
      <p:sp>
        <p:nvSpPr>
          <p:cNvPr name="TextBox 13" id="13"/>
          <p:cNvSpPr txBox="true"/>
          <p:nvPr/>
        </p:nvSpPr>
        <p:spPr>
          <a:xfrm rot="0">
            <a:off x="9719641" y="8041999"/>
            <a:ext cx="3157810" cy="302655"/>
          </a:xfrm>
          <a:prstGeom prst="rect">
            <a:avLst/>
          </a:prstGeom>
        </p:spPr>
        <p:txBody>
          <a:bodyPr anchor="t" rtlCol="false" tIns="0" lIns="0" bIns="0" rIns="0">
            <a:spAutoFit/>
          </a:bodyPr>
          <a:lstStyle/>
          <a:p>
            <a:pPr algn="l">
              <a:lnSpc>
                <a:spcPts val="2610"/>
              </a:lnSpc>
            </a:pPr>
            <a:r>
              <a:rPr lang="en-US" sz="1740" spc="-51">
                <a:solidFill>
                  <a:srgbClr val="FFFFFF"/>
                </a:solidFill>
                <a:latin typeface="Source Sans Pro"/>
                <a:ea typeface="Source Sans Pro"/>
                <a:cs typeface="Source Sans Pro"/>
                <a:sym typeface="Source Sans Pro"/>
              </a:rPr>
              <a:t>batched_ids = </a:t>
            </a:r>
            <a:r>
              <a:rPr lang="en-US" sz="1740" spc="-51">
                <a:solidFill>
                  <a:srgbClr val="76A6C2"/>
                </a:solidFill>
                <a:latin typeface="Source Sans Pro"/>
                <a:ea typeface="Source Sans Pro"/>
                <a:cs typeface="Source Sans Pro"/>
                <a:sym typeface="Source Sans Pro"/>
              </a:rPr>
              <a:t>[ids, ids]</a:t>
            </a:r>
          </a:p>
        </p:txBody>
      </p:sp>
      <p:sp>
        <p:nvSpPr>
          <p:cNvPr name="TextBox 14" id="14"/>
          <p:cNvSpPr txBox="true"/>
          <p:nvPr/>
        </p:nvSpPr>
        <p:spPr>
          <a:xfrm rot="0">
            <a:off x="870051" y="3087736"/>
            <a:ext cx="14793354" cy="382873"/>
          </a:xfrm>
          <a:prstGeom prst="rect">
            <a:avLst/>
          </a:prstGeom>
        </p:spPr>
        <p:txBody>
          <a:bodyPr anchor="t" rtlCol="false" tIns="0" lIns="0" bIns="0" rIns="0">
            <a:spAutoFit/>
          </a:bodyPr>
          <a:lstStyle/>
          <a:p>
            <a:pPr algn="l">
              <a:lnSpc>
                <a:spcPts val="3275"/>
              </a:lnSpc>
            </a:pPr>
            <a:r>
              <a:rPr lang="en-US" sz="2047">
                <a:solidFill>
                  <a:srgbClr val="FFFFFF"/>
                </a:solidFill>
                <a:latin typeface="Source Sans Pro"/>
                <a:ea typeface="Source Sans Pro"/>
                <a:cs typeface="Source Sans Pro"/>
                <a:sym typeface="Source Sans Pro"/>
              </a:rPr>
              <a:t>Deneyelim: Bu batched_ids listesini tensor'a çevirip modelden geçir. Önceki logits'i (ama iki kere) aldığını kontrol et.</a:t>
            </a:r>
          </a:p>
        </p:txBody>
      </p:sp>
      <p:sp>
        <p:nvSpPr>
          <p:cNvPr name="TextBox 15" id="15"/>
          <p:cNvSpPr txBox="true"/>
          <p:nvPr/>
        </p:nvSpPr>
        <p:spPr>
          <a:xfrm rot="0">
            <a:off x="9718542" y="4798270"/>
            <a:ext cx="588771" cy="264794"/>
          </a:xfrm>
          <a:prstGeom prst="rect">
            <a:avLst/>
          </a:prstGeom>
        </p:spPr>
        <p:txBody>
          <a:bodyPr anchor="t" rtlCol="false" tIns="0" lIns="0" bIns="0" rIns="0">
            <a:spAutoFit/>
          </a:bodyPr>
          <a:lstStyle/>
          <a:p>
            <a:pPr algn="l">
              <a:lnSpc>
                <a:spcPts val="2320"/>
              </a:lnSpc>
            </a:pPr>
            <a:r>
              <a:rPr lang="en-US" sz="1546" spc="-46">
                <a:solidFill>
                  <a:srgbClr val="FFFFFF"/>
                </a:solidFill>
                <a:latin typeface="Source Sans Pro"/>
                <a:ea typeface="Source Sans Pro"/>
                <a:cs typeface="Source Sans Pro"/>
                <a:sym typeface="Source Sans Pro"/>
              </a:rPr>
              <a:t>Çıktı</a:t>
            </a:r>
          </a:p>
        </p:txBody>
      </p:sp>
      <p:sp>
        <p:nvSpPr>
          <p:cNvPr name="TextBox 16" id="16"/>
          <p:cNvSpPr txBox="true"/>
          <p:nvPr/>
        </p:nvSpPr>
        <p:spPr>
          <a:xfrm rot="0">
            <a:off x="880506" y="4798270"/>
            <a:ext cx="353263" cy="264794"/>
          </a:xfrm>
          <a:prstGeom prst="rect">
            <a:avLst/>
          </a:prstGeom>
        </p:spPr>
        <p:txBody>
          <a:bodyPr anchor="t" rtlCol="false" tIns="0" lIns="0" bIns="0" rIns="0">
            <a:spAutoFit/>
          </a:bodyPr>
          <a:lstStyle/>
          <a:p>
            <a:pPr algn="l">
              <a:lnSpc>
                <a:spcPts val="2320"/>
              </a:lnSpc>
            </a:pPr>
            <a:r>
              <a:rPr lang="en-US" sz="1546" spc="-46">
                <a:solidFill>
                  <a:srgbClr val="FFFFFF"/>
                </a:solidFill>
                <a:latin typeface="Source Sans Pro"/>
                <a:ea typeface="Source Sans Pro"/>
                <a:cs typeface="Source Sans Pro"/>
                <a:sym typeface="Source Sans Pro"/>
              </a:rPr>
              <a:t>Kod</a:t>
            </a:r>
          </a:p>
        </p:txBody>
      </p:sp>
      <p:sp>
        <p:nvSpPr>
          <p:cNvPr name="Freeform 17" id="17"/>
          <p:cNvSpPr/>
          <p:nvPr/>
        </p:nvSpPr>
        <p:spPr>
          <a:xfrm flipH="false" flipV="false" rot="-2700000">
            <a:off x="11961859" y="-3902492"/>
            <a:ext cx="10020822" cy="8229600"/>
          </a:xfrm>
          <a:custGeom>
            <a:avLst/>
            <a:gdLst/>
            <a:ahLst/>
            <a:cxnLst/>
            <a:rect r="r" b="b" t="t" l="l"/>
            <a:pathLst>
              <a:path h="8229600" w="10020822">
                <a:moveTo>
                  <a:pt x="0" y="0"/>
                </a:moveTo>
                <a:lnTo>
                  <a:pt x="10020822" y="0"/>
                </a:lnTo>
                <a:lnTo>
                  <a:pt x="10020822" y="8229600"/>
                </a:lnTo>
                <a:lnTo>
                  <a:pt x="0" y="8229600"/>
                </a:lnTo>
                <a:lnTo>
                  <a:pt x="0" y="0"/>
                </a:lnTo>
                <a:close/>
              </a:path>
            </a:pathLst>
          </a:custGeom>
          <a:blipFill>
            <a:blip r:embed="rId6"/>
            <a:stretch>
              <a:fillRect l="0" t="0" r="0" b="0"/>
            </a:stretch>
          </a:blipFill>
        </p:spPr>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bg>
      <p:bgPr>
        <a:solidFill>
          <a:srgbClr val="1F0034"/>
        </a:solidFill>
      </p:bgPr>
    </p:bg>
    <p:spTree>
      <p:nvGrpSpPr>
        <p:cNvPr id="1" name=""/>
        <p:cNvGrpSpPr/>
        <p:nvPr/>
      </p:nvGrpSpPr>
      <p:grpSpPr>
        <a:xfrm>
          <a:off x="0" y="0"/>
          <a:ext cx="0" cy="0"/>
          <a:chOff x="0" y="0"/>
          <a:chExt cx="0" cy="0"/>
        </a:xfrm>
      </p:grpSpPr>
      <p:sp>
        <p:nvSpPr>
          <p:cNvPr name="TextBox 2" id="2"/>
          <p:cNvSpPr txBox="true"/>
          <p:nvPr/>
        </p:nvSpPr>
        <p:spPr>
          <a:xfrm rot="0">
            <a:off x="657393" y="656133"/>
            <a:ext cx="9270090" cy="995828"/>
          </a:xfrm>
          <a:prstGeom prst="rect">
            <a:avLst/>
          </a:prstGeom>
        </p:spPr>
        <p:txBody>
          <a:bodyPr anchor="t" rtlCol="false" tIns="0" lIns="0" bIns="0" rIns="0">
            <a:spAutoFit/>
          </a:bodyPr>
          <a:lstStyle/>
          <a:p>
            <a:pPr algn="l">
              <a:lnSpc>
                <a:spcPts val="8111"/>
              </a:lnSpc>
            </a:pPr>
            <a:r>
              <a:rPr lang="en-US" sz="5794" b="true">
                <a:solidFill>
                  <a:srgbClr val="F2472A"/>
                </a:solidFill>
                <a:latin typeface="Source Sans Pro Bold"/>
                <a:ea typeface="Source Sans Pro Bold"/>
                <a:cs typeface="Source Sans Pro Bold"/>
                <a:sym typeface="Source Sans Pro Bold"/>
              </a:rPr>
              <a:t>Padding the inputs (1/2)</a:t>
            </a:r>
          </a:p>
        </p:txBody>
      </p:sp>
      <p:sp>
        <p:nvSpPr>
          <p:cNvPr name="TextBox 3" id="3"/>
          <p:cNvSpPr txBox="true"/>
          <p:nvPr/>
        </p:nvSpPr>
        <p:spPr>
          <a:xfrm rot="0">
            <a:off x="686620" y="1988178"/>
            <a:ext cx="6347404" cy="397260"/>
          </a:xfrm>
          <a:prstGeom prst="rect">
            <a:avLst/>
          </a:prstGeom>
        </p:spPr>
        <p:txBody>
          <a:bodyPr anchor="t" rtlCol="false" tIns="0" lIns="0" bIns="0" rIns="0">
            <a:spAutoFit/>
          </a:bodyPr>
          <a:lstStyle/>
          <a:p>
            <a:pPr algn="l">
              <a:lnSpc>
                <a:spcPts val="3359"/>
              </a:lnSpc>
            </a:pPr>
            <a:r>
              <a:rPr lang="en-US" sz="2399">
                <a:solidFill>
                  <a:srgbClr val="FFFFFF"/>
                </a:solidFill>
                <a:latin typeface="Source Sans Pro"/>
                <a:ea typeface="Source Sans Pro"/>
                <a:cs typeface="Source Sans Pro"/>
                <a:sym typeface="Source Sans Pro"/>
              </a:rPr>
              <a:t>Aşağıdaki liste listesi tensor'a çevrilemez.</a:t>
            </a:r>
          </a:p>
        </p:txBody>
      </p:sp>
      <p:sp>
        <p:nvSpPr>
          <p:cNvPr name="TextBox 4" id="4"/>
          <p:cNvSpPr txBox="true"/>
          <p:nvPr/>
        </p:nvSpPr>
        <p:spPr>
          <a:xfrm rot="0">
            <a:off x="601009" y="2824334"/>
            <a:ext cx="14908484" cy="841276"/>
          </a:xfrm>
          <a:prstGeom prst="rect">
            <a:avLst/>
          </a:prstGeom>
        </p:spPr>
        <p:txBody>
          <a:bodyPr anchor="t" rtlCol="false" tIns="0" lIns="0" bIns="0" rIns="0">
            <a:spAutoFit/>
          </a:bodyPr>
          <a:lstStyle/>
          <a:p>
            <a:pPr algn="l">
              <a:lnSpc>
                <a:spcPts val="3482"/>
              </a:lnSpc>
            </a:pPr>
            <a:r>
              <a:rPr lang="en-US" sz="2487">
                <a:solidFill>
                  <a:srgbClr val="FFFFFF"/>
                </a:solidFill>
                <a:latin typeface="Source Sans Pro"/>
                <a:ea typeface="Source Sans Pro"/>
                <a:cs typeface="Source Sans Pro"/>
                <a:sym typeface="Source Sans Pro"/>
              </a:rPr>
              <a:t>Bunu aşmak için, tensor'larımızın dükdörtgen olması amacıyla padding kullanırız. Padding, daha az değeri cümlelere “padding token” denen özel bir kelime ekleyerek tüm cümlelerin aynı uzunlukta olmasını sağlar.</a:t>
            </a:r>
          </a:p>
        </p:txBody>
      </p:sp>
      <p:sp>
        <p:nvSpPr>
          <p:cNvPr name="TextBox 5" id="5"/>
          <p:cNvSpPr txBox="true"/>
          <p:nvPr/>
        </p:nvSpPr>
        <p:spPr>
          <a:xfrm rot="0">
            <a:off x="603782" y="4156780"/>
            <a:ext cx="14631154" cy="841276"/>
          </a:xfrm>
          <a:prstGeom prst="rect">
            <a:avLst/>
          </a:prstGeom>
        </p:spPr>
        <p:txBody>
          <a:bodyPr anchor="t" rtlCol="false" tIns="0" lIns="0" bIns="0" rIns="0">
            <a:spAutoFit/>
          </a:bodyPr>
          <a:lstStyle/>
          <a:p>
            <a:pPr algn="l">
              <a:lnSpc>
                <a:spcPts val="3482"/>
              </a:lnSpc>
            </a:pPr>
            <a:r>
              <a:rPr lang="en-US" sz="2487">
                <a:solidFill>
                  <a:srgbClr val="FFFFFF"/>
                </a:solidFill>
                <a:latin typeface="Source Sans Pro"/>
                <a:ea typeface="Source Sans Pro"/>
                <a:cs typeface="Source Sans Pro"/>
                <a:sym typeface="Source Sans Pro"/>
              </a:rPr>
              <a:t>Örneğin 10 kelimelik 10 cümlen ve 20 kelimelik 1 cümlen varsa, padding hepsini 20 kelimeye çıkarır. Örneğimizde ortaya çıkan tensor şöyle görünür.</a:t>
            </a:r>
          </a:p>
        </p:txBody>
      </p:sp>
      <p:sp>
        <p:nvSpPr>
          <p:cNvPr name="Freeform 6" id="6"/>
          <p:cNvSpPr/>
          <p:nvPr/>
        </p:nvSpPr>
        <p:spPr>
          <a:xfrm flipH="false" flipV="false" rot="0">
            <a:off x="645330" y="5138034"/>
            <a:ext cx="8072096" cy="4077631"/>
          </a:xfrm>
          <a:custGeom>
            <a:avLst/>
            <a:gdLst/>
            <a:ahLst/>
            <a:cxnLst/>
            <a:rect r="r" b="b" t="t" l="l"/>
            <a:pathLst>
              <a:path h="4077631" w="8072096">
                <a:moveTo>
                  <a:pt x="0" y="0"/>
                </a:moveTo>
                <a:lnTo>
                  <a:pt x="8072096" y="0"/>
                </a:lnTo>
                <a:lnTo>
                  <a:pt x="8072096" y="4077631"/>
                </a:lnTo>
                <a:lnTo>
                  <a:pt x="0" y="4077631"/>
                </a:lnTo>
                <a:lnTo>
                  <a:pt x="0" y="0"/>
                </a:lnTo>
                <a:close/>
              </a:path>
            </a:pathLst>
          </a:custGeom>
          <a:blipFill>
            <a:blip r:embed="rId2"/>
            <a:stretch>
              <a:fillRect l="0" t="0" r="0" b="0"/>
            </a:stretch>
          </a:blipFill>
        </p:spPr>
      </p:sp>
      <p:sp>
        <p:nvSpPr>
          <p:cNvPr name="TextBox 7" id="7"/>
          <p:cNvSpPr txBox="true"/>
          <p:nvPr/>
        </p:nvSpPr>
        <p:spPr>
          <a:xfrm rot="0">
            <a:off x="1145842" y="5497354"/>
            <a:ext cx="608783" cy="397260"/>
          </a:xfrm>
          <a:prstGeom prst="rect">
            <a:avLst/>
          </a:prstGeom>
        </p:spPr>
        <p:txBody>
          <a:bodyPr anchor="t" rtlCol="false" tIns="0" lIns="0" bIns="0" rIns="0">
            <a:spAutoFit/>
          </a:bodyPr>
          <a:lstStyle/>
          <a:p>
            <a:pPr algn="l">
              <a:lnSpc>
                <a:spcPts val="3359"/>
              </a:lnSpc>
            </a:pPr>
            <a:r>
              <a:rPr lang="en-US" sz="2399">
                <a:solidFill>
                  <a:srgbClr val="FFFFFF"/>
                </a:solidFill>
                <a:latin typeface="Source Sans Pro"/>
                <a:ea typeface="Source Sans Pro"/>
                <a:cs typeface="Source Sans Pro"/>
                <a:sym typeface="Source Sans Pro"/>
              </a:rPr>
              <a:t>Kod</a:t>
            </a:r>
          </a:p>
        </p:txBody>
      </p:sp>
      <p:sp>
        <p:nvSpPr>
          <p:cNvPr name="TextBox 8" id="8"/>
          <p:cNvSpPr txBox="true"/>
          <p:nvPr/>
        </p:nvSpPr>
        <p:spPr>
          <a:xfrm rot="0">
            <a:off x="1114441" y="6310639"/>
            <a:ext cx="3748892" cy="1628902"/>
          </a:xfrm>
          <a:prstGeom prst="rect">
            <a:avLst/>
          </a:prstGeom>
        </p:spPr>
        <p:txBody>
          <a:bodyPr anchor="t" rtlCol="false" tIns="0" lIns="0" bIns="0" rIns="0">
            <a:spAutoFit/>
          </a:bodyPr>
          <a:lstStyle/>
          <a:p>
            <a:pPr algn="l">
              <a:lnSpc>
                <a:spcPts val="3359"/>
              </a:lnSpc>
            </a:pPr>
            <a:r>
              <a:rPr lang="en-US" sz="2399">
                <a:solidFill>
                  <a:srgbClr val="FFFFFF"/>
                </a:solidFill>
                <a:latin typeface="Source Sans Pro"/>
                <a:ea typeface="Source Sans Pro"/>
                <a:cs typeface="Source Sans Pro"/>
                <a:sym typeface="Source Sans Pro"/>
              </a:rPr>
              <a:t>batched_ids = [</a:t>
            </a:r>
          </a:p>
          <a:p>
            <a:pPr algn="l">
              <a:lnSpc>
                <a:spcPts val="3359"/>
              </a:lnSpc>
            </a:pPr>
            <a:r>
              <a:rPr lang="en-US" sz="2399">
                <a:solidFill>
                  <a:srgbClr val="FFFFFF"/>
                </a:solidFill>
                <a:latin typeface="Source Sans Pro"/>
                <a:ea typeface="Source Sans Pro"/>
                <a:cs typeface="Source Sans Pro"/>
                <a:sym typeface="Source Sans Pro"/>
              </a:rPr>
              <a:t>    [200, 200, 200],</a:t>
            </a:r>
          </a:p>
          <a:p>
            <a:pPr algn="l">
              <a:lnSpc>
                <a:spcPts val="3359"/>
              </a:lnSpc>
            </a:pPr>
            <a:r>
              <a:rPr lang="en-US" sz="2399">
                <a:solidFill>
                  <a:srgbClr val="FFFFFF"/>
                </a:solidFill>
                <a:latin typeface="Source Sans Pro"/>
                <a:ea typeface="Source Sans Pro"/>
                <a:cs typeface="Source Sans Pro"/>
                <a:sym typeface="Source Sans Pro"/>
              </a:rPr>
              <a:t>    [200, 200]</a:t>
            </a:r>
          </a:p>
          <a:p>
            <a:pPr algn="l">
              <a:lnSpc>
                <a:spcPts val="3359"/>
              </a:lnSpc>
            </a:pPr>
            <a:r>
              <a:rPr lang="en-US" sz="2399">
                <a:solidFill>
                  <a:srgbClr val="FFFFFF"/>
                </a:solidFill>
                <a:latin typeface="Source Sans Pro"/>
                <a:ea typeface="Source Sans Pro"/>
                <a:cs typeface="Source Sans Pro"/>
                <a:sym typeface="Source Sans Pro"/>
              </a:rPr>
              <a:t>]</a:t>
            </a:r>
          </a:p>
        </p:txBody>
      </p:sp>
      <p:sp>
        <p:nvSpPr>
          <p:cNvPr name="Freeform 9" id="9"/>
          <p:cNvSpPr/>
          <p:nvPr/>
        </p:nvSpPr>
        <p:spPr>
          <a:xfrm flipH="false" flipV="false" rot="0">
            <a:off x="9144000" y="5138034"/>
            <a:ext cx="7404890" cy="4077631"/>
          </a:xfrm>
          <a:custGeom>
            <a:avLst/>
            <a:gdLst/>
            <a:ahLst/>
            <a:cxnLst/>
            <a:rect r="r" b="b" t="t" l="l"/>
            <a:pathLst>
              <a:path h="4077631" w="7404890">
                <a:moveTo>
                  <a:pt x="0" y="0"/>
                </a:moveTo>
                <a:lnTo>
                  <a:pt x="7404890" y="0"/>
                </a:lnTo>
                <a:lnTo>
                  <a:pt x="7404890" y="4077631"/>
                </a:lnTo>
                <a:lnTo>
                  <a:pt x="0" y="4077631"/>
                </a:lnTo>
                <a:lnTo>
                  <a:pt x="0" y="0"/>
                </a:lnTo>
                <a:close/>
              </a:path>
            </a:pathLst>
          </a:custGeom>
          <a:blipFill>
            <a:blip r:embed="rId3"/>
            <a:stretch>
              <a:fillRect l="0" t="0" r="0" b="0"/>
            </a:stretch>
          </a:blipFill>
        </p:spPr>
      </p:sp>
      <p:sp>
        <p:nvSpPr>
          <p:cNvPr name="TextBox 10" id="10"/>
          <p:cNvSpPr txBox="true"/>
          <p:nvPr/>
        </p:nvSpPr>
        <p:spPr>
          <a:xfrm rot="0">
            <a:off x="9611186" y="5497354"/>
            <a:ext cx="608783" cy="397260"/>
          </a:xfrm>
          <a:prstGeom prst="rect">
            <a:avLst/>
          </a:prstGeom>
        </p:spPr>
        <p:txBody>
          <a:bodyPr anchor="t" rtlCol="false" tIns="0" lIns="0" bIns="0" rIns="0">
            <a:spAutoFit/>
          </a:bodyPr>
          <a:lstStyle/>
          <a:p>
            <a:pPr algn="l">
              <a:lnSpc>
                <a:spcPts val="3359"/>
              </a:lnSpc>
            </a:pPr>
            <a:r>
              <a:rPr lang="en-US" sz="2399">
                <a:solidFill>
                  <a:srgbClr val="FFFFFF"/>
                </a:solidFill>
                <a:latin typeface="Source Sans Pro"/>
                <a:ea typeface="Source Sans Pro"/>
                <a:cs typeface="Source Sans Pro"/>
                <a:sym typeface="Source Sans Pro"/>
              </a:rPr>
              <a:t>Kod</a:t>
            </a:r>
          </a:p>
        </p:txBody>
      </p:sp>
      <p:sp>
        <p:nvSpPr>
          <p:cNvPr name="TextBox 11" id="11"/>
          <p:cNvSpPr txBox="true"/>
          <p:nvPr/>
        </p:nvSpPr>
        <p:spPr>
          <a:xfrm rot="0">
            <a:off x="9587282" y="6310639"/>
            <a:ext cx="2999114" cy="397260"/>
          </a:xfrm>
          <a:prstGeom prst="rect">
            <a:avLst/>
          </a:prstGeom>
        </p:spPr>
        <p:txBody>
          <a:bodyPr anchor="t" rtlCol="false" tIns="0" lIns="0" bIns="0" rIns="0">
            <a:spAutoFit/>
          </a:bodyPr>
          <a:lstStyle/>
          <a:p>
            <a:pPr algn="l">
              <a:lnSpc>
                <a:spcPts val="3359"/>
              </a:lnSpc>
            </a:pPr>
            <a:r>
              <a:rPr lang="en-US" sz="2399">
                <a:solidFill>
                  <a:srgbClr val="FFFFFF"/>
                </a:solidFill>
                <a:latin typeface="Source Sans Pro"/>
                <a:ea typeface="Source Sans Pro"/>
                <a:cs typeface="Source Sans Pro"/>
                <a:sym typeface="Source Sans Pro"/>
              </a:rPr>
              <a:t>padding_id = 100</a:t>
            </a:r>
          </a:p>
        </p:txBody>
      </p:sp>
      <p:sp>
        <p:nvSpPr>
          <p:cNvPr name="TextBox 12" id="12"/>
          <p:cNvSpPr txBox="true"/>
          <p:nvPr/>
        </p:nvSpPr>
        <p:spPr>
          <a:xfrm rot="0">
            <a:off x="9566663" y="7123925"/>
            <a:ext cx="5061004" cy="1628902"/>
          </a:xfrm>
          <a:prstGeom prst="rect">
            <a:avLst/>
          </a:prstGeom>
        </p:spPr>
        <p:txBody>
          <a:bodyPr anchor="t" rtlCol="false" tIns="0" lIns="0" bIns="0" rIns="0">
            <a:spAutoFit/>
          </a:bodyPr>
          <a:lstStyle/>
          <a:p>
            <a:pPr algn="l">
              <a:lnSpc>
                <a:spcPts val="3359"/>
              </a:lnSpc>
            </a:pPr>
            <a:r>
              <a:rPr lang="en-US" sz="2399">
                <a:solidFill>
                  <a:srgbClr val="FFFFFF"/>
                </a:solidFill>
                <a:latin typeface="Source Sans Pro"/>
                <a:ea typeface="Source Sans Pro"/>
                <a:cs typeface="Source Sans Pro"/>
                <a:sym typeface="Source Sans Pro"/>
              </a:rPr>
              <a:t>batching_ids = [</a:t>
            </a:r>
          </a:p>
          <a:p>
            <a:pPr algn="l">
              <a:lnSpc>
                <a:spcPts val="3359"/>
              </a:lnSpc>
            </a:pPr>
            <a:r>
              <a:rPr lang="en-US" sz="2399">
                <a:solidFill>
                  <a:srgbClr val="FFFFFF"/>
                </a:solidFill>
                <a:latin typeface="Source Sans Pro"/>
                <a:ea typeface="Source Sans Pro"/>
                <a:cs typeface="Source Sans Pro"/>
                <a:sym typeface="Source Sans Pro"/>
              </a:rPr>
              <a:t>    [200, 200, 200],</a:t>
            </a:r>
          </a:p>
          <a:p>
            <a:pPr algn="l">
              <a:lnSpc>
                <a:spcPts val="3359"/>
              </a:lnSpc>
            </a:pPr>
            <a:r>
              <a:rPr lang="en-US" sz="2399">
                <a:solidFill>
                  <a:srgbClr val="FFFFFF"/>
                </a:solidFill>
                <a:latin typeface="Source Sans Pro"/>
                <a:ea typeface="Source Sans Pro"/>
                <a:cs typeface="Source Sans Pro"/>
                <a:sym typeface="Source Sans Pro"/>
              </a:rPr>
              <a:t>    [200, 200, padding_id],</a:t>
            </a:r>
          </a:p>
          <a:p>
            <a:pPr algn="l">
              <a:lnSpc>
                <a:spcPts val="3359"/>
              </a:lnSpc>
            </a:pPr>
            <a:r>
              <a:rPr lang="en-US" sz="2399">
                <a:solidFill>
                  <a:srgbClr val="FFFFFF"/>
                </a:solidFill>
                <a:latin typeface="Source Sans Pro"/>
                <a:ea typeface="Source Sans Pro"/>
                <a:cs typeface="Source Sans Pro"/>
                <a:sym typeface="Source Sans Pro"/>
              </a:rPr>
              <a:t>]</a:t>
            </a:r>
          </a:p>
        </p:txBody>
      </p:sp>
      <p:sp>
        <p:nvSpPr>
          <p:cNvPr name="Freeform 13" id="13"/>
          <p:cNvSpPr/>
          <p:nvPr/>
        </p:nvSpPr>
        <p:spPr>
          <a:xfrm flipH="false" flipV="false" rot="0">
            <a:off x="15673866" y="426348"/>
            <a:ext cx="437512" cy="218640"/>
          </a:xfrm>
          <a:custGeom>
            <a:avLst/>
            <a:gdLst/>
            <a:ahLst/>
            <a:cxnLst/>
            <a:rect r="r" b="b" t="t" l="l"/>
            <a:pathLst>
              <a:path h="218640" w="437512">
                <a:moveTo>
                  <a:pt x="0" y="0"/>
                </a:moveTo>
                <a:lnTo>
                  <a:pt x="437512" y="0"/>
                </a:lnTo>
                <a:lnTo>
                  <a:pt x="437512" y="218639"/>
                </a:lnTo>
                <a:lnTo>
                  <a:pt x="0" y="218639"/>
                </a:lnTo>
                <a:lnTo>
                  <a:pt x="0" y="0"/>
                </a:lnTo>
                <a:close/>
              </a:path>
            </a:pathLst>
          </a:custGeom>
          <a:blipFill>
            <a:blip r:embed="rId4"/>
            <a:stretch>
              <a:fillRect l="0" t="0" r="0" b="0"/>
            </a:stretch>
          </a:blipFill>
        </p:spPr>
      </p:sp>
      <p:sp>
        <p:nvSpPr>
          <p:cNvPr name="TextBox 14" id="14"/>
          <p:cNvSpPr txBox="true"/>
          <p:nvPr/>
        </p:nvSpPr>
        <p:spPr>
          <a:xfrm rot="0">
            <a:off x="16110422" y="435883"/>
            <a:ext cx="1659380" cy="217184"/>
          </a:xfrm>
          <a:prstGeom prst="rect">
            <a:avLst/>
          </a:prstGeom>
        </p:spPr>
        <p:txBody>
          <a:bodyPr anchor="t" rtlCol="false" tIns="0" lIns="0" bIns="0" rIns="0">
            <a:spAutoFit/>
          </a:bodyPr>
          <a:lstStyle/>
          <a:p>
            <a:pPr algn="l">
              <a:lnSpc>
                <a:spcPts val="1870"/>
              </a:lnSpc>
            </a:pPr>
            <a:r>
              <a:rPr lang="en-US" sz="1335">
                <a:solidFill>
                  <a:srgbClr val="FFFFFF">
                    <a:alpha val="49804"/>
                  </a:srgbClr>
                </a:solidFill>
                <a:latin typeface="Source Sans Pro"/>
                <a:ea typeface="Source Sans Pro"/>
                <a:cs typeface="Source Sans Pro"/>
                <a:sym typeface="Source Sans Pro"/>
              </a:rPr>
              <a:t>Using Transformers</a:t>
            </a:r>
          </a:p>
        </p:txBody>
      </p:sp>
      <p:sp>
        <p:nvSpPr>
          <p:cNvPr name="Freeform 15" id="15"/>
          <p:cNvSpPr/>
          <p:nvPr/>
        </p:nvSpPr>
        <p:spPr>
          <a:xfrm flipH="false" flipV="false" rot="-2700000">
            <a:off x="-3581034" y="-3862329"/>
            <a:ext cx="10020822" cy="8229600"/>
          </a:xfrm>
          <a:custGeom>
            <a:avLst/>
            <a:gdLst/>
            <a:ahLst/>
            <a:cxnLst/>
            <a:rect r="r" b="b" t="t" l="l"/>
            <a:pathLst>
              <a:path h="8229600" w="10020822">
                <a:moveTo>
                  <a:pt x="0" y="0"/>
                </a:moveTo>
                <a:lnTo>
                  <a:pt x="10020822" y="0"/>
                </a:lnTo>
                <a:lnTo>
                  <a:pt x="10020822" y="8229600"/>
                </a:lnTo>
                <a:lnTo>
                  <a:pt x="0" y="8229600"/>
                </a:lnTo>
                <a:lnTo>
                  <a:pt x="0" y="0"/>
                </a:lnTo>
                <a:close/>
              </a:path>
            </a:pathLst>
          </a:custGeom>
          <a:blipFill>
            <a:blip r:embed="rId5"/>
            <a:stretch>
              <a:fillRect l="0" t="0" r="0" b="0"/>
            </a:stretch>
          </a:blipFill>
        </p:spPr>
      </p:sp>
      <p:sp>
        <p:nvSpPr>
          <p:cNvPr name="Freeform 16" id="16"/>
          <p:cNvSpPr/>
          <p:nvPr/>
        </p:nvSpPr>
        <p:spPr>
          <a:xfrm flipH="false" flipV="false" rot="-9892747">
            <a:off x="10815476" y="4638027"/>
            <a:ext cx="10020822" cy="8229600"/>
          </a:xfrm>
          <a:custGeom>
            <a:avLst/>
            <a:gdLst/>
            <a:ahLst/>
            <a:cxnLst/>
            <a:rect r="r" b="b" t="t" l="l"/>
            <a:pathLst>
              <a:path h="8229600" w="10020822">
                <a:moveTo>
                  <a:pt x="0" y="0"/>
                </a:moveTo>
                <a:lnTo>
                  <a:pt x="10020822" y="0"/>
                </a:lnTo>
                <a:lnTo>
                  <a:pt x="10020822" y="8229600"/>
                </a:lnTo>
                <a:lnTo>
                  <a:pt x="0" y="8229600"/>
                </a:lnTo>
                <a:lnTo>
                  <a:pt x="0" y="0"/>
                </a:lnTo>
                <a:close/>
              </a:path>
            </a:pathLst>
          </a:custGeom>
          <a:blipFill>
            <a:blip r:embed="rId5"/>
            <a:stretch>
              <a:fillRect l="0" t="0" r="0" b="0"/>
            </a:stretch>
          </a:blipFill>
        </p:spPr>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bg>
      <p:bgPr>
        <a:solidFill>
          <a:srgbClr val="1F0034"/>
        </a:solidFill>
      </p:bgPr>
    </p:bg>
    <p:spTree>
      <p:nvGrpSpPr>
        <p:cNvPr id="1" name=""/>
        <p:cNvGrpSpPr/>
        <p:nvPr/>
      </p:nvGrpSpPr>
      <p:grpSpPr>
        <a:xfrm>
          <a:off x="0" y="0"/>
          <a:ext cx="0" cy="0"/>
          <a:chOff x="0" y="0"/>
          <a:chExt cx="0" cy="0"/>
        </a:xfrm>
      </p:grpSpPr>
      <p:sp>
        <p:nvSpPr>
          <p:cNvPr name="TextBox 2" id="2"/>
          <p:cNvSpPr txBox="true"/>
          <p:nvPr/>
        </p:nvSpPr>
        <p:spPr>
          <a:xfrm rot="0">
            <a:off x="510956" y="755933"/>
            <a:ext cx="7840367" cy="673466"/>
          </a:xfrm>
          <a:prstGeom prst="rect">
            <a:avLst/>
          </a:prstGeom>
        </p:spPr>
        <p:txBody>
          <a:bodyPr anchor="t" rtlCol="false" tIns="0" lIns="0" bIns="0" rIns="0">
            <a:spAutoFit/>
          </a:bodyPr>
          <a:lstStyle/>
          <a:p>
            <a:pPr algn="l">
              <a:lnSpc>
                <a:spcPts val="5139"/>
              </a:lnSpc>
            </a:pPr>
            <a:r>
              <a:rPr lang="en-US" sz="5139" b="true">
                <a:solidFill>
                  <a:srgbClr val="F2472A"/>
                </a:solidFill>
                <a:latin typeface="Source Sans Pro Bold"/>
                <a:ea typeface="Source Sans Pro Bold"/>
                <a:cs typeface="Source Sans Pro Bold"/>
                <a:sym typeface="Source Sans Pro Bold"/>
              </a:rPr>
              <a:t>Padding the inputs (2/2)</a:t>
            </a:r>
          </a:p>
        </p:txBody>
      </p:sp>
      <p:sp>
        <p:nvSpPr>
          <p:cNvPr name="TextBox 3" id="3"/>
          <p:cNvSpPr txBox="true"/>
          <p:nvPr/>
        </p:nvSpPr>
        <p:spPr>
          <a:xfrm rot="0">
            <a:off x="427851" y="1795170"/>
            <a:ext cx="16150854" cy="2426200"/>
          </a:xfrm>
          <a:prstGeom prst="rect">
            <a:avLst/>
          </a:prstGeom>
        </p:spPr>
        <p:txBody>
          <a:bodyPr anchor="t" rtlCol="false" tIns="0" lIns="0" bIns="0" rIns="0">
            <a:spAutoFit/>
          </a:bodyPr>
          <a:lstStyle/>
          <a:p>
            <a:pPr algn="l">
              <a:lnSpc>
                <a:spcPts val="3353"/>
              </a:lnSpc>
            </a:pPr>
            <a:r>
              <a:rPr lang="en-US" sz="1863" spc="-37">
                <a:solidFill>
                  <a:srgbClr val="FFFFFF">
                    <a:alpha val="80000"/>
                  </a:srgbClr>
                </a:solidFill>
                <a:latin typeface="Source Sans Pro"/>
                <a:ea typeface="Source Sans Pro"/>
                <a:cs typeface="Source Sans Pro"/>
                <a:sym typeface="Source Sans Pro"/>
              </a:rPr>
              <a:t>Padding token ID'sine tokenizer:pad_token_id ile ulaşılır. İki cümleyi tek tek ve batch halinde modelden geçirelim.</a:t>
            </a:r>
          </a:p>
          <a:p>
            <a:pPr algn="l">
              <a:lnSpc>
                <a:spcPts val="3353"/>
              </a:lnSpc>
            </a:pPr>
            <a:r>
              <a:rPr lang="en-US" sz="1863" spc="-37">
                <a:solidFill>
                  <a:srgbClr val="FFFFFF">
                    <a:alpha val="80000"/>
                  </a:srgbClr>
                </a:solidFill>
                <a:latin typeface="Source Sans Pro"/>
                <a:ea typeface="Source Sans Pro"/>
                <a:cs typeface="Source Sans Pro"/>
                <a:sym typeface="Source Sans Pro"/>
              </a:rPr>
              <a:t>Batch'teki tahminlerin logits'inde bir sorun var: ikinci satır, ikinci cümlenin logits'yle aynı olmalıydı ama tamamen farklı değerler aldık!</a:t>
            </a:r>
          </a:p>
          <a:p>
            <a:pPr algn="l">
              <a:lnSpc>
                <a:spcPts val="3353"/>
              </a:lnSpc>
            </a:pPr>
            <a:r>
              <a:rPr lang="en-US" sz="1863" spc="-37">
                <a:solidFill>
                  <a:srgbClr val="FFFFFF">
                    <a:alpha val="80000"/>
                  </a:srgbClr>
                </a:solidFill>
                <a:latin typeface="Source Sans Pro"/>
                <a:ea typeface="Source Sans Pro"/>
                <a:cs typeface="Source Sans Pro"/>
                <a:sym typeface="Source Sans Pro"/>
              </a:rPr>
              <a:t>Çünkü Transformer modellerinin temel özelliği, her token'ı bağlamsallaştıran attention katmanlarıdır. Bunlar bir dizinin tüm token'larına baktığı için</a:t>
            </a:r>
          </a:p>
          <a:p>
            <a:pPr algn="l">
              <a:lnSpc>
                <a:spcPts val="3353"/>
              </a:lnSpc>
            </a:pPr>
            <a:r>
              <a:rPr lang="en-US" sz="1863" spc="-37">
                <a:solidFill>
                  <a:srgbClr val="FFFFFF">
                    <a:alpha val="80000"/>
                  </a:srgbClr>
                </a:solidFill>
                <a:latin typeface="Source Sans Pro"/>
                <a:ea typeface="Source Sans Pro"/>
                <a:cs typeface="Source Sans Pro"/>
                <a:sym typeface="Source Sans Pro"/>
              </a:rPr>
              <a:t>padding token'larını da hesaba katar.</a:t>
            </a:r>
          </a:p>
          <a:p>
            <a:pPr algn="l">
              <a:lnSpc>
                <a:spcPts val="3353"/>
              </a:lnSpc>
            </a:pPr>
            <a:r>
              <a:rPr lang="en-US" sz="1863" spc="-37">
                <a:solidFill>
                  <a:srgbClr val="FFFFFF">
                    <a:alpha val="80000"/>
                  </a:srgbClr>
                </a:solidFill>
                <a:latin typeface="Source Sans Pro"/>
                <a:ea typeface="Source Sans Pro"/>
                <a:cs typeface="Source Sans Pro"/>
                <a:sym typeface="Source Sans Pro"/>
              </a:rPr>
              <a:t>Farklı uzunluktaki cümleleri tek tek verdiğimizde ve padding'li batch'te verdiğimizde aynı sonucu almak için attention katmanlarına padding token'larını</a:t>
            </a:r>
          </a:p>
          <a:p>
            <a:pPr algn="l">
              <a:lnSpc>
                <a:spcPts val="3353"/>
              </a:lnSpc>
            </a:pPr>
            <a:r>
              <a:rPr lang="en-US" sz="1863" spc="-37">
                <a:solidFill>
                  <a:srgbClr val="FFFFFF">
                    <a:alpha val="80000"/>
                  </a:srgbClr>
                </a:solidFill>
                <a:latin typeface="Source Sans Pro"/>
                <a:ea typeface="Source Sans Pro"/>
                <a:cs typeface="Source Sans Pro"/>
                <a:sym typeface="Source Sans Pro"/>
              </a:rPr>
              <a:t>yok saymalarını söylemeliyiz. Bu, attention mask ile yapılır.</a:t>
            </a:r>
          </a:p>
        </p:txBody>
      </p:sp>
      <p:sp>
        <p:nvSpPr>
          <p:cNvPr name="Freeform 4" id="4"/>
          <p:cNvSpPr/>
          <p:nvPr/>
        </p:nvSpPr>
        <p:spPr>
          <a:xfrm flipH="false" flipV="false" rot="0">
            <a:off x="15673866" y="426348"/>
            <a:ext cx="437512" cy="218640"/>
          </a:xfrm>
          <a:custGeom>
            <a:avLst/>
            <a:gdLst/>
            <a:ahLst/>
            <a:cxnLst/>
            <a:rect r="r" b="b" t="t" l="l"/>
            <a:pathLst>
              <a:path h="218640" w="437512">
                <a:moveTo>
                  <a:pt x="0" y="0"/>
                </a:moveTo>
                <a:lnTo>
                  <a:pt x="437512" y="0"/>
                </a:lnTo>
                <a:lnTo>
                  <a:pt x="437512" y="218639"/>
                </a:lnTo>
                <a:lnTo>
                  <a:pt x="0" y="218639"/>
                </a:lnTo>
                <a:lnTo>
                  <a:pt x="0" y="0"/>
                </a:lnTo>
                <a:close/>
              </a:path>
            </a:pathLst>
          </a:custGeom>
          <a:blipFill>
            <a:blip r:embed="rId2"/>
            <a:stretch>
              <a:fillRect l="0" t="0" r="0" b="0"/>
            </a:stretch>
          </a:blipFill>
        </p:spPr>
      </p:sp>
      <p:sp>
        <p:nvSpPr>
          <p:cNvPr name="TextBox 5" id="5"/>
          <p:cNvSpPr txBox="true"/>
          <p:nvPr/>
        </p:nvSpPr>
        <p:spPr>
          <a:xfrm rot="0">
            <a:off x="16084157" y="483258"/>
            <a:ext cx="1606942" cy="165989"/>
          </a:xfrm>
          <a:prstGeom prst="rect">
            <a:avLst/>
          </a:prstGeom>
        </p:spPr>
        <p:txBody>
          <a:bodyPr anchor="t" rtlCol="false" tIns="0" lIns="0" bIns="0" rIns="0">
            <a:spAutoFit/>
          </a:bodyPr>
          <a:lstStyle/>
          <a:p>
            <a:pPr algn="l">
              <a:lnSpc>
                <a:spcPts val="1335"/>
              </a:lnSpc>
            </a:pPr>
            <a:r>
              <a:rPr lang="en-US" sz="1335">
                <a:solidFill>
                  <a:srgbClr val="FFFFFF">
                    <a:alpha val="60000"/>
                  </a:srgbClr>
                </a:solidFill>
                <a:latin typeface="Source Sans Pro"/>
                <a:ea typeface="Source Sans Pro"/>
                <a:cs typeface="Source Sans Pro"/>
                <a:sym typeface="Source Sans Pro"/>
              </a:rPr>
              <a:t>Using Transformers</a:t>
            </a:r>
          </a:p>
        </p:txBody>
      </p:sp>
      <p:sp>
        <p:nvSpPr>
          <p:cNvPr name="Freeform 6" id="6"/>
          <p:cNvSpPr/>
          <p:nvPr/>
        </p:nvSpPr>
        <p:spPr>
          <a:xfrm flipH="false" flipV="false" rot="0">
            <a:off x="426574" y="4711687"/>
            <a:ext cx="8717426" cy="4941258"/>
          </a:xfrm>
          <a:custGeom>
            <a:avLst/>
            <a:gdLst/>
            <a:ahLst/>
            <a:cxnLst/>
            <a:rect r="r" b="b" t="t" l="l"/>
            <a:pathLst>
              <a:path h="4941258" w="8717426">
                <a:moveTo>
                  <a:pt x="0" y="0"/>
                </a:moveTo>
                <a:lnTo>
                  <a:pt x="8717426" y="0"/>
                </a:lnTo>
                <a:lnTo>
                  <a:pt x="8717426" y="4941258"/>
                </a:lnTo>
                <a:lnTo>
                  <a:pt x="0" y="4941258"/>
                </a:lnTo>
                <a:lnTo>
                  <a:pt x="0" y="0"/>
                </a:lnTo>
                <a:close/>
              </a:path>
            </a:pathLst>
          </a:custGeom>
          <a:blipFill>
            <a:blip r:embed="rId3"/>
            <a:stretch>
              <a:fillRect l="0" t="0" r="0" b="0"/>
            </a:stretch>
          </a:blipFill>
        </p:spPr>
      </p:sp>
      <p:sp>
        <p:nvSpPr>
          <p:cNvPr name="TextBox 7" id="7"/>
          <p:cNvSpPr txBox="true"/>
          <p:nvPr/>
        </p:nvSpPr>
        <p:spPr>
          <a:xfrm rot="0">
            <a:off x="754347" y="5542404"/>
            <a:ext cx="7611438" cy="3509398"/>
          </a:xfrm>
          <a:prstGeom prst="rect">
            <a:avLst/>
          </a:prstGeom>
        </p:spPr>
        <p:txBody>
          <a:bodyPr anchor="t" rtlCol="false" tIns="0" lIns="0" bIns="0" rIns="0">
            <a:spAutoFit/>
          </a:bodyPr>
          <a:lstStyle/>
          <a:p>
            <a:pPr algn="l">
              <a:lnSpc>
                <a:spcPts val="2586"/>
              </a:lnSpc>
            </a:pPr>
            <a:r>
              <a:rPr lang="en-US" sz="1617" spc="-32">
                <a:solidFill>
                  <a:srgbClr val="FFFFFF">
                    <a:alpha val="80000"/>
                  </a:srgbClr>
                </a:solidFill>
                <a:latin typeface="Source Sans Pro"/>
                <a:ea typeface="Source Sans Pro"/>
                <a:cs typeface="Source Sans Pro"/>
                <a:sym typeface="Source Sans Pro"/>
              </a:rPr>
              <a:t>model = AutoModelForSequenceClassification.fromPretrained checkp coğof)</a:t>
            </a:r>
          </a:p>
          <a:p>
            <a:pPr algn="l">
              <a:lnSpc>
                <a:spcPts val="2586"/>
              </a:lnSpc>
            </a:pPr>
            <a:r>
              <a:rPr lang="en-US" sz="1617" spc="-32">
                <a:solidFill>
                  <a:srgbClr val="FFFFFF">
                    <a:alpha val="80000"/>
                  </a:srgbClr>
                </a:solidFill>
                <a:latin typeface="Source Sans Pro"/>
                <a:ea typeface="Source Sans Pro"/>
                <a:cs typeface="Source Sans Pro"/>
                <a:sym typeface="Source Sans Pro"/>
              </a:rPr>
              <a:t>sequence1_ids = [[200, 200, 200]]</a:t>
            </a:r>
          </a:p>
          <a:p>
            <a:pPr algn="l">
              <a:lnSpc>
                <a:spcPts val="2586"/>
              </a:lnSpc>
            </a:pPr>
            <a:r>
              <a:rPr lang="en-US" sz="1617" spc="-32">
                <a:solidFill>
                  <a:srgbClr val="FFFFFF">
                    <a:alpha val="80000"/>
                  </a:srgbClr>
                </a:solidFill>
                <a:latin typeface="Source Sans Pro"/>
                <a:ea typeface="Source Sans Pro"/>
                <a:cs typeface="Source Sans Pro"/>
                <a:sym typeface="Source Sans Pro"/>
              </a:rPr>
              <a:t>sequence2_ids = [[200, 200]]</a:t>
            </a:r>
          </a:p>
          <a:p>
            <a:pPr algn="l">
              <a:lnSpc>
                <a:spcPts val="2586"/>
              </a:lnSpc>
            </a:pPr>
            <a:r>
              <a:rPr lang="en-US" sz="1617" spc="-32">
                <a:solidFill>
                  <a:srgbClr val="FFFFFF">
                    <a:alpha val="80000"/>
                  </a:srgbClr>
                </a:solidFill>
                <a:latin typeface="Source Sans Pro"/>
                <a:ea typeface="Source Sans Pro"/>
                <a:cs typeface="Source Sans Pro"/>
                <a:sym typeface="Source Sans Pro"/>
              </a:rPr>
              <a:t>batched_ids = [</a:t>
            </a:r>
          </a:p>
          <a:p>
            <a:pPr algn="l">
              <a:lnSpc>
                <a:spcPts val="2586"/>
              </a:lnSpc>
            </a:pPr>
            <a:r>
              <a:rPr lang="en-US" sz="1617" spc="-32">
                <a:solidFill>
                  <a:srgbClr val="FFFFFF">
                    <a:alpha val="80000"/>
                  </a:srgbClr>
                </a:solidFill>
                <a:latin typeface="Source Sans Pro"/>
                <a:ea typeface="Source Sans Pro"/>
                <a:cs typeface="Source Sans Pro"/>
                <a:sym typeface="Source Sans Pro"/>
              </a:rPr>
              <a:t>    [200, 200, 200],</a:t>
            </a:r>
          </a:p>
          <a:p>
            <a:pPr algn="l">
              <a:lnSpc>
                <a:spcPts val="2586"/>
              </a:lnSpc>
            </a:pPr>
            <a:r>
              <a:rPr lang="en-US" sz="1617" spc="-32">
                <a:solidFill>
                  <a:srgbClr val="FFFFFF">
                    <a:alpha val="80000"/>
                  </a:srgbClr>
                </a:solidFill>
                <a:latin typeface="Source Sans Pro"/>
                <a:ea typeface="Source Sans Pro"/>
                <a:cs typeface="Source Sans Pro"/>
                <a:sym typeface="Source Sans Pro"/>
              </a:rPr>
              <a:t>    [200, 200, tokenizer.pad_token_id],</a:t>
            </a:r>
          </a:p>
          <a:p>
            <a:pPr algn="l">
              <a:lnSpc>
                <a:spcPts val="2586"/>
              </a:lnSpc>
            </a:pPr>
            <a:r>
              <a:rPr lang="en-US" sz="1617" spc="-32">
                <a:solidFill>
                  <a:srgbClr val="FFFFFF">
                    <a:alpha val="80000"/>
                  </a:srgbClr>
                </a:solidFill>
                <a:latin typeface="Source Sans Pro"/>
                <a:ea typeface="Source Sans Pro"/>
                <a:cs typeface="Source Sans Pro"/>
                <a:sym typeface="Source Sans Pro"/>
              </a:rPr>
              <a:t>]</a:t>
            </a:r>
          </a:p>
          <a:p>
            <a:pPr algn="l">
              <a:lnSpc>
                <a:spcPts val="2586"/>
              </a:lnSpc>
            </a:pPr>
          </a:p>
          <a:p>
            <a:pPr algn="l">
              <a:lnSpc>
                <a:spcPts val="2586"/>
              </a:lnSpc>
            </a:pPr>
            <a:r>
              <a:rPr lang="en-US" sz="1617" spc="-32">
                <a:solidFill>
                  <a:srgbClr val="FFFFFF">
                    <a:alpha val="80000"/>
                  </a:srgbClr>
                </a:solidFill>
                <a:latin typeface="Source Sans Pro"/>
                <a:ea typeface="Source Sans Pro"/>
                <a:cs typeface="Source Sans Pro"/>
                <a:sym typeface="Source Sans Pro"/>
              </a:rPr>
              <a:t>print(model(torch tensor(sequence1_ids)).logits)</a:t>
            </a:r>
          </a:p>
          <a:p>
            <a:pPr algn="l">
              <a:lnSpc>
                <a:spcPts val="2586"/>
              </a:lnSpc>
            </a:pPr>
            <a:r>
              <a:rPr lang="en-US" sz="1617" spc="-32">
                <a:solidFill>
                  <a:srgbClr val="FFFFFF">
                    <a:alpha val="80000"/>
                  </a:srgbClr>
                </a:solidFill>
                <a:latin typeface="Source Sans Pro"/>
                <a:ea typeface="Source Sans Pro"/>
                <a:cs typeface="Source Sans Pro"/>
                <a:sym typeface="Source Sans Pro"/>
              </a:rPr>
              <a:t>printmodel(torch tensor(sequence2_ids)).logits)</a:t>
            </a:r>
          </a:p>
          <a:p>
            <a:pPr algn="l">
              <a:lnSpc>
                <a:spcPts val="2586"/>
              </a:lnSpc>
            </a:pPr>
            <a:r>
              <a:rPr lang="en-US" sz="1617" spc="-32">
                <a:solidFill>
                  <a:srgbClr val="FFFFFF">
                    <a:alpha val="80000"/>
                  </a:srgbClr>
                </a:solidFill>
                <a:latin typeface="Source Sans Pro"/>
                <a:ea typeface="Source Sans Pro"/>
                <a:cs typeface="Source Sans Pro"/>
                <a:sym typeface="Source Sans Pro"/>
              </a:rPr>
              <a:t>printmodel(torch tensor(batched_ids)).logits)</a:t>
            </a:r>
          </a:p>
        </p:txBody>
      </p:sp>
      <p:sp>
        <p:nvSpPr>
          <p:cNvPr name="Freeform 8" id="8"/>
          <p:cNvSpPr/>
          <p:nvPr/>
        </p:nvSpPr>
        <p:spPr>
          <a:xfrm flipH="false" flipV="false" rot="0">
            <a:off x="9144000" y="4711687"/>
            <a:ext cx="8717426" cy="4941258"/>
          </a:xfrm>
          <a:custGeom>
            <a:avLst/>
            <a:gdLst/>
            <a:ahLst/>
            <a:cxnLst/>
            <a:rect r="r" b="b" t="t" l="l"/>
            <a:pathLst>
              <a:path h="4941258" w="8717426">
                <a:moveTo>
                  <a:pt x="0" y="0"/>
                </a:moveTo>
                <a:lnTo>
                  <a:pt x="8717426" y="0"/>
                </a:lnTo>
                <a:lnTo>
                  <a:pt x="8717426" y="4941258"/>
                </a:lnTo>
                <a:lnTo>
                  <a:pt x="0" y="4941258"/>
                </a:lnTo>
                <a:lnTo>
                  <a:pt x="0" y="0"/>
                </a:lnTo>
                <a:close/>
              </a:path>
            </a:pathLst>
          </a:custGeom>
          <a:blipFill>
            <a:blip r:embed="rId4"/>
            <a:stretch>
              <a:fillRect l="0" t="0" r="0" b="0"/>
            </a:stretch>
          </a:blipFill>
        </p:spPr>
      </p:sp>
      <p:sp>
        <p:nvSpPr>
          <p:cNvPr name="TextBox 9" id="9"/>
          <p:cNvSpPr txBox="true"/>
          <p:nvPr/>
        </p:nvSpPr>
        <p:spPr>
          <a:xfrm rot="0">
            <a:off x="9585032" y="4971136"/>
            <a:ext cx="545230" cy="252114"/>
          </a:xfrm>
          <a:prstGeom prst="rect">
            <a:avLst/>
          </a:prstGeom>
        </p:spPr>
        <p:txBody>
          <a:bodyPr anchor="t" rtlCol="false" tIns="0" lIns="0" bIns="0" rIns="0">
            <a:spAutoFit/>
          </a:bodyPr>
          <a:lstStyle/>
          <a:p>
            <a:pPr algn="l">
              <a:lnSpc>
                <a:spcPts val="1916"/>
              </a:lnSpc>
            </a:pPr>
            <a:r>
              <a:rPr lang="en-US" sz="1916">
                <a:solidFill>
                  <a:srgbClr val="FFFFFF"/>
                </a:solidFill>
                <a:latin typeface="Source Sans Pro"/>
                <a:ea typeface="Source Sans Pro"/>
                <a:cs typeface="Source Sans Pro"/>
                <a:sym typeface="Source Sans Pro"/>
              </a:rPr>
              <a:t>Çıktı</a:t>
            </a:r>
          </a:p>
        </p:txBody>
      </p:sp>
      <p:sp>
        <p:nvSpPr>
          <p:cNvPr name="TextBox 10" id="10"/>
          <p:cNvSpPr txBox="true"/>
          <p:nvPr/>
        </p:nvSpPr>
        <p:spPr>
          <a:xfrm rot="0">
            <a:off x="9517373" y="5635817"/>
            <a:ext cx="7311132" cy="1605105"/>
          </a:xfrm>
          <a:prstGeom prst="rect">
            <a:avLst/>
          </a:prstGeom>
        </p:spPr>
        <p:txBody>
          <a:bodyPr anchor="t" rtlCol="false" tIns="0" lIns="0" bIns="0" rIns="0">
            <a:spAutoFit/>
          </a:bodyPr>
          <a:lstStyle/>
          <a:p>
            <a:pPr algn="l">
              <a:lnSpc>
                <a:spcPts val="3353"/>
              </a:lnSpc>
            </a:pPr>
            <a:r>
              <a:rPr lang="en-US" sz="1863" spc="-37">
                <a:solidFill>
                  <a:srgbClr val="FFFFFF">
                    <a:alpha val="80000"/>
                  </a:srgbClr>
                </a:solidFill>
                <a:latin typeface="Source Sans Pro"/>
                <a:ea typeface="Source Sans Pro"/>
                <a:cs typeface="Source Sans Pro"/>
                <a:sym typeface="Source Sans Pro"/>
              </a:rPr>
              <a:t>tensor([[ 1.5694, -1.3895]}, grad_fn=AddmmBackward&gt;)</a:t>
            </a:r>
          </a:p>
          <a:p>
            <a:pPr algn="l">
              <a:lnSpc>
                <a:spcPts val="3353"/>
              </a:lnSpc>
            </a:pPr>
            <a:r>
              <a:rPr lang="en-US" sz="1863" spc="-37">
                <a:solidFill>
                  <a:srgbClr val="FFFFFF">
                    <a:alpha val="80000"/>
                  </a:srgbClr>
                </a:solidFill>
                <a:latin typeface="Source Sans Pro"/>
                <a:ea typeface="Source Sans Pro"/>
                <a:cs typeface="Source Sans Pro"/>
                <a:sym typeface="Source Sans Pro"/>
              </a:rPr>
              <a:t>tensor([[ 0.5803, -0.4125]}, grad_fn=AddmmBackward&gt;)</a:t>
            </a:r>
          </a:p>
          <a:p>
            <a:pPr algn="l">
              <a:lnSpc>
                <a:spcPts val="3353"/>
              </a:lnSpc>
            </a:pPr>
            <a:r>
              <a:rPr lang="en-US" sz="1863" spc="-37">
                <a:solidFill>
                  <a:srgbClr val="FFFFFF">
                    <a:alpha val="80000"/>
                  </a:srgbClr>
                </a:solidFill>
                <a:latin typeface="Source Sans Pro"/>
                <a:ea typeface="Source Sans Pro"/>
                <a:cs typeface="Source Sans Pro"/>
                <a:sym typeface="Source Sans Pro"/>
              </a:rPr>
              <a:t>tensor([[ 1.5694, -1.3895],</a:t>
            </a:r>
          </a:p>
          <a:p>
            <a:pPr algn="l">
              <a:lnSpc>
                <a:spcPts val="3353"/>
              </a:lnSpc>
            </a:pPr>
            <a:r>
              <a:rPr lang="en-US" sz="1863" spc="-37">
                <a:solidFill>
                  <a:srgbClr val="FFFFFF">
                    <a:alpha val="80000"/>
                  </a:srgbClr>
                </a:solidFill>
                <a:latin typeface="Source Sans Pro"/>
                <a:ea typeface="Source Sans Pro"/>
                <a:cs typeface="Source Sans Pro"/>
                <a:sym typeface="Source Sans Pro"/>
              </a:rPr>
              <a:t>    [ 1.3373, -1.2163]}, grad_fn=AddmmBackward&gt;)</a:t>
            </a:r>
          </a:p>
        </p:txBody>
      </p:sp>
      <p:sp>
        <p:nvSpPr>
          <p:cNvPr name="TextBox 11" id="11"/>
          <p:cNvSpPr txBox="true"/>
          <p:nvPr/>
        </p:nvSpPr>
        <p:spPr>
          <a:xfrm rot="0">
            <a:off x="825669" y="4971136"/>
            <a:ext cx="479156" cy="252114"/>
          </a:xfrm>
          <a:prstGeom prst="rect">
            <a:avLst/>
          </a:prstGeom>
        </p:spPr>
        <p:txBody>
          <a:bodyPr anchor="t" rtlCol="false" tIns="0" lIns="0" bIns="0" rIns="0">
            <a:spAutoFit/>
          </a:bodyPr>
          <a:lstStyle/>
          <a:p>
            <a:pPr algn="l">
              <a:lnSpc>
                <a:spcPts val="1916"/>
              </a:lnSpc>
            </a:pPr>
            <a:r>
              <a:rPr lang="en-US" sz="1916">
                <a:solidFill>
                  <a:srgbClr val="FFFFFF"/>
                </a:solidFill>
                <a:latin typeface="Source Sans Pro"/>
                <a:ea typeface="Source Sans Pro"/>
                <a:cs typeface="Source Sans Pro"/>
                <a:sym typeface="Source Sans Pro"/>
              </a:rPr>
              <a:t>Kod</a:t>
            </a:r>
          </a:p>
        </p:txBody>
      </p:sp>
      <p:sp>
        <p:nvSpPr>
          <p:cNvPr name="Freeform 12" id="12"/>
          <p:cNvSpPr/>
          <p:nvPr/>
        </p:nvSpPr>
        <p:spPr>
          <a:xfrm flipH="false" flipV="false" rot="6014842">
            <a:off x="11298611" y="-725504"/>
            <a:ext cx="10020822" cy="8229600"/>
          </a:xfrm>
          <a:custGeom>
            <a:avLst/>
            <a:gdLst/>
            <a:ahLst/>
            <a:cxnLst/>
            <a:rect r="r" b="b" t="t" l="l"/>
            <a:pathLst>
              <a:path h="8229600" w="10020822">
                <a:moveTo>
                  <a:pt x="0" y="0"/>
                </a:moveTo>
                <a:lnTo>
                  <a:pt x="10020821" y="0"/>
                </a:lnTo>
                <a:lnTo>
                  <a:pt x="10020821" y="8229600"/>
                </a:lnTo>
                <a:lnTo>
                  <a:pt x="0" y="8229600"/>
                </a:lnTo>
                <a:lnTo>
                  <a:pt x="0" y="0"/>
                </a:lnTo>
                <a:close/>
              </a:path>
            </a:pathLst>
          </a:custGeom>
          <a:blipFill>
            <a:blip r:embed="rId5"/>
            <a:stretch>
              <a:fillRect l="0" t="0" r="0" b="0"/>
            </a:stretch>
          </a:blipFill>
        </p:spPr>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bg>
      <p:bgPr>
        <a:solidFill>
          <a:srgbClr val="1F0034"/>
        </a:solidFill>
      </p:bgPr>
    </p:bg>
    <p:spTree>
      <p:nvGrpSpPr>
        <p:cNvPr id="1" name=""/>
        <p:cNvGrpSpPr/>
        <p:nvPr/>
      </p:nvGrpSpPr>
      <p:grpSpPr>
        <a:xfrm>
          <a:off x="0" y="0"/>
          <a:ext cx="0" cy="0"/>
          <a:chOff x="0" y="0"/>
          <a:chExt cx="0" cy="0"/>
        </a:xfrm>
      </p:grpSpPr>
      <p:sp>
        <p:nvSpPr>
          <p:cNvPr name="Freeform 2" id="2"/>
          <p:cNvSpPr/>
          <p:nvPr/>
        </p:nvSpPr>
        <p:spPr>
          <a:xfrm flipH="false" flipV="false" rot="0">
            <a:off x="-844991" y="5168793"/>
            <a:ext cx="10926020" cy="9273459"/>
          </a:xfrm>
          <a:custGeom>
            <a:avLst/>
            <a:gdLst/>
            <a:ahLst/>
            <a:cxnLst/>
            <a:rect r="r" b="b" t="t" l="l"/>
            <a:pathLst>
              <a:path h="9273459" w="10926020">
                <a:moveTo>
                  <a:pt x="0" y="0"/>
                </a:moveTo>
                <a:lnTo>
                  <a:pt x="10926020" y="0"/>
                </a:lnTo>
                <a:lnTo>
                  <a:pt x="10926020" y="9273459"/>
                </a:lnTo>
                <a:lnTo>
                  <a:pt x="0" y="9273459"/>
                </a:lnTo>
                <a:lnTo>
                  <a:pt x="0" y="0"/>
                </a:lnTo>
                <a:close/>
              </a:path>
            </a:pathLst>
          </a:custGeom>
          <a:blipFill>
            <a:blip r:embed="rId2"/>
            <a:stretch>
              <a:fillRect l="0" t="0" r="0" b="0"/>
            </a:stretch>
          </a:blipFill>
        </p:spPr>
      </p:sp>
      <p:sp>
        <p:nvSpPr>
          <p:cNvPr name="Freeform 3" id="3"/>
          <p:cNvSpPr/>
          <p:nvPr/>
        </p:nvSpPr>
        <p:spPr>
          <a:xfrm flipH="false" flipV="false" rot="0">
            <a:off x="13278610" y="-1588578"/>
            <a:ext cx="6726874" cy="5902832"/>
          </a:xfrm>
          <a:custGeom>
            <a:avLst/>
            <a:gdLst/>
            <a:ahLst/>
            <a:cxnLst/>
            <a:rect r="r" b="b" t="t" l="l"/>
            <a:pathLst>
              <a:path h="5902832" w="6726874">
                <a:moveTo>
                  <a:pt x="0" y="0"/>
                </a:moveTo>
                <a:lnTo>
                  <a:pt x="6726874" y="0"/>
                </a:lnTo>
                <a:lnTo>
                  <a:pt x="6726874" y="5902832"/>
                </a:lnTo>
                <a:lnTo>
                  <a:pt x="0" y="590283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405123" y="7002387"/>
            <a:ext cx="8088313" cy="7367105"/>
          </a:xfrm>
          <a:custGeom>
            <a:avLst/>
            <a:gdLst/>
            <a:ahLst/>
            <a:cxnLst/>
            <a:rect r="r" b="b" t="t" l="l"/>
            <a:pathLst>
              <a:path h="7367105" w="8088313">
                <a:moveTo>
                  <a:pt x="0" y="0"/>
                </a:moveTo>
                <a:lnTo>
                  <a:pt x="8088313" y="0"/>
                </a:lnTo>
                <a:lnTo>
                  <a:pt x="8088313" y="7367105"/>
                </a:lnTo>
                <a:lnTo>
                  <a:pt x="0" y="736710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724668" y="1750115"/>
            <a:ext cx="6792236" cy="803132"/>
          </a:xfrm>
          <a:prstGeom prst="rect">
            <a:avLst/>
          </a:prstGeom>
        </p:spPr>
        <p:txBody>
          <a:bodyPr anchor="t" rtlCol="false" tIns="0" lIns="0" bIns="0" rIns="0">
            <a:spAutoFit/>
          </a:bodyPr>
          <a:lstStyle/>
          <a:p>
            <a:pPr algn="l">
              <a:lnSpc>
                <a:spcPts val="6657"/>
              </a:lnSpc>
            </a:pPr>
            <a:r>
              <a:rPr lang="en-US" b="true" sz="4755" spc="185">
                <a:solidFill>
                  <a:srgbClr val="EA9267"/>
                </a:solidFill>
                <a:latin typeface="Montserrat Bold"/>
                <a:ea typeface="Montserrat Bold"/>
                <a:cs typeface="Montserrat Bold"/>
                <a:sym typeface="Montserrat Bold"/>
              </a:rPr>
              <a:t>ATTENTION MASKS</a:t>
            </a:r>
          </a:p>
        </p:txBody>
      </p:sp>
      <p:sp>
        <p:nvSpPr>
          <p:cNvPr name="TextBox 6" id="6"/>
          <p:cNvSpPr txBox="true"/>
          <p:nvPr/>
        </p:nvSpPr>
        <p:spPr>
          <a:xfrm rot="0">
            <a:off x="404062" y="2945234"/>
            <a:ext cx="6401922" cy="1853251"/>
          </a:xfrm>
          <a:prstGeom prst="rect">
            <a:avLst/>
          </a:prstGeom>
        </p:spPr>
        <p:txBody>
          <a:bodyPr anchor="t" rtlCol="false" tIns="0" lIns="0" bIns="0" rIns="0">
            <a:spAutoFit/>
          </a:bodyPr>
          <a:lstStyle/>
          <a:p>
            <a:pPr algn="l">
              <a:lnSpc>
                <a:spcPts val="3064"/>
              </a:lnSpc>
            </a:pPr>
            <a:r>
              <a:rPr lang="en-US" sz="1916" spc="-18">
                <a:solidFill>
                  <a:srgbClr val="F6F6F6"/>
                </a:solidFill>
                <a:latin typeface="Source Sans Pro"/>
                <a:ea typeface="Source Sans Pro"/>
                <a:cs typeface="Source Sans Pro"/>
                <a:sym typeface="Source Sans Pro"/>
              </a:rPr>
              <a:t>Attention mask'ler, input ID tensor'uyla tamamen aynı şekle sahip, 0 ve 1'lerle dolu tensor'lardır: 1'ler ilgili token'lara dikkat edilmesi gerektiğini, 0'lar edilmemesi gerektiğini (yani modelin attention katmanları tarafından yok sayılması gerektiğini) gösterir.</a:t>
            </a:r>
          </a:p>
        </p:txBody>
      </p:sp>
      <p:sp>
        <p:nvSpPr>
          <p:cNvPr name="TextBox 7" id="7"/>
          <p:cNvSpPr txBox="true"/>
          <p:nvPr/>
        </p:nvSpPr>
        <p:spPr>
          <a:xfrm rot="0">
            <a:off x="408145" y="5204359"/>
            <a:ext cx="5993575" cy="728708"/>
          </a:xfrm>
          <a:prstGeom prst="rect">
            <a:avLst/>
          </a:prstGeom>
        </p:spPr>
        <p:txBody>
          <a:bodyPr anchor="t" rtlCol="false" tIns="0" lIns="0" bIns="0" rIns="0">
            <a:spAutoFit/>
          </a:bodyPr>
          <a:lstStyle/>
          <a:p>
            <a:pPr algn="l">
              <a:lnSpc>
                <a:spcPts val="3064"/>
              </a:lnSpc>
            </a:pPr>
            <a:r>
              <a:rPr lang="en-US" sz="1916" spc="-18">
                <a:solidFill>
                  <a:srgbClr val="F6F6F6"/>
                </a:solidFill>
                <a:latin typeface="Source Sans Pro"/>
                <a:ea typeface="Source Sans Pro"/>
                <a:cs typeface="Source Sans Pro"/>
                <a:sym typeface="Source Sans Pro"/>
              </a:rPr>
              <a:t>Önceki örneği bir attention mask ile tamamlayalım. Artık batch'teki ikinci cümle için aynı logits'i alıyoruz.</a:t>
            </a:r>
          </a:p>
        </p:txBody>
      </p:sp>
      <p:sp>
        <p:nvSpPr>
          <p:cNvPr name="TextBox 8" id="8"/>
          <p:cNvSpPr txBox="true"/>
          <p:nvPr/>
        </p:nvSpPr>
        <p:spPr>
          <a:xfrm rot="0">
            <a:off x="411130" y="6273679"/>
            <a:ext cx="5695077" cy="728708"/>
          </a:xfrm>
          <a:prstGeom prst="rect">
            <a:avLst/>
          </a:prstGeom>
        </p:spPr>
        <p:txBody>
          <a:bodyPr anchor="t" rtlCol="false" tIns="0" lIns="0" bIns="0" rIns="0">
            <a:spAutoFit/>
          </a:bodyPr>
          <a:lstStyle/>
          <a:p>
            <a:pPr algn="l">
              <a:lnSpc>
                <a:spcPts val="3064"/>
              </a:lnSpc>
            </a:pPr>
            <a:r>
              <a:rPr lang="en-US" sz="1916" spc="-18">
                <a:solidFill>
                  <a:srgbClr val="F6F6F6"/>
                </a:solidFill>
                <a:latin typeface="Source Sans Pro"/>
                <a:ea typeface="Source Sans Pro"/>
                <a:cs typeface="Source Sans Pro"/>
                <a:sym typeface="Source Sans Pro"/>
              </a:rPr>
              <a:t>İkinci dizinin son değerinin bir padding ID olduğuna ve attention mask'te 0 değeri taşıdığına dikkat et.</a:t>
            </a:r>
          </a:p>
        </p:txBody>
      </p:sp>
      <p:sp>
        <p:nvSpPr>
          <p:cNvPr name="TextBox 9" id="9"/>
          <p:cNvSpPr txBox="true"/>
          <p:nvPr/>
        </p:nvSpPr>
        <p:spPr>
          <a:xfrm rot="0">
            <a:off x="403367" y="7433364"/>
            <a:ext cx="6471332" cy="1478403"/>
          </a:xfrm>
          <a:prstGeom prst="rect">
            <a:avLst/>
          </a:prstGeom>
        </p:spPr>
        <p:txBody>
          <a:bodyPr anchor="t" rtlCol="false" tIns="0" lIns="0" bIns="0" rIns="0">
            <a:spAutoFit/>
          </a:bodyPr>
          <a:lstStyle/>
          <a:p>
            <a:pPr algn="l">
              <a:lnSpc>
                <a:spcPts val="3064"/>
              </a:lnSpc>
            </a:pPr>
            <a:r>
              <a:rPr lang="en-US" sz="1916" spc="-18">
                <a:solidFill>
                  <a:srgbClr val="F6F6F6"/>
                </a:solidFill>
                <a:latin typeface="Source Sans Pro"/>
                <a:ea typeface="Source Sans Pro"/>
                <a:cs typeface="Source Sans Pro"/>
                <a:sym typeface="Source Sans Pro"/>
              </a:rPr>
              <a:t>✍️ Deneyelim: Bölüm 2'de kullandığımız iki cümleyi elle token'laştır. Modelden geçir ve Bölüm 2'deki logits'in aynısını aldığını kontrol et. Sonra padding token'ı ile batch yap, doğru attention mask'i oluştur ve aynı sonuçları aldığını kontrol et.</a:t>
            </a:r>
          </a:p>
        </p:txBody>
      </p:sp>
      <p:sp>
        <p:nvSpPr>
          <p:cNvPr name="TextBox 10" id="10"/>
          <p:cNvSpPr txBox="true"/>
          <p:nvPr/>
        </p:nvSpPr>
        <p:spPr>
          <a:xfrm rot="0">
            <a:off x="7882567" y="1721488"/>
            <a:ext cx="587727" cy="318967"/>
          </a:xfrm>
          <a:prstGeom prst="rect">
            <a:avLst/>
          </a:prstGeom>
        </p:spPr>
        <p:txBody>
          <a:bodyPr anchor="t" rtlCol="false" tIns="0" lIns="0" bIns="0" rIns="0">
            <a:spAutoFit/>
          </a:bodyPr>
          <a:lstStyle/>
          <a:p>
            <a:pPr algn="l">
              <a:lnSpc>
                <a:spcPts val="2487"/>
              </a:lnSpc>
            </a:pPr>
            <a:r>
              <a:rPr lang="en-US" sz="2487" spc="-24">
                <a:solidFill>
                  <a:srgbClr val="F6F6F6"/>
                </a:solidFill>
                <a:latin typeface="Source Sans Pro"/>
                <a:ea typeface="Source Sans Pro"/>
                <a:cs typeface="Source Sans Pro"/>
                <a:sym typeface="Source Sans Pro"/>
              </a:rPr>
              <a:t>Kod</a:t>
            </a:r>
          </a:p>
        </p:txBody>
      </p:sp>
      <p:sp>
        <p:nvSpPr>
          <p:cNvPr name="Freeform 11" id="11"/>
          <p:cNvSpPr/>
          <p:nvPr/>
        </p:nvSpPr>
        <p:spPr>
          <a:xfrm flipH="false" flipV="false" rot="0">
            <a:off x="7683190" y="2035548"/>
            <a:ext cx="10029962" cy="4514911"/>
          </a:xfrm>
          <a:custGeom>
            <a:avLst/>
            <a:gdLst/>
            <a:ahLst/>
            <a:cxnLst/>
            <a:rect r="r" b="b" t="t" l="l"/>
            <a:pathLst>
              <a:path h="4514911" w="10029962">
                <a:moveTo>
                  <a:pt x="0" y="0"/>
                </a:moveTo>
                <a:lnTo>
                  <a:pt x="10029961" y="0"/>
                </a:lnTo>
                <a:lnTo>
                  <a:pt x="10029961" y="4514910"/>
                </a:lnTo>
                <a:lnTo>
                  <a:pt x="0" y="4514910"/>
                </a:lnTo>
                <a:lnTo>
                  <a:pt x="0" y="0"/>
                </a:lnTo>
                <a:close/>
              </a:path>
            </a:pathLst>
          </a:custGeom>
          <a:blipFill>
            <a:blip r:embed="rId7"/>
            <a:stretch>
              <a:fillRect l="0" t="0" r="0" b="0"/>
            </a:stretch>
          </a:blipFill>
        </p:spPr>
      </p:sp>
      <p:sp>
        <p:nvSpPr>
          <p:cNvPr name="TextBox 12" id="12"/>
          <p:cNvSpPr txBox="true"/>
          <p:nvPr/>
        </p:nvSpPr>
        <p:spPr>
          <a:xfrm rot="0">
            <a:off x="8085914" y="2377821"/>
            <a:ext cx="4363172" cy="879506"/>
          </a:xfrm>
          <a:prstGeom prst="rect">
            <a:avLst/>
          </a:prstGeom>
        </p:spPr>
        <p:txBody>
          <a:bodyPr anchor="t" rtlCol="false" tIns="0" lIns="0" bIns="0" rIns="0">
            <a:spAutoFit/>
          </a:bodyPr>
          <a:lstStyle/>
          <a:p>
            <a:pPr algn="l">
              <a:lnSpc>
                <a:spcPts val="2474"/>
              </a:lnSpc>
            </a:pPr>
            <a:r>
              <a:rPr lang="en-US" sz="1546" spc="-61">
                <a:solidFill>
                  <a:srgbClr val="F6F6F6"/>
                </a:solidFill>
                <a:latin typeface="Source Sans Pro"/>
                <a:ea typeface="Source Sans Pro"/>
                <a:cs typeface="Source Sans Pro"/>
                <a:sym typeface="Source Sans Pro"/>
              </a:rPr>
              <a:t>batched_ids = [</a:t>
            </a:r>
          </a:p>
          <a:p>
            <a:pPr algn="l">
              <a:lnSpc>
                <a:spcPts val="2474"/>
              </a:lnSpc>
            </a:pPr>
            <a:r>
              <a:rPr lang="en-US" sz="1546" spc="-61">
                <a:solidFill>
                  <a:srgbClr val="F6F6F6"/>
                </a:solidFill>
                <a:latin typeface="Source Sans Pro"/>
                <a:ea typeface="Source Sans Pro"/>
                <a:cs typeface="Source Sans Pro"/>
                <a:sym typeface="Source Sans Pro"/>
              </a:rPr>
              <a:t>   [200, 200, 200],</a:t>
            </a:r>
          </a:p>
          <a:p>
            <a:pPr algn="l">
              <a:lnSpc>
                <a:spcPts val="2474"/>
              </a:lnSpc>
            </a:pPr>
            <a:r>
              <a:rPr lang="en-US" sz="1546" spc="-61">
                <a:solidFill>
                  <a:srgbClr val="F6F6F6"/>
                </a:solidFill>
                <a:latin typeface="Source Sans Pro"/>
                <a:ea typeface="Source Sans Pro"/>
                <a:cs typeface="Source Sans Pro"/>
                <a:sym typeface="Source Sans Pro"/>
              </a:rPr>
              <a:t>   [200, 200, tokenizer.pad_token_id],</a:t>
            </a:r>
          </a:p>
        </p:txBody>
      </p:sp>
      <p:sp>
        <p:nvSpPr>
          <p:cNvPr name="TextBox 13" id="13"/>
          <p:cNvSpPr txBox="true"/>
          <p:nvPr/>
        </p:nvSpPr>
        <p:spPr>
          <a:xfrm rot="0">
            <a:off x="8108878" y="3898966"/>
            <a:ext cx="2066765" cy="879506"/>
          </a:xfrm>
          <a:prstGeom prst="rect">
            <a:avLst/>
          </a:prstGeom>
        </p:spPr>
        <p:txBody>
          <a:bodyPr anchor="t" rtlCol="false" tIns="0" lIns="0" bIns="0" rIns="0">
            <a:spAutoFit/>
          </a:bodyPr>
          <a:lstStyle/>
          <a:p>
            <a:pPr algn="l">
              <a:lnSpc>
                <a:spcPts val="2474"/>
              </a:lnSpc>
            </a:pPr>
            <a:r>
              <a:rPr lang="en-US" sz="1546" spc="-61">
                <a:solidFill>
                  <a:srgbClr val="F6F6F6"/>
                </a:solidFill>
                <a:latin typeface="Source Sans Pro"/>
                <a:ea typeface="Source Sans Pro"/>
                <a:cs typeface="Source Sans Pro"/>
                <a:sym typeface="Source Sans Pro"/>
              </a:rPr>
              <a:t>attention_mask = [</a:t>
            </a:r>
          </a:p>
          <a:p>
            <a:pPr algn="l">
              <a:lnSpc>
                <a:spcPts val="2474"/>
              </a:lnSpc>
            </a:pPr>
            <a:r>
              <a:rPr lang="en-US" sz="1546" spc="-61">
                <a:solidFill>
                  <a:srgbClr val="F6F6F6"/>
                </a:solidFill>
                <a:latin typeface="Source Sans Pro"/>
                <a:ea typeface="Source Sans Pro"/>
                <a:cs typeface="Source Sans Pro"/>
                <a:sym typeface="Source Sans Pro"/>
              </a:rPr>
              <a:t>        [1, 1, 1],</a:t>
            </a:r>
          </a:p>
          <a:p>
            <a:pPr algn="l">
              <a:lnSpc>
                <a:spcPts val="2474"/>
              </a:lnSpc>
            </a:pPr>
            <a:r>
              <a:rPr lang="en-US" sz="1546" spc="-61">
                <a:solidFill>
                  <a:srgbClr val="F6F6F6"/>
                </a:solidFill>
                <a:latin typeface="Source Sans Pro"/>
                <a:ea typeface="Source Sans Pro"/>
                <a:cs typeface="Source Sans Pro"/>
                <a:sym typeface="Source Sans Pro"/>
              </a:rPr>
              <a:t>        [1, 1, 0],</a:t>
            </a:r>
          </a:p>
        </p:txBody>
      </p:sp>
      <p:sp>
        <p:nvSpPr>
          <p:cNvPr name="TextBox 14" id="14"/>
          <p:cNvSpPr txBox="true"/>
          <p:nvPr/>
        </p:nvSpPr>
        <p:spPr>
          <a:xfrm rot="0">
            <a:off x="8058109" y="5437019"/>
            <a:ext cx="7143685" cy="636726"/>
          </a:xfrm>
          <a:prstGeom prst="rect">
            <a:avLst/>
          </a:prstGeom>
        </p:spPr>
        <p:txBody>
          <a:bodyPr anchor="t" rtlCol="false" tIns="0" lIns="0" bIns="0" rIns="0">
            <a:spAutoFit/>
          </a:bodyPr>
          <a:lstStyle/>
          <a:p>
            <a:pPr algn="l">
              <a:lnSpc>
                <a:spcPts val="2784"/>
              </a:lnSpc>
            </a:pPr>
            <a:r>
              <a:rPr lang="en-US" sz="1546" spc="-61">
                <a:solidFill>
                  <a:srgbClr val="F6F6F6"/>
                </a:solidFill>
                <a:latin typeface="Source Sans Pro"/>
                <a:ea typeface="Source Sans Pro"/>
                <a:cs typeface="Source Sans Pro"/>
                <a:sym typeface="Source Sans Pro"/>
              </a:rPr>
              <a:t>outputs = model(torch tensor(batched_ids), attention_mask=torch tensor(attention_mask)) printoutputs.logits)</a:t>
            </a:r>
          </a:p>
        </p:txBody>
      </p:sp>
      <p:sp>
        <p:nvSpPr>
          <p:cNvPr name="TextBox 15" id="15"/>
          <p:cNvSpPr txBox="true"/>
          <p:nvPr/>
        </p:nvSpPr>
        <p:spPr>
          <a:xfrm rot="0">
            <a:off x="7881428" y="7007843"/>
            <a:ext cx="701640" cy="318967"/>
          </a:xfrm>
          <a:prstGeom prst="rect">
            <a:avLst/>
          </a:prstGeom>
        </p:spPr>
        <p:txBody>
          <a:bodyPr anchor="t" rtlCol="false" tIns="0" lIns="0" bIns="0" rIns="0">
            <a:spAutoFit/>
          </a:bodyPr>
          <a:lstStyle/>
          <a:p>
            <a:pPr algn="l">
              <a:lnSpc>
                <a:spcPts val="2487"/>
              </a:lnSpc>
            </a:pPr>
            <a:r>
              <a:rPr lang="en-US" sz="2487" spc="-24">
                <a:solidFill>
                  <a:srgbClr val="F6F6F6"/>
                </a:solidFill>
                <a:latin typeface="Source Sans Pro"/>
                <a:ea typeface="Source Sans Pro"/>
                <a:cs typeface="Source Sans Pro"/>
                <a:sym typeface="Source Sans Pro"/>
              </a:rPr>
              <a:t>Çıktı</a:t>
            </a:r>
          </a:p>
        </p:txBody>
      </p:sp>
      <p:sp>
        <p:nvSpPr>
          <p:cNvPr name="Freeform 16" id="16"/>
          <p:cNvSpPr/>
          <p:nvPr/>
        </p:nvSpPr>
        <p:spPr>
          <a:xfrm flipH="false" flipV="false" rot="0">
            <a:off x="7683190" y="7392221"/>
            <a:ext cx="10029962" cy="1519546"/>
          </a:xfrm>
          <a:custGeom>
            <a:avLst/>
            <a:gdLst/>
            <a:ahLst/>
            <a:cxnLst/>
            <a:rect r="r" b="b" t="t" l="l"/>
            <a:pathLst>
              <a:path h="1519546" w="10029962">
                <a:moveTo>
                  <a:pt x="0" y="0"/>
                </a:moveTo>
                <a:lnTo>
                  <a:pt x="10029961" y="0"/>
                </a:lnTo>
                <a:lnTo>
                  <a:pt x="10029961" y="1519547"/>
                </a:lnTo>
                <a:lnTo>
                  <a:pt x="0" y="1519547"/>
                </a:lnTo>
                <a:lnTo>
                  <a:pt x="0" y="0"/>
                </a:lnTo>
                <a:close/>
              </a:path>
            </a:pathLst>
          </a:custGeom>
          <a:blipFill>
            <a:blip r:embed="rId8"/>
            <a:stretch>
              <a:fillRect l="0" t="0" r="0" b="0"/>
            </a:stretch>
          </a:blipFill>
        </p:spPr>
      </p:sp>
      <p:sp>
        <p:nvSpPr>
          <p:cNvPr name="TextBox 17" id="17"/>
          <p:cNvSpPr txBox="true"/>
          <p:nvPr/>
        </p:nvSpPr>
        <p:spPr>
          <a:xfrm rot="0">
            <a:off x="8068312" y="7726266"/>
            <a:ext cx="6123349" cy="636726"/>
          </a:xfrm>
          <a:prstGeom prst="rect">
            <a:avLst/>
          </a:prstGeom>
        </p:spPr>
        <p:txBody>
          <a:bodyPr anchor="t" rtlCol="false" tIns="0" lIns="0" bIns="0" rIns="0">
            <a:spAutoFit/>
          </a:bodyPr>
          <a:lstStyle/>
          <a:p>
            <a:pPr algn="l">
              <a:lnSpc>
                <a:spcPts val="2784"/>
              </a:lnSpc>
            </a:pPr>
            <a:r>
              <a:rPr lang="en-US" sz="1546" spc="-61">
                <a:solidFill>
                  <a:srgbClr val="F6F6F6"/>
                </a:solidFill>
                <a:latin typeface="Source Sans Pro"/>
                <a:ea typeface="Source Sans Pro"/>
                <a:cs typeface="Source Sans Pro"/>
                <a:sym typeface="Source Sans Pro"/>
              </a:rPr>
              <a:t>tensor([I 1.5694, -1.3895],</a:t>
            </a:r>
          </a:p>
          <a:p>
            <a:pPr algn="l">
              <a:lnSpc>
                <a:spcPts val="2784"/>
              </a:lnSpc>
            </a:pPr>
            <a:r>
              <a:rPr lang="en-US" sz="1546" spc="-61">
                <a:solidFill>
                  <a:srgbClr val="F6F6F6"/>
                </a:solidFill>
                <a:latin typeface="Source Sans Pro"/>
                <a:ea typeface="Source Sans Pro"/>
                <a:cs typeface="Source Sans Pro"/>
                <a:sym typeface="Source Sans Pro"/>
              </a:rPr>
              <a:t>        [ 0.5803, -0.4125]},], grad_fn=&lt;AddmmBackward&gt;</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bg>
      <p:bgPr>
        <a:solidFill>
          <a:srgbClr val="1F0034"/>
        </a:solidFill>
      </p:bgPr>
    </p:bg>
    <p:spTree>
      <p:nvGrpSpPr>
        <p:cNvPr id="1" name=""/>
        <p:cNvGrpSpPr/>
        <p:nvPr/>
      </p:nvGrpSpPr>
      <p:grpSpPr>
        <a:xfrm>
          <a:off x="0" y="0"/>
          <a:ext cx="0" cy="0"/>
          <a:chOff x="0" y="0"/>
          <a:chExt cx="0" cy="0"/>
        </a:xfrm>
      </p:grpSpPr>
      <p:sp>
        <p:nvSpPr>
          <p:cNvPr name="Freeform 2" id="2"/>
          <p:cNvSpPr/>
          <p:nvPr/>
        </p:nvSpPr>
        <p:spPr>
          <a:xfrm flipH="false" flipV="false" rot="4862015">
            <a:off x="10157954" y="2652590"/>
            <a:ext cx="13034898" cy="6446038"/>
          </a:xfrm>
          <a:custGeom>
            <a:avLst/>
            <a:gdLst/>
            <a:ahLst/>
            <a:cxnLst/>
            <a:rect r="r" b="b" t="t" l="l"/>
            <a:pathLst>
              <a:path h="6446038" w="13034898">
                <a:moveTo>
                  <a:pt x="0" y="0"/>
                </a:moveTo>
                <a:lnTo>
                  <a:pt x="13034898" y="0"/>
                </a:lnTo>
                <a:lnTo>
                  <a:pt x="13034898" y="6446038"/>
                </a:lnTo>
                <a:lnTo>
                  <a:pt x="0" y="6446038"/>
                </a:lnTo>
                <a:lnTo>
                  <a:pt x="0" y="0"/>
                </a:lnTo>
                <a:close/>
              </a:path>
            </a:pathLst>
          </a:custGeom>
          <a:blipFill>
            <a:blip r:embed="rId2">
              <a:extLst>
                <a:ext uri="{96DAC541-7B7A-43D3-8B79-37D633B846F1}">
                  <asvg:svgBlip xmlns:asvg="http://schemas.microsoft.com/office/drawing/2016/SVG/main" r:embed="rId3"/>
                </a:ext>
              </a:extLst>
            </a:blip>
            <a:stretch>
              <a:fillRect l="0" t="0" r="-134" b="-129447"/>
            </a:stretch>
          </a:blipFill>
        </p:spPr>
      </p:sp>
      <p:sp>
        <p:nvSpPr>
          <p:cNvPr name="Freeform 3" id="3"/>
          <p:cNvSpPr/>
          <p:nvPr/>
        </p:nvSpPr>
        <p:spPr>
          <a:xfrm flipH="false" flipV="false" rot="-6492416">
            <a:off x="-4102332" y="4826625"/>
            <a:ext cx="13034898" cy="6446038"/>
          </a:xfrm>
          <a:custGeom>
            <a:avLst/>
            <a:gdLst/>
            <a:ahLst/>
            <a:cxnLst/>
            <a:rect r="r" b="b" t="t" l="l"/>
            <a:pathLst>
              <a:path h="6446038" w="13034898">
                <a:moveTo>
                  <a:pt x="0" y="0"/>
                </a:moveTo>
                <a:lnTo>
                  <a:pt x="13034898" y="0"/>
                </a:lnTo>
                <a:lnTo>
                  <a:pt x="13034898" y="6446039"/>
                </a:lnTo>
                <a:lnTo>
                  <a:pt x="0" y="6446039"/>
                </a:lnTo>
                <a:lnTo>
                  <a:pt x="0" y="0"/>
                </a:lnTo>
                <a:close/>
              </a:path>
            </a:pathLst>
          </a:custGeom>
          <a:blipFill>
            <a:blip r:embed="rId4">
              <a:extLst>
                <a:ext uri="{96DAC541-7B7A-43D3-8B79-37D633B846F1}">
                  <asvg:svgBlip xmlns:asvg="http://schemas.microsoft.com/office/drawing/2016/SVG/main" r:embed="rId5"/>
                </a:ext>
              </a:extLst>
            </a:blip>
            <a:stretch>
              <a:fillRect l="0" t="0" r="-134" b="-129447"/>
            </a:stretch>
          </a:blipFill>
        </p:spPr>
      </p:sp>
      <p:sp>
        <p:nvSpPr>
          <p:cNvPr name="Freeform 4" id="4"/>
          <p:cNvSpPr/>
          <p:nvPr/>
        </p:nvSpPr>
        <p:spPr>
          <a:xfrm flipH="false" flipV="false" rot="0">
            <a:off x="13411200" y="-2353991"/>
            <a:ext cx="8229600" cy="8229600"/>
          </a:xfrm>
          <a:custGeom>
            <a:avLst/>
            <a:gdLst/>
            <a:ahLst/>
            <a:cxnLst/>
            <a:rect r="r" b="b" t="t" l="l"/>
            <a:pathLst>
              <a:path h="8229600" w="8229600">
                <a:moveTo>
                  <a:pt x="0" y="0"/>
                </a:moveTo>
                <a:lnTo>
                  <a:pt x="8229600" y="0"/>
                </a:lnTo>
                <a:lnTo>
                  <a:pt x="8229600" y="8229600"/>
                </a:lnTo>
                <a:lnTo>
                  <a:pt x="0" y="8229600"/>
                </a:lnTo>
                <a:lnTo>
                  <a:pt x="0" y="0"/>
                </a:lnTo>
                <a:close/>
              </a:path>
            </a:pathLst>
          </a:custGeom>
          <a:blipFill>
            <a:blip r:embed="rId6"/>
            <a:stretch>
              <a:fillRect l="0" t="0" r="0" b="0"/>
            </a:stretch>
          </a:blipFill>
        </p:spPr>
      </p:sp>
      <p:sp>
        <p:nvSpPr>
          <p:cNvPr name="Freeform 5" id="5"/>
          <p:cNvSpPr/>
          <p:nvPr/>
        </p:nvSpPr>
        <p:spPr>
          <a:xfrm flipH="false" flipV="false" rot="6621428">
            <a:off x="-5698100" y="-3688390"/>
            <a:ext cx="10550923" cy="11871643"/>
          </a:xfrm>
          <a:custGeom>
            <a:avLst/>
            <a:gdLst/>
            <a:ahLst/>
            <a:cxnLst/>
            <a:rect r="r" b="b" t="t" l="l"/>
            <a:pathLst>
              <a:path h="11871643" w="10550923">
                <a:moveTo>
                  <a:pt x="0" y="0"/>
                </a:moveTo>
                <a:lnTo>
                  <a:pt x="10550923" y="0"/>
                </a:lnTo>
                <a:lnTo>
                  <a:pt x="10550923" y="11871643"/>
                </a:lnTo>
                <a:lnTo>
                  <a:pt x="0" y="11871643"/>
                </a:lnTo>
                <a:lnTo>
                  <a:pt x="0" y="0"/>
                </a:lnTo>
                <a:close/>
              </a:path>
            </a:pathLst>
          </a:custGeom>
          <a:blipFill>
            <a:blip r:embed="rId7"/>
            <a:stretch>
              <a:fillRect l="0" t="0" r="0" b="0"/>
            </a:stretch>
          </a:blipFill>
        </p:spPr>
      </p:sp>
      <p:sp>
        <p:nvSpPr>
          <p:cNvPr name="Freeform 6" id="6"/>
          <p:cNvSpPr/>
          <p:nvPr/>
        </p:nvSpPr>
        <p:spPr>
          <a:xfrm flipH="false" flipV="false" rot="0">
            <a:off x="5850664" y="-2792995"/>
            <a:ext cx="14097816" cy="8229600"/>
          </a:xfrm>
          <a:custGeom>
            <a:avLst/>
            <a:gdLst/>
            <a:ahLst/>
            <a:cxnLst/>
            <a:rect r="r" b="b" t="t" l="l"/>
            <a:pathLst>
              <a:path h="8229600" w="14097816">
                <a:moveTo>
                  <a:pt x="0" y="0"/>
                </a:moveTo>
                <a:lnTo>
                  <a:pt x="14097815" y="0"/>
                </a:lnTo>
                <a:lnTo>
                  <a:pt x="14097815" y="8229600"/>
                </a:lnTo>
                <a:lnTo>
                  <a:pt x="0" y="8229600"/>
                </a:lnTo>
                <a:lnTo>
                  <a:pt x="0" y="0"/>
                </a:lnTo>
                <a:close/>
              </a:path>
            </a:pathLst>
          </a:custGeom>
          <a:blipFill>
            <a:blip r:embed="rId8">
              <a:alphaModFix amt="70000"/>
            </a:blip>
            <a:stretch>
              <a:fillRect l="0" t="0" r="0" b="0"/>
            </a:stretch>
          </a:blipFill>
        </p:spPr>
      </p:sp>
      <p:sp>
        <p:nvSpPr>
          <p:cNvPr name="TextBox 7" id="7"/>
          <p:cNvSpPr txBox="true"/>
          <p:nvPr/>
        </p:nvSpPr>
        <p:spPr>
          <a:xfrm rot="0">
            <a:off x="3419989" y="2805459"/>
            <a:ext cx="10905012" cy="2441575"/>
          </a:xfrm>
          <a:prstGeom prst="rect">
            <a:avLst/>
          </a:prstGeom>
        </p:spPr>
        <p:txBody>
          <a:bodyPr anchor="t" rtlCol="false" tIns="0" lIns="0" bIns="0" rIns="0">
            <a:spAutoFit/>
          </a:bodyPr>
          <a:lstStyle/>
          <a:p>
            <a:pPr algn="ctr">
              <a:lnSpc>
                <a:spcPts val="9800"/>
              </a:lnSpc>
            </a:pPr>
            <a:r>
              <a:rPr lang="en-US" b="true" sz="7000" spc="273">
                <a:solidFill>
                  <a:srgbClr val="FFFFFF"/>
                </a:solidFill>
                <a:latin typeface="Montserrat Bold"/>
                <a:ea typeface="Montserrat Bold"/>
                <a:cs typeface="Montserrat Bold"/>
                <a:sym typeface="Montserrat Bold"/>
              </a:rPr>
              <a:t>PUTTING IT ALL TOGETHER</a:t>
            </a:r>
          </a:p>
        </p:txBody>
      </p:sp>
      <p:sp>
        <p:nvSpPr>
          <p:cNvPr name="TextBox 8" id="8"/>
          <p:cNvSpPr txBox="true"/>
          <p:nvPr/>
        </p:nvSpPr>
        <p:spPr>
          <a:xfrm rot="0">
            <a:off x="5832660" y="6273670"/>
            <a:ext cx="6622681" cy="466448"/>
          </a:xfrm>
          <a:prstGeom prst="rect">
            <a:avLst/>
          </a:prstGeom>
        </p:spPr>
        <p:txBody>
          <a:bodyPr anchor="t" rtlCol="false" tIns="0" lIns="0" bIns="0" rIns="0">
            <a:spAutoFit/>
          </a:bodyPr>
          <a:lstStyle/>
          <a:p>
            <a:pPr algn="ctr">
              <a:lnSpc>
                <a:spcPts val="3504"/>
              </a:lnSpc>
            </a:pPr>
            <a:r>
              <a:rPr lang="en-US" b="true" sz="2503" spc="97">
                <a:solidFill>
                  <a:srgbClr val="FFFFFF"/>
                </a:solidFill>
                <a:latin typeface="Montserrat Bold"/>
                <a:ea typeface="Montserrat Bold"/>
                <a:cs typeface="Montserrat Bold"/>
                <a:sym typeface="Montserrat Bold"/>
              </a:rPr>
              <a:t>HEPSİ BİR ARADA</a:t>
            </a:r>
          </a:p>
          <a:p>
            <a:pPr algn="ctr">
              <a:lnSpc>
                <a:spcPts val="50"/>
              </a:lnSpc>
            </a:pPr>
          </a:p>
        </p:txBody>
      </p:sp>
      <p:sp>
        <p:nvSpPr>
          <p:cNvPr name="AutoShape 9" id="9"/>
          <p:cNvSpPr/>
          <p:nvPr/>
        </p:nvSpPr>
        <p:spPr>
          <a:xfrm>
            <a:off x="5380784" y="7132790"/>
            <a:ext cx="7526432" cy="0"/>
          </a:xfrm>
          <a:prstGeom prst="line">
            <a:avLst/>
          </a:prstGeom>
          <a:ln cap="flat" w="19050">
            <a:solidFill>
              <a:srgbClr val="9570FF"/>
            </a:solidFill>
            <a:prstDash val="solid"/>
            <a:headEnd type="none" len="sm" w="sm"/>
            <a:tailEnd type="none" len="sm" w="sm"/>
          </a:ln>
        </p:spPr>
      </p:sp>
      <p:sp>
        <p:nvSpPr>
          <p:cNvPr name="AutoShape 10" id="10"/>
          <p:cNvSpPr/>
          <p:nvPr/>
        </p:nvSpPr>
        <p:spPr>
          <a:xfrm>
            <a:off x="5380784" y="5928622"/>
            <a:ext cx="7526432" cy="0"/>
          </a:xfrm>
          <a:prstGeom prst="line">
            <a:avLst/>
          </a:prstGeom>
          <a:ln cap="flat" w="19050">
            <a:solidFill>
              <a:srgbClr val="9570FF"/>
            </a:solidFill>
            <a:prstDash val="solid"/>
            <a:headEnd type="none" len="sm" w="sm"/>
            <a:tailEnd type="none" len="sm" w="sm"/>
          </a:ln>
        </p:spPr>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bg>
      <p:bgPr>
        <a:solidFill>
          <a:srgbClr val="1F0034"/>
        </a:solidFill>
      </p:bgPr>
    </p:bg>
    <p:spTree>
      <p:nvGrpSpPr>
        <p:cNvPr id="1" name=""/>
        <p:cNvGrpSpPr/>
        <p:nvPr/>
      </p:nvGrpSpPr>
      <p:grpSpPr>
        <a:xfrm>
          <a:off x="0" y="0"/>
          <a:ext cx="0" cy="0"/>
          <a:chOff x="0" y="0"/>
          <a:chExt cx="0" cy="0"/>
        </a:xfrm>
      </p:grpSpPr>
      <p:sp>
        <p:nvSpPr>
          <p:cNvPr name="TextBox 2" id="2"/>
          <p:cNvSpPr txBox="true"/>
          <p:nvPr/>
        </p:nvSpPr>
        <p:spPr>
          <a:xfrm rot="0">
            <a:off x="750404" y="1567476"/>
            <a:ext cx="8005656" cy="961406"/>
          </a:xfrm>
          <a:prstGeom prst="rect">
            <a:avLst/>
          </a:prstGeom>
        </p:spPr>
        <p:txBody>
          <a:bodyPr anchor="t" rtlCol="false" tIns="0" lIns="0" bIns="0" rIns="0">
            <a:spAutoFit/>
          </a:bodyPr>
          <a:lstStyle/>
          <a:p>
            <a:pPr algn="l">
              <a:lnSpc>
                <a:spcPts val="7264"/>
              </a:lnSpc>
            </a:pPr>
            <a:r>
              <a:rPr lang="en-US" sz="7264" spc="-216" b="true">
                <a:solidFill>
                  <a:srgbClr val="FFFFFF"/>
                </a:solidFill>
                <a:latin typeface="Source Sans Pro Bold"/>
                <a:ea typeface="Source Sans Pro Bold"/>
                <a:cs typeface="Source Sans Pro Bold"/>
                <a:sym typeface="Source Sans Pro Bold"/>
              </a:rPr>
              <a:t>Longer sequences</a:t>
            </a:r>
          </a:p>
        </p:txBody>
      </p:sp>
      <p:sp>
        <p:nvSpPr>
          <p:cNvPr name="TextBox 3" id="3"/>
          <p:cNvSpPr txBox="true"/>
          <p:nvPr/>
        </p:nvSpPr>
        <p:spPr>
          <a:xfrm rot="0">
            <a:off x="745206" y="3057616"/>
            <a:ext cx="8525535" cy="1203968"/>
          </a:xfrm>
          <a:prstGeom prst="rect">
            <a:avLst/>
          </a:prstGeom>
        </p:spPr>
        <p:txBody>
          <a:bodyPr anchor="t" rtlCol="false" tIns="0" lIns="0" bIns="0" rIns="0">
            <a:spAutoFit/>
          </a:bodyPr>
          <a:lstStyle/>
          <a:p>
            <a:pPr algn="l">
              <a:lnSpc>
                <a:spcPts val="3275"/>
              </a:lnSpc>
            </a:pPr>
            <a:r>
              <a:rPr lang="en-US" sz="2047" spc="-40">
                <a:solidFill>
                  <a:srgbClr val="FFFFFF"/>
                </a:solidFill>
                <a:latin typeface="Source Sans Pro"/>
                <a:ea typeface="Source Sans Pro"/>
                <a:cs typeface="Source Sans Pro"/>
                <a:sym typeface="Source Sans Pro"/>
              </a:rPr>
              <a:t>Transformer modellerinde, modele verebileceğimiz dizilerin uzunluğunun bir sınırı vardır. Çoğu model 512 veya 1024 token'a kadar olan dizileri işler, daha uzununu işlemesi istenince çöker.</a:t>
            </a:r>
          </a:p>
        </p:txBody>
      </p:sp>
      <p:sp>
        <p:nvSpPr>
          <p:cNvPr name="TextBox 4" id="4"/>
          <p:cNvSpPr txBox="true"/>
          <p:nvPr/>
        </p:nvSpPr>
        <p:spPr>
          <a:xfrm rot="0">
            <a:off x="752672" y="4639003"/>
            <a:ext cx="7778874" cy="793421"/>
          </a:xfrm>
          <a:prstGeom prst="rect">
            <a:avLst/>
          </a:prstGeom>
        </p:spPr>
        <p:txBody>
          <a:bodyPr anchor="t" rtlCol="false" tIns="0" lIns="0" bIns="0" rIns="0">
            <a:spAutoFit/>
          </a:bodyPr>
          <a:lstStyle/>
          <a:p>
            <a:pPr algn="l">
              <a:lnSpc>
                <a:spcPts val="3275"/>
              </a:lnSpc>
            </a:pPr>
            <a:r>
              <a:rPr lang="en-US" sz="2047" spc="-40">
                <a:solidFill>
                  <a:srgbClr val="FFFFFF"/>
                </a:solidFill>
                <a:latin typeface="Source Sans Pro"/>
                <a:ea typeface="Source Sans Pro"/>
                <a:cs typeface="Source Sans Pro"/>
                <a:sym typeface="Source Sans Pro"/>
              </a:rPr>
              <a:t>İki çözüm var: daha uzun dizi uzunluğunu destekleyen bir model kullanmak veya dizileri kesmek.</a:t>
            </a:r>
          </a:p>
        </p:txBody>
      </p:sp>
      <p:sp>
        <p:nvSpPr>
          <p:cNvPr name="TextBox 5" id="5"/>
          <p:cNvSpPr txBox="true"/>
          <p:nvPr/>
        </p:nvSpPr>
        <p:spPr>
          <a:xfrm rot="0">
            <a:off x="747412" y="5813749"/>
            <a:ext cx="8304897" cy="1203968"/>
          </a:xfrm>
          <a:prstGeom prst="rect">
            <a:avLst/>
          </a:prstGeom>
        </p:spPr>
        <p:txBody>
          <a:bodyPr anchor="t" rtlCol="false" tIns="0" lIns="0" bIns="0" rIns="0">
            <a:spAutoFit/>
          </a:bodyPr>
          <a:lstStyle/>
          <a:p>
            <a:pPr algn="l">
              <a:lnSpc>
                <a:spcPts val="3275"/>
              </a:lnSpc>
            </a:pPr>
            <a:r>
              <a:rPr lang="en-US" sz="2047" spc="-40">
                <a:solidFill>
                  <a:srgbClr val="FFFFFF"/>
                </a:solidFill>
                <a:latin typeface="Source Sans Pro"/>
                <a:ea typeface="Source Sans Pro"/>
                <a:cs typeface="Source Sans Pro"/>
                <a:sym typeface="Source Sans Pro"/>
              </a:rPr>
              <a:t>Bazı modeller çok uzun dizilerde uzmanlaşmıştır. Longformer bir örnektir, LED başka bir örnektir. Çok uzun dizi gerektiren bir görevde çalışıyorsan bu modellere bakmanı öneririz.</a:t>
            </a:r>
          </a:p>
        </p:txBody>
      </p:sp>
      <p:sp>
        <p:nvSpPr>
          <p:cNvPr name="TextBox 6" id="6"/>
          <p:cNvSpPr txBox="true"/>
          <p:nvPr/>
        </p:nvSpPr>
        <p:spPr>
          <a:xfrm rot="0">
            <a:off x="750175" y="7425259"/>
            <a:ext cx="8028606" cy="793421"/>
          </a:xfrm>
          <a:prstGeom prst="rect">
            <a:avLst/>
          </a:prstGeom>
        </p:spPr>
        <p:txBody>
          <a:bodyPr anchor="t" rtlCol="false" tIns="0" lIns="0" bIns="0" rIns="0">
            <a:spAutoFit/>
          </a:bodyPr>
          <a:lstStyle/>
          <a:p>
            <a:pPr algn="l">
              <a:lnSpc>
                <a:spcPts val="3275"/>
              </a:lnSpc>
            </a:pPr>
            <a:r>
              <a:rPr lang="en-US" sz="2047" spc="-40">
                <a:solidFill>
                  <a:srgbClr val="FFFFFF"/>
                </a:solidFill>
                <a:latin typeface="Source Sans Pro"/>
                <a:ea typeface="Source Sans Pro"/>
                <a:cs typeface="Source Sans Pro"/>
                <a:sym typeface="Source Sans Pro"/>
              </a:rPr>
              <a:t>Aksi halde, maxSequence_length parametresini belirterek dizilerini kesmeni öneririz.</a:t>
            </a:r>
          </a:p>
        </p:txBody>
      </p:sp>
      <p:sp>
        <p:nvSpPr>
          <p:cNvPr name="Freeform 7" id="7"/>
          <p:cNvSpPr/>
          <p:nvPr/>
        </p:nvSpPr>
        <p:spPr>
          <a:xfrm flipH="false" flipV="false" rot="0">
            <a:off x="9789330" y="2995365"/>
            <a:ext cx="7853340" cy="2372241"/>
          </a:xfrm>
          <a:custGeom>
            <a:avLst/>
            <a:gdLst/>
            <a:ahLst/>
            <a:cxnLst/>
            <a:rect r="r" b="b" t="t" l="l"/>
            <a:pathLst>
              <a:path h="2372241" w="7853340">
                <a:moveTo>
                  <a:pt x="0" y="0"/>
                </a:moveTo>
                <a:lnTo>
                  <a:pt x="7853340" y="0"/>
                </a:lnTo>
                <a:lnTo>
                  <a:pt x="7853340" y="2372241"/>
                </a:lnTo>
                <a:lnTo>
                  <a:pt x="0" y="2372241"/>
                </a:lnTo>
                <a:lnTo>
                  <a:pt x="0" y="0"/>
                </a:lnTo>
                <a:close/>
              </a:path>
            </a:pathLst>
          </a:custGeom>
          <a:blipFill>
            <a:blip r:embed="rId2"/>
            <a:stretch>
              <a:fillRect l="0" t="0" r="0" b="0"/>
            </a:stretch>
          </a:blipFill>
        </p:spPr>
      </p:sp>
      <p:sp>
        <p:nvSpPr>
          <p:cNvPr name="TextBox 8" id="8"/>
          <p:cNvSpPr txBox="true"/>
          <p:nvPr/>
        </p:nvSpPr>
        <p:spPr>
          <a:xfrm rot="0">
            <a:off x="10227456" y="3335247"/>
            <a:ext cx="596559" cy="430567"/>
          </a:xfrm>
          <a:prstGeom prst="rect">
            <a:avLst/>
          </a:prstGeom>
        </p:spPr>
        <p:txBody>
          <a:bodyPr anchor="t" rtlCol="false" tIns="0" lIns="0" bIns="0" rIns="0">
            <a:spAutoFit/>
          </a:bodyPr>
          <a:lstStyle/>
          <a:p>
            <a:pPr algn="l">
              <a:lnSpc>
                <a:spcPts val="3760"/>
              </a:lnSpc>
            </a:pPr>
            <a:r>
              <a:rPr lang="en-US" sz="2351">
                <a:solidFill>
                  <a:srgbClr val="FFFFFF"/>
                </a:solidFill>
                <a:latin typeface="Source Sans Pro"/>
                <a:ea typeface="Source Sans Pro"/>
                <a:cs typeface="Source Sans Pro"/>
                <a:sym typeface="Source Sans Pro"/>
              </a:rPr>
              <a:t>Kod</a:t>
            </a:r>
          </a:p>
        </p:txBody>
      </p:sp>
      <p:sp>
        <p:nvSpPr>
          <p:cNvPr name="TextBox 9" id="9"/>
          <p:cNvSpPr txBox="true"/>
          <p:nvPr/>
        </p:nvSpPr>
        <p:spPr>
          <a:xfrm rot="0">
            <a:off x="10174418" y="4414206"/>
            <a:ext cx="5900379" cy="353861"/>
          </a:xfrm>
          <a:prstGeom prst="rect">
            <a:avLst/>
          </a:prstGeom>
        </p:spPr>
        <p:txBody>
          <a:bodyPr anchor="t" rtlCol="false" tIns="0" lIns="0" bIns="0" rIns="0">
            <a:spAutoFit/>
          </a:bodyPr>
          <a:lstStyle/>
          <a:p>
            <a:pPr algn="l">
              <a:lnSpc>
                <a:spcPts val="3064"/>
              </a:lnSpc>
            </a:pPr>
            <a:r>
              <a:rPr lang="en-US" sz="1916" spc="38">
                <a:solidFill>
                  <a:srgbClr val="FFFFFF"/>
                </a:solidFill>
                <a:latin typeface="Source Sans Pro"/>
                <a:ea typeface="Source Sans Pro"/>
                <a:cs typeface="Source Sans Pro"/>
                <a:sym typeface="Source Sans Pro"/>
              </a:rPr>
              <a:t>sequence  =  sequence[{ :maxSequence Length]</a:t>
            </a:r>
          </a:p>
        </p:txBody>
      </p:sp>
      <p:sp>
        <p:nvSpPr>
          <p:cNvPr name="Freeform 10" id="10"/>
          <p:cNvSpPr/>
          <p:nvPr/>
        </p:nvSpPr>
        <p:spPr>
          <a:xfrm flipH="false" flipV="false" rot="0">
            <a:off x="-405123" y="7002387"/>
            <a:ext cx="8088313" cy="7367105"/>
          </a:xfrm>
          <a:custGeom>
            <a:avLst/>
            <a:gdLst/>
            <a:ahLst/>
            <a:cxnLst/>
            <a:rect r="r" b="b" t="t" l="l"/>
            <a:pathLst>
              <a:path h="7367105" w="8088313">
                <a:moveTo>
                  <a:pt x="0" y="0"/>
                </a:moveTo>
                <a:lnTo>
                  <a:pt x="8088313" y="0"/>
                </a:lnTo>
                <a:lnTo>
                  <a:pt x="8088313" y="7367105"/>
                </a:lnTo>
                <a:lnTo>
                  <a:pt x="0" y="736710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1873711" y="5650270"/>
            <a:ext cx="10926020" cy="9273459"/>
          </a:xfrm>
          <a:custGeom>
            <a:avLst/>
            <a:gdLst/>
            <a:ahLst/>
            <a:cxnLst/>
            <a:rect r="r" b="b" t="t" l="l"/>
            <a:pathLst>
              <a:path h="9273459" w="10926020">
                <a:moveTo>
                  <a:pt x="0" y="0"/>
                </a:moveTo>
                <a:lnTo>
                  <a:pt x="10926020" y="0"/>
                </a:lnTo>
                <a:lnTo>
                  <a:pt x="10926020" y="9273460"/>
                </a:lnTo>
                <a:lnTo>
                  <a:pt x="0" y="9273460"/>
                </a:lnTo>
                <a:lnTo>
                  <a:pt x="0" y="0"/>
                </a:lnTo>
                <a:close/>
              </a:path>
            </a:pathLst>
          </a:custGeom>
          <a:blipFill>
            <a:blip r:embed="rId5"/>
            <a:stretch>
              <a:fillRect l="0" t="0" r="0" b="0"/>
            </a:stretch>
          </a:blipFill>
        </p:spPr>
      </p:sp>
      <p:sp>
        <p:nvSpPr>
          <p:cNvPr name="Freeform 12" id="12"/>
          <p:cNvSpPr/>
          <p:nvPr/>
        </p:nvSpPr>
        <p:spPr>
          <a:xfrm flipH="false" flipV="false" rot="-9355084">
            <a:off x="9948045" y="-4081315"/>
            <a:ext cx="10926020" cy="9273459"/>
          </a:xfrm>
          <a:custGeom>
            <a:avLst/>
            <a:gdLst/>
            <a:ahLst/>
            <a:cxnLst/>
            <a:rect r="r" b="b" t="t" l="l"/>
            <a:pathLst>
              <a:path h="9273459" w="10926020">
                <a:moveTo>
                  <a:pt x="0" y="0"/>
                </a:moveTo>
                <a:lnTo>
                  <a:pt x="10926020" y="0"/>
                </a:lnTo>
                <a:lnTo>
                  <a:pt x="10926020" y="9273459"/>
                </a:lnTo>
                <a:lnTo>
                  <a:pt x="0" y="9273459"/>
                </a:lnTo>
                <a:lnTo>
                  <a:pt x="0" y="0"/>
                </a:lnTo>
                <a:close/>
              </a:path>
            </a:pathLst>
          </a:custGeom>
          <a:blipFill>
            <a:blip r:embed="rId5"/>
            <a:stretch>
              <a:fillRect l="0" t="0" r="0" b="0"/>
            </a:stretch>
          </a:blipFill>
        </p:spPr>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bg>
      <p:bgPr>
        <a:solidFill>
          <a:srgbClr val="1F0034"/>
        </a:solidFill>
      </p:bgPr>
    </p:bg>
    <p:spTree>
      <p:nvGrpSpPr>
        <p:cNvPr id="1" name=""/>
        <p:cNvGrpSpPr/>
        <p:nvPr/>
      </p:nvGrpSpPr>
      <p:grpSpPr>
        <a:xfrm>
          <a:off x="0" y="0"/>
          <a:ext cx="0" cy="0"/>
          <a:chOff x="0" y="0"/>
          <a:chExt cx="0" cy="0"/>
        </a:xfrm>
      </p:grpSpPr>
      <p:sp>
        <p:nvSpPr>
          <p:cNvPr name="Freeform 2" id="2"/>
          <p:cNvSpPr/>
          <p:nvPr/>
        </p:nvSpPr>
        <p:spPr>
          <a:xfrm flipH="false" flipV="false" rot="5469527">
            <a:off x="13777439" y="3645056"/>
            <a:ext cx="10151296" cy="5020035"/>
          </a:xfrm>
          <a:custGeom>
            <a:avLst/>
            <a:gdLst/>
            <a:ahLst/>
            <a:cxnLst/>
            <a:rect r="r" b="b" t="t" l="l"/>
            <a:pathLst>
              <a:path h="5020035" w="10151296">
                <a:moveTo>
                  <a:pt x="0" y="0"/>
                </a:moveTo>
                <a:lnTo>
                  <a:pt x="10151296" y="0"/>
                </a:lnTo>
                <a:lnTo>
                  <a:pt x="10151296" y="5020035"/>
                </a:lnTo>
                <a:lnTo>
                  <a:pt x="0" y="5020035"/>
                </a:lnTo>
                <a:lnTo>
                  <a:pt x="0" y="0"/>
                </a:lnTo>
                <a:close/>
              </a:path>
            </a:pathLst>
          </a:custGeom>
          <a:blipFill>
            <a:blip r:embed="rId2">
              <a:extLst>
                <a:ext uri="{96DAC541-7B7A-43D3-8B79-37D633B846F1}">
                  <asvg:svgBlip xmlns:asvg="http://schemas.microsoft.com/office/drawing/2016/SVG/main" r:embed="rId3"/>
                </a:ext>
              </a:extLst>
            </a:blip>
            <a:stretch>
              <a:fillRect l="0" t="0" r="-134" b="-129447"/>
            </a:stretch>
          </a:blipFill>
        </p:spPr>
      </p:sp>
      <p:sp>
        <p:nvSpPr>
          <p:cNvPr name="Freeform 3" id="3"/>
          <p:cNvSpPr/>
          <p:nvPr/>
        </p:nvSpPr>
        <p:spPr>
          <a:xfrm flipH="false" flipV="false" rot="-5437769">
            <a:off x="-5508075" y="4288992"/>
            <a:ext cx="10908441" cy="5394460"/>
          </a:xfrm>
          <a:custGeom>
            <a:avLst/>
            <a:gdLst/>
            <a:ahLst/>
            <a:cxnLst/>
            <a:rect r="r" b="b" t="t" l="l"/>
            <a:pathLst>
              <a:path h="5394460" w="10908441">
                <a:moveTo>
                  <a:pt x="0" y="0"/>
                </a:moveTo>
                <a:lnTo>
                  <a:pt x="10908441" y="0"/>
                </a:lnTo>
                <a:lnTo>
                  <a:pt x="10908441" y="5394459"/>
                </a:lnTo>
                <a:lnTo>
                  <a:pt x="0" y="5394459"/>
                </a:lnTo>
                <a:lnTo>
                  <a:pt x="0" y="0"/>
                </a:lnTo>
                <a:close/>
              </a:path>
            </a:pathLst>
          </a:custGeom>
          <a:blipFill>
            <a:blip r:embed="rId4">
              <a:extLst>
                <a:ext uri="{96DAC541-7B7A-43D3-8B79-37D633B846F1}">
                  <asvg:svgBlip xmlns:asvg="http://schemas.microsoft.com/office/drawing/2016/SVG/main" r:embed="rId5"/>
                </a:ext>
              </a:extLst>
            </a:blip>
            <a:stretch>
              <a:fillRect l="0" t="0" r="-134" b="-129447"/>
            </a:stretch>
          </a:blipFill>
        </p:spPr>
      </p:sp>
      <p:sp>
        <p:nvSpPr>
          <p:cNvPr name="Freeform 4" id="4"/>
          <p:cNvSpPr/>
          <p:nvPr/>
        </p:nvSpPr>
        <p:spPr>
          <a:xfrm flipH="false" flipV="false" rot="0">
            <a:off x="15824471" y="-2981378"/>
            <a:ext cx="6409034" cy="6409034"/>
          </a:xfrm>
          <a:custGeom>
            <a:avLst/>
            <a:gdLst/>
            <a:ahLst/>
            <a:cxnLst/>
            <a:rect r="r" b="b" t="t" l="l"/>
            <a:pathLst>
              <a:path h="6409034" w="6409034">
                <a:moveTo>
                  <a:pt x="0" y="0"/>
                </a:moveTo>
                <a:lnTo>
                  <a:pt x="6409035" y="0"/>
                </a:lnTo>
                <a:lnTo>
                  <a:pt x="6409035" y="6409035"/>
                </a:lnTo>
                <a:lnTo>
                  <a:pt x="0" y="6409035"/>
                </a:lnTo>
                <a:lnTo>
                  <a:pt x="0" y="0"/>
                </a:lnTo>
                <a:close/>
              </a:path>
            </a:pathLst>
          </a:custGeom>
          <a:blipFill>
            <a:blip r:embed="rId6"/>
            <a:stretch>
              <a:fillRect l="0" t="0" r="0" b="0"/>
            </a:stretch>
          </a:blipFill>
        </p:spPr>
      </p:sp>
      <p:sp>
        <p:nvSpPr>
          <p:cNvPr name="Freeform 5" id="5"/>
          <p:cNvSpPr/>
          <p:nvPr/>
        </p:nvSpPr>
        <p:spPr>
          <a:xfrm flipH="false" flipV="false" rot="7676076">
            <a:off x="-5266249" y="-3327390"/>
            <a:ext cx="8829691" cy="9934955"/>
          </a:xfrm>
          <a:custGeom>
            <a:avLst/>
            <a:gdLst/>
            <a:ahLst/>
            <a:cxnLst/>
            <a:rect r="r" b="b" t="t" l="l"/>
            <a:pathLst>
              <a:path h="9934955" w="8829691">
                <a:moveTo>
                  <a:pt x="0" y="0"/>
                </a:moveTo>
                <a:lnTo>
                  <a:pt x="8829692" y="0"/>
                </a:lnTo>
                <a:lnTo>
                  <a:pt x="8829692" y="9934955"/>
                </a:lnTo>
                <a:lnTo>
                  <a:pt x="0" y="9934955"/>
                </a:lnTo>
                <a:lnTo>
                  <a:pt x="0" y="0"/>
                </a:lnTo>
                <a:close/>
              </a:path>
            </a:pathLst>
          </a:custGeom>
          <a:blipFill>
            <a:blip r:embed="rId7"/>
            <a:stretch>
              <a:fillRect l="0" t="0" r="0" b="0"/>
            </a:stretch>
          </a:blipFill>
        </p:spPr>
      </p:sp>
      <p:sp>
        <p:nvSpPr>
          <p:cNvPr name="Freeform 6" id="6"/>
          <p:cNvSpPr/>
          <p:nvPr/>
        </p:nvSpPr>
        <p:spPr>
          <a:xfrm flipH="false" flipV="false" rot="0">
            <a:off x="9144000" y="-2981378"/>
            <a:ext cx="10979074" cy="6409034"/>
          </a:xfrm>
          <a:custGeom>
            <a:avLst/>
            <a:gdLst/>
            <a:ahLst/>
            <a:cxnLst/>
            <a:rect r="r" b="b" t="t" l="l"/>
            <a:pathLst>
              <a:path h="6409034" w="10979074">
                <a:moveTo>
                  <a:pt x="0" y="0"/>
                </a:moveTo>
                <a:lnTo>
                  <a:pt x="10979074" y="0"/>
                </a:lnTo>
                <a:lnTo>
                  <a:pt x="10979074" y="6409035"/>
                </a:lnTo>
                <a:lnTo>
                  <a:pt x="0" y="6409035"/>
                </a:lnTo>
                <a:lnTo>
                  <a:pt x="0" y="0"/>
                </a:lnTo>
                <a:close/>
              </a:path>
            </a:pathLst>
          </a:custGeom>
          <a:blipFill>
            <a:blip r:embed="rId8">
              <a:alphaModFix amt="70000"/>
            </a:blip>
            <a:stretch>
              <a:fillRect l="0" t="0" r="0" b="0"/>
            </a:stretch>
          </a:blipFill>
        </p:spPr>
      </p:sp>
      <p:sp>
        <p:nvSpPr>
          <p:cNvPr name="TextBox 7" id="7"/>
          <p:cNvSpPr txBox="true"/>
          <p:nvPr/>
        </p:nvSpPr>
        <p:spPr>
          <a:xfrm rot="0">
            <a:off x="2348092" y="1493172"/>
            <a:ext cx="13476379" cy="1297587"/>
          </a:xfrm>
          <a:prstGeom prst="rect">
            <a:avLst/>
          </a:prstGeom>
        </p:spPr>
        <p:txBody>
          <a:bodyPr anchor="t" rtlCol="false" tIns="0" lIns="0" bIns="0" rIns="0">
            <a:spAutoFit/>
          </a:bodyPr>
          <a:lstStyle/>
          <a:p>
            <a:pPr algn="ctr">
              <a:lnSpc>
                <a:spcPts val="5194"/>
              </a:lnSpc>
            </a:pPr>
            <a:r>
              <a:rPr lang="en-US" b="true" sz="4155" spc="162">
                <a:solidFill>
                  <a:srgbClr val="EA9267"/>
                </a:solidFill>
                <a:latin typeface="Montserrat Bold"/>
                <a:ea typeface="Montserrat Bold"/>
                <a:cs typeface="Montserrat Bold"/>
                <a:sym typeface="Montserrat Bold"/>
              </a:rPr>
              <a:t>VIDEO: HANDLING MULTIPLE SEQUENCES</a:t>
            </a:r>
          </a:p>
          <a:p>
            <a:pPr algn="ctr">
              <a:lnSpc>
                <a:spcPts val="5194"/>
              </a:lnSpc>
            </a:pPr>
          </a:p>
        </p:txBody>
      </p:sp>
      <p:sp>
        <p:nvSpPr>
          <p:cNvPr name="Freeform 8" id="8"/>
          <p:cNvSpPr/>
          <p:nvPr/>
        </p:nvSpPr>
        <p:spPr>
          <a:xfrm flipH="false" flipV="false" rot="0">
            <a:off x="1576099" y="2146728"/>
            <a:ext cx="14754035" cy="6609977"/>
          </a:xfrm>
          <a:custGeom>
            <a:avLst/>
            <a:gdLst/>
            <a:ahLst/>
            <a:cxnLst/>
            <a:rect r="r" b="b" t="t" l="l"/>
            <a:pathLst>
              <a:path h="6609977" w="14754035">
                <a:moveTo>
                  <a:pt x="0" y="0"/>
                </a:moveTo>
                <a:lnTo>
                  <a:pt x="14754035" y="0"/>
                </a:lnTo>
                <a:lnTo>
                  <a:pt x="14754035" y="6609977"/>
                </a:lnTo>
                <a:lnTo>
                  <a:pt x="0" y="6609977"/>
                </a:lnTo>
                <a:lnTo>
                  <a:pt x="0" y="0"/>
                </a:lnTo>
                <a:close/>
              </a:path>
            </a:pathLst>
          </a:custGeom>
          <a:blipFill>
            <a:blip r:embed="rId9"/>
            <a:stretch>
              <a:fillRect l="0" t="0" r="0" b="0"/>
            </a:stretch>
          </a:blipFill>
        </p:spPr>
      </p:sp>
      <p:pic>
        <p:nvPicPr>
          <p:cNvPr name="Picture 9" id="9">
            <a:hlinkClick action="ppaction://media"/>
          </p:cNvPr>
          <p:cNvPicPr>
            <a:picLocks noChangeAspect="true"/>
          </p:cNvPicPr>
          <p:nvPr>
            <a:videoFile r:link="rId11"/>
            <p:extLst>
              <p:ext uri="{DAA4B4D4-6D71-4841-9C94-3DE7FCFB9230}">
                <p14:media xmlns:p14="http://schemas.microsoft.com/office/powerpoint/2010/main" r:embed="rId12"/>
              </p:ext>
            </p:extLst>
          </p:nvPr>
        </p:nvPicPr>
        <p:blipFill>
          <a:blip r:embed="rId10"/>
          <a:srcRect l="0" t="0" r="0" b="0"/>
          <a:stretch>
            <a:fillRect/>
          </a:stretch>
        </p:blipFill>
        <p:spPr>
          <a:xfrm flipH="false" flipV="false" rot="0">
            <a:off x="2418142" y="2604961"/>
            <a:ext cx="13336281" cy="5693512"/>
          </a:xfrm>
          <a:prstGeom prst="rect">
            <a:avLst/>
          </a:prstGeom>
        </p:spPr>
      </p:pic>
    </p:spTree>
  </p:cSld>
  <p:clrMapOvr>
    <a:masterClrMapping/>
  </p:clrMapOvr>
  <p:timing>
    <p:tnLst>
      <p:par>
        <p:cTn dur="indefinite" restart="never" nodeType="tmRoot">
          <p:childTnLst>
            <p:video>
              <p:cMediaNode vol="100000">
                <p:cTn fill="hold" display="false">
                  <p:stCondLst>
                    <p:cond delay="indefinite"/>
                  </p:stCondLst>
                </p:cTn>
                <p:tgtEl>
                  <p:spTgt spid="9"/>
                </p:tgtEl>
              </p:cMediaNode>
            </p:video>
          </p:childTnLst>
        </p:cTn>
      </p:par>
    </p:tnLst>
  </p:timing>
</p:sld>
</file>

<file path=ppt/slides/slide50.xml><?xml version="1.0" encoding="utf-8"?>
<p:sld xmlns:p="http://schemas.openxmlformats.org/presentationml/2006/main" xmlns:a="http://schemas.openxmlformats.org/drawingml/2006/main" xmlns:r="http://schemas.openxmlformats.org/officeDocument/2006/relationships">
  <p:cSld>
    <p:bg>
      <p:bgPr>
        <a:solidFill>
          <a:srgbClr val="1F0034"/>
        </a:solidFill>
      </p:bgPr>
    </p:bg>
    <p:spTree>
      <p:nvGrpSpPr>
        <p:cNvPr id="1" name=""/>
        <p:cNvGrpSpPr/>
        <p:nvPr/>
      </p:nvGrpSpPr>
      <p:grpSpPr>
        <a:xfrm>
          <a:off x="0" y="0"/>
          <a:ext cx="0" cy="0"/>
          <a:chOff x="0" y="0"/>
          <a:chExt cx="0" cy="0"/>
        </a:xfrm>
      </p:grpSpPr>
      <p:sp>
        <p:nvSpPr>
          <p:cNvPr name="Freeform 2" id="2"/>
          <p:cNvSpPr/>
          <p:nvPr/>
        </p:nvSpPr>
        <p:spPr>
          <a:xfrm flipH="false" flipV="false" rot="0">
            <a:off x="11056394" y="-2928486"/>
            <a:ext cx="10926020" cy="9273459"/>
          </a:xfrm>
          <a:custGeom>
            <a:avLst/>
            <a:gdLst/>
            <a:ahLst/>
            <a:cxnLst/>
            <a:rect r="r" b="b" t="t" l="l"/>
            <a:pathLst>
              <a:path h="9273459" w="10926020">
                <a:moveTo>
                  <a:pt x="0" y="0"/>
                </a:moveTo>
                <a:lnTo>
                  <a:pt x="10926020" y="0"/>
                </a:lnTo>
                <a:lnTo>
                  <a:pt x="10926020" y="9273459"/>
                </a:lnTo>
                <a:lnTo>
                  <a:pt x="0" y="9273459"/>
                </a:lnTo>
                <a:lnTo>
                  <a:pt x="0" y="0"/>
                </a:lnTo>
                <a:close/>
              </a:path>
            </a:pathLst>
          </a:custGeom>
          <a:blipFill>
            <a:blip r:embed="rId2"/>
            <a:stretch>
              <a:fillRect l="0" t="0" r="0" b="0"/>
            </a:stretch>
          </a:blipFill>
        </p:spPr>
      </p:sp>
      <p:sp>
        <p:nvSpPr>
          <p:cNvPr name="TextBox 3" id="3"/>
          <p:cNvSpPr txBox="true"/>
          <p:nvPr/>
        </p:nvSpPr>
        <p:spPr>
          <a:xfrm rot="0">
            <a:off x="510691" y="1150498"/>
            <a:ext cx="10545703" cy="821187"/>
          </a:xfrm>
          <a:prstGeom prst="rect">
            <a:avLst/>
          </a:prstGeom>
        </p:spPr>
        <p:txBody>
          <a:bodyPr anchor="t" rtlCol="false" tIns="0" lIns="0" bIns="0" rIns="0">
            <a:spAutoFit/>
          </a:bodyPr>
          <a:lstStyle/>
          <a:p>
            <a:pPr algn="l">
              <a:lnSpc>
                <a:spcPts val="6287"/>
              </a:lnSpc>
            </a:pPr>
            <a:r>
              <a:rPr lang="en-US" sz="6287" spc="-61" b="true">
                <a:solidFill>
                  <a:srgbClr val="F8F8F8"/>
                </a:solidFill>
                <a:latin typeface="Source Sans Pro Bold"/>
                <a:ea typeface="Source Sans Pro Bold"/>
                <a:cs typeface="Source Sans Pro Bold"/>
                <a:sym typeface="Source Sans Pro Bold"/>
              </a:rPr>
              <a:t>Putting it all together (1/3)</a:t>
            </a:r>
          </a:p>
        </p:txBody>
      </p:sp>
      <p:sp>
        <p:nvSpPr>
          <p:cNvPr name="TextBox 4" id="4"/>
          <p:cNvSpPr txBox="true"/>
          <p:nvPr/>
        </p:nvSpPr>
        <p:spPr>
          <a:xfrm rot="0">
            <a:off x="558377" y="2425730"/>
            <a:ext cx="5777127" cy="1546236"/>
          </a:xfrm>
          <a:prstGeom prst="rect">
            <a:avLst/>
          </a:prstGeom>
        </p:spPr>
        <p:txBody>
          <a:bodyPr anchor="t" rtlCol="false" tIns="0" lIns="0" bIns="0" rIns="0">
            <a:spAutoFit/>
          </a:bodyPr>
          <a:lstStyle/>
          <a:p>
            <a:pPr algn="l">
              <a:lnSpc>
                <a:spcPts val="3177"/>
              </a:lnSpc>
            </a:pPr>
            <a:r>
              <a:rPr lang="en-US" sz="1986" spc="-39">
                <a:solidFill>
                  <a:srgbClr val="FFFFFF"/>
                </a:solidFill>
                <a:latin typeface="Source Sans Pro"/>
                <a:ea typeface="Source Sans Pro"/>
                <a:cs typeface="Source Sans Pro"/>
                <a:sym typeface="Source Sans Pro"/>
              </a:rPr>
              <a:t>Son bölümlerde işin çoğunu elle yapmaya çalıştık: tokenizer'ların nasıl çalıştığına, tokenization, input ID'lere dönüşüm, padding, truncation ve attention mask'lere baktık.</a:t>
            </a:r>
          </a:p>
        </p:txBody>
      </p:sp>
      <p:sp>
        <p:nvSpPr>
          <p:cNvPr name="TextBox 5" id="5"/>
          <p:cNvSpPr txBox="true"/>
          <p:nvPr/>
        </p:nvSpPr>
        <p:spPr>
          <a:xfrm rot="0">
            <a:off x="553182" y="4443881"/>
            <a:ext cx="6296657" cy="1546236"/>
          </a:xfrm>
          <a:prstGeom prst="rect">
            <a:avLst/>
          </a:prstGeom>
        </p:spPr>
        <p:txBody>
          <a:bodyPr anchor="t" rtlCol="false" tIns="0" lIns="0" bIns="0" rIns="0">
            <a:spAutoFit/>
          </a:bodyPr>
          <a:lstStyle/>
          <a:p>
            <a:pPr algn="l">
              <a:lnSpc>
                <a:spcPts val="3177"/>
              </a:lnSpc>
            </a:pPr>
            <a:r>
              <a:rPr lang="en-US" sz="1986" spc="-39">
                <a:solidFill>
                  <a:srgbClr val="FFFFFF"/>
                </a:solidFill>
                <a:latin typeface="Source Sans Pro"/>
                <a:ea typeface="Source Sans Pro"/>
                <a:cs typeface="Source Sans Pro"/>
                <a:sym typeface="Source Sans Pro"/>
              </a:rPr>
              <a:t>Ama 🤗 Transformers API bunların hepsini bizim için yüksek seviyeli bir fonksiyonla yapabilir. Tokenizer'ı doğrudan cümleye çağırdığında, modelden geçirmeye hazır girdiler alırsın.</a:t>
            </a:r>
          </a:p>
        </p:txBody>
      </p:sp>
      <p:sp>
        <p:nvSpPr>
          <p:cNvPr name="TextBox 6" id="6"/>
          <p:cNvSpPr txBox="true"/>
          <p:nvPr/>
        </p:nvSpPr>
        <p:spPr>
          <a:xfrm rot="0">
            <a:off x="554140" y="6462034"/>
            <a:ext cx="6200853" cy="1546236"/>
          </a:xfrm>
          <a:prstGeom prst="rect">
            <a:avLst/>
          </a:prstGeom>
        </p:spPr>
        <p:txBody>
          <a:bodyPr anchor="t" rtlCol="false" tIns="0" lIns="0" bIns="0" rIns="0">
            <a:spAutoFit/>
          </a:bodyPr>
          <a:lstStyle/>
          <a:p>
            <a:pPr algn="l">
              <a:lnSpc>
                <a:spcPts val="3177"/>
              </a:lnSpc>
            </a:pPr>
            <a:r>
              <a:rPr lang="en-US" sz="1986" spc="-39">
                <a:solidFill>
                  <a:srgbClr val="FFFFFF"/>
                </a:solidFill>
                <a:latin typeface="Source Sans Pro"/>
                <a:ea typeface="Source Sans Pro"/>
                <a:cs typeface="Source Sans Pro"/>
                <a:sym typeface="Source Sans Pro"/>
              </a:rPr>
              <a:t>model_inputs değişkeni, modelin iyi çalışması için gereken her şeyi içerir. DistilBERT için bu, input ID'leri ve attention mask'tir. Ek girdi kabul eden diğer modellerin ek girdilerini de tokenizer nesnesi çıkarır.</a:t>
            </a:r>
          </a:p>
        </p:txBody>
      </p:sp>
      <p:sp>
        <p:nvSpPr>
          <p:cNvPr name="TextBox 7" id="7"/>
          <p:cNvSpPr txBox="true"/>
          <p:nvPr/>
        </p:nvSpPr>
        <p:spPr>
          <a:xfrm rot="0">
            <a:off x="7500938" y="2490305"/>
            <a:ext cx="991195" cy="298593"/>
          </a:xfrm>
          <a:prstGeom prst="rect">
            <a:avLst/>
          </a:prstGeom>
        </p:spPr>
        <p:txBody>
          <a:bodyPr anchor="t" rtlCol="false" tIns="0" lIns="0" bIns="0" rIns="0">
            <a:spAutoFit/>
          </a:bodyPr>
          <a:lstStyle/>
          <a:p>
            <a:pPr algn="l">
              <a:lnSpc>
                <a:spcPts val="2387"/>
              </a:lnSpc>
            </a:pPr>
            <a:r>
              <a:rPr lang="en-US" sz="2387" spc="-23">
                <a:solidFill>
                  <a:srgbClr val="F8F8F8"/>
                </a:solidFill>
                <a:latin typeface="Source Sans Pro"/>
                <a:ea typeface="Source Sans Pro"/>
                <a:cs typeface="Source Sans Pro"/>
                <a:sym typeface="Source Sans Pro"/>
              </a:rPr>
              <a:t>Kod</a:t>
            </a:r>
          </a:p>
        </p:txBody>
      </p:sp>
      <p:sp>
        <p:nvSpPr>
          <p:cNvPr name="Freeform 8" id="8"/>
          <p:cNvSpPr/>
          <p:nvPr/>
        </p:nvSpPr>
        <p:spPr>
          <a:xfrm flipH="false" flipV="false" rot="0">
            <a:off x="7393952" y="2776725"/>
            <a:ext cx="10467474" cy="3869923"/>
          </a:xfrm>
          <a:custGeom>
            <a:avLst/>
            <a:gdLst/>
            <a:ahLst/>
            <a:cxnLst/>
            <a:rect r="r" b="b" t="t" l="l"/>
            <a:pathLst>
              <a:path h="3869923" w="10467474">
                <a:moveTo>
                  <a:pt x="0" y="0"/>
                </a:moveTo>
                <a:lnTo>
                  <a:pt x="10467474" y="0"/>
                </a:lnTo>
                <a:lnTo>
                  <a:pt x="10467474" y="3869923"/>
                </a:lnTo>
                <a:lnTo>
                  <a:pt x="0" y="3869923"/>
                </a:lnTo>
                <a:lnTo>
                  <a:pt x="0" y="0"/>
                </a:lnTo>
                <a:close/>
              </a:path>
            </a:pathLst>
          </a:custGeom>
          <a:blipFill>
            <a:blip r:embed="rId3"/>
            <a:stretch>
              <a:fillRect l="0" t="0" r="0" b="0"/>
            </a:stretch>
          </a:blipFill>
        </p:spPr>
      </p:sp>
      <p:sp>
        <p:nvSpPr>
          <p:cNvPr name="TextBox 9" id="9"/>
          <p:cNvSpPr txBox="true"/>
          <p:nvPr/>
        </p:nvSpPr>
        <p:spPr>
          <a:xfrm rot="0">
            <a:off x="7734435" y="3845092"/>
            <a:ext cx="8797099" cy="855506"/>
          </a:xfrm>
          <a:prstGeom prst="rect">
            <a:avLst/>
          </a:prstGeom>
        </p:spPr>
        <p:txBody>
          <a:bodyPr anchor="t" rtlCol="false" tIns="0" lIns="0" bIns="0" rIns="0">
            <a:spAutoFit/>
          </a:bodyPr>
          <a:lstStyle/>
          <a:p>
            <a:pPr algn="l">
              <a:lnSpc>
                <a:spcPts val="3641"/>
              </a:lnSpc>
            </a:pPr>
            <a:r>
              <a:rPr lang="en-US" sz="1916" spc="-76">
                <a:solidFill>
                  <a:srgbClr val="FFFFFF"/>
                </a:solidFill>
                <a:latin typeface="Source Sans Pro"/>
                <a:ea typeface="Source Sans Pro"/>
                <a:cs typeface="Source Sans Pro"/>
                <a:sym typeface="Source Sans Pro"/>
              </a:rPr>
              <a:t>checkpoint = "distilbert-base-uncased-finetuned-sst-2-english"</a:t>
            </a:r>
          </a:p>
          <a:p>
            <a:pPr algn="l">
              <a:lnSpc>
                <a:spcPts val="3641"/>
              </a:lnSpc>
            </a:pPr>
            <a:r>
              <a:rPr lang="en-US" sz="1916" spc="-76">
                <a:solidFill>
                  <a:srgbClr val="FFFFFF"/>
                </a:solidFill>
                <a:latin typeface="Source Sans Pro"/>
                <a:ea typeface="Source Sans Pro"/>
                <a:cs typeface="Source Sans Pro"/>
                <a:sym typeface="Source Sans Pro"/>
              </a:rPr>
              <a:t>tokenizer = AutoTokenizer.from_pretrained(checkpoint)</a:t>
            </a:r>
          </a:p>
        </p:txBody>
      </p:sp>
      <p:sp>
        <p:nvSpPr>
          <p:cNvPr name="TextBox 10" id="10"/>
          <p:cNvSpPr txBox="true"/>
          <p:nvPr/>
        </p:nvSpPr>
        <p:spPr>
          <a:xfrm rot="0">
            <a:off x="7727168" y="5274027"/>
            <a:ext cx="9523799" cy="1070946"/>
          </a:xfrm>
          <a:prstGeom prst="rect">
            <a:avLst/>
          </a:prstGeom>
        </p:spPr>
        <p:txBody>
          <a:bodyPr anchor="t" rtlCol="false" tIns="0" lIns="0" bIns="0" rIns="0">
            <a:spAutoFit/>
          </a:bodyPr>
          <a:lstStyle/>
          <a:p>
            <a:pPr algn="l">
              <a:lnSpc>
                <a:spcPts val="2236"/>
              </a:lnSpc>
            </a:pPr>
            <a:r>
              <a:rPr lang="en-US" sz="1863" spc="-74">
                <a:solidFill>
                  <a:srgbClr val="FFFFFF"/>
                </a:solidFill>
                <a:latin typeface="Source Sans Pro"/>
                <a:ea typeface="Source Sans Pro"/>
                <a:cs typeface="Source Sans Pro"/>
                <a:sym typeface="Source Sans Pro"/>
              </a:rPr>
              <a:t>sequence = "I've been waiting for a HuggingFace course my whole life."</a:t>
            </a:r>
          </a:p>
          <a:p>
            <a:pPr algn="l">
              <a:lnSpc>
                <a:spcPts val="2236"/>
              </a:lnSpc>
            </a:pPr>
          </a:p>
          <a:p>
            <a:pPr algn="l">
              <a:lnSpc>
                <a:spcPts val="2236"/>
              </a:lnSpc>
            </a:pPr>
          </a:p>
          <a:p>
            <a:pPr algn="l">
              <a:lnSpc>
                <a:spcPts val="2236"/>
              </a:lnSpc>
            </a:pPr>
            <a:r>
              <a:rPr lang="en-US" sz="1863" spc="-74">
                <a:solidFill>
                  <a:srgbClr val="FFFFFF"/>
                </a:solidFill>
                <a:latin typeface="Source Sans Pro"/>
                <a:ea typeface="Source Sans Pro"/>
                <a:cs typeface="Source Sans Pro"/>
                <a:sym typeface="Source Sans Pro"/>
              </a:rPr>
              <a:t>model_inputs = tokenizer(sequence)</a:t>
            </a:r>
          </a:p>
        </p:txBody>
      </p:sp>
      <p:sp>
        <p:nvSpPr>
          <p:cNvPr name="TextBox 11" id="11"/>
          <p:cNvSpPr txBox="true"/>
          <p:nvPr/>
        </p:nvSpPr>
        <p:spPr>
          <a:xfrm rot="0">
            <a:off x="7500938" y="7189287"/>
            <a:ext cx="991195" cy="298593"/>
          </a:xfrm>
          <a:prstGeom prst="rect">
            <a:avLst/>
          </a:prstGeom>
        </p:spPr>
        <p:txBody>
          <a:bodyPr anchor="t" rtlCol="false" tIns="0" lIns="0" bIns="0" rIns="0">
            <a:spAutoFit/>
          </a:bodyPr>
          <a:lstStyle/>
          <a:p>
            <a:pPr algn="l">
              <a:lnSpc>
                <a:spcPts val="2387"/>
              </a:lnSpc>
            </a:pPr>
            <a:r>
              <a:rPr lang="en-US" sz="2387" spc="-23">
                <a:solidFill>
                  <a:srgbClr val="F8F8F8"/>
                </a:solidFill>
                <a:latin typeface="Source Sans Pro"/>
                <a:ea typeface="Source Sans Pro"/>
                <a:cs typeface="Source Sans Pro"/>
                <a:sym typeface="Source Sans Pro"/>
              </a:rPr>
              <a:t>Kod</a:t>
            </a:r>
          </a:p>
        </p:txBody>
      </p:sp>
      <p:sp>
        <p:nvSpPr>
          <p:cNvPr name="Freeform 12" id="12"/>
          <p:cNvSpPr/>
          <p:nvPr/>
        </p:nvSpPr>
        <p:spPr>
          <a:xfrm flipH="false" flipV="false" rot="0">
            <a:off x="7393952" y="7499343"/>
            <a:ext cx="10467474" cy="1934962"/>
          </a:xfrm>
          <a:custGeom>
            <a:avLst/>
            <a:gdLst/>
            <a:ahLst/>
            <a:cxnLst/>
            <a:rect r="r" b="b" t="t" l="l"/>
            <a:pathLst>
              <a:path h="1934962" w="10467474">
                <a:moveTo>
                  <a:pt x="0" y="0"/>
                </a:moveTo>
                <a:lnTo>
                  <a:pt x="10467474" y="0"/>
                </a:lnTo>
                <a:lnTo>
                  <a:pt x="10467474" y="1934962"/>
                </a:lnTo>
                <a:lnTo>
                  <a:pt x="0" y="1934962"/>
                </a:lnTo>
                <a:lnTo>
                  <a:pt x="0" y="0"/>
                </a:lnTo>
                <a:close/>
              </a:path>
            </a:pathLst>
          </a:custGeom>
          <a:blipFill>
            <a:blip r:embed="rId4"/>
            <a:stretch>
              <a:fillRect l="0" t="0" r="0" b="0"/>
            </a:stretch>
          </a:blipFill>
        </p:spPr>
      </p:sp>
      <p:sp>
        <p:nvSpPr>
          <p:cNvPr name="TextBox 13" id="13"/>
          <p:cNvSpPr txBox="true"/>
          <p:nvPr/>
        </p:nvSpPr>
        <p:spPr>
          <a:xfrm rot="0">
            <a:off x="7727168" y="7864492"/>
            <a:ext cx="9523799" cy="1070946"/>
          </a:xfrm>
          <a:prstGeom prst="rect">
            <a:avLst/>
          </a:prstGeom>
        </p:spPr>
        <p:txBody>
          <a:bodyPr anchor="t" rtlCol="false" tIns="0" lIns="0" bIns="0" rIns="0">
            <a:spAutoFit/>
          </a:bodyPr>
          <a:lstStyle/>
          <a:p>
            <a:pPr algn="l">
              <a:lnSpc>
                <a:spcPts val="2236"/>
              </a:lnSpc>
            </a:pPr>
            <a:r>
              <a:rPr lang="en-US" sz="1863" spc="-74">
                <a:solidFill>
                  <a:srgbClr val="FFFFFF"/>
                </a:solidFill>
                <a:latin typeface="Source Sans Pro"/>
                <a:ea typeface="Source Sans Pro"/>
                <a:cs typeface="Source Sans Pro"/>
                <a:sym typeface="Source Sans Pro"/>
              </a:rPr>
              <a:t>sequence = "I've been waiting for a HuggingFace course my whole life."</a:t>
            </a:r>
          </a:p>
          <a:p>
            <a:pPr algn="l">
              <a:lnSpc>
                <a:spcPts val="2236"/>
              </a:lnSpc>
            </a:pPr>
          </a:p>
          <a:p>
            <a:pPr algn="l">
              <a:lnSpc>
                <a:spcPts val="2236"/>
              </a:lnSpc>
            </a:pPr>
          </a:p>
          <a:p>
            <a:pPr algn="l">
              <a:lnSpc>
                <a:spcPts val="2236"/>
              </a:lnSpc>
            </a:pPr>
            <a:r>
              <a:rPr lang="en-US" sz="1863" spc="-74">
                <a:solidFill>
                  <a:srgbClr val="FFFFFF"/>
                </a:solidFill>
                <a:latin typeface="Source Sans Pro"/>
                <a:ea typeface="Source Sans Pro"/>
                <a:cs typeface="Source Sans Pro"/>
                <a:sym typeface="Source Sans Pro"/>
              </a:rPr>
              <a:t>model_inputs = tokenizer(sequence)</a:t>
            </a:r>
          </a:p>
        </p:txBody>
      </p:sp>
      <p:sp>
        <p:nvSpPr>
          <p:cNvPr name="TextBox 14" id="14"/>
          <p:cNvSpPr txBox="true"/>
          <p:nvPr/>
        </p:nvSpPr>
        <p:spPr>
          <a:xfrm rot="0">
            <a:off x="7770705" y="3165509"/>
            <a:ext cx="5170168" cy="267701"/>
          </a:xfrm>
          <a:prstGeom prst="rect">
            <a:avLst/>
          </a:prstGeom>
        </p:spPr>
        <p:txBody>
          <a:bodyPr anchor="t" rtlCol="false" tIns="0" lIns="0" bIns="0" rIns="0">
            <a:spAutoFit/>
          </a:bodyPr>
          <a:lstStyle/>
          <a:p>
            <a:pPr algn="l">
              <a:lnSpc>
                <a:spcPts val="2236"/>
              </a:lnSpc>
            </a:pPr>
            <a:r>
              <a:rPr lang="en-US" sz="1863" spc="-74">
                <a:solidFill>
                  <a:srgbClr val="FFFFFF"/>
                </a:solidFill>
                <a:latin typeface="Source Sans Pro"/>
                <a:ea typeface="Source Sans Pro"/>
                <a:cs typeface="Source Sans Pro"/>
                <a:sym typeface="Source Sans Pro"/>
              </a:rPr>
              <a:t>from transformers import AutoTokenizer</a:t>
            </a:r>
          </a:p>
        </p:txBody>
      </p:sp>
      <p:sp>
        <p:nvSpPr>
          <p:cNvPr name="Freeform 15" id="15"/>
          <p:cNvSpPr/>
          <p:nvPr/>
        </p:nvSpPr>
        <p:spPr>
          <a:xfrm flipH="false" flipV="false" rot="0">
            <a:off x="-405123" y="7002387"/>
            <a:ext cx="8088313" cy="7367105"/>
          </a:xfrm>
          <a:custGeom>
            <a:avLst/>
            <a:gdLst/>
            <a:ahLst/>
            <a:cxnLst/>
            <a:rect r="r" b="b" t="t" l="l"/>
            <a:pathLst>
              <a:path h="7367105" w="8088313">
                <a:moveTo>
                  <a:pt x="0" y="0"/>
                </a:moveTo>
                <a:lnTo>
                  <a:pt x="8088313" y="0"/>
                </a:lnTo>
                <a:lnTo>
                  <a:pt x="8088313" y="7367105"/>
                </a:lnTo>
                <a:lnTo>
                  <a:pt x="0" y="736710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6" id="16"/>
          <p:cNvSpPr/>
          <p:nvPr/>
        </p:nvSpPr>
        <p:spPr>
          <a:xfrm flipH="false" flipV="false" rot="0">
            <a:off x="-252723" y="7154787"/>
            <a:ext cx="8088313" cy="7367105"/>
          </a:xfrm>
          <a:custGeom>
            <a:avLst/>
            <a:gdLst/>
            <a:ahLst/>
            <a:cxnLst/>
            <a:rect r="r" b="b" t="t" l="l"/>
            <a:pathLst>
              <a:path h="7367105" w="8088313">
                <a:moveTo>
                  <a:pt x="0" y="0"/>
                </a:moveTo>
                <a:lnTo>
                  <a:pt x="8088313" y="0"/>
                </a:lnTo>
                <a:lnTo>
                  <a:pt x="8088313" y="7367105"/>
                </a:lnTo>
                <a:lnTo>
                  <a:pt x="0" y="736710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bg>
      <p:bgPr>
        <a:solidFill>
          <a:srgbClr val="1F0034"/>
        </a:solidFill>
      </p:bgPr>
    </p:bg>
    <p:spTree>
      <p:nvGrpSpPr>
        <p:cNvPr id="1" name=""/>
        <p:cNvGrpSpPr/>
        <p:nvPr/>
      </p:nvGrpSpPr>
      <p:grpSpPr>
        <a:xfrm>
          <a:off x="0" y="0"/>
          <a:ext cx="0" cy="0"/>
          <a:chOff x="0" y="0"/>
          <a:chExt cx="0" cy="0"/>
        </a:xfrm>
      </p:grpSpPr>
      <p:sp>
        <p:nvSpPr>
          <p:cNvPr name="TextBox 2" id="2"/>
          <p:cNvSpPr txBox="true"/>
          <p:nvPr/>
        </p:nvSpPr>
        <p:spPr>
          <a:xfrm rot="0">
            <a:off x="818819" y="1471548"/>
            <a:ext cx="11879865" cy="909097"/>
          </a:xfrm>
          <a:prstGeom prst="rect">
            <a:avLst/>
          </a:prstGeom>
        </p:spPr>
        <p:txBody>
          <a:bodyPr anchor="t" rtlCol="false" tIns="0" lIns="0" bIns="0" rIns="0">
            <a:spAutoFit/>
          </a:bodyPr>
          <a:lstStyle/>
          <a:p>
            <a:pPr algn="l">
              <a:lnSpc>
                <a:spcPts val="6985"/>
              </a:lnSpc>
            </a:pPr>
            <a:r>
              <a:rPr lang="en-US" sz="6985" spc="-139">
                <a:solidFill>
                  <a:srgbClr val="FFFFFF"/>
                </a:solidFill>
                <a:latin typeface="Source Sans Pro"/>
                <a:ea typeface="Source Sans Pro"/>
                <a:cs typeface="Source Sans Pro"/>
                <a:sym typeface="Source Sans Pro"/>
              </a:rPr>
              <a:t>Putting it all together (2/3)</a:t>
            </a:r>
          </a:p>
        </p:txBody>
      </p:sp>
      <p:sp>
        <p:nvSpPr>
          <p:cNvPr name="TextBox 3" id="3"/>
          <p:cNvSpPr txBox="true"/>
          <p:nvPr/>
        </p:nvSpPr>
        <p:spPr>
          <a:xfrm rot="0">
            <a:off x="937617" y="2763275"/>
            <a:ext cx="13126641" cy="951740"/>
          </a:xfrm>
          <a:prstGeom prst="rect">
            <a:avLst/>
          </a:prstGeom>
        </p:spPr>
        <p:txBody>
          <a:bodyPr anchor="t" rtlCol="false" tIns="0" lIns="0" bIns="0" rIns="0">
            <a:spAutoFit/>
          </a:bodyPr>
          <a:lstStyle/>
          <a:p>
            <a:pPr algn="l">
              <a:lnSpc>
                <a:spcPts val="4058"/>
              </a:lnSpc>
            </a:pPr>
            <a:r>
              <a:rPr lang="en-US" sz="2254" b="true">
                <a:solidFill>
                  <a:srgbClr val="FFFFFF"/>
                </a:solidFill>
                <a:latin typeface="Source Sans Pro Bold"/>
                <a:ea typeface="Source Sans Pro Bold"/>
                <a:cs typeface="Source Sans Pro Bold"/>
                <a:sym typeface="Source Sans Pro Bold"/>
              </a:rPr>
              <a:t>Aynı anda birden fazla diziyi de, API'de hiçbir değişiklik olmadan işler.</a:t>
            </a:r>
          </a:p>
          <a:p>
            <a:pPr algn="l">
              <a:lnSpc>
                <a:spcPts val="4058"/>
              </a:lnSpc>
            </a:pPr>
            <a:r>
              <a:rPr lang="en-US" sz="2254" b="true">
                <a:solidFill>
                  <a:srgbClr val="FFFFFF"/>
                </a:solidFill>
                <a:latin typeface="Source Sans Pro Bold"/>
                <a:ea typeface="Source Sans Pro Bold"/>
                <a:cs typeface="Source Sans Pro Bold"/>
                <a:sym typeface="Source Sans Pro Bold"/>
              </a:rPr>
              <a:t>Birkaç hedefe göre padding yapabilir.</a:t>
            </a:r>
          </a:p>
        </p:txBody>
      </p:sp>
      <p:sp>
        <p:nvSpPr>
          <p:cNvPr name="Freeform 4" id="4"/>
          <p:cNvSpPr/>
          <p:nvPr/>
        </p:nvSpPr>
        <p:spPr>
          <a:xfrm flipH="false" flipV="false" rot="0">
            <a:off x="864086" y="4066699"/>
            <a:ext cx="6759560" cy="4941258"/>
          </a:xfrm>
          <a:custGeom>
            <a:avLst/>
            <a:gdLst/>
            <a:ahLst/>
            <a:cxnLst/>
            <a:rect r="r" b="b" t="t" l="l"/>
            <a:pathLst>
              <a:path h="4941258" w="6759560">
                <a:moveTo>
                  <a:pt x="0" y="0"/>
                </a:moveTo>
                <a:lnTo>
                  <a:pt x="6759560" y="0"/>
                </a:lnTo>
                <a:lnTo>
                  <a:pt x="6759560" y="4941258"/>
                </a:lnTo>
                <a:lnTo>
                  <a:pt x="0" y="4941258"/>
                </a:lnTo>
                <a:lnTo>
                  <a:pt x="0" y="0"/>
                </a:lnTo>
                <a:close/>
              </a:path>
            </a:pathLst>
          </a:custGeom>
          <a:blipFill>
            <a:blip r:embed="rId2"/>
            <a:stretch>
              <a:fillRect l="0" t="0" r="0" b="0"/>
            </a:stretch>
          </a:blipFill>
        </p:spPr>
      </p:sp>
      <p:sp>
        <p:nvSpPr>
          <p:cNvPr name="TextBox 5" id="5"/>
          <p:cNvSpPr txBox="true"/>
          <p:nvPr/>
        </p:nvSpPr>
        <p:spPr>
          <a:xfrm rot="0">
            <a:off x="1145110" y="5223061"/>
            <a:ext cx="6039743" cy="1400118"/>
          </a:xfrm>
          <a:prstGeom prst="rect">
            <a:avLst/>
          </a:prstGeom>
        </p:spPr>
        <p:txBody>
          <a:bodyPr anchor="t" rtlCol="false" tIns="0" lIns="0" bIns="0" rIns="0">
            <a:spAutoFit/>
          </a:bodyPr>
          <a:lstStyle/>
          <a:p>
            <a:pPr algn="l">
              <a:lnSpc>
                <a:spcPts val="2910"/>
              </a:lnSpc>
            </a:pPr>
            <a:r>
              <a:rPr lang="en-US" sz="1617" spc="-32">
                <a:solidFill>
                  <a:srgbClr val="FFFFFF"/>
                </a:solidFill>
                <a:latin typeface="Source Sans Pro"/>
                <a:ea typeface="Source Sans Pro"/>
                <a:cs typeface="Source Sans Pro"/>
                <a:sym typeface="Source Sans Pro"/>
              </a:rPr>
              <a:t>sequences = ["I've been waiting for a HuggingFace course my whole life.", "So have I!"]</a:t>
            </a:r>
          </a:p>
          <a:p>
            <a:pPr algn="l">
              <a:lnSpc>
                <a:spcPts val="2910"/>
              </a:lnSpc>
            </a:pPr>
          </a:p>
          <a:p>
            <a:pPr algn="l">
              <a:lnSpc>
                <a:spcPts val="2910"/>
              </a:lnSpc>
            </a:pPr>
            <a:r>
              <a:rPr lang="en-US" sz="1617" spc="-32">
                <a:solidFill>
                  <a:srgbClr val="FFFFFF"/>
                </a:solidFill>
                <a:latin typeface="Source Sans Pro"/>
                <a:ea typeface="Source Sans Pro"/>
                <a:cs typeface="Source Sans Pro"/>
                <a:sym typeface="Source Sans Pro"/>
              </a:rPr>
              <a:t>model inputs = tokenizer(sequences)</a:t>
            </a:r>
          </a:p>
        </p:txBody>
      </p:sp>
      <p:sp>
        <p:nvSpPr>
          <p:cNvPr name="Freeform 6" id="6"/>
          <p:cNvSpPr/>
          <p:nvPr/>
        </p:nvSpPr>
        <p:spPr>
          <a:xfrm flipH="false" flipV="false" rot="0">
            <a:off x="7831464" y="4066699"/>
            <a:ext cx="9592450" cy="4941258"/>
          </a:xfrm>
          <a:custGeom>
            <a:avLst/>
            <a:gdLst/>
            <a:ahLst/>
            <a:cxnLst/>
            <a:rect r="r" b="b" t="t" l="l"/>
            <a:pathLst>
              <a:path h="4941258" w="9592450">
                <a:moveTo>
                  <a:pt x="0" y="0"/>
                </a:moveTo>
                <a:lnTo>
                  <a:pt x="9592450" y="0"/>
                </a:lnTo>
                <a:lnTo>
                  <a:pt x="9592450" y="4941258"/>
                </a:lnTo>
                <a:lnTo>
                  <a:pt x="0" y="4941258"/>
                </a:lnTo>
                <a:lnTo>
                  <a:pt x="0" y="0"/>
                </a:lnTo>
                <a:close/>
              </a:path>
            </a:pathLst>
          </a:custGeom>
          <a:blipFill>
            <a:blip r:embed="rId3"/>
            <a:stretch>
              <a:fillRect l="0" t="0" r="0" b="0"/>
            </a:stretch>
          </a:blipFill>
        </p:spPr>
      </p:sp>
      <p:sp>
        <p:nvSpPr>
          <p:cNvPr name="TextBox 7" id="7"/>
          <p:cNvSpPr txBox="true"/>
          <p:nvPr/>
        </p:nvSpPr>
        <p:spPr>
          <a:xfrm rot="0">
            <a:off x="8083151" y="5223061"/>
            <a:ext cx="8751314" cy="3185106"/>
          </a:xfrm>
          <a:prstGeom prst="rect">
            <a:avLst/>
          </a:prstGeom>
        </p:spPr>
        <p:txBody>
          <a:bodyPr anchor="t" rtlCol="false" tIns="0" lIns="0" bIns="0" rIns="0">
            <a:spAutoFit/>
          </a:bodyPr>
          <a:lstStyle/>
          <a:p>
            <a:pPr algn="l">
              <a:lnSpc>
                <a:spcPts val="2910"/>
              </a:lnSpc>
            </a:pPr>
            <a:r>
              <a:rPr lang="en-US" sz="1617" spc="-32">
                <a:solidFill>
                  <a:srgbClr val="FFFFFF"/>
                </a:solidFill>
                <a:latin typeface="Source Sans Pro"/>
                <a:ea typeface="Source Sans Pro"/>
                <a:cs typeface="Source Sans Pro"/>
                <a:sym typeface="Source Sans Pro"/>
              </a:rPr>
              <a:t># Will pad the sequences up to the maximum sequence length</a:t>
            </a:r>
          </a:p>
          <a:p>
            <a:pPr algn="l">
              <a:lnSpc>
                <a:spcPts val="2910"/>
              </a:lnSpc>
            </a:pPr>
            <a:r>
              <a:rPr lang="en-US" sz="1617" spc="-32">
                <a:solidFill>
                  <a:srgbClr val="FFFFFF"/>
                </a:solidFill>
                <a:latin typeface="Source Sans Pro"/>
                <a:ea typeface="Source Sans Pro"/>
                <a:cs typeface="Source Sans Pro"/>
                <a:sym typeface="Source Sans Pro"/>
              </a:rPr>
              <a:t>model inputs = tokenizer(sequences, padding="longest")</a:t>
            </a:r>
          </a:p>
          <a:p>
            <a:pPr algn="l">
              <a:lnSpc>
                <a:spcPts val="2910"/>
              </a:lnSpc>
            </a:pPr>
          </a:p>
          <a:p>
            <a:pPr algn="l">
              <a:lnSpc>
                <a:spcPts val="2910"/>
              </a:lnSpc>
            </a:pPr>
            <a:r>
              <a:rPr lang="en-US" sz="1617" spc="-32">
                <a:solidFill>
                  <a:srgbClr val="FFFFFF"/>
                </a:solidFill>
                <a:latin typeface="Source Sans Pro"/>
                <a:ea typeface="Source Sans Pro"/>
                <a:cs typeface="Source Sans Pro"/>
                <a:sym typeface="Source Sans Pro"/>
              </a:rPr>
              <a:t># Will pad the sequences up to the model max length</a:t>
            </a:r>
          </a:p>
          <a:p>
            <a:pPr algn="l">
              <a:lnSpc>
                <a:spcPts val="2910"/>
              </a:lnSpc>
            </a:pPr>
            <a:r>
              <a:rPr lang="en-US" sz="1617" spc="-32">
                <a:solidFill>
                  <a:srgbClr val="FFFFFF"/>
                </a:solidFill>
                <a:latin typeface="Source Sans Pro"/>
                <a:ea typeface="Source Sans Pro"/>
                <a:cs typeface="Source Sans Pro"/>
                <a:sym typeface="Source Sans Pro"/>
              </a:rPr>
              <a:t># (512 for BERT or DistilBERT)</a:t>
            </a:r>
          </a:p>
          <a:p>
            <a:pPr algn="l">
              <a:lnSpc>
                <a:spcPts val="2910"/>
              </a:lnSpc>
            </a:pPr>
            <a:r>
              <a:rPr lang="en-US" sz="1617" spc="-32">
                <a:solidFill>
                  <a:srgbClr val="FFFFFF"/>
                </a:solidFill>
                <a:latin typeface="Source Sans Pro"/>
                <a:ea typeface="Source Sans Pro"/>
                <a:cs typeface="Source Sans Pro"/>
                <a:sym typeface="Source Sans Pro"/>
              </a:rPr>
              <a:t>model inputs = tokenizer(sequences, padding="max_length")</a:t>
            </a:r>
          </a:p>
          <a:p>
            <a:pPr algn="l">
              <a:lnSpc>
                <a:spcPts val="2910"/>
              </a:lnSpc>
            </a:pPr>
          </a:p>
          <a:p>
            <a:pPr algn="l">
              <a:lnSpc>
                <a:spcPts val="2910"/>
              </a:lnSpc>
            </a:pPr>
            <a:r>
              <a:rPr lang="en-US" sz="1617" spc="-32">
                <a:solidFill>
                  <a:srgbClr val="FFFFFF"/>
                </a:solidFill>
                <a:latin typeface="Source Sans Pro"/>
                <a:ea typeface="Source Sans Pro"/>
                <a:cs typeface="Source Sans Pro"/>
                <a:sym typeface="Source Sans Pro"/>
              </a:rPr>
              <a:t># Will pad the sequences up to the specified max length</a:t>
            </a:r>
          </a:p>
          <a:p>
            <a:pPr algn="l">
              <a:lnSpc>
                <a:spcPts val="2910"/>
              </a:lnSpc>
            </a:pPr>
            <a:r>
              <a:rPr lang="en-US" sz="1617" spc="-32">
                <a:solidFill>
                  <a:srgbClr val="FFFFFF"/>
                </a:solidFill>
                <a:latin typeface="Source Sans Pro"/>
                <a:ea typeface="Source Sans Pro"/>
                <a:cs typeface="Source Sans Pro"/>
                <a:sym typeface="Source Sans Pro"/>
              </a:rPr>
              <a:t>model inputs = tokenizer(sequences, padding="max_length", max_length=8)</a:t>
            </a:r>
          </a:p>
        </p:txBody>
      </p:sp>
      <p:sp>
        <p:nvSpPr>
          <p:cNvPr name="Freeform 8" id="8"/>
          <p:cNvSpPr/>
          <p:nvPr/>
        </p:nvSpPr>
        <p:spPr>
          <a:xfrm flipH="false" flipV="false" rot="0">
            <a:off x="13379757" y="5324405"/>
            <a:ext cx="8088313" cy="7367105"/>
          </a:xfrm>
          <a:custGeom>
            <a:avLst/>
            <a:gdLst/>
            <a:ahLst/>
            <a:cxnLst/>
            <a:rect r="r" b="b" t="t" l="l"/>
            <a:pathLst>
              <a:path h="7367105" w="8088313">
                <a:moveTo>
                  <a:pt x="0" y="0"/>
                </a:moveTo>
                <a:lnTo>
                  <a:pt x="8088313" y="0"/>
                </a:lnTo>
                <a:lnTo>
                  <a:pt x="8088313" y="7367105"/>
                </a:lnTo>
                <a:lnTo>
                  <a:pt x="0" y="736710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2292365" y="5650270"/>
            <a:ext cx="10926020" cy="9273459"/>
          </a:xfrm>
          <a:custGeom>
            <a:avLst/>
            <a:gdLst/>
            <a:ahLst/>
            <a:cxnLst/>
            <a:rect r="r" b="b" t="t" l="l"/>
            <a:pathLst>
              <a:path h="9273459" w="10926020">
                <a:moveTo>
                  <a:pt x="0" y="0"/>
                </a:moveTo>
                <a:lnTo>
                  <a:pt x="10926019" y="0"/>
                </a:lnTo>
                <a:lnTo>
                  <a:pt x="10926019" y="9273460"/>
                </a:lnTo>
                <a:lnTo>
                  <a:pt x="0" y="9273460"/>
                </a:lnTo>
                <a:lnTo>
                  <a:pt x="0" y="0"/>
                </a:lnTo>
                <a:close/>
              </a:path>
            </a:pathLst>
          </a:custGeom>
          <a:blipFill>
            <a:blip r:embed="rId6"/>
            <a:stretch>
              <a:fillRect l="0" t="0" r="0" b="0"/>
            </a:stretch>
          </a:blipFill>
        </p:spPr>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bg>
      <p:bgPr>
        <a:solidFill>
          <a:srgbClr val="1F0034"/>
        </a:solidFill>
      </p:bgPr>
    </p:bg>
    <p:spTree>
      <p:nvGrpSpPr>
        <p:cNvPr id="1" name=""/>
        <p:cNvGrpSpPr/>
        <p:nvPr/>
      </p:nvGrpSpPr>
      <p:grpSpPr>
        <a:xfrm>
          <a:off x="0" y="0"/>
          <a:ext cx="0" cy="0"/>
          <a:chOff x="0" y="0"/>
          <a:chExt cx="0" cy="0"/>
        </a:xfrm>
      </p:grpSpPr>
      <p:sp>
        <p:nvSpPr>
          <p:cNvPr name="TextBox 2" id="2"/>
          <p:cNvSpPr txBox="true"/>
          <p:nvPr/>
        </p:nvSpPr>
        <p:spPr>
          <a:xfrm rot="0">
            <a:off x="485598" y="936076"/>
            <a:ext cx="10376115" cy="789073"/>
          </a:xfrm>
          <a:prstGeom prst="rect">
            <a:avLst/>
          </a:prstGeom>
        </p:spPr>
        <p:txBody>
          <a:bodyPr anchor="t" rtlCol="false" tIns="0" lIns="0" bIns="0" rIns="0">
            <a:spAutoFit/>
          </a:bodyPr>
          <a:lstStyle/>
          <a:p>
            <a:pPr algn="l">
              <a:lnSpc>
                <a:spcPts val="6028"/>
              </a:lnSpc>
            </a:pPr>
            <a:r>
              <a:rPr lang="en-US" sz="5969" spc="-58">
                <a:solidFill>
                  <a:srgbClr val="F6F6F6"/>
                </a:solidFill>
                <a:latin typeface="Source Sans Pro"/>
                <a:ea typeface="Source Sans Pro"/>
                <a:cs typeface="Source Sans Pro"/>
                <a:sym typeface="Source Sans Pro"/>
              </a:rPr>
              <a:t>Putting it all together (3/3)</a:t>
            </a:r>
          </a:p>
        </p:txBody>
      </p:sp>
      <p:sp>
        <p:nvSpPr>
          <p:cNvPr name="TextBox 3" id="3"/>
          <p:cNvSpPr txBox="true"/>
          <p:nvPr/>
        </p:nvSpPr>
        <p:spPr>
          <a:xfrm rot="0">
            <a:off x="589359" y="2533907"/>
            <a:ext cx="17091422" cy="835071"/>
          </a:xfrm>
          <a:prstGeom prst="rect">
            <a:avLst/>
          </a:prstGeom>
        </p:spPr>
        <p:txBody>
          <a:bodyPr anchor="t" rtlCol="false" tIns="0" lIns="0" bIns="0" rIns="0">
            <a:spAutoFit/>
          </a:bodyPr>
          <a:lstStyle/>
          <a:p>
            <a:pPr algn="l">
              <a:lnSpc>
                <a:spcPts val="3482"/>
              </a:lnSpc>
            </a:pPr>
            <a:r>
              <a:rPr lang="en-US" sz="2321" spc="-22" b="true">
                <a:solidFill>
                  <a:srgbClr val="F6F6F6"/>
                </a:solidFill>
                <a:latin typeface="Source Sans Pro Bold"/>
                <a:ea typeface="Source Sans Pro Bold"/>
                <a:cs typeface="Source Sans Pro Bold"/>
                <a:sym typeface="Source Sans Pro Bold"/>
              </a:rPr>
              <a:t>Tokenizer nesnesi, doğrudan modele gönderilebilecek belirli çerçeve tensor'larına dönüşümü de yapabilir. Aşağıdaki kod örneğinde tokenizer’dan farklı çerçvelerin tensor'larını istiyoruz: “pt” PyTorch tensor'ları, “np” NumPy dizileri döndürür.</a:t>
            </a:r>
          </a:p>
        </p:txBody>
      </p:sp>
      <p:sp>
        <p:nvSpPr>
          <p:cNvPr name="Freeform 4" id="4"/>
          <p:cNvSpPr/>
          <p:nvPr/>
        </p:nvSpPr>
        <p:spPr>
          <a:xfrm flipH="false" flipV="false" rot="0">
            <a:off x="426574" y="3848060"/>
            <a:ext cx="8509608" cy="4941258"/>
          </a:xfrm>
          <a:custGeom>
            <a:avLst/>
            <a:gdLst/>
            <a:ahLst/>
            <a:cxnLst/>
            <a:rect r="r" b="b" t="t" l="l"/>
            <a:pathLst>
              <a:path h="4941258" w="8509608">
                <a:moveTo>
                  <a:pt x="0" y="0"/>
                </a:moveTo>
                <a:lnTo>
                  <a:pt x="8509608" y="0"/>
                </a:lnTo>
                <a:lnTo>
                  <a:pt x="8509608" y="4941258"/>
                </a:lnTo>
                <a:lnTo>
                  <a:pt x="0" y="4941258"/>
                </a:lnTo>
                <a:lnTo>
                  <a:pt x="0" y="0"/>
                </a:lnTo>
                <a:close/>
              </a:path>
            </a:pathLst>
          </a:custGeom>
          <a:blipFill>
            <a:blip r:embed="rId2"/>
            <a:stretch>
              <a:fillRect l="0" t="0" r="0" b="0"/>
            </a:stretch>
          </a:blipFill>
        </p:spPr>
      </p:sp>
      <p:sp>
        <p:nvSpPr>
          <p:cNvPr name="TextBox 5" id="5"/>
          <p:cNvSpPr txBox="true"/>
          <p:nvPr/>
        </p:nvSpPr>
        <p:spPr>
          <a:xfrm rot="0">
            <a:off x="782358" y="4946045"/>
            <a:ext cx="7489176" cy="370153"/>
          </a:xfrm>
          <a:prstGeom prst="rect">
            <a:avLst/>
          </a:prstGeom>
        </p:spPr>
        <p:txBody>
          <a:bodyPr anchor="t" rtlCol="false" tIns="0" lIns="0" bIns="0" rIns="0">
            <a:spAutoFit/>
          </a:bodyPr>
          <a:lstStyle/>
          <a:p>
            <a:pPr algn="l">
              <a:lnSpc>
                <a:spcPts val="3234"/>
              </a:lnSpc>
            </a:pPr>
            <a:r>
              <a:rPr lang="en-US" sz="1617" spc="-80">
                <a:solidFill>
                  <a:srgbClr val="F6F6F6"/>
                </a:solidFill>
                <a:latin typeface="Source Sans Pro"/>
                <a:ea typeface="Source Sans Pro"/>
                <a:cs typeface="Source Sans Pro"/>
                <a:sym typeface="Source Sans Pro"/>
              </a:rPr>
              <a:t>sequences = </a:t>
            </a:r>
            <a:r>
              <a:rPr lang="en-US" sz="1617" spc="-80">
                <a:solidFill>
                  <a:srgbClr val="B89B6B"/>
                </a:solidFill>
                <a:latin typeface="Source Sans Pro"/>
                <a:ea typeface="Source Sans Pro"/>
                <a:cs typeface="Source Sans Pro"/>
                <a:sym typeface="Source Sans Pro"/>
              </a:rPr>
              <a:t>[*I've been waiting for a HuggingFace course my whole life.</a:t>
            </a:r>
            <a:r>
              <a:rPr lang="en-US" sz="1617" spc="-80">
                <a:solidFill>
                  <a:srgbClr val="F6F6F6"/>
                </a:solidFill>
                <a:latin typeface="Source Sans Pro"/>
                <a:ea typeface="Source Sans Pro"/>
                <a:cs typeface="Source Sans Pro"/>
                <a:sym typeface="Source Sans Pro"/>
              </a:rPr>
              <a:t>", </a:t>
            </a:r>
            <a:r>
              <a:rPr lang="en-US" sz="1617" spc="-80">
                <a:solidFill>
                  <a:srgbClr val="B89B6B"/>
                </a:solidFill>
                <a:latin typeface="Source Sans Pro"/>
                <a:ea typeface="Source Sans Pro"/>
                <a:cs typeface="Source Sans Pro"/>
                <a:sym typeface="Source Sans Pro"/>
              </a:rPr>
              <a:t>"So have I!"</a:t>
            </a:r>
            <a:r>
              <a:rPr lang="en-US" sz="1617" spc="-80">
                <a:solidFill>
                  <a:srgbClr val="F6F6F6"/>
                </a:solidFill>
                <a:latin typeface="Source Sans Pro"/>
                <a:ea typeface="Source Sans Pro"/>
                <a:cs typeface="Source Sans Pro"/>
                <a:sym typeface="Source Sans Pro"/>
              </a:rPr>
              <a:t>]</a:t>
            </a:r>
          </a:p>
        </p:txBody>
      </p:sp>
      <p:sp>
        <p:nvSpPr>
          <p:cNvPr name="TextBox 6" id="6"/>
          <p:cNvSpPr txBox="true"/>
          <p:nvPr/>
        </p:nvSpPr>
        <p:spPr>
          <a:xfrm rot="0">
            <a:off x="777225" y="6025935"/>
            <a:ext cx="8002461" cy="1125788"/>
          </a:xfrm>
          <a:prstGeom prst="rect">
            <a:avLst/>
          </a:prstGeom>
        </p:spPr>
        <p:txBody>
          <a:bodyPr anchor="t" rtlCol="false" tIns="0" lIns="0" bIns="0" rIns="0">
            <a:spAutoFit/>
          </a:bodyPr>
          <a:lstStyle/>
          <a:p>
            <a:pPr algn="l">
              <a:lnSpc>
                <a:spcPts val="3093"/>
              </a:lnSpc>
            </a:pPr>
            <a:r>
              <a:rPr lang="en-US" sz="1546" spc="-77">
                <a:solidFill>
                  <a:srgbClr val="737373"/>
                </a:solidFill>
                <a:latin typeface="Source Sans Pro"/>
                <a:ea typeface="Source Sans Pro"/>
                <a:cs typeface="Source Sans Pro"/>
                <a:sym typeface="Source Sans Pro"/>
              </a:rPr>
              <a:t># Will truncate the sequences that are longer than the model max length</a:t>
            </a:r>
          </a:p>
          <a:p>
            <a:pPr algn="l">
              <a:lnSpc>
                <a:spcPts val="3093"/>
              </a:lnSpc>
            </a:pPr>
            <a:r>
              <a:rPr lang="en-US" sz="1546" spc="-77">
                <a:solidFill>
                  <a:srgbClr val="737373"/>
                </a:solidFill>
                <a:latin typeface="Source Sans Pro"/>
                <a:ea typeface="Source Sans Pro"/>
                <a:cs typeface="Source Sans Pro"/>
                <a:sym typeface="Source Sans Pro"/>
              </a:rPr>
              <a:t># (512 for BERT or DistilBERT)</a:t>
            </a:r>
          </a:p>
          <a:p>
            <a:pPr algn="l">
              <a:lnSpc>
                <a:spcPts val="3093"/>
              </a:lnSpc>
            </a:pPr>
            <a:r>
              <a:rPr lang="en-US" sz="1546" spc="-77">
                <a:solidFill>
                  <a:srgbClr val="F6F6F6"/>
                </a:solidFill>
                <a:latin typeface="Source Sans Pro"/>
                <a:ea typeface="Source Sans Pro"/>
                <a:cs typeface="Source Sans Pro"/>
                <a:sym typeface="Source Sans Pro"/>
              </a:rPr>
              <a:t>model inputs = tokenizer(sequences, truncation=</a:t>
            </a:r>
            <a:r>
              <a:rPr lang="en-US" sz="1546" spc="-77">
                <a:solidFill>
                  <a:srgbClr val="9E66B6"/>
                </a:solidFill>
                <a:latin typeface="Source Sans Pro"/>
                <a:ea typeface="Source Sans Pro"/>
                <a:cs typeface="Source Sans Pro"/>
                <a:sym typeface="Source Sans Pro"/>
              </a:rPr>
              <a:t>True</a:t>
            </a:r>
            <a:r>
              <a:rPr lang="en-US" sz="1546" spc="-77">
                <a:solidFill>
                  <a:srgbClr val="F6F6F6"/>
                </a:solidFill>
                <a:latin typeface="Source Sans Pro"/>
                <a:ea typeface="Source Sans Pro"/>
                <a:cs typeface="Source Sans Pro"/>
                <a:sym typeface="Source Sans Pro"/>
              </a:rPr>
              <a:t>)</a:t>
            </a:r>
          </a:p>
        </p:txBody>
      </p:sp>
      <p:sp>
        <p:nvSpPr>
          <p:cNvPr name="TextBox 7" id="7"/>
          <p:cNvSpPr txBox="true"/>
          <p:nvPr/>
        </p:nvSpPr>
        <p:spPr>
          <a:xfrm rot="0">
            <a:off x="777155" y="7669102"/>
            <a:ext cx="8009542" cy="702746"/>
          </a:xfrm>
          <a:prstGeom prst="rect">
            <a:avLst/>
          </a:prstGeom>
        </p:spPr>
        <p:txBody>
          <a:bodyPr anchor="t" rtlCol="false" tIns="0" lIns="0" bIns="0" rIns="0">
            <a:spAutoFit/>
          </a:bodyPr>
          <a:lstStyle/>
          <a:p>
            <a:pPr algn="l">
              <a:lnSpc>
                <a:spcPts val="2988"/>
              </a:lnSpc>
            </a:pPr>
            <a:r>
              <a:rPr lang="en-US" sz="1494" spc="-74">
                <a:solidFill>
                  <a:srgbClr val="737373"/>
                </a:solidFill>
                <a:latin typeface="Source Sans Pro"/>
                <a:ea typeface="Source Sans Pro"/>
                <a:cs typeface="Source Sans Pro"/>
                <a:sym typeface="Source Sans Pro"/>
              </a:rPr>
              <a:t># Will truncate the sequences that are longer than the specified max length</a:t>
            </a:r>
          </a:p>
          <a:p>
            <a:pPr algn="l">
              <a:lnSpc>
                <a:spcPts val="2988"/>
              </a:lnSpc>
            </a:pPr>
            <a:r>
              <a:rPr lang="en-US" sz="1494" spc="-74">
                <a:solidFill>
                  <a:srgbClr val="F6F6F6"/>
                </a:solidFill>
                <a:latin typeface="Source Sans Pro"/>
                <a:ea typeface="Source Sans Pro"/>
                <a:cs typeface="Source Sans Pro"/>
                <a:sym typeface="Source Sans Pro"/>
              </a:rPr>
              <a:t>model inputs = tokenizer(sequences, max_length=</a:t>
            </a:r>
            <a:r>
              <a:rPr lang="en-US" sz="1494" spc="-74">
                <a:solidFill>
                  <a:srgbClr val="B89B6B"/>
                </a:solidFill>
                <a:latin typeface="Source Sans Pro"/>
                <a:ea typeface="Source Sans Pro"/>
                <a:cs typeface="Source Sans Pro"/>
                <a:sym typeface="Source Sans Pro"/>
              </a:rPr>
              <a:t>8</a:t>
            </a:r>
            <a:r>
              <a:rPr lang="en-US" sz="1494" spc="-74">
                <a:solidFill>
                  <a:srgbClr val="F6F6F6"/>
                </a:solidFill>
                <a:latin typeface="Source Sans Pro"/>
                <a:ea typeface="Source Sans Pro"/>
                <a:cs typeface="Source Sans Pro"/>
                <a:sym typeface="Source Sans Pro"/>
              </a:rPr>
              <a:t>, truncation=</a:t>
            </a:r>
            <a:r>
              <a:rPr lang="en-US" sz="1494" spc="-74">
                <a:solidFill>
                  <a:srgbClr val="9E66B6"/>
                </a:solidFill>
                <a:latin typeface="Source Sans Pro"/>
                <a:ea typeface="Source Sans Pro"/>
                <a:cs typeface="Source Sans Pro"/>
                <a:sym typeface="Source Sans Pro"/>
              </a:rPr>
              <a:t>True</a:t>
            </a:r>
            <a:r>
              <a:rPr lang="en-US" sz="1494" spc="-74">
                <a:solidFill>
                  <a:srgbClr val="F6F6F6"/>
                </a:solidFill>
                <a:latin typeface="Source Sans Pro"/>
                <a:ea typeface="Source Sans Pro"/>
                <a:cs typeface="Source Sans Pro"/>
                <a:sym typeface="Source Sans Pro"/>
              </a:rPr>
              <a:t>)</a:t>
            </a:r>
          </a:p>
        </p:txBody>
      </p:sp>
      <p:sp>
        <p:nvSpPr>
          <p:cNvPr name="Freeform 8" id="8"/>
          <p:cNvSpPr/>
          <p:nvPr/>
        </p:nvSpPr>
        <p:spPr>
          <a:xfrm flipH="false" flipV="false" rot="0">
            <a:off x="9144000" y="3848060"/>
            <a:ext cx="8498670" cy="4941258"/>
          </a:xfrm>
          <a:custGeom>
            <a:avLst/>
            <a:gdLst/>
            <a:ahLst/>
            <a:cxnLst/>
            <a:rect r="r" b="b" t="t" l="l"/>
            <a:pathLst>
              <a:path h="4941258" w="8498670">
                <a:moveTo>
                  <a:pt x="0" y="0"/>
                </a:moveTo>
                <a:lnTo>
                  <a:pt x="8498670" y="0"/>
                </a:lnTo>
                <a:lnTo>
                  <a:pt x="8498670" y="4941258"/>
                </a:lnTo>
                <a:lnTo>
                  <a:pt x="0" y="4941258"/>
                </a:lnTo>
                <a:lnTo>
                  <a:pt x="0" y="0"/>
                </a:lnTo>
                <a:close/>
              </a:path>
            </a:pathLst>
          </a:custGeom>
          <a:blipFill>
            <a:blip r:embed="rId3"/>
            <a:stretch>
              <a:fillRect l="0" t="0" r="0" b="0"/>
            </a:stretch>
          </a:blipFill>
        </p:spPr>
      </p:sp>
      <p:sp>
        <p:nvSpPr>
          <p:cNvPr name="TextBox 9" id="9"/>
          <p:cNvSpPr txBox="true"/>
          <p:nvPr/>
        </p:nvSpPr>
        <p:spPr>
          <a:xfrm rot="0">
            <a:off x="9462014" y="4946045"/>
            <a:ext cx="7489176" cy="370153"/>
          </a:xfrm>
          <a:prstGeom prst="rect">
            <a:avLst/>
          </a:prstGeom>
        </p:spPr>
        <p:txBody>
          <a:bodyPr anchor="t" rtlCol="false" tIns="0" lIns="0" bIns="0" rIns="0">
            <a:spAutoFit/>
          </a:bodyPr>
          <a:lstStyle/>
          <a:p>
            <a:pPr algn="l">
              <a:lnSpc>
                <a:spcPts val="3234"/>
              </a:lnSpc>
            </a:pPr>
            <a:r>
              <a:rPr lang="en-US" sz="1617" spc="-80">
                <a:solidFill>
                  <a:srgbClr val="F6F6F6"/>
                </a:solidFill>
                <a:latin typeface="Source Sans Pro"/>
                <a:ea typeface="Source Sans Pro"/>
                <a:cs typeface="Source Sans Pro"/>
                <a:sym typeface="Source Sans Pro"/>
              </a:rPr>
              <a:t>sequences = </a:t>
            </a:r>
            <a:r>
              <a:rPr lang="en-US" sz="1617" spc="-80">
                <a:solidFill>
                  <a:srgbClr val="B89B6B"/>
                </a:solidFill>
                <a:latin typeface="Source Sans Pro"/>
                <a:ea typeface="Source Sans Pro"/>
                <a:cs typeface="Source Sans Pro"/>
                <a:sym typeface="Source Sans Pro"/>
              </a:rPr>
              <a:t>[*I've been waiting for a HuggingFace course my whole life.”, "So have I!"</a:t>
            </a:r>
            <a:r>
              <a:rPr lang="en-US" sz="1617" spc="-80">
                <a:solidFill>
                  <a:srgbClr val="F6F6F6"/>
                </a:solidFill>
                <a:latin typeface="Source Sans Pro"/>
                <a:ea typeface="Source Sans Pro"/>
                <a:cs typeface="Source Sans Pro"/>
                <a:sym typeface="Source Sans Pro"/>
              </a:rPr>
              <a:t>]</a:t>
            </a:r>
          </a:p>
        </p:txBody>
      </p:sp>
      <p:sp>
        <p:nvSpPr>
          <p:cNvPr name="TextBox 10" id="10"/>
          <p:cNvSpPr txBox="true"/>
          <p:nvPr/>
        </p:nvSpPr>
        <p:spPr>
          <a:xfrm rot="0">
            <a:off x="9456815" y="6039001"/>
            <a:ext cx="8009099" cy="704531"/>
          </a:xfrm>
          <a:prstGeom prst="rect">
            <a:avLst/>
          </a:prstGeom>
        </p:spPr>
        <p:txBody>
          <a:bodyPr anchor="t" rtlCol="false" tIns="0" lIns="0" bIns="0" rIns="0">
            <a:spAutoFit/>
          </a:bodyPr>
          <a:lstStyle/>
          <a:p>
            <a:pPr algn="l">
              <a:lnSpc>
                <a:spcPts val="2953"/>
              </a:lnSpc>
            </a:pPr>
            <a:r>
              <a:rPr lang="en-US" sz="1476" spc="-73">
                <a:solidFill>
                  <a:srgbClr val="737373"/>
                </a:solidFill>
                <a:latin typeface="Source Sans Pro"/>
                <a:ea typeface="Source Sans Pro"/>
                <a:cs typeface="Source Sans Pro"/>
                <a:sym typeface="Source Sans Pro"/>
              </a:rPr>
              <a:t># Returns PyTorch tensors</a:t>
            </a:r>
          </a:p>
          <a:p>
            <a:pPr algn="l">
              <a:lnSpc>
                <a:spcPts val="2953"/>
              </a:lnSpc>
            </a:pPr>
            <a:r>
              <a:rPr lang="en-US" sz="1476" spc="-73">
                <a:solidFill>
                  <a:srgbClr val="F6F6F6"/>
                </a:solidFill>
                <a:latin typeface="Source Sans Pro"/>
                <a:ea typeface="Source Sans Pro"/>
                <a:cs typeface="Source Sans Pro"/>
                <a:sym typeface="Source Sans Pro"/>
              </a:rPr>
              <a:t>model inputs = tokenizer(sequences, padding=</a:t>
            </a:r>
            <a:r>
              <a:rPr lang="en-US" sz="1476" spc="-73">
                <a:solidFill>
                  <a:srgbClr val="9E66B6"/>
                </a:solidFill>
                <a:latin typeface="Source Sans Pro"/>
                <a:ea typeface="Source Sans Pro"/>
                <a:cs typeface="Source Sans Pro"/>
                <a:sym typeface="Source Sans Pro"/>
              </a:rPr>
              <a:t>True</a:t>
            </a:r>
            <a:r>
              <a:rPr lang="en-US" sz="1476" spc="-73">
                <a:solidFill>
                  <a:srgbClr val="F6F6F6"/>
                </a:solidFill>
                <a:latin typeface="Source Sans Pro"/>
                <a:ea typeface="Source Sans Pro"/>
                <a:cs typeface="Source Sans Pro"/>
                <a:sym typeface="Source Sans Pro"/>
              </a:rPr>
              <a:t>, return_tensors=</a:t>
            </a:r>
            <a:r>
              <a:rPr lang="en-US" sz="1476" spc="-73">
                <a:solidFill>
                  <a:srgbClr val="B89B6B"/>
                </a:solidFill>
                <a:latin typeface="Source Sans Pro"/>
                <a:ea typeface="Source Sans Pro"/>
                <a:cs typeface="Source Sans Pro"/>
                <a:sym typeface="Source Sans Pro"/>
              </a:rPr>
              <a:t>"pt</a:t>
            </a:r>
            <a:r>
              <a:rPr lang="en-US" sz="1476" spc="-73">
                <a:solidFill>
                  <a:srgbClr val="F6F6F6"/>
                </a:solidFill>
                <a:latin typeface="Source Sans Pro"/>
                <a:ea typeface="Source Sans Pro"/>
                <a:cs typeface="Source Sans Pro"/>
                <a:sym typeface="Source Sans Pro"/>
              </a:rPr>
              <a:t>")</a:t>
            </a:r>
          </a:p>
        </p:txBody>
      </p:sp>
      <p:sp>
        <p:nvSpPr>
          <p:cNvPr name="TextBox 11" id="11"/>
          <p:cNvSpPr txBox="true"/>
          <p:nvPr/>
        </p:nvSpPr>
        <p:spPr>
          <a:xfrm rot="0">
            <a:off x="9456815" y="7273990"/>
            <a:ext cx="8009099" cy="704531"/>
          </a:xfrm>
          <a:prstGeom prst="rect">
            <a:avLst/>
          </a:prstGeom>
        </p:spPr>
        <p:txBody>
          <a:bodyPr anchor="t" rtlCol="false" tIns="0" lIns="0" bIns="0" rIns="0">
            <a:spAutoFit/>
          </a:bodyPr>
          <a:lstStyle/>
          <a:p>
            <a:pPr algn="l">
              <a:lnSpc>
                <a:spcPts val="2953"/>
              </a:lnSpc>
            </a:pPr>
            <a:r>
              <a:rPr lang="en-US" sz="1476" spc="-73">
                <a:solidFill>
                  <a:srgbClr val="737373"/>
                </a:solidFill>
                <a:latin typeface="Source Sans Pro"/>
                <a:ea typeface="Source Sans Pro"/>
                <a:cs typeface="Source Sans Pro"/>
                <a:sym typeface="Source Sans Pro"/>
              </a:rPr>
              <a:t># Returns NumPy arrays</a:t>
            </a:r>
          </a:p>
          <a:p>
            <a:pPr algn="l">
              <a:lnSpc>
                <a:spcPts val="2953"/>
              </a:lnSpc>
            </a:pPr>
            <a:r>
              <a:rPr lang="en-US" sz="1476" spc="-73">
                <a:solidFill>
                  <a:srgbClr val="F6F6F6"/>
                </a:solidFill>
                <a:latin typeface="Source Sans Pro"/>
                <a:ea typeface="Source Sans Pro"/>
                <a:cs typeface="Source Sans Pro"/>
                <a:sym typeface="Source Sans Pro"/>
              </a:rPr>
              <a:t>model inputs = tokenizer(sequences, padding=</a:t>
            </a:r>
            <a:r>
              <a:rPr lang="en-US" sz="1476" spc="-73">
                <a:solidFill>
                  <a:srgbClr val="9E66B6"/>
                </a:solidFill>
                <a:latin typeface="Source Sans Pro"/>
                <a:ea typeface="Source Sans Pro"/>
                <a:cs typeface="Source Sans Pro"/>
                <a:sym typeface="Source Sans Pro"/>
              </a:rPr>
              <a:t>True</a:t>
            </a:r>
            <a:r>
              <a:rPr lang="en-US" sz="1476" spc="-73">
                <a:solidFill>
                  <a:srgbClr val="F6F6F6"/>
                </a:solidFill>
                <a:latin typeface="Source Sans Pro"/>
                <a:ea typeface="Source Sans Pro"/>
                <a:cs typeface="Source Sans Pro"/>
                <a:sym typeface="Source Sans Pro"/>
              </a:rPr>
              <a:t>, return_tensors=</a:t>
            </a:r>
            <a:r>
              <a:rPr lang="en-US" sz="1476" spc="-73">
                <a:solidFill>
                  <a:srgbClr val="B89B6B"/>
                </a:solidFill>
                <a:latin typeface="Source Sans Pro"/>
                <a:ea typeface="Source Sans Pro"/>
                <a:cs typeface="Source Sans Pro"/>
                <a:sym typeface="Source Sans Pro"/>
              </a:rPr>
              <a:t>"np</a:t>
            </a:r>
            <a:r>
              <a:rPr lang="en-US" sz="1476" spc="-73">
                <a:solidFill>
                  <a:srgbClr val="F6F6F6"/>
                </a:solidFill>
                <a:latin typeface="Source Sans Pro"/>
                <a:ea typeface="Source Sans Pro"/>
                <a:cs typeface="Source Sans Pro"/>
                <a:sym typeface="Source Sans Pro"/>
              </a:rPr>
              <a:t>")</a:t>
            </a:r>
          </a:p>
        </p:txBody>
      </p:sp>
      <p:sp>
        <p:nvSpPr>
          <p:cNvPr name="TextBox 12" id="12"/>
          <p:cNvSpPr txBox="true"/>
          <p:nvPr/>
        </p:nvSpPr>
        <p:spPr>
          <a:xfrm rot="0">
            <a:off x="589359" y="2092959"/>
            <a:ext cx="17091422" cy="406674"/>
          </a:xfrm>
          <a:prstGeom prst="rect">
            <a:avLst/>
          </a:prstGeom>
        </p:spPr>
        <p:txBody>
          <a:bodyPr anchor="t" rtlCol="false" tIns="0" lIns="0" bIns="0" rIns="0">
            <a:spAutoFit/>
          </a:bodyPr>
          <a:lstStyle/>
          <a:p>
            <a:pPr algn="l">
              <a:lnSpc>
                <a:spcPts val="3482"/>
              </a:lnSpc>
            </a:pPr>
            <a:r>
              <a:rPr lang="en-US" sz="2321" spc="-22">
                <a:solidFill>
                  <a:srgbClr val="F6F6F6"/>
                </a:solidFill>
                <a:latin typeface="Source Sans Pro"/>
                <a:ea typeface="Source Sans Pro"/>
                <a:cs typeface="Source Sans Pro"/>
                <a:sym typeface="Source Sans Pro"/>
              </a:rPr>
              <a:t>Dizileri kesebilir de.</a:t>
            </a:r>
          </a:p>
        </p:txBody>
      </p:sp>
      <p:sp>
        <p:nvSpPr>
          <p:cNvPr name="TextBox 13" id="13"/>
          <p:cNvSpPr txBox="true"/>
          <p:nvPr/>
        </p:nvSpPr>
        <p:spPr>
          <a:xfrm rot="0">
            <a:off x="857250" y="4050868"/>
            <a:ext cx="8009930" cy="406674"/>
          </a:xfrm>
          <a:prstGeom prst="rect">
            <a:avLst/>
          </a:prstGeom>
        </p:spPr>
        <p:txBody>
          <a:bodyPr anchor="t" rtlCol="false" tIns="0" lIns="0" bIns="0" rIns="0">
            <a:spAutoFit/>
          </a:bodyPr>
          <a:lstStyle/>
          <a:p>
            <a:pPr algn="l">
              <a:lnSpc>
                <a:spcPts val="3482"/>
              </a:lnSpc>
            </a:pPr>
            <a:r>
              <a:rPr lang="en-US" sz="2321" spc="-22">
                <a:solidFill>
                  <a:srgbClr val="F6F6F6"/>
                </a:solidFill>
                <a:latin typeface="Source Sans Pro"/>
                <a:ea typeface="Source Sans Pro"/>
                <a:cs typeface="Source Sans Pro"/>
                <a:sym typeface="Source Sans Pro"/>
              </a:rPr>
              <a:t>Kod</a:t>
            </a:r>
          </a:p>
        </p:txBody>
      </p:sp>
      <p:sp>
        <p:nvSpPr>
          <p:cNvPr name="TextBox 14" id="14"/>
          <p:cNvSpPr txBox="true"/>
          <p:nvPr/>
        </p:nvSpPr>
        <p:spPr>
          <a:xfrm rot="0">
            <a:off x="9536906" y="4050868"/>
            <a:ext cx="8009930" cy="406674"/>
          </a:xfrm>
          <a:prstGeom prst="rect">
            <a:avLst/>
          </a:prstGeom>
        </p:spPr>
        <p:txBody>
          <a:bodyPr anchor="t" rtlCol="false" tIns="0" lIns="0" bIns="0" rIns="0">
            <a:spAutoFit/>
          </a:bodyPr>
          <a:lstStyle/>
          <a:p>
            <a:pPr algn="l">
              <a:lnSpc>
                <a:spcPts val="3482"/>
              </a:lnSpc>
            </a:pPr>
            <a:r>
              <a:rPr lang="en-US" sz="2321" spc="-22">
                <a:solidFill>
                  <a:srgbClr val="F6F6F6"/>
                </a:solidFill>
                <a:latin typeface="Source Sans Pro"/>
                <a:ea typeface="Source Sans Pro"/>
                <a:cs typeface="Source Sans Pro"/>
                <a:sym typeface="Source Sans Pro"/>
              </a:rPr>
              <a:t>Kod</a:t>
            </a:r>
          </a:p>
        </p:txBody>
      </p:sp>
      <p:sp>
        <p:nvSpPr>
          <p:cNvPr name="Freeform 15" id="15"/>
          <p:cNvSpPr/>
          <p:nvPr/>
        </p:nvSpPr>
        <p:spPr>
          <a:xfrm flipH="false" flipV="false" rot="0">
            <a:off x="-405123" y="7002387"/>
            <a:ext cx="8088313" cy="7367105"/>
          </a:xfrm>
          <a:custGeom>
            <a:avLst/>
            <a:gdLst/>
            <a:ahLst/>
            <a:cxnLst/>
            <a:rect r="r" b="b" t="t" l="l"/>
            <a:pathLst>
              <a:path h="7367105" w="8088313">
                <a:moveTo>
                  <a:pt x="0" y="0"/>
                </a:moveTo>
                <a:lnTo>
                  <a:pt x="8088313" y="0"/>
                </a:lnTo>
                <a:lnTo>
                  <a:pt x="8088313" y="7367105"/>
                </a:lnTo>
                <a:lnTo>
                  <a:pt x="0" y="736710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bg>
      <p:bgPr>
        <a:solidFill>
          <a:srgbClr val="1F0034"/>
        </a:solidFill>
      </p:bgPr>
    </p:bg>
    <p:spTree>
      <p:nvGrpSpPr>
        <p:cNvPr id="1" name=""/>
        <p:cNvGrpSpPr/>
        <p:nvPr/>
      </p:nvGrpSpPr>
      <p:grpSpPr>
        <a:xfrm>
          <a:off x="0" y="0"/>
          <a:ext cx="0" cy="0"/>
          <a:chOff x="0" y="0"/>
          <a:chExt cx="0" cy="0"/>
        </a:xfrm>
      </p:grpSpPr>
      <p:sp>
        <p:nvSpPr>
          <p:cNvPr name="TextBox 2" id="2"/>
          <p:cNvSpPr txBox="true"/>
          <p:nvPr/>
        </p:nvSpPr>
        <p:spPr>
          <a:xfrm rot="0">
            <a:off x="725264" y="635530"/>
            <a:ext cx="5161897" cy="732385"/>
          </a:xfrm>
          <a:prstGeom prst="rect">
            <a:avLst/>
          </a:prstGeom>
        </p:spPr>
        <p:txBody>
          <a:bodyPr anchor="t" rtlCol="false" tIns="0" lIns="0" bIns="0" rIns="0">
            <a:spAutoFit/>
          </a:bodyPr>
          <a:lstStyle/>
          <a:p>
            <a:pPr algn="l">
              <a:lnSpc>
                <a:spcPts val="5554"/>
              </a:lnSpc>
            </a:pPr>
            <a:r>
              <a:rPr lang="en-US" sz="5554" b="true">
                <a:solidFill>
                  <a:srgbClr val="FFFFFF"/>
                </a:solidFill>
                <a:latin typeface="Source Sans Pro Bold"/>
                <a:ea typeface="Source Sans Pro Bold"/>
                <a:cs typeface="Source Sans Pro Bold"/>
                <a:sym typeface="Source Sans Pro Bold"/>
              </a:rPr>
              <a:t>Special tokens</a:t>
            </a:r>
          </a:p>
        </p:txBody>
      </p:sp>
      <p:sp>
        <p:nvSpPr>
          <p:cNvPr name="TextBox 3" id="3"/>
          <p:cNvSpPr txBox="true"/>
          <p:nvPr/>
        </p:nvSpPr>
        <p:spPr>
          <a:xfrm rot="0">
            <a:off x="609567" y="1703366"/>
            <a:ext cx="16731605" cy="1938934"/>
          </a:xfrm>
          <a:prstGeom prst="rect">
            <a:avLst/>
          </a:prstGeom>
        </p:spPr>
        <p:txBody>
          <a:bodyPr anchor="t" rtlCol="false" tIns="0" lIns="0" bIns="0" rIns="0">
            <a:spAutoFit/>
          </a:bodyPr>
          <a:lstStyle/>
          <a:p>
            <a:pPr algn="l">
              <a:lnSpc>
                <a:spcPts val="3177"/>
              </a:lnSpc>
            </a:pPr>
            <a:r>
              <a:rPr lang="en-US" sz="1986">
                <a:solidFill>
                  <a:srgbClr val="FFFFFF">
                    <a:alpha val="80000"/>
                  </a:srgbClr>
                </a:solidFill>
                <a:latin typeface="Source Sans Pro"/>
                <a:ea typeface="Source Sans Pro"/>
                <a:cs typeface="Source Sans Pro"/>
                <a:sym typeface="Source Sans Pro"/>
              </a:rPr>
              <a:t>Tokenizer'in döndürdüğü input ID'lere bakarsak, öncekilerden biraz farklı olduklarını görürüz. Başa bir, sona bir token ID eklendi. Bunun ne olduğunu görmek için iki ID dizisini decode edelim.</a:t>
            </a:r>
          </a:p>
          <a:p>
            <a:pPr algn="l">
              <a:lnSpc>
                <a:spcPts val="3177"/>
              </a:lnSpc>
            </a:pPr>
            <a:r>
              <a:rPr lang="en-US" sz="1986">
                <a:solidFill>
                  <a:srgbClr val="FFFFFF">
                    <a:alpha val="80000"/>
                  </a:srgbClr>
                </a:solidFill>
                <a:latin typeface="Source Sans Pro"/>
                <a:ea typeface="Source Sans Pro"/>
                <a:cs typeface="Source Sans Pro"/>
                <a:sym typeface="Source Sans Pro"/>
              </a:rPr>
              <a:t>Tokenizer, başa [CLS], sona [SEP] özel kelimesini ekledi. Cünkü model bunlarla önceden eğitildi; çıkarımda aynı sonuçları almak için bunları eklememiz gerekir.</a:t>
            </a:r>
          </a:p>
          <a:p>
            <a:pPr algn="l">
              <a:lnSpc>
                <a:spcPts val="3177"/>
              </a:lnSpc>
            </a:pPr>
            <a:r>
              <a:rPr lang="en-US" sz="1986">
                <a:solidFill>
                  <a:srgbClr val="FFFFFF">
                    <a:alpha val="80000"/>
                  </a:srgbClr>
                </a:solidFill>
                <a:latin typeface="Source Sans Pro"/>
                <a:ea typeface="Source Sans Pro"/>
                <a:cs typeface="Source Sans Pro"/>
                <a:sym typeface="Source Sans Pro"/>
              </a:rPr>
              <a:t>Bazı modeller özel kelime eklemez veya farklılarını ekler; yalnızca başa veya yalnızca sona da ekleyebilirler. Her durumda tokenizer hangisinin beklendiğini bilir ve bunu senin yerine halleder.</a:t>
            </a:r>
          </a:p>
        </p:txBody>
      </p:sp>
      <p:sp>
        <p:nvSpPr>
          <p:cNvPr name="TextBox 4" id="4"/>
          <p:cNvSpPr txBox="true"/>
          <p:nvPr/>
        </p:nvSpPr>
        <p:spPr>
          <a:xfrm rot="0">
            <a:off x="905527" y="4379136"/>
            <a:ext cx="530078" cy="263786"/>
          </a:xfrm>
          <a:prstGeom prst="rect">
            <a:avLst/>
          </a:prstGeom>
        </p:spPr>
        <p:txBody>
          <a:bodyPr anchor="t" rtlCol="false" tIns="0" lIns="0" bIns="0" rIns="0">
            <a:spAutoFit/>
          </a:bodyPr>
          <a:lstStyle/>
          <a:p>
            <a:pPr algn="l">
              <a:lnSpc>
                <a:spcPts val="2047"/>
              </a:lnSpc>
            </a:pPr>
            <a:r>
              <a:rPr lang="en-US" sz="2047">
                <a:solidFill>
                  <a:srgbClr val="FFFFFF"/>
                </a:solidFill>
                <a:latin typeface="Source Sans Pro"/>
                <a:ea typeface="Source Sans Pro"/>
                <a:cs typeface="Source Sans Pro"/>
                <a:sym typeface="Source Sans Pro"/>
              </a:rPr>
              <a:t>Kod</a:t>
            </a:r>
          </a:p>
        </p:txBody>
      </p:sp>
      <p:sp>
        <p:nvSpPr>
          <p:cNvPr name="Freeform 5" id="5"/>
          <p:cNvSpPr/>
          <p:nvPr/>
        </p:nvSpPr>
        <p:spPr>
          <a:xfrm flipH="false" flipV="false" rot="0">
            <a:off x="1957866" y="4066699"/>
            <a:ext cx="15684804" cy="2798589"/>
          </a:xfrm>
          <a:custGeom>
            <a:avLst/>
            <a:gdLst/>
            <a:ahLst/>
            <a:cxnLst/>
            <a:rect r="r" b="b" t="t" l="l"/>
            <a:pathLst>
              <a:path h="2798589" w="15684804">
                <a:moveTo>
                  <a:pt x="0" y="0"/>
                </a:moveTo>
                <a:lnTo>
                  <a:pt x="15684804" y="0"/>
                </a:lnTo>
                <a:lnTo>
                  <a:pt x="15684804" y="2798589"/>
                </a:lnTo>
                <a:lnTo>
                  <a:pt x="0" y="2798589"/>
                </a:lnTo>
                <a:lnTo>
                  <a:pt x="0" y="0"/>
                </a:lnTo>
                <a:close/>
              </a:path>
            </a:pathLst>
          </a:custGeom>
          <a:blipFill>
            <a:blip r:embed="rId2"/>
            <a:stretch>
              <a:fillRect l="0" t="0" r="0" b="0"/>
            </a:stretch>
          </a:blipFill>
        </p:spPr>
      </p:sp>
      <p:sp>
        <p:nvSpPr>
          <p:cNvPr name="TextBox 6" id="6"/>
          <p:cNvSpPr txBox="true"/>
          <p:nvPr/>
        </p:nvSpPr>
        <p:spPr>
          <a:xfrm rot="0">
            <a:off x="2105834" y="4349780"/>
            <a:ext cx="9086880" cy="1989618"/>
          </a:xfrm>
          <a:prstGeom prst="rect">
            <a:avLst/>
          </a:prstGeom>
        </p:spPr>
        <p:txBody>
          <a:bodyPr anchor="t" rtlCol="false" tIns="0" lIns="0" bIns="0" rIns="0">
            <a:spAutoFit/>
          </a:bodyPr>
          <a:lstStyle/>
          <a:p>
            <a:pPr algn="l">
              <a:lnSpc>
                <a:spcPts val="2088"/>
              </a:lnSpc>
            </a:pPr>
            <a:r>
              <a:rPr lang="en-US" sz="1740" spc="-51">
                <a:solidFill>
                  <a:srgbClr val="FFFFFF">
                    <a:alpha val="80000"/>
                  </a:srgbClr>
                </a:solidFill>
                <a:latin typeface="Source Sans Pro"/>
                <a:ea typeface="Source Sans Pro"/>
                <a:cs typeface="Source Sans Pro"/>
                <a:sym typeface="Source Sans Pro"/>
              </a:rPr>
              <a:t>sequence = "I've been waiting for a Huggingface course my whole life."</a:t>
            </a:r>
          </a:p>
          <a:p>
            <a:pPr algn="l">
              <a:lnSpc>
                <a:spcPts val="2088"/>
              </a:lnSpc>
            </a:pPr>
          </a:p>
          <a:p>
            <a:pPr algn="l">
              <a:lnSpc>
                <a:spcPts val="2088"/>
              </a:lnSpc>
            </a:pPr>
            <a:r>
              <a:rPr lang="en-US" sz="1740" spc="-51">
                <a:solidFill>
                  <a:srgbClr val="FFFFFF">
                    <a:alpha val="80000"/>
                  </a:srgbClr>
                </a:solidFill>
                <a:latin typeface="Source Sans Pro"/>
                <a:ea typeface="Source Sans Pro"/>
                <a:cs typeface="Source Sans Pro"/>
                <a:sym typeface="Source Sans Pro"/>
              </a:rPr>
              <a:t>model inputs = tokenizer(sequence)</a:t>
            </a:r>
          </a:p>
          <a:p>
            <a:pPr algn="l">
              <a:lnSpc>
                <a:spcPts val="2088"/>
              </a:lnSpc>
            </a:pPr>
            <a:r>
              <a:rPr lang="en-US" sz="1740" spc="-51">
                <a:solidFill>
                  <a:srgbClr val="FFFFFF">
                    <a:alpha val="80000"/>
                  </a:srgbClr>
                </a:solidFill>
                <a:latin typeface="Source Sans Pro"/>
                <a:ea typeface="Source Sans Pro"/>
                <a:cs typeface="Source Sans Pro"/>
                <a:sym typeface="Source Sans Pro"/>
              </a:rPr>
              <a:t>print(model inputs["input_ids"]))</a:t>
            </a:r>
          </a:p>
          <a:p>
            <a:pPr algn="l">
              <a:lnSpc>
                <a:spcPts val="2088"/>
              </a:lnSpc>
            </a:pPr>
          </a:p>
          <a:p>
            <a:pPr algn="l">
              <a:lnSpc>
                <a:spcPts val="2088"/>
              </a:lnSpc>
            </a:pPr>
            <a:r>
              <a:rPr lang="en-US" sz="1740" spc="-51">
                <a:solidFill>
                  <a:srgbClr val="FFFFFF">
                    <a:alpha val="80000"/>
                  </a:srgbClr>
                </a:solidFill>
                <a:latin typeface="Source Sans Pro"/>
                <a:ea typeface="Source Sans Pro"/>
                <a:cs typeface="Source Sans Pro"/>
                <a:sym typeface="Source Sans Pro"/>
              </a:rPr>
              <a:t>tokens = tokenizer.tokenize(sequence)</a:t>
            </a:r>
          </a:p>
          <a:p>
            <a:pPr algn="l">
              <a:lnSpc>
                <a:spcPts val="2088"/>
              </a:lnSpc>
            </a:pPr>
            <a:r>
              <a:rPr lang="en-US" sz="1740" spc="-51">
                <a:solidFill>
                  <a:srgbClr val="FFFFFF">
                    <a:alpha val="80000"/>
                  </a:srgbClr>
                </a:solidFill>
                <a:latin typeface="Source Sans Pro"/>
                <a:ea typeface="Source Sans Pro"/>
                <a:cs typeface="Source Sans Pro"/>
                <a:sym typeface="Source Sans Pro"/>
              </a:rPr>
              <a:t>ids = tokenizer.convert tokens_to_ids(tokens)</a:t>
            </a:r>
          </a:p>
          <a:p>
            <a:pPr algn="l">
              <a:lnSpc>
                <a:spcPts val="2088"/>
              </a:lnSpc>
            </a:pPr>
            <a:r>
              <a:rPr lang="en-US" sz="1740" spc="-51">
                <a:solidFill>
                  <a:srgbClr val="FFFFFF">
                    <a:alpha val="80000"/>
                  </a:srgbClr>
                </a:solidFill>
                <a:latin typeface="Source Sans Pro"/>
                <a:ea typeface="Source Sans Pro"/>
                <a:cs typeface="Source Sans Pro"/>
                <a:sym typeface="Source Sans Pro"/>
              </a:rPr>
              <a:t>print(ids)</a:t>
            </a:r>
          </a:p>
        </p:txBody>
      </p:sp>
      <p:sp>
        <p:nvSpPr>
          <p:cNvPr name="TextBox 7" id="7"/>
          <p:cNvSpPr txBox="true"/>
          <p:nvPr/>
        </p:nvSpPr>
        <p:spPr>
          <a:xfrm rot="0">
            <a:off x="878007" y="6984662"/>
            <a:ext cx="603174" cy="263786"/>
          </a:xfrm>
          <a:prstGeom prst="rect">
            <a:avLst/>
          </a:prstGeom>
        </p:spPr>
        <p:txBody>
          <a:bodyPr anchor="t" rtlCol="false" tIns="0" lIns="0" bIns="0" rIns="0">
            <a:spAutoFit/>
          </a:bodyPr>
          <a:lstStyle/>
          <a:p>
            <a:pPr algn="l">
              <a:lnSpc>
                <a:spcPts val="2047"/>
              </a:lnSpc>
            </a:pPr>
            <a:r>
              <a:rPr lang="en-US" sz="2047">
                <a:solidFill>
                  <a:srgbClr val="FFFFFF"/>
                </a:solidFill>
                <a:latin typeface="Source Sans Pro"/>
                <a:ea typeface="Source Sans Pro"/>
                <a:cs typeface="Source Sans Pro"/>
                <a:sym typeface="Source Sans Pro"/>
              </a:rPr>
              <a:t>Çıktı</a:t>
            </a:r>
          </a:p>
        </p:txBody>
      </p:sp>
      <p:sp>
        <p:nvSpPr>
          <p:cNvPr name="Freeform 8" id="8"/>
          <p:cNvSpPr/>
          <p:nvPr/>
        </p:nvSpPr>
        <p:spPr>
          <a:xfrm flipH="false" flipV="false" rot="0">
            <a:off x="1957866" y="6635716"/>
            <a:ext cx="15684804" cy="1082267"/>
          </a:xfrm>
          <a:custGeom>
            <a:avLst/>
            <a:gdLst/>
            <a:ahLst/>
            <a:cxnLst/>
            <a:rect r="r" b="b" t="t" l="l"/>
            <a:pathLst>
              <a:path h="1082267" w="15684804">
                <a:moveTo>
                  <a:pt x="0" y="0"/>
                </a:moveTo>
                <a:lnTo>
                  <a:pt x="15684804" y="0"/>
                </a:lnTo>
                <a:lnTo>
                  <a:pt x="15684804" y="1082267"/>
                </a:lnTo>
                <a:lnTo>
                  <a:pt x="0" y="1082267"/>
                </a:lnTo>
                <a:lnTo>
                  <a:pt x="0" y="0"/>
                </a:lnTo>
                <a:close/>
              </a:path>
            </a:pathLst>
          </a:custGeom>
          <a:blipFill>
            <a:blip r:embed="rId3"/>
            <a:stretch>
              <a:fillRect l="0" t="0" r="0" b="0"/>
            </a:stretch>
          </a:blipFill>
        </p:spPr>
      </p:sp>
      <p:sp>
        <p:nvSpPr>
          <p:cNvPr name="TextBox 9" id="9"/>
          <p:cNvSpPr txBox="true"/>
          <p:nvPr/>
        </p:nvSpPr>
        <p:spPr>
          <a:xfrm rot="0">
            <a:off x="2063703" y="6945780"/>
            <a:ext cx="13300029" cy="535449"/>
          </a:xfrm>
          <a:prstGeom prst="rect">
            <a:avLst/>
          </a:prstGeom>
        </p:spPr>
        <p:txBody>
          <a:bodyPr anchor="t" rtlCol="false" tIns="0" lIns="0" bIns="0" rIns="0">
            <a:spAutoFit/>
          </a:bodyPr>
          <a:lstStyle/>
          <a:p>
            <a:pPr algn="l">
              <a:lnSpc>
                <a:spcPts val="2236"/>
              </a:lnSpc>
            </a:pPr>
            <a:r>
              <a:rPr lang="en-US" sz="1863" spc="-55">
                <a:solidFill>
                  <a:srgbClr val="FFFFFF">
                    <a:alpha val="80000"/>
                  </a:srgbClr>
                </a:solidFill>
                <a:latin typeface="Source Sans Pro"/>
                <a:ea typeface="Source Sans Pro"/>
                <a:cs typeface="Source Sans Pro"/>
                <a:sym typeface="Source Sans Pro"/>
              </a:rPr>
              <a:t>[101, 1045, 1005, 2310, 2042, 3403, 2005, 1037, 17662, 12172, 2607, 2026, 2878, 2166, 1012, 102]</a:t>
            </a:r>
          </a:p>
          <a:p>
            <a:pPr algn="l">
              <a:lnSpc>
                <a:spcPts val="2236"/>
              </a:lnSpc>
            </a:pPr>
            <a:r>
              <a:rPr lang="en-US" sz="1863" spc="-55">
                <a:solidFill>
                  <a:srgbClr val="FFFFFF">
                    <a:alpha val="80000"/>
                  </a:srgbClr>
                </a:solidFill>
                <a:latin typeface="Source Sans Pro"/>
                <a:ea typeface="Source Sans Pro"/>
                <a:cs typeface="Source Sans Pro"/>
                <a:sym typeface="Source Sans Pro"/>
              </a:rPr>
              <a:t>[1045, 1005, 2310, 2042, 3403, 2005, 1037, 17662, 12172, 2607, 2026, 2878, 2166, 1012]</a:t>
            </a:r>
          </a:p>
        </p:txBody>
      </p:sp>
      <p:sp>
        <p:nvSpPr>
          <p:cNvPr name="TextBox 10" id="10"/>
          <p:cNvSpPr txBox="true"/>
          <p:nvPr/>
        </p:nvSpPr>
        <p:spPr>
          <a:xfrm rot="0">
            <a:off x="905527" y="8038920"/>
            <a:ext cx="530078" cy="263786"/>
          </a:xfrm>
          <a:prstGeom prst="rect">
            <a:avLst/>
          </a:prstGeom>
        </p:spPr>
        <p:txBody>
          <a:bodyPr anchor="t" rtlCol="false" tIns="0" lIns="0" bIns="0" rIns="0">
            <a:spAutoFit/>
          </a:bodyPr>
          <a:lstStyle/>
          <a:p>
            <a:pPr algn="l">
              <a:lnSpc>
                <a:spcPts val="2047"/>
              </a:lnSpc>
            </a:pPr>
            <a:r>
              <a:rPr lang="en-US" sz="2047">
                <a:solidFill>
                  <a:srgbClr val="FFFFFF"/>
                </a:solidFill>
                <a:latin typeface="Source Sans Pro"/>
                <a:ea typeface="Source Sans Pro"/>
                <a:cs typeface="Source Sans Pro"/>
                <a:sym typeface="Source Sans Pro"/>
              </a:rPr>
              <a:t>Kod</a:t>
            </a:r>
          </a:p>
        </p:txBody>
      </p:sp>
      <p:sp>
        <p:nvSpPr>
          <p:cNvPr name="Freeform 11" id="11"/>
          <p:cNvSpPr/>
          <p:nvPr/>
        </p:nvSpPr>
        <p:spPr>
          <a:xfrm flipH="false" flipV="false" rot="0">
            <a:off x="1957866" y="7707051"/>
            <a:ext cx="15684804" cy="1082267"/>
          </a:xfrm>
          <a:custGeom>
            <a:avLst/>
            <a:gdLst/>
            <a:ahLst/>
            <a:cxnLst/>
            <a:rect r="r" b="b" t="t" l="l"/>
            <a:pathLst>
              <a:path h="1082267" w="15684804">
                <a:moveTo>
                  <a:pt x="0" y="0"/>
                </a:moveTo>
                <a:lnTo>
                  <a:pt x="15684804" y="0"/>
                </a:lnTo>
                <a:lnTo>
                  <a:pt x="15684804" y="1082267"/>
                </a:lnTo>
                <a:lnTo>
                  <a:pt x="0" y="1082267"/>
                </a:lnTo>
                <a:lnTo>
                  <a:pt x="0" y="0"/>
                </a:lnTo>
                <a:close/>
              </a:path>
            </a:pathLst>
          </a:custGeom>
          <a:blipFill>
            <a:blip r:embed="rId4"/>
            <a:stretch>
              <a:fillRect l="0" t="0" r="0" b="0"/>
            </a:stretch>
          </a:blipFill>
        </p:spPr>
      </p:sp>
      <p:sp>
        <p:nvSpPr>
          <p:cNvPr name="TextBox 12" id="12"/>
          <p:cNvSpPr txBox="true"/>
          <p:nvPr/>
        </p:nvSpPr>
        <p:spPr>
          <a:xfrm rot="0">
            <a:off x="2127432" y="8000039"/>
            <a:ext cx="6927099" cy="535449"/>
          </a:xfrm>
          <a:prstGeom prst="rect">
            <a:avLst/>
          </a:prstGeom>
        </p:spPr>
        <p:txBody>
          <a:bodyPr anchor="t" rtlCol="false" tIns="0" lIns="0" bIns="0" rIns="0">
            <a:spAutoFit/>
          </a:bodyPr>
          <a:lstStyle/>
          <a:p>
            <a:pPr algn="l">
              <a:lnSpc>
                <a:spcPts val="2236"/>
              </a:lnSpc>
            </a:pPr>
            <a:r>
              <a:rPr lang="en-US" sz="1863" spc="-55">
                <a:solidFill>
                  <a:srgbClr val="FFFFFF">
                    <a:alpha val="80000"/>
                  </a:srgbClr>
                </a:solidFill>
                <a:latin typeface="Source Sans Pro"/>
                <a:ea typeface="Source Sans Pro"/>
                <a:cs typeface="Source Sans Pro"/>
                <a:sym typeface="Source Sans Pro"/>
              </a:rPr>
              <a:t>print(tokenizer.decode(model inputs["input_ids"]))</a:t>
            </a:r>
          </a:p>
          <a:p>
            <a:pPr algn="l">
              <a:lnSpc>
                <a:spcPts val="2236"/>
              </a:lnSpc>
            </a:pPr>
            <a:r>
              <a:rPr lang="en-US" sz="1863" spc="-55">
                <a:solidFill>
                  <a:srgbClr val="FFFFFF">
                    <a:alpha val="80000"/>
                  </a:srgbClr>
                </a:solidFill>
                <a:latin typeface="Source Sans Pro"/>
                <a:ea typeface="Source Sans Pro"/>
                <a:cs typeface="Source Sans Pro"/>
                <a:sym typeface="Source Sans Pro"/>
              </a:rPr>
              <a:t>print(tokenizer.decode(ids))</a:t>
            </a:r>
          </a:p>
        </p:txBody>
      </p:sp>
      <p:sp>
        <p:nvSpPr>
          <p:cNvPr name="TextBox 13" id="13"/>
          <p:cNvSpPr txBox="true"/>
          <p:nvPr/>
        </p:nvSpPr>
        <p:spPr>
          <a:xfrm rot="0">
            <a:off x="878007" y="9032936"/>
            <a:ext cx="603174" cy="263786"/>
          </a:xfrm>
          <a:prstGeom prst="rect">
            <a:avLst/>
          </a:prstGeom>
        </p:spPr>
        <p:txBody>
          <a:bodyPr anchor="t" rtlCol="false" tIns="0" lIns="0" bIns="0" rIns="0">
            <a:spAutoFit/>
          </a:bodyPr>
          <a:lstStyle/>
          <a:p>
            <a:pPr algn="l">
              <a:lnSpc>
                <a:spcPts val="2047"/>
              </a:lnSpc>
            </a:pPr>
            <a:r>
              <a:rPr lang="en-US" sz="2047">
                <a:solidFill>
                  <a:srgbClr val="FFFFFF"/>
                </a:solidFill>
                <a:latin typeface="Source Sans Pro"/>
                <a:ea typeface="Source Sans Pro"/>
                <a:cs typeface="Source Sans Pro"/>
                <a:sym typeface="Source Sans Pro"/>
              </a:rPr>
              <a:t>Çıktı</a:t>
            </a:r>
          </a:p>
        </p:txBody>
      </p:sp>
      <p:sp>
        <p:nvSpPr>
          <p:cNvPr name="Freeform 14" id="14"/>
          <p:cNvSpPr/>
          <p:nvPr/>
        </p:nvSpPr>
        <p:spPr>
          <a:xfrm flipH="false" flipV="false" rot="0">
            <a:off x="1957866" y="8778386"/>
            <a:ext cx="15684804" cy="1082267"/>
          </a:xfrm>
          <a:custGeom>
            <a:avLst/>
            <a:gdLst/>
            <a:ahLst/>
            <a:cxnLst/>
            <a:rect r="r" b="b" t="t" l="l"/>
            <a:pathLst>
              <a:path h="1082267" w="15684804">
                <a:moveTo>
                  <a:pt x="0" y="0"/>
                </a:moveTo>
                <a:lnTo>
                  <a:pt x="15684804" y="0"/>
                </a:lnTo>
                <a:lnTo>
                  <a:pt x="15684804" y="1082266"/>
                </a:lnTo>
                <a:lnTo>
                  <a:pt x="0" y="1082266"/>
                </a:lnTo>
                <a:lnTo>
                  <a:pt x="0" y="0"/>
                </a:lnTo>
                <a:close/>
              </a:path>
            </a:pathLst>
          </a:custGeom>
          <a:blipFill>
            <a:blip r:embed="rId5"/>
            <a:stretch>
              <a:fillRect l="0" t="0" r="0" b="0"/>
            </a:stretch>
          </a:blipFill>
        </p:spPr>
      </p:sp>
      <p:sp>
        <p:nvSpPr>
          <p:cNvPr name="TextBox 15" id="15"/>
          <p:cNvSpPr txBox="true"/>
          <p:nvPr/>
        </p:nvSpPr>
        <p:spPr>
          <a:xfrm rot="0">
            <a:off x="2098335" y="8994055"/>
            <a:ext cx="9836836" cy="535449"/>
          </a:xfrm>
          <a:prstGeom prst="rect">
            <a:avLst/>
          </a:prstGeom>
        </p:spPr>
        <p:txBody>
          <a:bodyPr anchor="t" rtlCol="false" tIns="0" lIns="0" bIns="0" rIns="0">
            <a:spAutoFit/>
          </a:bodyPr>
          <a:lstStyle/>
          <a:p>
            <a:pPr algn="l">
              <a:lnSpc>
                <a:spcPts val="2236"/>
              </a:lnSpc>
            </a:pPr>
            <a:r>
              <a:rPr lang="en-US" sz="1863" spc="-55">
                <a:solidFill>
                  <a:srgbClr val="FFFFFF">
                    <a:alpha val="80000"/>
                  </a:srgbClr>
                </a:solidFill>
                <a:latin typeface="Source Sans Pro"/>
                <a:ea typeface="Source Sans Pro"/>
                <a:cs typeface="Source Sans Pro"/>
                <a:sym typeface="Source Sans Pro"/>
              </a:rPr>
              <a:t>"[CLS] i've been waiting for a huggingface course my whole life. [SEP]"</a:t>
            </a:r>
          </a:p>
          <a:p>
            <a:pPr algn="l">
              <a:lnSpc>
                <a:spcPts val="2236"/>
              </a:lnSpc>
            </a:pPr>
            <a:r>
              <a:rPr lang="en-US" sz="1863" spc="-55">
                <a:solidFill>
                  <a:srgbClr val="FFFFFF">
                    <a:alpha val="80000"/>
                  </a:srgbClr>
                </a:solidFill>
                <a:latin typeface="Source Sans Pro"/>
                <a:ea typeface="Source Sans Pro"/>
                <a:cs typeface="Source Sans Pro"/>
                <a:sym typeface="Source Sans Pro"/>
              </a:rPr>
              <a:t>"i've been waiting for a huggingface course my whole life."</a:t>
            </a:r>
          </a:p>
        </p:txBody>
      </p:sp>
      <p:sp>
        <p:nvSpPr>
          <p:cNvPr name="Freeform 16" id="16"/>
          <p:cNvSpPr/>
          <p:nvPr/>
        </p:nvSpPr>
        <p:spPr>
          <a:xfrm flipH="false" flipV="false" rot="0">
            <a:off x="-2779455" y="5650270"/>
            <a:ext cx="10926020" cy="9273459"/>
          </a:xfrm>
          <a:custGeom>
            <a:avLst/>
            <a:gdLst/>
            <a:ahLst/>
            <a:cxnLst/>
            <a:rect r="r" b="b" t="t" l="l"/>
            <a:pathLst>
              <a:path h="9273459" w="10926020">
                <a:moveTo>
                  <a:pt x="0" y="0"/>
                </a:moveTo>
                <a:lnTo>
                  <a:pt x="10926020" y="0"/>
                </a:lnTo>
                <a:lnTo>
                  <a:pt x="10926020" y="9273460"/>
                </a:lnTo>
                <a:lnTo>
                  <a:pt x="0" y="9273460"/>
                </a:lnTo>
                <a:lnTo>
                  <a:pt x="0" y="0"/>
                </a:lnTo>
                <a:close/>
              </a:path>
            </a:pathLst>
          </a:custGeom>
          <a:blipFill>
            <a:blip r:embed="rId6"/>
            <a:stretch>
              <a:fillRect l="0" t="0" r="0" b="0"/>
            </a:stretch>
          </a:blipFill>
        </p:spPr>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bg>
      <p:bgPr>
        <a:solidFill>
          <a:srgbClr val="1F0034"/>
        </a:solidFill>
      </p:bgPr>
    </p:bg>
    <p:spTree>
      <p:nvGrpSpPr>
        <p:cNvPr id="1" name=""/>
        <p:cNvGrpSpPr/>
        <p:nvPr/>
      </p:nvGrpSpPr>
      <p:grpSpPr>
        <a:xfrm>
          <a:off x="0" y="0"/>
          <a:ext cx="0" cy="0"/>
          <a:chOff x="0" y="0"/>
          <a:chExt cx="0" cy="0"/>
        </a:xfrm>
      </p:grpSpPr>
      <p:sp>
        <p:nvSpPr>
          <p:cNvPr name="TextBox 2" id="2"/>
          <p:cNvSpPr txBox="true"/>
          <p:nvPr/>
        </p:nvSpPr>
        <p:spPr>
          <a:xfrm rot="0">
            <a:off x="603905" y="2555009"/>
            <a:ext cx="6582120" cy="1716882"/>
          </a:xfrm>
          <a:prstGeom prst="rect">
            <a:avLst/>
          </a:prstGeom>
        </p:spPr>
        <p:txBody>
          <a:bodyPr anchor="t" rtlCol="false" tIns="0" lIns="0" bIns="0" rIns="0">
            <a:spAutoFit/>
          </a:bodyPr>
          <a:lstStyle/>
          <a:p>
            <a:pPr algn="l">
              <a:lnSpc>
                <a:spcPts val="6855"/>
              </a:lnSpc>
            </a:pPr>
            <a:r>
              <a:rPr lang="en-US" sz="5484" spc="-219" b="true">
                <a:solidFill>
                  <a:srgbClr val="F8F8F8"/>
                </a:solidFill>
                <a:latin typeface="Source Sans Pro Bold"/>
                <a:ea typeface="Source Sans Pro Bold"/>
                <a:cs typeface="Source Sans Pro Bold"/>
                <a:sym typeface="Source Sans Pro Bold"/>
              </a:rPr>
              <a:t>Wrapping up: From tokenizer to model</a:t>
            </a:r>
          </a:p>
        </p:txBody>
      </p:sp>
      <p:sp>
        <p:nvSpPr>
          <p:cNvPr name="TextBox 3" id="3"/>
          <p:cNvSpPr txBox="true"/>
          <p:nvPr/>
        </p:nvSpPr>
        <p:spPr>
          <a:xfrm rot="0">
            <a:off x="601122" y="4804673"/>
            <a:ext cx="6860476" cy="793421"/>
          </a:xfrm>
          <a:prstGeom prst="rect">
            <a:avLst/>
          </a:prstGeom>
        </p:spPr>
        <p:txBody>
          <a:bodyPr anchor="t" rtlCol="false" tIns="0" lIns="0" bIns="0" rIns="0">
            <a:spAutoFit/>
          </a:bodyPr>
          <a:lstStyle/>
          <a:p>
            <a:pPr algn="l">
              <a:lnSpc>
                <a:spcPts val="3275"/>
              </a:lnSpc>
            </a:pPr>
            <a:r>
              <a:rPr lang="en-US" sz="2047" spc="-19">
                <a:solidFill>
                  <a:srgbClr val="F8F8F8">
                    <a:alpha val="84706"/>
                  </a:srgbClr>
                </a:solidFill>
                <a:latin typeface="Source Sans Pro"/>
                <a:ea typeface="Source Sans Pro"/>
                <a:cs typeface="Source Sans Pro"/>
                <a:sym typeface="Source Sans Pro"/>
              </a:rPr>
              <a:t>Tokenizer nesnesinin metinlere uygulandığında yaptığı tüm tekil adımları gördük.</a:t>
            </a:r>
          </a:p>
        </p:txBody>
      </p:sp>
      <p:sp>
        <p:nvSpPr>
          <p:cNvPr name="TextBox 4" id="4"/>
          <p:cNvSpPr txBox="true"/>
          <p:nvPr/>
        </p:nvSpPr>
        <p:spPr>
          <a:xfrm rot="0">
            <a:off x="601684" y="6009540"/>
            <a:ext cx="6804281" cy="1203968"/>
          </a:xfrm>
          <a:prstGeom prst="rect">
            <a:avLst/>
          </a:prstGeom>
        </p:spPr>
        <p:txBody>
          <a:bodyPr anchor="t" rtlCol="false" tIns="0" lIns="0" bIns="0" rIns="0">
            <a:spAutoFit/>
          </a:bodyPr>
          <a:lstStyle/>
          <a:p>
            <a:pPr algn="l">
              <a:lnSpc>
                <a:spcPts val="3275"/>
              </a:lnSpc>
            </a:pPr>
            <a:r>
              <a:rPr lang="en-US" sz="2047" spc="-19">
                <a:solidFill>
                  <a:srgbClr val="F8F8F8">
                    <a:alpha val="84706"/>
                  </a:srgbClr>
                </a:solidFill>
                <a:latin typeface="Source Sans Pro"/>
                <a:ea typeface="Source Sans Pro"/>
                <a:cs typeface="Source Sans Pro"/>
                <a:sym typeface="Source Sans Pro"/>
              </a:rPr>
              <a:t>Son olarak, ana API'siyle birden fazla diziyi (padding!), çok uzun dizileri (truncation!) ve birden fazla tensor türünü nasıl işlediğine bir kez daha bakalım.</a:t>
            </a:r>
          </a:p>
        </p:txBody>
      </p:sp>
      <p:sp>
        <p:nvSpPr>
          <p:cNvPr name="Freeform 5" id="5"/>
          <p:cNvSpPr/>
          <p:nvPr/>
        </p:nvSpPr>
        <p:spPr>
          <a:xfrm flipH="false" flipV="false" rot="0">
            <a:off x="7831464" y="2776725"/>
            <a:ext cx="10248718" cy="4941258"/>
          </a:xfrm>
          <a:custGeom>
            <a:avLst/>
            <a:gdLst/>
            <a:ahLst/>
            <a:cxnLst/>
            <a:rect r="r" b="b" t="t" l="l"/>
            <a:pathLst>
              <a:path h="4941258" w="10248718">
                <a:moveTo>
                  <a:pt x="0" y="0"/>
                </a:moveTo>
                <a:lnTo>
                  <a:pt x="10248718" y="0"/>
                </a:lnTo>
                <a:lnTo>
                  <a:pt x="10248718" y="4941258"/>
                </a:lnTo>
                <a:lnTo>
                  <a:pt x="0" y="4941258"/>
                </a:lnTo>
                <a:lnTo>
                  <a:pt x="0" y="0"/>
                </a:lnTo>
                <a:close/>
              </a:path>
            </a:pathLst>
          </a:custGeom>
          <a:blipFill>
            <a:blip r:embed="rId2"/>
            <a:stretch>
              <a:fillRect l="0" t="0" r="0" b="0"/>
            </a:stretch>
          </a:blipFill>
        </p:spPr>
      </p:sp>
      <p:sp>
        <p:nvSpPr>
          <p:cNvPr name="TextBox 6" id="6"/>
          <p:cNvSpPr txBox="true"/>
          <p:nvPr/>
        </p:nvSpPr>
        <p:spPr>
          <a:xfrm rot="0">
            <a:off x="8083888" y="3484223"/>
            <a:ext cx="8677569" cy="329684"/>
          </a:xfrm>
          <a:prstGeom prst="rect">
            <a:avLst/>
          </a:prstGeom>
        </p:spPr>
        <p:txBody>
          <a:bodyPr anchor="t" rtlCol="false" tIns="0" lIns="0" bIns="0" rIns="0">
            <a:spAutoFit/>
          </a:bodyPr>
          <a:lstStyle/>
          <a:p>
            <a:pPr algn="just">
              <a:lnSpc>
                <a:spcPts val="2953"/>
              </a:lnSpc>
            </a:pPr>
            <a:r>
              <a:rPr lang="en-US" sz="1476" spc="-59">
                <a:solidFill>
                  <a:srgbClr val="F8F8F8">
                    <a:alpha val="84706"/>
                  </a:srgbClr>
                </a:solidFill>
                <a:latin typeface="Source Sans Pro"/>
                <a:ea typeface="Source Sans Pro"/>
                <a:cs typeface="Source Sans Pro"/>
                <a:sym typeface="Source Sans Pro"/>
              </a:rPr>
              <a:t>from transformers import AutoTokenizer, AutoModelForSequenceClassification</a:t>
            </a:r>
          </a:p>
        </p:txBody>
      </p:sp>
      <p:sp>
        <p:nvSpPr>
          <p:cNvPr name="TextBox 7" id="7"/>
          <p:cNvSpPr txBox="true"/>
          <p:nvPr/>
        </p:nvSpPr>
        <p:spPr>
          <a:xfrm rot="0">
            <a:off x="8097960" y="4327630"/>
            <a:ext cx="7270397" cy="329684"/>
          </a:xfrm>
          <a:prstGeom prst="rect">
            <a:avLst/>
          </a:prstGeom>
        </p:spPr>
        <p:txBody>
          <a:bodyPr anchor="t" rtlCol="false" tIns="0" lIns="0" bIns="0" rIns="0">
            <a:spAutoFit/>
          </a:bodyPr>
          <a:lstStyle/>
          <a:p>
            <a:pPr algn="just">
              <a:lnSpc>
                <a:spcPts val="2953"/>
              </a:lnSpc>
            </a:pPr>
            <a:r>
              <a:rPr lang="en-US" sz="1476" spc="-59">
                <a:solidFill>
                  <a:srgbClr val="F8F8F8">
                    <a:alpha val="84706"/>
                  </a:srgbClr>
                </a:solidFill>
                <a:latin typeface="Source Sans Pro"/>
                <a:ea typeface="Source Sans Pro"/>
                <a:cs typeface="Source Sans Pro"/>
                <a:sym typeface="Source Sans Pro"/>
              </a:rPr>
              <a:t>checkpoint = "distilbert-base-uncased-finetuned-sst-2-english"</a:t>
            </a:r>
          </a:p>
        </p:txBody>
      </p:sp>
      <p:sp>
        <p:nvSpPr>
          <p:cNvPr name="TextBox 8" id="8"/>
          <p:cNvSpPr txBox="true"/>
          <p:nvPr/>
        </p:nvSpPr>
        <p:spPr>
          <a:xfrm rot="0">
            <a:off x="8108514" y="4734273"/>
            <a:ext cx="6215018" cy="329684"/>
          </a:xfrm>
          <a:prstGeom prst="rect">
            <a:avLst/>
          </a:prstGeom>
        </p:spPr>
        <p:txBody>
          <a:bodyPr anchor="t" rtlCol="false" tIns="0" lIns="0" bIns="0" rIns="0">
            <a:spAutoFit/>
          </a:bodyPr>
          <a:lstStyle/>
          <a:p>
            <a:pPr algn="just">
              <a:lnSpc>
                <a:spcPts val="2953"/>
              </a:lnSpc>
            </a:pPr>
            <a:r>
              <a:rPr lang="en-US" sz="1476" spc="-59">
                <a:solidFill>
                  <a:srgbClr val="F8F8F8">
                    <a:alpha val="84706"/>
                  </a:srgbClr>
                </a:solidFill>
                <a:latin typeface="Source Sans Pro"/>
                <a:ea typeface="Source Sans Pro"/>
                <a:cs typeface="Source Sans Pro"/>
                <a:sym typeface="Source Sans Pro"/>
              </a:rPr>
              <a:t>tokenizer = AutoTokenizer.from_pretrained(checkpoint)</a:t>
            </a:r>
          </a:p>
        </p:txBody>
      </p:sp>
      <p:sp>
        <p:nvSpPr>
          <p:cNvPr name="TextBox 9" id="9"/>
          <p:cNvSpPr txBox="true"/>
          <p:nvPr/>
        </p:nvSpPr>
        <p:spPr>
          <a:xfrm rot="0">
            <a:off x="8089752" y="5155976"/>
            <a:ext cx="8091247" cy="329684"/>
          </a:xfrm>
          <a:prstGeom prst="rect">
            <a:avLst/>
          </a:prstGeom>
        </p:spPr>
        <p:txBody>
          <a:bodyPr anchor="t" rtlCol="false" tIns="0" lIns="0" bIns="0" rIns="0">
            <a:spAutoFit/>
          </a:bodyPr>
          <a:lstStyle/>
          <a:p>
            <a:pPr algn="just">
              <a:lnSpc>
                <a:spcPts val="2953"/>
              </a:lnSpc>
            </a:pPr>
            <a:r>
              <a:rPr lang="en-US" sz="1476" spc="-59">
                <a:solidFill>
                  <a:srgbClr val="F8F8F8">
                    <a:alpha val="84706"/>
                  </a:srgbClr>
                </a:solidFill>
                <a:latin typeface="Source Sans Pro"/>
                <a:ea typeface="Source Sans Pro"/>
                <a:cs typeface="Source Sans Pro"/>
                <a:sym typeface="Source Sans Pro"/>
              </a:rPr>
              <a:t>model = AutoModelForSequenceClassification.fromPretrained(checkpoint)</a:t>
            </a:r>
          </a:p>
        </p:txBody>
      </p:sp>
      <p:sp>
        <p:nvSpPr>
          <p:cNvPr name="TextBox 10" id="10"/>
          <p:cNvSpPr txBox="true"/>
          <p:nvPr/>
        </p:nvSpPr>
        <p:spPr>
          <a:xfrm rot="0">
            <a:off x="8074491" y="5777304"/>
            <a:ext cx="9617272" cy="327899"/>
          </a:xfrm>
          <a:prstGeom prst="rect">
            <a:avLst/>
          </a:prstGeom>
        </p:spPr>
        <p:txBody>
          <a:bodyPr anchor="t" rtlCol="false" tIns="0" lIns="0" bIns="0" rIns="0">
            <a:spAutoFit/>
          </a:bodyPr>
          <a:lstStyle/>
          <a:p>
            <a:pPr algn="just">
              <a:lnSpc>
                <a:spcPts val="2988"/>
              </a:lnSpc>
            </a:pPr>
            <a:r>
              <a:rPr lang="en-US" sz="1494" spc="-59">
                <a:solidFill>
                  <a:srgbClr val="F8F8F8">
                    <a:alpha val="84706"/>
                  </a:srgbClr>
                </a:solidFill>
                <a:latin typeface="Source Sans Pro"/>
                <a:ea typeface="Source Sans Pro"/>
                <a:cs typeface="Source Sans Pro"/>
                <a:sym typeface="Source Sans Pro"/>
              </a:rPr>
              <a:t>sequences = ["I've been waiting for a HuggingFace course my whole life.", "So have I !”]</a:t>
            </a:r>
          </a:p>
        </p:txBody>
      </p:sp>
      <p:sp>
        <p:nvSpPr>
          <p:cNvPr name="TextBox 11" id="11"/>
          <p:cNvSpPr txBox="true"/>
          <p:nvPr/>
        </p:nvSpPr>
        <p:spPr>
          <a:xfrm rot="0">
            <a:off x="8075680" y="6481330"/>
            <a:ext cx="9498420" cy="329684"/>
          </a:xfrm>
          <a:prstGeom prst="rect">
            <a:avLst/>
          </a:prstGeom>
        </p:spPr>
        <p:txBody>
          <a:bodyPr anchor="t" rtlCol="false" tIns="0" lIns="0" bIns="0" rIns="0">
            <a:spAutoFit/>
          </a:bodyPr>
          <a:lstStyle/>
          <a:p>
            <a:pPr algn="just">
              <a:lnSpc>
                <a:spcPts val="2953"/>
              </a:lnSpc>
            </a:pPr>
            <a:r>
              <a:rPr lang="en-US" sz="1476" spc="-59">
                <a:solidFill>
                  <a:srgbClr val="F8F8F8">
                    <a:alpha val="84706"/>
                  </a:srgbClr>
                </a:solidFill>
                <a:latin typeface="Source Sans Pro"/>
                <a:ea typeface="Source Sans Pro"/>
                <a:cs typeface="Source Sans Pro"/>
                <a:sym typeface="Source Sans Pro"/>
              </a:rPr>
              <a:t>tokens = tokenizer(sequences, padding=True, truncation=True, return_tensors="pt")</a:t>
            </a:r>
          </a:p>
        </p:txBody>
      </p:sp>
      <p:sp>
        <p:nvSpPr>
          <p:cNvPr name="TextBox 12" id="12"/>
          <p:cNvSpPr txBox="true"/>
          <p:nvPr/>
        </p:nvSpPr>
        <p:spPr>
          <a:xfrm rot="0">
            <a:off x="8142521" y="6887973"/>
            <a:ext cx="2814348" cy="329684"/>
          </a:xfrm>
          <a:prstGeom prst="rect">
            <a:avLst/>
          </a:prstGeom>
        </p:spPr>
        <p:txBody>
          <a:bodyPr anchor="t" rtlCol="false" tIns="0" lIns="0" bIns="0" rIns="0">
            <a:spAutoFit/>
          </a:bodyPr>
          <a:lstStyle/>
          <a:p>
            <a:pPr algn="just">
              <a:lnSpc>
                <a:spcPts val="2953"/>
              </a:lnSpc>
            </a:pPr>
            <a:r>
              <a:rPr lang="en-US" sz="1476" spc="-59">
                <a:solidFill>
                  <a:srgbClr val="F8F8F8">
                    <a:alpha val="84706"/>
                  </a:srgbClr>
                </a:solidFill>
                <a:latin typeface="Source Sans Pro"/>
                <a:ea typeface="Source Sans Pro"/>
                <a:cs typeface="Source Sans Pro"/>
                <a:sym typeface="Source Sans Pro"/>
              </a:rPr>
              <a:t>output = model(**tokens)</a:t>
            </a:r>
          </a:p>
        </p:txBody>
      </p:sp>
      <p:sp>
        <p:nvSpPr>
          <p:cNvPr name="TextBox 13" id="13"/>
          <p:cNvSpPr txBox="true"/>
          <p:nvPr/>
        </p:nvSpPr>
        <p:spPr>
          <a:xfrm rot="0">
            <a:off x="8156592" y="3047459"/>
            <a:ext cx="1407174" cy="329684"/>
          </a:xfrm>
          <a:prstGeom prst="rect">
            <a:avLst/>
          </a:prstGeom>
        </p:spPr>
        <p:txBody>
          <a:bodyPr anchor="t" rtlCol="false" tIns="0" lIns="0" bIns="0" rIns="0">
            <a:spAutoFit/>
          </a:bodyPr>
          <a:lstStyle/>
          <a:p>
            <a:pPr algn="just">
              <a:lnSpc>
                <a:spcPts val="2953"/>
              </a:lnSpc>
            </a:pPr>
            <a:r>
              <a:rPr lang="en-US" sz="1476" spc="-59">
                <a:solidFill>
                  <a:srgbClr val="F8F8F8">
                    <a:alpha val="84706"/>
                  </a:srgbClr>
                </a:solidFill>
                <a:latin typeface="Source Sans Pro"/>
                <a:ea typeface="Source Sans Pro"/>
                <a:cs typeface="Source Sans Pro"/>
                <a:sym typeface="Source Sans Pro"/>
              </a:rPr>
              <a:t>import torch</a:t>
            </a:r>
          </a:p>
        </p:txBody>
      </p:sp>
      <p:sp>
        <p:nvSpPr>
          <p:cNvPr name="Freeform 14" id="14"/>
          <p:cNvSpPr/>
          <p:nvPr/>
        </p:nvSpPr>
        <p:spPr>
          <a:xfrm flipH="false" flipV="false" rot="0">
            <a:off x="-3739995" y="-3279819"/>
            <a:ext cx="10926020" cy="9273459"/>
          </a:xfrm>
          <a:custGeom>
            <a:avLst/>
            <a:gdLst/>
            <a:ahLst/>
            <a:cxnLst/>
            <a:rect r="r" b="b" t="t" l="l"/>
            <a:pathLst>
              <a:path h="9273459" w="10926020">
                <a:moveTo>
                  <a:pt x="0" y="0"/>
                </a:moveTo>
                <a:lnTo>
                  <a:pt x="10926020" y="0"/>
                </a:lnTo>
                <a:lnTo>
                  <a:pt x="10926020" y="9273460"/>
                </a:lnTo>
                <a:lnTo>
                  <a:pt x="0" y="9273460"/>
                </a:lnTo>
                <a:lnTo>
                  <a:pt x="0" y="0"/>
                </a:lnTo>
                <a:close/>
              </a:path>
            </a:pathLst>
          </a:custGeom>
          <a:blipFill>
            <a:blip r:embed="rId3"/>
            <a:stretch>
              <a:fillRect l="0" t="0" r="0" b="0"/>
            </a:stretch>
          </a:blipFill>
        </p:spPr>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bg>
      <p:bgPr>
        <a:solidFill>
          <a:srgbClr val="1F0034"/>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2693623"/>
            <a:ext cx="16230600" cy="6493884"/>
          </a:xfrm>
          <a:custGeom>
            <a:avLst/>
            <a:gdLst/>
            <a:ahLst/>
            <a:cxnLst/>
            <a:rect r="r" b="b" t="t" l="l"/>
            <a:pathLst>
              <a:path h="6493884" w="16230600">
                <a:moveTo>
                  <a:pt x="0" y="0"/>
                </a:moveTo>
                <a:lnTo>
                  <a:pt x="16230600" y="0"/>
                </a:lnTo>
                <a:lnTo>
                  <a:pt x="16230600" y="6493884"/>
                </a:lnTo>
                <a:lnTo>
                  <a:pt x="0" y="6493884"/>
                </a:lnTo>
                <a:lnTo>
                  <a:pt x="0" y="0"/>
                </a:lnTo>
                <a:close/>
              </a:path>
            </a:pathLst>
          </a:custGeom>
          <a:blipFill>
            <a:blip r:embed="rId2"/>
            <a:stretch>
              <a:fillRect l="0" t="0" r="0" b="0"/>
            </a:stretch>
          </a:blipFill>
        </p:spPr>
      </p:sp>
      <p:pic>
        <p:nvPicPr>
          <p:cNvPr name="Picture 3" id="3">
            <a:hlinkClick action="ppaction://media"/>
          </p:cNvPr>
          <p:cNvPicPr>
            <a:picLocks noChangeAspect="true"/>
          </p:cNvPicPr>
          <p:nvPr>
            <a:videoFile r:link="rId4"/>
            <p:extLst>
              <p:ext uri="{DAA4B4D4-6D71-4841-9C94-3DE7FCFB9230}">
                <p14:media xmlns:p14="http://schemas.microsoft.com/office/powerpoint/2010/main" r:embed="rId5"/>
              </p:ext>
            </p:extLst>
          </p:nvPr>
        </p:nvPicPr>
        <p:blipFill>
          <a:blip r:embed="rId3"/>
          <a:srcRect l="0" t="0" r="0" b="0"/>
          <a:stretch>
            <a:fillRect/>
          </a:stretch>
        </p:blipFill>
        <p:spPr>
          <a:xfrm flipH="false" flipV="false" rot="0">
            <a:off x="1461481" y="3463114"/>
            <a:ext cx="15365038" cy="4954902"/>
          </a:xfrm>
          <a:prstGeom prst="rect">
            <a:avLst/>
          </a:prstGeom>
        </p:spPr>
      </p:pic>
      <p:sp>
        <p:nvSpPr>
          <p:cNvPr name="TextBox 4" id="4"/>
          <p:cNvSpPr txBox="true"/>
          <p:nvPr/>
        </p:nvSpPr>
        <p:spPr>
          <a:xfrm rot="0">
            <a:off x="1687599" y="1481184"/>
            <a:ext cx="14584189" cy="1070708"/>
          </a:xfrm>
          <a:prstGeom prst="rect">
            <a:avLst/>
          </a:prstGeom>
        </p:spPr>
        <p:txBody>
          <a:bodyPr anchor="t" rtlCol="false" tIns="0" lIns="0" bIns="0" rIns="0">
            <a:spAutoFit/>
          </a:bodyPr>
          <a:lstStyle/>
          <a:p>
            <a:pPr algn="ctr">
              <a:lnSpc>
                <a:spcPts val="8101"/>
              </a:lnSpc>
            </a:pPr>
            <a:r>
              <a:rPr lang="en-US" b="true" sz="8101" spc="-162">
                <a:solidFill>
                  <a:srgbClr val="FFFFFF"/>
                </a:solidFill>
                <a:latin typeface="Source Sans Pro Bold"/>
                <a:ea typeface="Source Sans Pro Bold"/>
                <a:cs typeface="Source Sans Pro Bold"/>
                <a:sym typeface="Source Sans Pro Bold"/>
              </a:rPr>
              <a:t>Putting it all together</a:t>
            </a:r>
          </a:p>
        </p:txBody>
      </p:sp>
    </p:spTree>
  </p:cSld>
  <p:clrMapOvr>
    <a:masterClrMapping/>
  </p:clrMapOvr>
  <p:timing>
    <p:tnLst>
      <p:par>
        <p:cTn dur="indefinite" restart="never" nodeType="tmRoot">
          <p:childTnLst>
            <p:video>
              <p:cMediaNode vol="100000">
                <p:cTn fill="hold" display="false">
                  <p:stCondLst>
                    <p:cond delay="indefinite"/>
                  </p:stCondLst>
                </p:cTn>
                <p:tgtEl>
                  <p:spTgt spid="3"/>
                </p:tgtEl>
              </p:cMediaNode>
            </p:vide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DAHX4YSItd0</dc:identifier>
  <dcterms:modified xsi:type="dcterms:W3CDTF">2011-08-01T06:04:30Z</dcterms:modified>
  <cp:revision>1</cp:revision>
  <dc:title>LLM Course Bölüm 2 Sunumu</dc:title>
</cp:coreProperties>
</file>