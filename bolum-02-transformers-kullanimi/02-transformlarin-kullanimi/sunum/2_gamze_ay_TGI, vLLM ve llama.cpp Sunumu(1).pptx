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redoka" charset="1" panose="02000000000000000000"/>
      <p:regular r:id="rId16"/>
    </p:embeddedFont>
    <p:embeddedFont>
      <p:font typeface="Hero Bold" charset="1" panose="00000500000000000000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https://huggingface.co/learn/llm-course/chapter2/8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64" y="-28575"/>
            <a:ext cx="18508729" cy="10260888"/>
          </a:xfrm>
          <a:custGeom>
            <a:avLst/>
            <a:gdLst/>
            <a:ahLst/>
            <a:cxnLst/>
            <a:rect r="r" b="b" t="t" l="l"/>
            <a:pathLst>
              <a:path h="10260888" w="18508729">
                <a:moveTo>
                  <a:pt x="0" y="0"/>
                </a:moveTo>
                <a:lnTo>
                  <a:pt x="18508728" y="0"/>
                </a:lnTo>
                <a:lnTo>
                  <a:pt x="18508728" y="10260888"/>
                </a:lnTo>
                <a:lnTo>
                  <a:pt x="0" y="102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03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6707" y="-4040041"/>
            <a:ext cx="12699985" cy="12793026"/>
          </a:xfrm>
          <a:custGeom>
            <a:avLst/>
            <a:gdLst/>
            <a:ahLst/>
            <a:cxnLst/>
            <a:rect r="r" b="b" t="t" l="l"/>
            <a:pathLst>
              <a:path h="12793026" w="12699985">
                <a:moveTo>
                  <a:pt x="0" y="0"/>
                </a:moveTo>
                <a:lnTo>
                  <a:pt x="12699986" y="0"/>
                </a:lnTo>
                <a:lnTo>
                  <a:pt x="12699986" y="12793025"/>
                </a:lnTo>
                <a:lnTo>
                  <a:pt x="0" y="1279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58031"/>
            <a:ext cx="12699985" cy="12793026"/>
          </a:xfrm>
          <a:custGeom>
            <a:avLst/>
            <a:gdLst/>
            <a:ahLst/>
            <a:cxnLst/>
            <a:rect r="r" b="b" t="t" l="l"/>
            <a:pathLst>
              <a:path h="12793026" w="12699985">
                <a:moveTo>
                  <a:pt x="0" y="0"/>
                </a:moveTo>
                <a:lnTo>
                  <a:pt x="12699985" y="0"/>
                </a:lnTo>
                <a:lnTo>
                  <a:pt x="12699985" y="12793025"/>
                </a:lnTo>
                <a:lnTo>
                  <a:pt x="0" y="1279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26596" y="635175"/>
            <a:ext cx="11512323" cy="108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6"/>
              </a:lnSpc>
              <a:spcBef>
                <a:spcPct val="0"/>
              </a:spcBef>
            </a:pPr>
            <a:r>
              <a:rPr lang="en-US" sz="7213">
                <a:solidFill>
                  <a:srgbClr val="673FEA"/>
                </a:solidFill>
                <a:latin typeface="Fredoka"/>
                <a:ea typeface="Fredoka"/>
                <a:cs typeface="Fredoka"/>
                <a:sym typeface="Fredoka"/>
              </a:rPr>
              <a:t>Basic usag</a:t>
            </a:r>
            <a:r>
              <a:rPr lang="en-US" sz="7213">
                <a:solidFill>
                  <a:srgbClr val="673FEA"/>
                </a:solidFill>
                <a:latin typeface="Fredoka"/>
                <a:ea typeface="Fredoka"/>
                <a:cs typeface="Fredoka"/>
                <a:sym typeface="Fredoka"/>
              </a:rPr>
              <a:t>e completed!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705047">
            <a:off x="-777399" y="8062694"/>
            <a:ext cx="3612199" cy="3858457"/>
          </a:xfrm>
          <a:custGeom>
            <a:avLst/>
            <a:gdLst/>
            <a:ahLst/>
            <a:cxnLst/>
            <a:rect r="r" b="b" t="t" l="l"/>
            <a:pathLst>
              <a:path h="3858457" w="3612199">
                <a:moveTo>
                  <a:pt x="0" y="0"/>
                </a:moveTo>
                <a:lnTo>
                  <a:pt x="3612198" y="0"/>
                </a:lnTo>
                <a:lnTo>
                  <a:pt x="3612198" y="3858457"/>
                </a:lnTo>
                <a:lnTo>
                  <a:pt x="0" y="3858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643" r="-1391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404357">
            <a:off x="8715422" y="-1303578"/>
            <a:ext cx="3612199" cy="3858457"/>
          </a:xfrm>
          <a:custGeom>
            <a:avLst/>
            <a:gdLst/>
            <a:ahLst/>
            <a:cxnLst/>
            <a:rect r="r" b="b" t="t" l="l"/>
            <a:pathLst>
              <a:path h="3858457" w="3612199">
                <a:moveTo>
                  <a:pt x="0" y="0"/>
                </a:moveTo>
                <a:lnTo>
                  <a:pt x="3612199" y="0"/>
                </a:lnTo>
                <a:lnTo>
                  <a:pt x="3612199" y="3858457"/>
                </a:lnTo>
                <a:lnTo>
                  <a:pt x="0" y="3858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643" r="-1391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59514" y="1940098"/>
            <a:ext cx="10188683" cy="731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</a:p>
          <a:p>
            <a:pPr algn="l">
              <a:lnSpc>
                <a:spcPts val="3624"/>
              </a:lnSpc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Bura</a:t>
            </a: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ya kadar harika iş çıkardınız! Özetle, bu bölümde: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Bir Transformer modelinin temel yapı taşlarını öğrendik.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Bir tokenization hattının nelerden oluştuğunu öğrendik.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Bir Transformer modelinin pratikte nasıl kullanıldığını gördük.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Metni, modelin anlayabileceği tensor'lara çevirmek için tokenizer'ı nasıl kullanacağımızı öğrendik.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Metinden tahmine ulaşmak için bir tokenizer ve bir modeli birlikte kurduk.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Input ID'lerin sınırlarını ve attention mask'leri öğrendik.</a:t>
            </a:r>
          </a:p>
          <a:p>
            <a:pPr algn="l" marL="575318" indent="-287659" lvl="1">
              <a:lnSpc>
                <a:spcPts val="3624"/>
              </a:lnSpc>
              <a:buFont typeface="Arial"/>
              <a:buChar char="•"/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Çok yönlü ve yapılandırılabilir tokenizer metodlarıyla oynadık</a:t>
            </a:r>
          </a:p>
          <a:p>
            <a:pPr algn="l">
              <a:lnSpc>
                <a:spcPts val="3624"/>
              </a:lnSpc>
            </a:pPr>
          </a:p>
          <a:p>
            <a:pPr algn="l">
              <a:lnSpc>
                <a:spcPts val="3624"/>
              </a:lnSpc>
            </a:pPr>
            <a:r>
              <a:rPr lang="en-US" sz="2664" spc="-26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Bundan sonra 😴Transformers dokümantasyonunda rahatça gezinebilmelisin: kelime dağarcığı tanıdık gelecek ve zamanın çoğunda kullanacağın metodları zaten gördün.</a:t>
            </a:r>
          </a:p>
          <a:p>
            <a:pPr algn="l">
              <a:lnSpc>
                <a:spcPts val="362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260" y="1553637"/>
            <a:ext cx="6685372" cy="325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960" spc="-119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TGI, vLLM ve Ilama.cpp ile Optimized Inference Deployment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919394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7541" y="5587641"/>
            <a:ext cx="4576336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30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Üç araçla ölçeklenebilir ve verimli model çıkarımı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6854356"/>
            <a:ext cx="11112804" cy="2798589"/>
          </a:xfrm>
          <a:custGeom>
            <a:avLst/>
            <a:gdLst/>
            <a:ahLst/>
            <a:cxnLst/>
            <a:rect r="r" b="b" t="t" l="l"/>
            <a:pathLst>
              <a:path h="2798589" w="11112804">
                <a:moveTo>
                  <a:pt x="0" y="0"/>
                </a:moveTo>
                <a:lnTo>
                  <a:pt x="11112804" y="0"/>
                </a:lnTo>
                <a:lnTo>
                  <a:pt x="1111280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15732" y="6854356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2708" y="6854356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11693" y="7394528"/>
            <a:ext cx="1007371" cy="69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b="true" sz="5075" spc="-101">
                <a:solidFill>
                  <a:srgbClr val="97BC3F"/>
                </a:solidFill>
                <a:latin typeface="Roboto Bold"/>
                <a:ea typeface="Roboto Bold"/>
                <a:cs typeface="Roboto Bold"/>
                <a:sym typeface="Roboto Bold"/>
              </a:rPr>
              <a:t>TGI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118" y="8293094"/>
            <a:ext cx="2132522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Text Generation Inference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46551" y="7394528"/>
            <a:ext cx="1568559" cy="69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b="true" sz="5075" spc="-101">
                <a:solidFill>
                  <a:srgbClr val="97BC3F"/>
                </a:solidFill>
                <a:latin typeface="Roboto Bold"/>
                <a:ea typeface="Roboto Bold"/>
                <a:cs typeface="Roboto Bold"/>
                <a:sym typeface="Roboto Bold"/>
              </a:rPr>
              <a:t>vLLM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38523" y="8293094"/>
            <a:ext cx="2184615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High-throughput Inference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19912" y="7430323"/>
            <a:ext cx="2582935" cy="64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666" spc="-93">
                <a:solidFill>
                  <a:srgbClr val="97BC3F"/>
                </a:solidFill>
                <a:latin typeface="Roboto Bold"/>
                <a:ea typeface="Roboto Bold"/>
                <a:cs typeface="Roboto Bold"/>
                <a:sym typeface="Roboto Bold"/>
              </a:rPr>
              <a:t>Ilama.cpp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29074" y="8293094"/>
            <a:ext cx="1564612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Lightweight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07373" y="601171"/>
            <a:ext cx="12586158" cy="62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</a:pPr>
            <a:r>
              <a:rPr lang="en-US" b="true" sz="4375" spc="-87">
                <a:solidFill>
                  <a:srgbClr val="97BC3F"/>
                </a:solidFill>
                <a:latin typeface="Roboto Bold"/>
                <a:ea typeface="Roboto Bold"/>
                <a:cs typeface="Roboto Bold"/>
                <a:sym typeface="Roboto Bold"/>
              </a:rPr>
              <a:t>BÖLÜM 8:</a:t>
            </a:r>
            <a:r>
              <a:rPr lang="en-US" b="true" sz="4375" spc="-87" u="sng">
                <a:solidFill>
                  <a:srgbClr val="97BC3F"/>
                </a:solidFill>
                <a:latin typeface="Roboto Bold"/>
                <a:ea typeface="Roboto Bold"/>
                <a:cs typeface="Roboto Bold"/>
                <a:sym typeface="Roboto Bold"/>
                <a:hlinkClick r:id="rId7" tooltip="https://huggingface.co/learn/llm-course/chapter2/8"/>
              </a:rPr>
              <a:t> Optimized Inference Deployment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535" y="763906"/>
            <a:ext cx="11519131" cy="207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6"/>
              </a:lnSpc>
            </a:pPr>
            <a:r>
              <a:rPr lang="en-US" sz="7124" spc="-142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Üç Araç, Üç Farklı </a:t>
            </a:r>
          </a:p>
          <a:p>
            <a:pPr algn="l">
              <a:lnSpc>
                <a:spcPts val="8196"/>
              </a:lnSpc>
            </a:pPr>
            <a:r>
              <a:rPr lang="en-US" sz="7124" spc="-142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Bellek ve Kullanım Yaklaşımı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214004"/>
            <a:ext cx="2625072" cy="218640"/>
          </a:xfrm>
          <a:custGeom>
            <a:avLst/>
            <a:gdLst/>
            <a:ahLst/>
            <a:cxnLst/>
            <a:rect r="r" b="b" t="t" l="l"/>
            <a:pathLst>
              <a:path h="218640" w="2625072">
                <a:moveTo>
                  <a:pt x="0" y="0"/>
                </a:moveTo>
                <a:lnTo>
                  <a:pt x="2625072" y="0"/>
                </a:lnTo>
                <a:lnTo>
                  <a:pt x="2625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10894048" cy="1934962"/>
          </a:xfrm>
          <a:custGeom>
            <a:avLst/>
            <a:gdLst/>
            <a:ahLst/>
            <a:cxnLst/>
            <a:rect r="r" b="b" t="t" l="l"/>
            <a:pathLst>
              <a:path h="1934962" w="10894048">
                <a:moveTo>
                  <a:pt x="0" y="0"/>
                </a:moveTo>
                <a:lnTo>
                  <a:pt x="10894048" y="0"/>
                </a:lnTo>
                <a:lnTo>
                  <a:pt x="10894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4221" y="4314108"/>
            <a:ext cx="991184" cy="7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3"/>
              </a:lnSpc>
            </a:pPr>
            <a:r>
              <a:rPr lang="en-US" sz="5000" spc="-100" b="true">
                <a:solidFill>
                  <a:srgbClr val="97C13C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TGI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96976" y="3640352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96516" y="4147111"/>
            <a:ext cx="6294447" cy="93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Flash Attention 2 ve continuous batching ile kurumsal düzeyde sabit performans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564382"/>
            <a:ext cx="10894048" cy="1945894"/>
          </a:xfrm>
          <a:custGeom>
            <a:avLst/>
            <a:gdLst/>
            <a:ahLst/>
            <a:cxnLst/>
            <a:rect r="r" b="b" t="t" l="l"/>
            <a:pathLst>
              <a:path h="1945894" w="10894048">
                <a:moveTo>
                  <a:pt x="0" y="0"/>
                </a:moveTo>
                <a:lnTo>
                  <a:pt x="10894048" y="0"/>
                </a:lnTo>
                <a:lnTo>
                  <a:pt x="1089404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0383" y="6121608"/>
            <a:ext cx="1585938" cy="74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sz="5075" spc="-101" b="true">
                <a:solidFill>
                  <a:srgbClr val="97C13C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vLLM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696976" y="5564382"/>
            <a:ext cx="229694" cy="1945894"/>
          </a:xfrm>
          <a:custGeom>
            <a:avLst/>
            <a:gdLst/>
            <a:ahLst/>
            <a:cxnLst/>
            <a:rect r="r" b="b" t="t" l="l"/>
            <a:pathLst>
              <a:path h="1945894" w="229694">
                <a:moveTo>
                  <a:pt x="0" y="0"/>
                </a:moveTo>
                <a:lnTo>
                  <a:pt x="229694" y="0"/>
                </a:lnTo>
                <a:lnTo>
                  <a:pt x="22969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03583" y="5969715"/>
            <a:ext cx="5587779" cy="96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PagedAttention ile bellek verimliliği geliştirici dostu, OpenAI uyumlu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7499343"/>
            <a:ext cx="10894048" cy="1716322"/>
          </a:xfrm>
          <a:custGeom>
            <a:avLst/>
            <a:gdLst/>
            <a:ahLst/>
            <a:cxnLst/>
            <a:rect r="r" b="b" t="t" l="l"/>
            <a:pathLst>
              <a:path h="1716322" w="10894048">
                <a:moveTo>
                  <a:pt x="0" y="0"/>
                </a:moveTo>
                <a:lnTo>
                  <a:pt x="10894048" y="0"/>
                </a:lnTo>
                <a:lnTo>
                  <a:pt x="10894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6820" y="7964397"/>
            <a:ext cx="2437503" cy="66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447" spc="-89" b="true">
                <a:solidFill>
                  <a:srgbClr val="97C13C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llama.cpp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696976" y="7499343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05407" y="7837260"/>
            <a:ext cx="5405442" cy="96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Quantization ile hafif ve taşınabilir işlemci bazlı kullanım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0893" y="618629"/>
            <a:ext cx="6562235" cy="18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spc="-6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TGI ile Kurulum </a:t>
            </a:r>
          </a:p>
          <a:p>
            <a:pPr algn="l">
              <a:lnSpc>
                <a:spcPts val="7124"/>
              </a:lnSpc>
            </a:pPr>
            <a:r>
              <a:rPr lang="en-US" sz="7124" spc="-6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ve İlk Kullanım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50377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1598" y="2771054"/>
            <a:ext cx="9491748" cy="78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351" spc="-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Docker ile TGI sunucusunu başlatın, Python istemcisiyle sohbet tabanlı metin üretimine hemen başlayın.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640352"/>
            <a:ext cx="10686230" cy="2798589"/>
          </a:xfrm>
          <a:custGeom>
            <a:avLst/>
            <a:gdLst/>
            <a:ahLst/>
            <a:cxnLst/>
            <a:rect r="r" b="b" t="t" l="l"/>
            <a:pathLst>
              <a:path h="2798589" w="10686230">
                <a:moveTo>
                  <a:pt x="0" y="0"/>
                </a:moveTo>
                <a:lnTo>
                  <a:pt x="10686230" y="0"/>
                </a:lnTo>
                <a:lnTo>
                  <a:pt x="1068623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3640352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9787" y="4260961"/>
            <a:ext cx="2856466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110" b="true">
                <a:solidFill>
                  <a:srgbClr val="86AD37"/>
                </a:solidFill>
                <a:latin typeface="Roboto Bold"/>
                <a:ea typeface="Roboto Bold"/>
                <a:cs typeface="Roboto Bold"/>
                <a:sym typeface="Roboto Bold"/>
              </a:rPr>
              <a:t>1. TGI Sunucusunu Başlatın (Docker)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253" y="5386419"/>
            <a:ext cx="2509867" cy="60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863" spc="-1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GPU destekli çalıştırma </a:t>
            </a:r>
          </a:p>
          <a:p>
            <a:pPr algn="l">
              <a:lnSpc>
                <a:spcPts val="2514"/>
              </a:lnSpc>
            </a:pPr>
            <a:r>
              <a:rPr lang="en-US" sz="1863" spc="-1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ve port yönlendirme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99095" y="4130058"/>
            <a:ext cx="5504604" cy="922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# GPU destekli TGI sunucusunu başlatın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docker run -gpus all \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-p 8080:80 \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ghcrc.io/huggingface/text-generation-inference:latest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0501" y="5530716"/>
            <a:ext cx="3363926" cy="45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# Sunucu sağlığını kontrol edin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curl http://localhost:8080/health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6428009"/>
            <a:ext cx="10686230" cy="3432644"/>
          </a:xfrm>
          <a:custGeom>
            <a:avLst/>
            <a:gdLst/>
            <a:ahLst/>
            <a:cxnLst/>
            <a:rect r="r" b="b" t="t" l="l"/>
            <a:pathLst>
              <a:path h="3432644" w="10686230">
                <a:moveTo>
                  <a:pt x="0" y="0"/>
                </a:moveTo>
                <a:lnTo>
                  <a:pt x="10686230" y="0"/>
                </a:lnTo>
                <a:lnTo>
                  <a:pt x="10686230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330" y="6428009"/>
            <a:ext cx="229694" cy="3432644"/>
          </a:xfrm>
          <a:custGeom>
            <a:avLst/>
            <a:gdLst/>
            <a:ahLst/>
            <a:cxnLst/>
            <a:rect r="r" b="b" t="t" l="l"/>
            <a:pathLst>
              <a:path h="3432644" w="229694">
                <a:moveTo>
                  <a:pt x="0" y="0"/>
                </a:moveTo>
                <a:lnTo>
                  <a:pt x="229694" y="0"/>
                </a:lnTo>
                <a:lnTo>
                  <a:pt x="229694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8276" y="7162168"/>
            <a:ext cx="2007605" cy="86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115" b="true">
                <a:solidFill>
                  <a:srgbClr val="86AD37"/>
                </a:solidFill>
                <a:latin typeface="Roboto Bold"/>
                <a:ea typeface="Roboto Bold"/>
                <a:cs typeface="Roboto Bold"/>
                <a:sym typeface="Roboto Bold"/>
              </a:rPr>
              <a:t>2. Python ile </a:t>
            </a:r>
          </a:p>
          <a:p>
            <a:pPr algn="l">
              <a:lnSpc>
                <a:spcPts val="3475"/>
              </a:lnSpc>
            </a:pPr>
            <a:r>
              <a:rPr lang="en-US" sz="2896" spc="-115" b="true">
                <a:solidFill>
                  <a:srgbClr val="86AD37"/>
                </a:solidFill>
                <a:latin typeface="Roboto Bold"/>
                <a:ea typeface="Roboto Bold"/>
                <a:cs typeface="Roboto Bold"/>
                <a:sym typeface="Roboto Bold"/>
              </a:rPr>
              <a:t>İlk İstemci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560" y="8308222"/>
            <a:ext cx="2679129" cy="60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863" spc="-1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InferenceClient ile sohbet tabanlı metin üretimi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98588" y="6744503"/>
            <a:ext cx="5555221" cy="6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546" spc="-61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546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huggingface_hub </a:t>
            </a:r>
            <a:r>
              <a:rPr lang="en-US" sz="1546" spc="-61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546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InferenceClient</a:t>
            </a:r>
          </a:p>
          <a:p>
            <a:pPr algn="l">
              <a:lnSpc>
                <a:spcPts val="2784"/>
              </a:lnSpc>
            </a:pPr>
            <a:r>
              <a:rPr lang="en-US" sz="1546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 = InferenceClient("</a:t>
            </a:r>
            <a:r>
              <a:rPr lang="en-US" sz="1546" spc="-61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http://localhost:8080</a:t>
            </a:r>
            <a:r>
              <a:rPr lang="en-US" sz="1546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98075" y="7639233"/>
            <a:ext cx="5606541" cy="138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# Sohbet tabanlı metin üretimi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response = clientchat.com/completions create(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# </a:t>
            </a: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model="</a:t>
            </a: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meta-llama/llama-3-8b-instruct",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# messages=[{</a:t>
            </a:r>
            <a:r>
              <a:rPr lang="en-US" sz="1335" spc="-53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"role": "user", "content": "TI nedir?"</a:t>
            </a: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}], 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# maxTokens=256, </a:t>
            </a:r>
          </a:p>
          <a:p>
            <a:pPr algn="l">
              <a:lnSpc>
                <a:spcPts val="1870"/>
              </a:lnSpc>
            </a:pPr>
            <a:r>
              <a:rPr lang="en-US" sz="1335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temperature=0.7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528440" y="3848060"/>
            <a:ext cx="6759560" cy="5586245"/>
          </a:xfrm>
          <a:custGeom>
            <a:avLst/>
            <a:gdLst/>
            <a:ahLst/>
            <a:cxnLst/>
            <a:rect r="r" b="b" t="t" l="l"/>
            <a:pathLst>
              <a:path h="5586245" w="6759560">
                <a:moveTo>
                  <a:pt x="0" y="0"/>
                </a:moveTo>
                <a:lnTo>
                  <a:pt x="6759560" y="0"/>
                </a:lnTo>
                <a:lnTo>
                  <a:pt x="675956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08239" y="9347377"/>
            <a:ext cx="4590122" cy="25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94" spc="-59">
                <a:solidFill>
                  <a:srgbClr val="72922C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lang="en-US" sz="1494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(response choices[0].message.content)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1705390"/>
            <a:ext cx="8509608" cy="7510275"/>
          </a:xfrm>
          <a:custGeom>
            <a:avLst/>
            <a:gdLst/>
            <a:ahLst/>
            <a:cxnLst/>
            <a:rect r="r" b="b" t="t" l="l"/>
            <a:pathLst>
              <a:path h="7510275" w="8509608">
                <a:moveTo>
                  <a:pt x="0" y="0"/>
                </a:moveTo>
                <a:lnTo>
                  <a:pt x="8509608" y="0"/>
                </a:lnTo>
                <a:lnTo>
                  <a:pt x="850960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5029" y="684551"/>
            <a:ext cx="6790861" cy="202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2"/>
              </a:lnSpc>
            </a:pPr>
            <a:r>
              <a:rPr lang="en-US" sz="6938" spc="-138" b="true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vLLM </a:t>
            </a:r>
            <a:r>
              <a:rPr lang="en-US" sz="6938" spc="-13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ile Kurulum</a:t>
            </a:r>
          </a:p>
          <a:p>
            <a:pPr algn="l">
              <a:lnSpc>
                <a:spcPts val="7982"/>
              </a:lnSpc>
            </a:pPr>
            <a:r>
              <a:rPr lang="en-US" sz="6938" spc="-13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ve İlk Kullanım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776725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2995365"/>
            <a:ext cx="9154938" cy="2798589"/>
          </a:xfrm>
          <a:custGeom>
            <a:avLst/>
            <a:gdLst/>
            <a:ahLst/>
            <a:cxnLst/>
            <a:rect r="r" b="b" t="t" l="l"/>
            <a:pathLst>
              <a:path h="2798589" w="9154938">
                <a:moveTo>
                  <a:pt x="0" y="0"/>
                </a:moveTo>
                <a:lnTo>
                  <a:pt x="9154938" y="0"/>
                </a:lnTo>
                <a:lnTo>
                  <a:pt x="915493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8808" y="3785504"/>
            <a:ext cx="917652" cy="9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spc="-127" b="true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6622" y="3421712"/>
            <a:ext cx="218756" cy="2372241"/>
          </a:xfrm>
          <a:custGeom>
            <a:avLst/>
            <a:gdLst/>
            <a:ahLst/>
            <a:cxnLst/>
            <a:rect r="r" b="b" t="t" l="l"/>
            <a:pathLst>
              <a:path h="2372241" w="218756">
                <a:moveTo>
                  <a:pt x="0" y="0"/>
                </a:moveTo>
                <a:lnTo>
                  <a:pt x="218756" y="0"/>
                </a:lnTo>
                <a:lnTo>
                  <a:pt x="21875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46315" y="3463909"/>
            <a:ext cx="4506761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b="true" sz="2179" spc="-43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VLLM API SUNUCUSUNU BAŞLATIN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8552" y="3981107"/>
            <a:ext cx="6283036" cy="107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python –m vllm entrypoints.openai.apiServer \</a:t>
            </a:r>
          </a:p>
          <a:p>
            <a:pPr algn="l">
              <a:lnSpc>
                <a:spcPts val="2866"/>
              </a:lnSpc>
            </a:pPr>
            <a:r>
              <a:rPr lang="en-US" sz="2047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 –model </a:t>
            </a:r>
            <a:r>
              <a:rPr lang="en-US" sz="2047" b="true">
                <a:solidFill>
                  <a:srgbClr val="6C962B"/>
                </a:solidFill>
                <a:latin typeface="Roboto Bold"/>
                <a:ea typeface="Roboto Bold"/>
                <a:cs typeface="Roboto Bold"/>
                <a:sym typeface="Roboto Bold"/>
              </a:rPr>
              <a:t>meta-llama/Meta-llama-3-8B-Instruct</a:t>
            </a:r>
            <a:r>
              <a:rPr lang="en-US" sz="2047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\</a:t>
            </a:r>
          </a:p>
          <a:p>
            <a:pPr algn="l">
              <a:lnSpc>
                <a:spcPts val="2866"/>
              </a:lnSpc>
            </a:pPr>
            <a:r>
              <a:rPr lang="en-US" sz="2047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 –tensor-parallel-size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0578" y="5255956"/>
            <a:ext cx="6080482" cy="32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37">
                <a:solidFill>
                  <a:srgbClr val="A8A8A8"/>
                </a:solidFill>
                <a:latin typeface="Roboto"/>
                <a:ea typeface="Roboto"/>
                <a:cs typeface="Roboto"/>
                <a:sym typeface="Roboto"/>
              </a:rPr>
              <a:t>Tek komutla yüksek performanslı, OpenAI uyumlu sunucu.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6574" y="5783021"/>
            <a:ext cx="9154938" cy="4077631"/>
          </a:xfrm>
          <a:custGeom>
            <a:avLst/>
            <a:gdLst/>
            <a:ahLst/>
            <a:cxnLst/>
            <a:rect r="r" b="b" t="t" l="l"/>
            <a:pathLst>
              <a:path h="4077631" w="9154938">
                <a:moveTo>
                  <a:pt x="0" y="0"/>
                </a:moveTo>
                <a:lnTo>
                  <a:pt x="9154938" y="0"/>
                </a:lnTo>
                <a:lnTo>
                  <a:pt x="915493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8808" y="6240421"/>
            <a:ext cx="917652" cy="9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spc="-127" b="true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76622" y="5990729"/>
            <a:ext cx="218756" cy="3662216"/>
          </a:xfrm>
          <a:custGeom>
            <a:avLst/>
            <a:gdLst/>
            <a:ahLst/>
            <a:cxnLst/>
            <a:rect r="r" b="b" t="t" l="l"/>
            <a:pathLst>
              <a:path h="3662216" w="218756">
                <a:moveTo>
                  <a:pt x="0" y="0"/>
                </a:moveTo>
                <a:lnTo>
                  <a:pt x="218756" y="0"/>
                </a:lnTo>
                <a:lnTo>
                  <a:pt x="218756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39860" y="6039312"/>
            <a:ext cx="5152317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b="true" sz="2179" spc="-43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OPENAI PYTHON İSTEMCISIYLE SOHBET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29326" y="6515796"/>
            <a:ext cx="6205676" cy="21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from openai import </a:t>
            </a:r>
            <a:r>
              <a:rPr lang="en-US" sz="1784" b="true">
                <a:solidFill>
                  <a:srgbClr val="9EC24A"/>
                </a:solidFill>
                <a:latin typeface="Roboto Bold"/>
                <a:ea typeface="Roboto Bold"/>
                <a:cs typeface="Roboto Bold"/>
                <a:sym typeface="Roboto Bold"/>
              </a:rPr>
              <a:t>OpenAI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client = OpenAI base_url="</a:t>
            </a:r>
            <a:r>
              <a:rPr lang="en-US" sz="1784" b="true">
                <a:solidFill>
                  <a:srgbClr val="6C962B"/>
                </a:solidFill>
                <a:latin typeface="Roboto Bold"/>
                <a:ea typeface="Roboto Bold"/>
                <a:cs typeface="Roboto Bold"/>
                <a:sym typeface="Roboto Bold"/>
              </a:rPr>
              <a:t>http://localhost:8000/v1",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api_key="</a:t>
            </a:r>
            <a:r>
              <a:rPr lang="en-US" sz="1784" b="true">
                <a:solidFill>
                  <a:srgbClr val="6C962B"/>
                </a:solidFill>
                <a:latin typeface="Roboto Bold"/>
                <a:ea typeface="Roboto Bold"/>
                <a:cs typeface="Roboto Bold"/>
                <a:sym typeface="Roboto Bold"/>
              </a:rPr>
              <a:t>EMPTY"</a:t>
            </a: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)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resp = clientchatcompletions create(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model="</a:t>
            </a:r>
            <a:r>
              <a:rPr lang="en-US" sz="1784" b="true">
                <a:solidFill>
                  <a:srgbClr val="6C962B"/>
                </a:solidFill>
                <a:latin typeface="Roboto Bold"/>
                <a:ea typeface="Roboto Bold"/>
                <a:cs typeface="Roboto Bold"/>
                <a:sym typeface="Roboto Bold"/>
              </a:rPr>
              <a:t>meta-llama/Meta-llama-3-8B-Instruct",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 messages="[</a:t>
            </a:r>
            <a:r>
              <a:rPr lang="en-US" sz="1784" b="true">
                <a:solidFill>
                  <a:srgbClr val="6C962B"/>
                </a:solidFill>
                <a:latin typeface="Roboto Bold"/>
                <a:ea typeface="Roboto Bold"/>
                <a:cs typeface="Roboto Bold"/>
                <a:sym typeface="Roboto Bold"/>
              </a:rPr>
              <a:t>"role": "user", "content": "Merhaba!"</a:t>
            </a: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]) )</a:t>
            </a:r>
          </a:p>
          <a:p>
            <a:pPr algn="l">
              <a:lnSpc>
                <a:spcPts val="2497"/>
              </a:lnSpc>
            </a:pPr>
            <a:r>
              <a:rPr lang="en-US" sz="1784" b="true">
                <a:solidFill>
                  <a:srgbClr val="A8A8A8"/>
                </a:solidFill>
                <a:latin typeface="Roboto Bold"/>
                <a:ea typeface="Roboto Bold"/>
                <a:cs typeface="Roboto Bold"/>
                <a:sym typeface="Roboto Bold"/>
              </a:rPr>
              <a:t>print(resp choices[0].message.content)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43539" y="9066349"/>
            <a:ext cx="4784343" cy="32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37">
                <a:solidFill>
                  <a:srgbClr val="A8A8A8"/>
                </a:solidFill>
                <a:latin typeface="Roboto"/>
                <a:ea typeface="Roboto"/>
                <a:cs typeface="Roboto"/>
                <a:sym typeface="Roboto"/>
              </a:rPr>
              <a:t>Aynı arayüz, aynı kod: geliştirme hızınızı artırır.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035" y="377844"/>
            <a:ext cx="9205914" cy="199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6938" spc="-13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Ilama.cpp ile</a:t>
            </a:r>
          </a:p>
          <a:p>
            <a:pPr algn="l">
              <a:lnSpc>
                <a:spcPts val="7840"/>
              </a:lnSpc>
            </a:pPr>
            <a:r>
              <a:rPr lang="en-US" sz="6938" spc="-13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Kurulum ve İlk Kullanım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569017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619" y="3194605"/>
            <a:ext cx="547520" cy="6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5" spc="-76" b="true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0354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9110" y="3214004"/>
            <a:ext cx="229694" cy="5575313"/>
          </a:xfrm>
          <a:custGeom>
            <a:avLst/>
            <a:gdLst/>
            <a:ahLst/>
            <a:cxnLst/>
            <a:rect r="r" b="b" t="t" l="l"/>
            <a:pathLst>
              <a:path h="5575313" w="229694">
                <a:moveTo>
                  <a:pt x="0" y="0"/>
                </a:moveTo>
                <a:lnTo>
                  <a:pt x="229694" y="0"/>
                </a:lnTo>
                <a:lnTo>
                  <a:pt x="229694" y="5575314"/>
                </a:lnTo>
                <a:lnTo>
                  <a:pt x="0" y="557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4619" y="4278986"/>
            <a:ext cx="547520" cy="6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5" spc="-76" b="true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0354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4066699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87297" y="3243132"/>
            <a:ext cx="1656237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7" spc="-40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DEPOYU EDİN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1974" y="3619653"/>
            <a:ext cx="6188491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git clone https://github.com/ggerganov/llama.cpp.git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76622" y="4066699"/>
            <a:ext cx="7404890" cy="229572"/>
          </a:xfrm>
          <a:custGeom>
            <a:avLst/>
            <a:gdLst/>
            <a:ahLst/>
            <a:cxnLst/>
            <a:rect r="r" b="b" t="t" l="l"/>
            <a:pathLst>
              <a:path h="229572" w="7404890">
                <a:moveTo>
                  <a:pt x="0" y="0"/>
                </a:moveTo>
                <a:lnTo>
                  <a:pt x="7404890" y="0"/>
                </a:lnTo>
                <a:lnTo>
                  <a:pt x="740489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76022" y="4704034"/>
            <a:ext cx="2783728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cd llama.cpp &amp;&amp; make -j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176622" y="5138034"/>
            <a:ext cx="7404890" cy="229572"/>
          </a:xfrm>
          <a:custGeom>
            <a:avLst/>
            <a:gdLst/>
            <a:ahLst/>
            <a:cxnLst/>
            <a:rect r="r" b="b" t="t" l="l"/>
            <a:pathLst>
              <a:path h="229572" w="7404890">
                <a:moveTo>
                  <a:pt x="0" y="0"/>
                </a:moveTo>
                <a:lnTo>
                  <a:pt x="7404890" y="0"/>
                </a:lnTo>
                <a:lnTo>
                  <a:pt x="740489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44619" y="5363366"/>
            <a:ext cx="547520" cy="6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5" spc="-76" b="true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20354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86929" y="5411893"/>
            <a:ext cx="1693050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7" spc="-40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MODELİ İNDİR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65714" y="5803475"/>
            <a:ext cx="3814517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curl -L -o model.gguf &lt;model-urI&gt;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176622" y="6209369"/>
            <a:ext cx="7404890" cy="229572"/>
          </a:xfrm>
          <a:custGeom>
            <a:avLst/>
            <a:gdLst/>
            <a:ahLst/>
            <a:cxnLst/>
            <a:rect r="r" b="b" t="t" l="l"/>
            <a:pathLst>
              <a:path h="229572" w="7404890">
                <a:moveTo>
                  <a:pt x="0" y="0"/>
                </a:moveTo>
                <a:lnTo>
                  <a:pt x="7404890" y="0"/>
                </a:lnTo>
                <a:lnTo>
                  <a:pt x="740489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4619" y="6447747"/>
            <a:ext cx="547520" cy="6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5" spc="-76" b="true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20354" y="663571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271834" y="6496274"/>
            <a:ext cx="3202566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7" spc="-40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SUNUCUYU BAŞLAT (CPU)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47404" y="6872795"/>
            <a:ext cx="5645488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/server –m model.gguf –host 0.0.0.0 –port 8080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176622" y="7280704"/>
            <a:ext cx="7404890" cy="229572"/>
          </a:xfrm>
          <a:custGeom>
            <a:avLst/>
            <a:gdLst/>
            <a:ahLst/>
            <a:cxnLst/>
            <a:rect r="r" b="b" t="t" l="l"/>
            <a:pathLst>
              <a:path h="229572" w="7404890">
                <a:moveTo>
                  <a:pt x="0" y="0"/>
                </a:moveTo>
                <a:lnTo>
                  <a:pt x="7404890" y="0"/>
                </a:lnTo>
                <a:lnTo>
                  <a:pt x="740489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44619" y="7532127"/>
            <a:ext cx="547520" cy="6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5" spc="-76" b="true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20354" y="770705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272266" y="7580654"/>
            <a:ext cx="3159348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7" spc="-40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OPENAI UYUMLU İSTEMCİ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50304" y="8012378"/>
            <a:ext cx="5355533" cy="6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curl http://localhost:8080/v1 chat/completions \</a:t>
            </a:r>
          </a:p>
          <a:p>
            <a:pPr algn="l">
              <a:lnSpc>
                <a:spcPts val="2781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-H "Content-Type: applicationjson" -d "{...}."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45330" y="8778386"/>
            <a:ext cx="8936182" cy="1300906"/>
          </a:xfrm>
          <a:custGeom>
            <a:avLst/>
            <a:gdLst/>
            <a:ahLst/>
            <a:cxnLst/>
            <a:rect r="r" b="b" t="t" l="l"/>
            <a:pathLst>
              <a:path h="1300906" w="8936182">
                <a:moveTo>
                  <a:pt x="0" y="0"/>
                </a:moveTo>
                <a:lnTo>
                  <a:pt x="8936182" y="0"/>
                </a:lnTo>
                <a:lnTo>
                  <a:pt x="893618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18271" y="9177824"/>
            <a:ext cx="686928" cy="45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b="true" sz="2707" spc="-54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NOT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73405" y="9096758"/>
            <a:ext cx="6439932" cy="6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CPU ile çalıştırmak için model dosyasının .gguf formatında olması ve yeterli bellek bulunduğundan emin olun.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570574" y="2776725"/>
            <a:ext cx="8717426" cy="6231233"/>
          </a:xfrm>
          <a:custGeom>
            <a:avLst/>
            <a:gdLst/>
            <a:ahLst/>
            <a:cxnLst/>
            <a:rect r="r" b="b" t="t" l="l"/>
            <a:pathLst>
              <a:path h="6231233" w="8717426">
                <a:moveTo>
                  <a:pt x="0" y="0"/>
                </a:moveTo>
                <a:lnTo>
                  <a:pt x="8717426" y="0"/>
                </a:lnTo>
                <a:lnTo>
                  <a:pt x="8717426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96062" y="4342574"/>
            <a:ext cx="779767" cy="36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047" spc="-40">
                <a:solidFill>
                  <a:srgbClr val="91B43A"/>
                </a:solidFill>
                <a:latin typeface="Roboto Bold"/>
                <a:ea typeface="Roboto Bold"/>
                <a:cs typeface="Roboto Bold"/>
                <a:sym typeface="Roboto Bold"/>
              </a:rPr>
              <a:t>DERLE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9077" y="633781"/>
            <a:ext cx="7386061" cy="205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1"/>
              </a:lnSpc>
            </a:pPr>
            <a:r>
              <a:rPr lang="en-US" sz="707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Temel Metin Üretimi Örnekleri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3421712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1615" y="3915535"/>
            <a:ext cx="715650" cy="65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3629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TGI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36478" y="3624291"/>
            <a:ext cx="5325615" cy="14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189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TGI: Başlatırken limitler koyuyoruz</a:t>
            </a:r>
          </a:p>
          <a:p>
            <a:pPr algn="l">
              <a:lnSpc>
                <a:spcPts val="2847"/>
              </a:lnSpc>
            </a:pPr>
            <a:r>
              <a:rPr lang="en-US" sz="189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 max-total-tokens (4096), max-input-length (3072), max-batch-total-tokens (8192), waiting-served-ratio (1.2)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5138034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7421" y="5736502"/>
            <a:ext cx="1064039" cy="62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5"/>
              </a:lnSpc>
            </a:pPr>
            <a:r>
              <a:rPr lang="en-US" sz="3410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vLLM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43160" y="5481460"/>
            <a:ext cx="5198418" cy="149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96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vLLM: Python arayüzü ile ince ayar</a:t>
            </a:r>
          </a:p>
          <a:p>
            <a:pPr algn="l">
              <a:lnSpc>
                <a:spcPts val="2953"/>
              </a:lnSpc>
            </a:pPr>
            <a:r>
              <a:rPr lang="en-US" sz="196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 gpu_memory_utilization (0.85), max_num_batched_tokens (8192), max_num_seqs (256), block_size (16)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6574" y="6854356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1641" y="7416305"/>
            <a:ext cx="1955481" cy="64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349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llama.cpp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6574" y="8570678"/>
            <a:ext cx="12425340" cy="1508614"/>
          </a:xfrm>
          <a:custGeom>
            <a:avLst/>
            <a:gdLst/>
            <a:ahLst/>
            <a:cxnLst/>
            <a:rect r="r" b="b" t="t" l="l"/>
            <a:pathLst>
              <a:path h="1508614" w="12425340">
                <a:moveTo>
                  <a:pt x="0" y="0"/>
                </a:moveTo>
                <a:lnTo>
                  <a:pt x="12425340" y="0"/>
                </a:lnTo>
                <a:lnTo>
                  <a:pt x="12425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08506" y="9084611"/>
            <a:ext cx="9351725" cy="52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283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Üç araç, tek amaç: </a:t>
            </a:r>
            <a:r>
              <a:rPr lang="en-US" sz="283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yüksek kaliteli ve verimli</a:t>
            </a:r>
            <a:r>
              <a:rPr lang="en-US" sz="283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metin üretimi.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873598" y="1279043"/>
            <a:ext cx="12206584" cy="7936623"/>
          </a:xfrm>
          <a:custGeom>
            <a:avLst/>
            <a:gdLst/>
            <a:ahLst/>
            <a:cxnLst/>
            <a:rect r="r" b="b" t="t" l="l"/>
            <a:pathLst>
              <a:path h="7936623" w="12206584">
                <a:moveTo>
                  <a:pt x="0" y="0"/>
                </a:moveTo>
                <a:lnTo>
                  <a:pt x="12206584" y="0"/>
                </a:lnTo>
                <a:lnTo>
                  <a:pt x="1220658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58598" y="7183335"/>
            <a:ext cx="5182980" cy="149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96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llama.cpp: Sunucuyu başlatırken ayarlıyoruz</a:t>
            </a:r>
          </a:p>
          <a:p>
            <a:pPr algn="l">
              <a:lnSpc>
                <a:spcPts val="2953"/>
              </a:lnSpc>
            </a:pPr>
            <a:r>
              <a:rPr lang="en-US" sz="1968">
                <a:solidFill>
                  <a:srgbClr val="8AB23C"/>
                </a:solidFill>
                <a:latin typeface="Roboto"/>
                <a:ea typeface="Roboto"/>
                <a:cs typeface="Roboto"/>
                <a:sym typeface="Roboto"/>
              </a:rPr>
              <a:t> -c (bağlam boyutu 4096), --threads (8), --batch-size (512), --n-gpu-layers (0 = yalnızca CPU)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8976" y="4919394"/>
            <a:ext cx="10019024" cy="5367606"/>
          </a:xfrm>
          <a:custGeom>
            <a:avLst/>
            <a:gdLst/>
            <a:ahLst/>
            <a:cxnLst/>
            <a:rect r="r" b="b" t="t" l="l"/>
            <a:pathLst>
              <a:path h="5367606" w="10019024">
                <a:moveTo>
                  <a:pt x="0" y="0"/>
                </a:moveTo>
                <a:lnTo>
                  <a:pt x="10019024" y="0"/>
                </a:lnTo>
                <a:lnTo>
                  <a:pt x="10019024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1818" y="1497682"/>
            <a:ext cx="6114230" cy="4077631"/>
          </a:xfrm>
          <a:custGeom>
            <a:avLst/>
            <a:gdLst/>
            <a:ahLst/>
            <a:cxnLst/>
            <a:rect r="r" b="b" t="t" l="l"/>
            <a:pathLst>
              <a:path h="4077631" w="6114230">
                <a:moveTo>
                  <a:pt x="0" y="0"/>
                </a:moveTo>
                <a:lnTo>
                  <a:pt x="6114230" y="0"/>
                </a:lnTo>
                <a:lnTo>
                  <a:pt x="611423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5244" y="5564382"/>
            <a:ext cx="5665780" cy="4088563"/>
          </a:xfrm>
          <a:custGeom>
            <a:avLst/>
            <a:gdLst/>
            <a:ahLst/>
            <a:cxnLst/>
            <a:rect r="r" b="b" t="t" l="l"/>
            <a:pathLst>
              <a:path h="4088563" w="5665780">
                <a:moveTo>
                  <a:pt x="0" y="0"/>
                </a:moveTo>
                <a:lnTo>
                  <a:pt x="5665780" y="0"/>
                </a:lnTo>
                <a:lnTo>
                  <a:pt x="566578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1293" y="714675"/>
            <a:ext cx="9522226" cy="213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sz="7304" spc="-217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Sunucusuz (Serverless) Kullanım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214004"/>
            <a:ext cx="2625072" cy="218640"/>
          </a:xfrm>
          <a:custGeom>
            <a:avLst/>
            <a:gdLst/>
            <a:ahLst/>
            <a:cxnLst/>
            <a:rect r="r" b="b" t="t" l="l"/>
            <a:pathLst>
              <a:path h="218640" w="2625072">
                <a:moveTo>
                  <a:pt x="0" y="0"/>
                </a:moveTo>
                <a:lnTo>
                  <a:pt x="2625072" y="0"/>
                </a:lnTo>
                <a:lnTo>
                  <a:pt x="2625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8983" y="3751512"/>
            <a:ext cx="7753242" cy="120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3478" spc="-69" b="true">
                <a:solidFill>
                  <a:srgbClr val="89B233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llama.cpp</a:t>
            </a:r>
            <a:r>
              <a:rPr lang="en-US" sz="3478" spc="-69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ve vLLM ile</a:t>
            </a:r>
          </a:p>
          <a:p>
            <a:pPr algn="l">
              <a:lnSpc>
                <a:spcPts val="4869"/>
              </a:lnSpc>
            </a:pPr>
            <a:r>
              <a:rPr lang="en-US" sz="3478" spc="-69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Python içinde doğrudan model kullanımı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3731" y="5523415"/>
            <a:ext cx="5278428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llama_cpp ile model yükle ve üret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5370" y="6336701"/>
            <a:ext cx="5114607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vLLM Python arayüzü üzerinden hızlı ve ölçeklenebilir üretim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6456" y="7677115"/>
            <a:ext cx="6005975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Parametre ayarlarıyla çıktıyı kontrol 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162" y="8475340"/>
            <a:ext cx="5935396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Aynı prompt ile pratik kullanım örneği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8622" y="1279043"/>
            <a:ext cx="11539378" cy="8373902"/>
          </a:xfrm>
          <a:custGeom>
            <a:avLst/>
            <a:gdLst/>
            <a:ahLst/>
            <a:cxnLst/>
            <a:rect r="r" b="b" t="t" l="l"/>
            <a:pathLst>
              <a:path h="8373902" w="11539378">
                <a:moveTo>
                  <a:pt x="0" y="0"/>
                </a:moveTo>
                <a:lnTo>
                  <a:pt x="11539378" y="0"/>
                </a:lnTo>
                <a:lnTo>
                  <a:pt x="11539378" y="8373902"/>
                </a:lnTo>
                <a:lnTo>
                  <a:pt x="0" y="8373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3476" y="1028075"/>
            <a:ext cx="7588312" cy="121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8"/>
              </a:lnSpc>
            </a:pPr>
            <a:r>
              <a:rPr lang="en-US" sz="8519" spc="-170" b="true">
                <a:solidFill>
                  <a:srgbClr val="FFFFFF">
                    <a:alpha val="92941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Üretim Kontrolü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350377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5378" y="3373697"/>
            <a:ext cx="5260641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30" b="true">
                <a:solidFill>
                  <a:srgbClr val="97B53C">
                    <a:alpha val="92941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Temperature, top-p, top-k </a:t>
            </a:r>
            <a:r>
              <a:rPr lang="en-US" sz="3102" spc="-30">
                <a:solidFill>
                  <a:srgbClr val="FFFFFF">
                    <a:alpha val="92941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ile yaratıcılık ve çeşitlilik kontrolü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2879" y="4909903"/>
            <a:ext cx="5510583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30" b="true">
                <a:solidFill>
                  <a:srgbClr val="97B53C">
                    <a:alpha val="92941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Presence ve frequency penalty</a:t>
            </a:r>
          </a:p>
          <a:p>
            <a:pPr algn="l">
              <a:lnSpc>
                <a:spcPts val="4032"/>
              </a:lnSpc>
            </a:pPr>
            <a:r>
              <a:rPr lang="en-US" sz="3102" spc="-30">
                <a:solidFill>
                  <a:srgbClr val="FFFFFF">
                    <a:alpha val="92941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ile tekrar azaltma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232" y="6446109"/>
            <a:ext cx="5375191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30" b="true">
                <a:solidFill>
                  <a:srgbClr val="97B53C">
                    <a:alpha val="92941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Uzunluk ve stop parametreleri</a:t>
            </a:r>
          </a:p>
          <a:p>
            <a:pPr algn="l">
              <a:lnSpc>
                <a:spcPts val="4032"/>
              </a:lnSpc>
            </a:pPr>
            <a:r>
              <a:rPr lang="en-US" sz="3102" spc="-30">
                <a:solidFill>
                  <a:srgbClr val="FFFFFF">
                    <a:alpha val="92941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ile cevap sınırlandırma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182" y="7967254"/>
            <a:ext cx="5480208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30">
                <a:solidFill>
                  <a:srgbClr val="FFFFFF">
                    <a:alpha val="92941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Kodu model isteğine ekle, davranışı hassas şekilde ayarla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1866" y="3848060"/>
            <a:ext cx="7186134" cy="4514911"/>
          </a:xfrm>
          <a:custGeom>
            <a:avLst/>
            <a:gdLst/>
            <a:ahLst/>
            <a:cxnLst/>
            <a:rect r="r" b="b" t="t" l="l"/>
            <a:pathLst>
              <a:path h="4514911" w="7186134">
                <a:moveTo>
                  <a:pt x="0" y="0"/>
                </a:moveTo>
                <a:lnTo>
                  <a:pt x="7186134" y="0"/>
                </a:lnTo>
                <a:lnTo>
                  <a:pt x="7186134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5447" y="643411"/>
            <a:ext cx="9427997" cy="195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3"/>
              </a:lnSpc>
            </a:pPr>
            <a:r>
              <a:rPr lang="en-US" sz="6800" spc="-136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Bellek Yönetimi ve Araçların Karşılaştırması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214004"/>
            <a:ext cx="10894048" cy="1716322"/>
          </a:xfrm>
          <a:custGeom>
            <a:avLst/>
            <a:gdLst/>
            <a:ahLst/>
            <a:cxnLst/>
            <a:rect r="r" b="b" t="t" l="l"/>
            <a:pathLst>
              <a:path h="1716322" w="10894048">
                <a:moveTo>
                  <a:pt x="0" y="0"/>
                </a:moveTo>
                <a:lnTo>
                  <a:pt x="10894048" y="0"/>
                </a:lnTo>
                <a:lnTo>
                  <a:pt x="10894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8409" y="3787219"/>
            <a:ext cx="963004" cy="70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7"/>
              </a:lnSpc>
            </a:pPr>
            <a:r>
              <a:rPr lang="en-US" b="true" sz="4803" spc="-96">
                <a:solidFill>
                  <a:srgbClr val="8EB63B"/>
                </a:solidFill>
                <a:latin typeface="Roboto Bold"/>
                <a:ea typeface="Roboto Bold"/>
                <a:cs typeface="Roboto Bold"/>
                <a:sym typeface="Roboto Bold"/>
              </a:rPr>
              <a:t>TGI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78220" y="3214004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5253" y="3574737"/>
            <a:ext cx="5705187" cy="93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Bellek limitleri ve batch token sınırları</a:t>
            </a:r>
          </a:p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docker run ile üretim ayarları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4919394"/>
            <a:ext cx="10894048" cy="1519546"/>
          </a:xfrm>
          <a:custGeom>
            <a:avLst/>
            <a:gdLst/>
            <a:ahLst/>
            <a:cxnLst/>
            <a:rect r="r" b="b" t="t" l="l"/>
            <a:pathLst>
              <a:path h="1519546" w="10894048">
                <a:moveTo>
                  <a:pt x="0" y="0"/>
                </a:moveTo>
                <a:lnTo>
                  <a:pt x="10894048" y="0"/>
                </a:lnTo>
                <a:lnTo>
                  <a:pt x="10894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90173" y="5353546"/>
            <a:ext cx="1499474" cy="70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7"/>
              </a:lnSpc>
            </a:pPr>
            <a:r>
              <a:rPr lang="en-US" b="true" sz="4803" spc="-96">
                <a:solidFill>
                  <a:srgbClr val="8EB63B"/>
                </a:solidFill>
                <a:latin typeface="Roboto Bold"/>
                <a:ea typeface="Roboto Bold"/>
                <a:cs typeface="Roboto Bold"/>
                <a:sym typeface="Roboto Bold"/>
              </a:rPr>
              <a:t>vLLM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478220" y="4919394"/>
            <a:ext cx="229694" cy="1519546"/>
          </a:xfrm>
          <a:custGeom>
            <a:avLst/>
            <a:gdLst/>
            <a:ahLst/>
            <a:cxnLst/>
            <a:rect r="r" b="b" t="t" l="l"/>
            <a:pathLst>
              <a:path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90505" y="5186247"/>
            <a:ext cx="6179995" cy="93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PagedAttention ile bellek sayfalama</a:t>
            </a:r>
          </a:p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yüksek verimlilik, çok kullanıcılı iş yükleri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6428009"/>
            <a:ext cx="10894048" cy="1508614"/>
          </a:xfrm>
          <a:custGeom>
            <a:avLst/>
            <a:gdLst/>
            <a:ahLst/>
            <a:cxnLst/>
            <a:rect r="r" b="b" t="t" l="l"/>
            <a:pathLst>
              <a:path h="1508614" w="10894048">
                <a:moveTo>
                  <a:pt x="0" y="0"/>
                </a:moveTo>
                <a:lnTo>
                  <a:pt x="10894048" y="0"/>
                </a:lnTo>
                <a:lnTo>
                  <a:pt x="10894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3058" y="6934857"/>
            <a:ext cx="2453704" cy="6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</a:pPr>
            <a:r>
              <a:rPr lang="en-US" b="true" sz="4447" spc="-89">
                <a:solidFill>
                  <a:srgbClr val="8EB63B"/>
                </a:solidFill>
                <a:latin typeface="Roboto Bold"/>
                <a:ea typeface="Roboto Bold"/>
                <a:cs typeface="Roboto Bold"/>
                <a:sym typeface="Roboto Bold"/>
              </a:rPr>
              <a:t>llama.cpp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478220" y="6428009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84801" y="6722453"/>
            <a:ext cx="6750386" cy="93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Quantization ile daha düşük bellek kullanımı GPU/CPU paylaşımı ve thread ayarları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7925691"/>
            <a:ext cx="10894048" cy="1934962"/>
          </a:xfrm>
          <a:custGeom>
            <a:avLst/>
            <a:gdLst/>
            <a:ahLst/>
            <a:cxnLst/>
            <a:rect r="r" b="b" t="t" l="l"/>
            <a:pathLst>
              <a:path h="1934962" w="10894048">
                <a:moveTo>
                  <a:pt x="0" y="0"/>
                </a:moveTo>
                <a:lnTo>
                  <a:pt x="10894048" y="0"/>
                </a:lnTo>
                <a:lnTo>
                  <a:pt x="10894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60008" y="8591550"/>
            <a:ext cx="1159804" cy="6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</a:pPr>
            <a:r>
              <a:rPr lang="en-US" b="true" sz="4447" spc="-89">
                <a:solidFill>
                  <a:srgbClr val="8EB63B"/>
                </a:solidFill>
                <a:latin typeface="Roboto Bold"/>
                <a:ea typeface="Roboto Bold"/>
                <a:cs typeface="Roboto Bold"/>
                <a:sym typeface="Roboto Bold"/>
              </a:rPr>
              <a:t>Özet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478220" y="7925691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81879" y="8168822"/>
            <a:ext cx="7042601" cy="139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spc="-55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TGI sağlam ve ölçeklenebilir API performansı vLLM yüksek verimli çoklu kullanıcı senaryoları llama.cpp hafif, taşınabilir ve esnek kullanım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DAHX4FaTTuk</dc:identifier>
  <dcterms:modified xsi:type="dcterms:W3CDTF">2011-08-01T06:04:30Z</dcterms:modified>
  <cp:revision>1</cp:revision>
  <dc:title>TGI, vLLM ve llama.cpp Sunumu</dc:title>
</cp:coreProperties>
</file>