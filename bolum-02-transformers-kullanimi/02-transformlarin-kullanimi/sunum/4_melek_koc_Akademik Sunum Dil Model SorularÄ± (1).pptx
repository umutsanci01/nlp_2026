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Montserrat Bold" charset="1" panose="00000800000000000000"/>
      <p:regular r:id="rId19"/>
    </p:embeddedFont>
    <p:embeddedFont>
      <p:font typeface="Source Sans 3" charset="1" panose="020B0303030403020204"/>
      <p:regular r:id="rId20"/>
    </p:embeddedFont>
    <p:embeddedFont>
      <p:font typeface="IBM Plex Mono" charset="1" panose="020B05090502030002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0500" cy="10287000"/>
            <a:chOff x="0" y="0"/>
            <a:chExt cx="25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7A7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4762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0B7A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SORU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019175"/>
            <a:ext cx="16459200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Dil modelleme pipeline'ının sırası nedir?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1798701"/>
            <a:ext cx="16459200" cy="19050"/>
            <a:chOff x="0" y="0"/>
            <a:chExt cx="219456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D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857500"/>
            <a:ext cx="9715500" cy="1352550"/>
            <a:chOff x="0" y="0"/>
            <a:chExt cx="12954000" cy="18034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954000" cy="1803400"/>
              <a:chOff x="0" y="0"/>
              <a:chExt cx="12954000" cy="1803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2954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2954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03200" y="523875"/>
              <a:ext cx="11633200" cy="75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A) Model, metni işler ve ham tahminler döndürür. Daha sonra tokenizer bu tahminleri anlamlandırır ve gerektiğinde tekrar metne dönüştürür.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4343400"/>
            <a:ext cx="9715500" cy="1352550"/>
            <a:chOff x="0" y="0"/>
            <a:chExt cx="12954000" cy="18034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954000" cy="1803400"/>
              <a:chOff x="0" y="0"/>
              <a:chExt cx="12954000" cy="1803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954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954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03200" y="523875"/>
              <a:ext cx="11633200" cy="75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B) Önce tokenizer metni işler ve ID'ler döndürür. Model bu ID'leri işler ve bir tahmin çıktısı üretir; bu çıktı bir metin olabilir.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5829300"/>
            <a:ext cx="9715500" cy="1352550"/>
            <a:chOff x="0" y="0"/>
            <a:chExt cx="12954000" cy="18034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2954000" cy="1803400"/>
              <a:chOff x="0" y="0"/>
              <a:chExt cx="12954000" cy="1803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954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E7F2EF"/>
              </a:solidFill>
              <a:ln w="19050" cap="sq">
                <a:solidFill>
                  <a:srgbClr val="0B7A75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2954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03200" y="333375"/>
              <a:ext cx="11633200" cy="1136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C) Tokenizer metni işler ve ID'ler döndürür. Model bu ID'leri işler ve bir tahmin çıktısı üretir. Daha sonra tokenizer, bu tahminleri tekrar bir metne dönüştürmek için kullanılabilir. ✓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58500" y="2857500"/>
            <a:ext cx="6515100" cy="6191250"/>
            <a:chOff x="0" y="0"/>
            <a:chExt cx="8686800" cy="8255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8686800" cy="8255000"/>
              <a:chOff x="0" y="0"/>
              <a:chExt cx="8686800" cy="8255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6868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8686800">
                    <a:moveTo>
                      <a:pt x="0" y="0"/>
                    </a:moveTo>
                    <a:lnTo>
                      <a:pt x="8686800" y="0"/>
                    </a:lnTo>
                    <a:lnTo>
                      <a:pt x="86868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421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86868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54000" y="317500"/>
              <a:ext cx="787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78D5C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AÇIKLAMA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54000" y="895350"/>
              <a:ext cx="7874000" cy="1518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Text → Tokenizer → IDs → Model → Prediction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 yanlış: Model doğrudan ham metinle başlamaz.</a:t>
              </a: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 eksik: Çıktının tekrar metne çevrilmesini belirtmez.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0500" cy="10287000"/>
            <a:chOff x="0" y="0"/>
            <a:chExt cx="25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7A7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4762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0B7A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SORU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019175"/>
            <a:ext cx="16459200" cy="101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Temel Transformer modelinin ürettiği tensor kaç boyutludur ve bu boyutlar nelerdir?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2303526"/>
            <a:ext cx="16459200" cy="19050"/>
            <a:chOff x="0" y="0"/>
            <a:chExt cx="219456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D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857500"/>
            <a:ext cx="9715500" cy="1352550"/>
            <a:chOff x="0" y="0"/>
            <a:chExt cx="12954000" cy="18034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954000" cy="1803400"/>
              <a:chOff x="0" y="0"/>
              <a:chExt cx="12954000" cy="1803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2954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2954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03200" y="714375"/>
              <a:ext cx="11633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A) 2: Sequence length (dizi uzunluğu) ve batch size (batch boyutu)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4343400"/>
            <a:ext cx="9715500" cy="1352550"/>
            <a:chOff x="0" y="0"/>
            <a:chExt cx="12954000" cy="18034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954000" cy="1803400"/>
              <a:chOff x="0" y="0"/>
              <a:chExt cx="12954000" cy="1803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954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954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03200" y="714375"/>
              <a:ext cx="11633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B) 2: Sequence length (dizi uzunluğu) ve hidden size (gizli katman boyutu)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5829300"/>
            <a:ext cx="9715500" cy="1352550"/>
            <a:chOff x="0" y="0"/>
            <a:chExt cx="12954000" cy="18034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2954000" cy="1803400"/>
              <a:chOff x="0" y="0"/>
              <a:chExt cx="12954000" cy="1803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954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E7F2EF"/>
              </a:solidFill>
              <a:ln w="19050" cap="sq">
                <a:solidFill>
                  <a:srgbClr val="0B7A75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2954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03200" y="523875"/>
              <a:ext cx="11633200" cy="75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C) 3: Sequence length (dizi uzunluğu), batch size (batch boyutu) ve hidden size (gizli katman boyutu) ✓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58500" y="2857500"/>
            <a:ext cx="6515100" cy="6191250"/>
            <a:chOff x="0" y="0"/>
            <a:chExt cx="8686800" cy="8255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8686800" cy="8255000"/>
              <a:chOff x="0" y="0"/>
              <a:chExt cx="8686800" cy="8255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6868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8686800">
                    <a:moveTo>
                      <a:pt x="0" y="0"/>
                    </a:moveTo>
                    <a:lnTo>
                      <a:pt x="8686800" y="0"/>
                    </a:lnTo>
                    <a:lnTo>
                      <a:pt x="86868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421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86868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54000" y="317500"/>
              <a:ext cx="787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78D5C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AÇIKLAMA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54000" y="895350"/>
              <a:ext cx="7874000" cy="3042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Transformer çıktısı: (Batch Size, Sequence Length, Hidden Size)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Batch Size: Aynı anda işlenen örnek sayısı.</a:t>
              </a: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Sequence Length: Bir girdideki token sayısı.</a:t>
              </a: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Hidden Size: Her token temsilinin boyutu.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A: Hidden size eksik. B: Batch size eksik.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0500" cy="10287000"/>
            <a:chOff x="0" y="0"/>
            <a:chExt cx="25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7A7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4762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0B7A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SORU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019175"/>
            <a:ext cx="16459200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Aşağıdakilerden hangisi subword tokenization'a bir örnektir?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1798701"/>
            <a:ext cx="16459200" cy="19050"/>
            <a:chOff x="0" y="0"/>
            <a:chExt cx="219456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D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857500"/>
            <a:ext cx="9715500" cy="838200"/>
            <a:chOff x="0" y="0"/>
            <a:chExt cx="12954000" cy="11176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954000" cy="1117600"/>
              <a:chOff x="0" y="0"/>
              <a:chExt cx="12954000" cy="1117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2954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E7F2EF"/>
              </a:solidFill>
              <a:ln w="19050" cap="sq">
                <a:solidFill>
                  <a:srgbClr val="0B7A75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2954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03200" y="374396"/>
              <a:ext cx="11633200" cy="359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4"/>
                </a:lnSpc>
              </a:pPr>
              <a:r>
                <a:rPr lang="en-US" sz="172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A) WordPiece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3829050"/>
            <a:ext cx="9715500" cy="838200"/>
            <a:chOff x="0" y="0"/>
            <a:chExt cx="12954000" cy="11176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954000" cy="1117600"/>
              <a:chOff x="0" y="0"/>
              <a:chExt cx="12954000" cy="11176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954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954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03200" y="374396"/>
              <a:ext cx="11633200" cy="359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4"/>
                </a:lnSpc>
              </a:pPr>
              <a:r>
                <a:rPr lang="en-US" sz="172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B) Character-based Tokenization (Karakter tabanlı tokenization)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4800600"/>
            <a:ext cx="9715500" cy="838200"/>
            <a:chOff x="0" y="0"/>
            <a:chExt cx="12954000" cy="11176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2954000" cy="1117600"/>
              <a:chOff x="0" y="0"/>
              <a:chExt cx="12954000" cy="11176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954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2954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03200" y="374396"/>
              <a:ext cx="11633200" cy="359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4"/>
                </a:lnSpc>
              </a:pPr>
              <a:r>
                <a:rPr lang="en-US" sz="172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C) Splitting on whitespace and punctuation (Boşluk ve noktalama işaretlerine göre ayırma)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5772150"/>
            <a:ext cx="9715500" cy="838200"/>
            <a:chOff x="0" y="0"/>
            <a:chExt cx="12954000" cy="11176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2954000" cy="1117600"/>
              <a:chOff x="0" y="0"/>
              <a:chExt cx="12954000" cy="11176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954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E7F2EF"/>
              </a:solidFill>
              <a:ln w="19050" cap="sq">
                <a:solidFill>
                  <a:srgbClr val="0B7A75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2954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03200" y="374396"/>
              <a:ext cx="11633200" cy="359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4"/>
                </a:lnSpc>
              </a:pPr>
              <a:r>
                <a:rPr lang="en-US" sz="172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D) BPE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6743700"/>
            <a:ext cx="9715500" cy="838200"/>
            <a:chOff x="0" y="0"/>
            <a:chExt cx="12954000" cy="11176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2954000" cy="1117600"/>
              <a:chOff x="0" y="0"/>
              <a:chExt cx="12954000" cy="11176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954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E7F2EF"/>
              </a:solidFill>
              <a:ln w="19050" cap="sq">
                <a:solidFill>
                  <a:srgbClr val="0B7A75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954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203200" y="374396"/>
              <a:ext cx="11633200" cy="359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4"/>
                </a:lnSpc>
              </a:pPr>
              <a:r>
                <a:rPr lang="en-US" sz="172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E) Unigram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7715250"/>
            <a:ext cx="9715500" cy="838200"/>
            <a:chOff x="0" y="0"/>
            <a:chExt cx="12954000" cy="11176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2954000" cy="1117600"/>
              <a:chOff x="0" y="0"/>
              <a:chExt cx="12954000" cy="11176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2954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2954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203200" y="374396"/>
              <a:ext cx="11633200" cy="359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4"/>
                </a:lnSpc>
              </a:pPr>
              <a:r>
                <a:rPr lang="en-US" sz="172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F) Yukarıdakilerin hiçbiri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58500" y="2857500"/>
            <a:ext cx="6515100" cy="6191250"/>
            <a:chOff x="0" y="0"/>
            <a:chExt cx="8686800" cy="8255000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8686800" cy="8255000"/>
              <a:chOff x="0" y="0"/>
              <a:chExt cx="8686800" cy="82550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6868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8686800">
                    <a:moveTo>
                      <a:pt x="0" y="0"/>
                    </a:moveTo>
                    <a:lnTo>
                      <a:pt x="8686800" y="0"/>
                    </a:lnTo>
                    <a:lnTo>
                      <a:pt x="86868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421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86868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254000" y="317500"/>
              <a:ext cx="787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78D5C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KAVRAM HARİTASI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254000" y="895350"/>
              <a:ext cx="7874000" cy="2661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Cevap: A, D ve E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Subword tokenization kelimeleri küçük, anlamlı parçalara ayırır. WordPiece alt kelime parçaları üretir. BPE sık kullanılan parçaları birleştirir. Unigram uygun parça kümesini seçer. Character-based tek tek karakterlere; whitespace &amp; punctuation ise boşluk ve noktalama işaretlerine göre böler.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0500" cy="10287000"/>
            <a:chOff x="0" y="0"/>
            <a:chExt cx="25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7A7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4762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0B7A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SORU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019175"/>
            <a:ext cx="16459200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head nedir?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1798701"/>
            <a:ext cx="16459200" cy="19050"/>
            <a:chOff x="0" y="0"/>
            <a:chExt cx="219456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D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857500"/>
            <a:ext cx="9715500" cy="1352550"/>
            <a:chOff x="0" y="0"/>
            <a:chExt cx="12954000" cy="18034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954000" cy="1803400"/>
              <a:chOff x="0" y="0"/>
              <a:chExt cx="12954000" cy="1803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2954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2954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03200" y="714375"/>
              <a:ext cx="11633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A) Temel Transformer ağının, tensorleri doğru katmanlara yönlendiren bir bileşenidir.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4343400"/>
            <a:ext cx="9715500" cy="1352550"/>
            <a:chOff x="0" y="0"/>
            <a:chExt cx="12954000" cy="18034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954000" cy="1803400"/>
              <a:chOff x="0" y="0"/>
              <a:chExt cx="12954000" cy="1803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954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954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03200" y="523875"/>
              <a:ext cx="11633200" cy="75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B) Self-attention mekanizması olarak da bilinir; bir tokenın temsilini dizideki diğer tokenlara göre uyarlar.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5829300"/>
            <a:ext cx="9715500" cy="1352550"/>
            <a:chOff x="0" y="0"/>
            <a:chExt cx="12954000" cy="18034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2954000" cy="1803400"/>
              <a:chOff x="0" y="0"/>
              <a:chExt cx="12954000" cy="1803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954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E7F2EF"/>
              </a:solidFill>
              <a:ln w="19050" cap="sq">
                <a:solidFill>
                  <a:srgbClr val="0B7A75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2954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03200" y="523875"/>
              <a:ext cx="11633200" cy="75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C) Transformer'ın tahminlerini göreve özel bir çıktıya dönüştürmek için kullanılan, genellikle bir veya birkaç katmandan oluşan ek bir bileşendir. ✓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58500" y="2857500"/>
            <a:ext cx="6515100" cy="6191250"/>
            <a:chOff x="0" y="0"/>
            <a:chExt cx="8686800" cy="8255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8686800" cy="8255000"/>
              <a:chOff x="0" y="0"/>
              <a:chExt cx="8686800" cy="8255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6868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8686800">
                    <a:moveTo>
                      <a:pt x="0" y="0"/>
                    </a:moveTo>
                    <a:lnTo>
                      <a:pt x="8686800" y="0"/>
                    </a:lnTo>
                    <a:lnTo>
                      <a:pt x="86868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421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86868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54000" y="317500"/>
              <a:ext cx="787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78D5C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AÇIKLAMA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54000" y="895350"/>
              <a:ext cx="7874000" cy="3042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Model head, temel Transformer'ın üzerine eklenir ve çıktıyı belirli bir göreve uygun hale getirir.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Transformer → Classification Head → Positive / Negative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 yanlış: Tensor yönlendirmez.</a:t>
              </a: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 yanlış: Self-attention bir mekanizmadır; model head değildir.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0500" cy="10287000"/>
            <a:chOff x="0" y="0"/>
            <a:chExt cx="25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7A7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4762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0B7A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SORU 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019175"/>
            <a:ext cx="16459200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AutoModel nedir?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1798701"/>
            <a:ext cx="16459200" cy="19050"/>
            <a:chOff x="0" y="0"/>
            <a:chExt cx="219456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D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857500"/>
            <a:ext cx="9715500" cy="1352550"/>
            <a:chOff x="0" y="0"/>
            <a:chExt cx="12954000" cy="18034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954000" cy="1803400"/>
              <a:chOff x="0" y="0"/>
              <a:chExt cx="12954000" cy="1803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2954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2954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03200" y="714375"/>
              <a:ext cx="11633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A) Verileriniz üzerinde otomatik olarak eğitim yapan bir modeldir.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4343400"/>
            <a:ext cx="9715500" cy="1352550"/>
            <a:chOff x="0" y="0"/>
            <a:chExt cx="12954000" cy="18034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954000" cy="1803400"/>
              <a:chOff x="0" y="0"/>
              <a:chExt cx="12954000" cy="1803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954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E7F2EF"/>
              </a:solidFill>
              <a:ln w="19050" cap="sq">
                <a:solidFill>
                  <a:srgbClr val="0B7A75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954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03200" y="714375"/>
              <a:ext cx="11633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B) Checkpoint'e göre doğru mimariyi döndüren bir nesnedir. ✓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5829300"/>
            <a:ext cx="9715500" cy="1352550"/>
            <a:chOff x="0" y="0"/>
            <a:chExt cx="12954000" cy="18034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2954000" cy="1803400"/>
              <a:chOff x="0" y="0"/>
              <a:chExt cx="12954000" cy="1803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954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2954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03200" y="523875"/>
              <a:ext cx="11633200" cy="75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C) Girdilerinde kullanılan dili otomatik olarak tespit ederek doğru ağırlıkları yükleyen bir modeldir.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58500" y="2857500"/>
            <a:ext cx="6515100" cy="6191250"/>
            <a:chOff x="0" y="0"/>
            <a:chExt cx="8686800" cy="8255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8686800" cy="8255000"/>
              <a:chOff x="0" y="0"/>
              <a:chExt cx="8686800" cy="8255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6868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8686800">
                    <a:moveTo>
                      <a:pt x="0" y="0"/>
                    </a:moveTo>
                    <a:lnTo>
                      <a:pt x="8686800" y="0"/>
                    </a:lnTo>
                    <a:lnTo>
                      <a:pt x="86868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421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86868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54000" y="317500"/>
              <a:ext cx="787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78D5C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AÇIKLAMA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54000" y="895350"/>
              <a:ext cx="7874000" cy="2661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AutoModel, verilen checkpoint'e bakarak uygun model mimarisini seçer ve yükler.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Örnek: “bert-base-cased” → BERT mimarisi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 yanlış: Eğitim yapmaz; önceden eğitilmiş modeli yükler.</a:t>
              </a: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 yanlış: Dili algılayıp model seçmez; checkpoint belirtilmiştir.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0500" cy="10287000"/>
            <a:chOff x="0" y="0"/>
            <a:chExt cx="25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7A7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4762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0B7A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SORU 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019175"/>
            <a:ext cx="16459200" cy="101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Farklı uzunluktaki dizileri birlikte batch'lerken hangi tekniklerin farkında olunmalıdır?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2303526"/>
            <a:ext cx="16459200" cy="19050"/>
            <a:chOff x="0" y="0"/>
            <a:chExt cx="219456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D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857500"/>
            <a:ext cx="9715500" cy="1066800"/>
            <a:chOff x="0" y="0"/>
            <a:chExt cx="12954000" cy="14224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954000" cy="1422400"/>
              <a:chOff x="0" y="0"/>
              <a:chExt cx="12954000" cy="1422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2954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E7F2EF"/>
              </a:solidFill>
              <a:ln w="19050" cap="sq">
                <a:solidFill>
                  <a:srgbClr val="0B7A75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29540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03200" y="523875"/>
              <a:ext cx="11633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A) Kırpma (Truncating) ✓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4057650"/>
            <a:ext cx="9715500" cy="1066800"/>
            <a:chOff x="0" y="0"/>
            <a:chExt cx="12954000" cy="14224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954000" cy="1422400"/>
              <a:chOff x="0" y="0"/>
              <a:chExt cx="12954000" cy="1422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954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9540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03200" y="523875"/>
              <a:ext cx="11633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B) Tensor döndürme (Returning tensors)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5257800"/>
            <a:ext cx="9715500" cy="1066800"/>
            <a:chOff x="0" y="0"/>
            <a:chExt cx="12954000" cy="14224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2954000" cy="1422400"/>
              <a:chOff x="0" y="0"/>
              <a:chExt cx="12954000" cy="1422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954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E7F2EF"/>
              </a:solidFill>
              <a:ln w="19050" cap="sq">
                <a:solidFill>
                  <a:srgbClr val="0B7A75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29540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03200" y="523875"/>
              <a:ext cx="11633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C) Padding (Doldurma) ✓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6457950"/>
            <a:ext cx="9715500" cy="1066800"/>
            <a:chOff x="0" y="0"/>
            <a:chExt cx="12954000" cy="14224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2954000" cy="1422400"/>
              <a:chOff x="0" y="0"/>
              <a:chExt cx="12954000" cy="1422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954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E7F2EF"/>
              </a:solidFill>
              <a:ln w="19050" cap="sq">
                <a:solidFill>
                  <a:srgbClr val="0B7A75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29540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03200" y="523875"/>
              <a:ext cx="11633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D) Attention masking (Dikkat maskesi) ✓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858500" y="2857500"/>
            <a:ext cx="6515100" cy="6191250"/>
            <a:chOff x="0" y="0"/>
            <a:chExt cx="8686800" cy="8255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8686800" cy="8255000"/>
              <a:chOff x="0" y="0"/>
              <a:chExt cx="8686800" cy="8255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6868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8686800">
                    <a:moveTo>
                      <a:pt x="0" y="0"/>
                    </a:moveTo>
                    <a:lnTo>
                      <a:pt x="8686800" y="0"/>
                    </a:lnTo>
                    <a:lnTo>
                      <a:pt x="86868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421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86868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254000" y="317500"/>
              <a:ext cx="787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78D5C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AÇIKLAMA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54000" y="895350"/>
              <a:ext cx="7874000" cy="2280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Padding kısa dizileri aynı uzunluğa getirir; truncation fazla uzun dizileri maksimum uzunluğa indirir; attention mask padding tokenlarının dikkate alınmasını engeller.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 yanlış: Tensor formatında çıktı almak farklı uzunlukları yönetmez.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0500" cy="10287000"/>
            <a:chOff x="0" y="0"/>
            <a:chExt cx="25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7A7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4762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0B7A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SORU 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019175"/>
            <a:ext cx="16459200" cy="101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Bir sequence classification modelinin çıktısı olan logits değerlerine SoftMax fonksiyonunu uygulamanın amacı nedir?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2303526"/>
            <a:ext cx="16459200" cy="19050"/>
            <a:chOff x="0" y="0"/>
            <a:chExt cx="219456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D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857500"/>
            <a:ext cx="9715500" cy="1352550"/>
            <a:chOff x="0" y="0"/>
            <a:chExt cx="12954000" cy="18034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954000" cy="1803400"/>
              <a:chOff x="0" y="0"/>
              <a:chExt cx="12954000" cy="1803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2954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2954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03200" y="714375"/>
              <a:ext cx="11633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A) Logits değerlerini daha güvenilir hale getirmek için yumuşatır.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4343400"/>
            <a:ext cx="9715500" cy="1352550"/>
            <a:chOff x="0" y="0"/>
            <a:chExt cx="12954000" cy="18034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954000" cy="1803400"/>
              <a:chOff x="0" y="0"/>
              <a:chExt cx="12954000" cy="1803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954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954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03200" y="714375"/>
              <a:ext cx="11633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B) Anlaşılabilir olmaları için bir alt ve üst sınır uygular.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5829300"/>
            <a:ext cx="9715500" cy="1352550"/>
            <a:chOff x="0" y="0"/>
            <a:chExt cx="12954000" cy="18034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2954000" cy="1803400"/>
              <a:chOff x="0" y="0"/>
              <a:chExt cx="12954000" cy="1803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954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E7F2EF"/>
              </a:solidFill>
              <a:ln w="19050" cap="sq">
                <a:solidFill>
                  <a:srgbClr val="0B7A75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2954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03200" y="714375"/>
              <a:ext cx="11633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C) Çıktı değerlerinin toplamı 1 olur ve böylece olasılıksal olarak yorumlanabilir. ✓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58500" y="2857500"/>
            <a:ext cx="6515100" cy="6191250"/>
            <a:chOff x="0" y="0"/>
            <a:chExt cx="8686800" cy="8255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8686800" cy="8255000"/>
              <a:chOff x="0" y="0"/>
              <a:chExt cx="8686800" cy="8255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6868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8686800">
                    <a:moveTo>
                      <a:pt x="0" y="0"/>
                    </a:moveTo>
                    <a:lnTo>
                      <a:pt x="8686800" y="0"/>
                    </a:lnTo>
                    <a:lnTo>
                      <a:pt x="86868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421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86868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54000" y="317500"/>
              <a:ext cx="787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78D5C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AÇIKLAMA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54000" y="895350"/>
              <a:ext cx="7874000" cy="2661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Logits, modelin sınıflar için ürettiği ham değerlerdir. SoftMax bunları olasılıklara dönüştürür; toplam 1 olur.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Örnek: Positive: 0.8 | Negative: 0.2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 yanlış: Amaç yalnızca “yumuşatmak” değildir.</a:t>
              </a: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 yanlış: Temel amaç sınır koymak değil, olasılıksal yorumdur.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0500" cy="10287000"/>
            <a:chOff x="0" y="0"/>
            <a:chExt cx="25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7A7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4762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0B7A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SORU 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019175"/>
            <a:ext cx="16459200" cy="101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Tokenizer API'sinin büyük bölümü hangi method etrafında şekillenmiştir?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2303526"/>
            <a:ext cx="16459200" cy="19050"/>
            <a:chOff x="0" y="0"/>
            <a:chExt cx="219456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D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857500"/>
            <a:ext cx="9715500" cy="1066800"/>
            <a:chOff x="0" y="0"/>
            <a:chExt cx="12954000" cy="14224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954000" cy="1422400"/>
              <a:chOff x="0" y="0"/>
              <a:chExt cx="12954000" cy="1422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2954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29540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03200" y="523875"/>
              <a:ext cx="11633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A) encode, çünkü metni ID'lere ve ID'leri tahminlere dönüştürebilir.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4057650"/>
            <a:ext cx="9715500" cy="1066800"/>
            <a:chOff x="0" y="0"/>
            <a:chExt cx="12954000" cy="14224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954000" cy="1422400"/>
              <a:chOff x="0" y="0"/>
              <a:chExt cx="12954000" cy="1422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954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E7F2EF"/>
              </a:solidFill>
              <a:ln w="19050" cap="sq">
                <a:solidFill>
                  <a:srgbClr val="0B7A75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9540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03200" y="523875"/>
              <a:ext cx="11633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B) Tokenizer nesnesini doğrudan çağırmak. ✓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5257800"/>
            <a:ext cx="9715500" cy="1066800"/>
            <a:chOff x="0" y="0"/>
            <a:chExt cx="12954000" cy="14224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2954000" cy="1422400"/>
              <a:chOff x="0" y="0"/>
              <a:chExt cx="12954000" cy="1422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954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29540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03200" y="523875"/>
              <a:ext cx="11633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C) pad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6457950"/>
            <a:ext cx="9715500" cy="1066800"/>
            <a:chOff x="0" y="0"/>
            <a:chExt cx="12954000" cy="14224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2954000" cy="1422400"/>
              <a:chOff x="0" y="0"/>
              <a:chExt cx="12954000" cy="1422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954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12954000">
                    <a:moveTo>
                      <a:pt x="0" y="0"/>
                    </a:moveTo>
                    <a:lnTo>
                      <a:pt x="12954000" y="0"/>
                    </a:lnTo>
                    <a:lnTo>
                      <a:pt x="12954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29540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03200" y="523875"/>
              <a:ext cx="11633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D) tokenize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858500" y="2857500"/>
            <a:ext cx="6515100" cy="6191250"/>
            <a:chOff x="0" y="0"/>
            <a:chExt cx="8686800" cy="8255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8686800" cy="8255000"/>
              <a:chOff x="0" y="0"/>
              <a:chExt cx="8686800" cy="8255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6868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8686800">
                    <a:moveTo>
                      <a:pt x="0" y="0"/>
                    </a:moveTo>
                    <a:lnTo>
                      <a:pt x="8686800" y="0"/>
                    </a:lnTo>
                    <a:lnTo>
                      <a:pt x="86868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421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86868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254000" y="317500"/>
              <a:ext cx="787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78D5C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AÇIKLAMA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54000" y="895350"/>
              <a:ext cx="7874000" cy="2661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API'nin merkezinde __call__ methodu bulunur. Tokenizer doğrudan çağrılarak metin modele uygun işlenir.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tokenizer(“Hello!”, return_tensors=“pt”)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encode ID üretir; pad yalnızca doldurur; tokenize tokenlara ayırır. Hiçbiri API'nin merkezindeki method değildir.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0500" cy="10287000"/>
            <a:chOff x="0" y="0"/>
            <a:chExt cx="25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7A7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4762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0B7A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SORU 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019175"/>
            <a:ext cx="16459200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 kod örneğinde result değişkeni ne içerir?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1798701"/>
            <a:ext cx="16459200" cy="19050"/>
            <a:chOff x="0" y="0"/>
            <a:chExt cx="219456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D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3143250"/>
            <a:ext cx="9525000" cy="1619250"/>
            <a:chOff x="0" y="0"/>
            <a:chExt cx="12700000" cy="2159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700000" cy="2159000"/>
              <a:chOff x="0" y="0"/>
              <a:chExt cx="12700000" cy="2159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2700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12700000">
                    <a:moveTo>
                      <a:pt x="0" y="0"/>
                    </a:moveTo>
                    <a:lnTo>
                      <a:pt x="12700000" y="0"/>
                    </a:lnTo>
                    <a:lnTo>
                      <a:pt x="12700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EDF0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2700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03200" y="320675"/>
              <a:ext cx="12192000" cy="1196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from transformers import AutoTokenizer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tokenizer = AutoTokenizer.from_pretrained("bert-base-cased")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result = tokenizer.tokenize("Hello!")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5029200"/>
            <a:ext cx="9525000" cy="1352550"/>
            <a:chOff x="0" y="0"/>
            <a:chExt cx="12700000" cy="18034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700000" cy="1803400"/>
              <a:chOff x="0" y="0"/>
              <a:chExt cx="12700000" cy="1803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700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700000">
                    <a:moveTo>
                      <a:pt x="0" y="0"/>
                    </a:moveTo>
                    <a:lnTo>
                      <a:pt x="12700000" y="0"/>
                    </a:lnTo>
                    <a:lnTo>
                      <a:pt x="12700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E7F2EF"/>
              </a:solidFill>
              <a:ln w="19050" cap="sq">
                <a:solidFill>
                  <a:srgbClr val="0B7A75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700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03200" y="714375"/>
              <a:ext cx="11379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A) Her bir stringin bir token olduğu bir string listesi. ✓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6515100"/>
            <a:ext cx="9525000" cy="1352550"/>
            <a:chOff x="0" y="0"/>
            <a:chExt cx="12700000" cy="18034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2700000" cy="1803400"/>
              <a:chOff x="0" y="0"/>
              <a:chExt cx="12700000" cy="1803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700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700000">
                    <a:moveTo>
                      <a:pt x="0" y="0"/>
                    </a:moveTo>
                    <a:lnTo>
                      <a:pt x="12700000" y="0"/>
                    </a:lnTo>
                    <a:lnTo>
                      <a:pt x="12700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2700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03200" y="714375"/>
              <a:ext cx="11379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B) Bir ID listesi.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8001000"/>
            <a:ext cx="9525000" cy="1352550"/>
            <a:chOff x="0" y="0"/>
            <a:chExt cx="12700000" cy="18034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2700000" cy="1803400"/>
              <a:chOff x="0" y="0"/>
              <a:chExt cx="12700000" cy="1803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700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700000">
                    <a:moveTo>
                      <a:pt x="0" y="0"/>
                    </a:moveTo>
                    <a:lnTo>
                      <a:pt x="12700000" y="0"/>
                    </a:lnTo>
                    <a:lnTo>
                      <a:pt x="12700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2700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03200" y="714375"/>
              <a:ext cx="11379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C) Tüm tokenları içeren bir string.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96890" y="3143250"/>
            <a:ext cx="6515100" cy="6191250"/>
            <a:chOff x="0" y="0"/>
            <a:chExt cx="8686800" cy="8255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8686800" cy="8255000"/>
              <a:chOff x="0" y="0"/>
              <a:chExt cx="8686800" cy="8255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6868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8686800">
                    <a:moveTo>
                      <a:pt x="0" y="0"/>
                    </a:moveTo>
                    <a:lnTo>
                      <a:pt x="8686800" y="0"/>
                    </a:lnTo>
                    <a:lnTo>
                      <a:pt x="86868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421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86868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254000" y="317500"/>
              <a:ext cx="787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78D5C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AÇIKLAMA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54000" y="895350"/>
              <a:ext cx="7874000" cy="2661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tokenize() metni tokenlara ayırır ve liste döndürür.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“Hello!” → [“Hello”, “!”]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 doğru: Her eleman bir token stringidir.</a:t>
              </a: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 yanlış: tokenize() ID dönüşümü yapmaz.</a:t>
              </a: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 yanlış: Sonuç tek string değil, token listesidir.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0500" cy="10287000"/>
            <a:chOff x="0" y="0"/>
            <a:chExt cx="25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7A7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4762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0B7A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SORU 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019175"/>
            <a:ext cx="16459200" cy="5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Aşağıdaki kodda yanlış olan bir şey var nedir?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1798701"/>
            <a:ext cx="16459200" cy="19050"/>
            <a:chOff x="0" y="0"/>
            <a:chExt cx="219456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D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3143250"/>
            <a:ext cx="9525000" cy="2247900"/>
            <a:chOff x="0" y="0"/>
            <a:chExt cx="12700000" cy="29972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700000" cy="2997200"/>
              <a:chOff x="0" y="0"/>
              <a:chExt cx="12700000" cy="29972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2700000" cy="2997200"/>
              </a:xfrm>
              <a:custGeom>
                <a:avLst/>
                <a:gdLst/>
                <a:ahLst/>
                <a:cxnLst/>
                <a:rect r="r" b="b" t="t" l="l"/>
                <a:pathLst>
                  <a:path h="2997200" w="12700000">
                    <a:moveTo>
                      <a:pt x="0" y="0"/>
                    </a:moveTo>
                    <a:lnTo>
                      <a:pt x="12700000" y="0"/>
                    </a:lnTo>
                    <a:lnTo>
                      <a:pt x="12700000" y="2997200"/>
                    </a:lnTo>
                    <a:lnTo>
                      <a:pt x="0" y="2997200"/>
                    </a:lnTo>
                    <a:close/>
                  </a:path>
                </a:pathLst>
              </a:custGeom>
              <a:solidFill>
                <a:srgbClr val="EDF0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2700000" cy="303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03200" y="320675"/>
              <a:ext cx="12192000" cy="200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from transformers import AutoTokenizer, AutoModel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tokenizer = AutoTokenizer.from_pretrained("bert-base-cased")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model = AutoModel.from_pretrained("gpt2")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encoded = tokenizer("Hey!", return_tensors="pt")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1421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result = model(**encoded)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5657850"/>
            <a:ext cx="9525000" cy="1352550"/>
            <a:chOff x="0" y="0"/>
            <a:chExt cx="12700000" cy="18034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700000" cy="1803400"/>
              <a:chOff x="0" y="0"/>
              <a:chExt cx="12700000" cy="1803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700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700000">
                    <a:moveTo>
                      <a:pt x="0" y="0"/>
                    </a:moveTo>
                    <a:lnTo>
                      <a:pt x="12700000" y="0"/>
                    </a:lnTo>
                    <a:lnTo>
                      <a:pt x="12700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700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03200" y="714375"/>
              <a:ext cx="11379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A) Hayır, kod doğru görünüyor.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7143750"/>
            <a:ext cx="9525000" cy="1352550"/>
            <a:chOff x="0" y="0"/>
            <a:chExt cx="12700000" cy="18034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2700000" cy="1803400"/>
              <a:chOff x="0" y="0"/>
              <a:chExt cx="12700000" cy="1803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700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700000">
                    <a:moveTo>
                      <a:pt x="0" y="0"/>
                    </a:moveTo>
                    <a:lnTo>
                      <a:pt x="12700000" y="0"/>
                    </a:lnTo>
                    <a:lnTo>
                      <a:pt x="12700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E7F2EF"/>
              </a:solidFill>
              <a:ln w="19050" cap="sq">
                <a:solidFill>
                  <a:srgbClr val="0B7A75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2700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03200" y="714375"/>
              <a:ext cx="11379200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B) Tokenizer ve model her zaman aynı checkpoint'ten olmalıdır. ✓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8629650"/>
            <a:ext cx="9525000" cy="1352550"/>
            <a:chOff x="0" y="0"/>
            <a:chExt cx="12700000" cy="18034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2700000" cy="1803400"/>
              <a:chOff x="0" y="0"/>
              <a:chExt cx="12700000" cy="1803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700000" cy="1803400"/>
              </a:xfrm>
              <a:custGeom>
                <a:avLst/>
                <a:gdLst/>
                <a:ahLst/>
                <a:cxnLst/>
                <a:rect r="r" b="b" t="t" l="l"/>
                <a:pathLst>
                  <a:path h="1803400" w="12700000">
                    <a:moveTo>
                      <a:pt x="0" y="0"/>
                    </a:moveTo>
                    <a:lnTo>
                      <a:pt x="12700000" y="0"/>
                    </a:lnTo>
                    <a:lnTo>
                      <a:pt x="12700000" y="1803400"/>
                    </a:lnTo>
                    <a:lnTo>
                      <a:pt x="0" y="1803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2700000" cy="184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03200" y="523875"/>
              <a:ext cx="11379200" cy="75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1875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C) Her girdi bir batch olduğu için tokenizer ile padding ve truncation yapmak iyi bir uygulamadır.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163300" y="3143250"/>
            <a:ext cx="6515100" cy="6191250"/>
            <a:chOff x="0" y="0"/>
            <a:chExt cx="8686800" cy="8255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8686800" cy="8255000"/>
              <a:chOff x="0" y="0"/>
              <a:chExt cx="8686800" cy="8255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6868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8686800">
                    <a:moveTo>
                      <a:pt x="0" y="0"/>
                    </a:moveTo>
                    <a:lnTo>
                      <a:pt x="8686800" y="0"/>
                    </a:lnTo>
                    <a:lnTo>
                      <a:pt x="86868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421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86868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254000" y="317500"/>
              <a:ext cx="787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78D5C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AÇIKLAMA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54000" y="895350"/>
              <a:ext cx="7874000" cy="3423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Tokenizer ve model uyumlu checkpointlerden olmalıdır. Burada tokenizer BERT, model GPT-2 olduğu için uyumsuzdur.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BERT Tokenizer → ✕ → GPT-2 Model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 yanlış: Checkpoint uyumsuz.</a:t>
              </a:r>
            </a:p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 yanlış: Padding/truncation her durumda zorunlu değildir; asıl problem uyumsuzluktur.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0500" cy="10287000"/>
            <a:chOff x="0" y="0"/>
            <a:chExt cx="25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7A7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4762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0B7A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BİZİM SORULARIMIZ ·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019175"/>
            <a:ext cx="16459200" cy="101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Farklı uzunluktaki metinler aynı batch içinde verilirken neden padding yapılır? Bu işlemde attention_mask ne işe yarar?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2303526"/>
            <a:ext cx="16459200" cy="19050"/>
            <a:chOff x="0" y="0"/>
            <a:chExt cx="219456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D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3500" y="3333750"/>
            <a:ext cx="15621000" cy="5429250"/>
            <a:chOff x="0" y="0"/>
            <a:chExt cx="20828000" cy="7239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0828000" cy="7239000"/>
              <a:chOff x="0" y="0"/>
              <a:chExt cx="20828000" cy="7239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828000" cy="7239000"/>
              </a:xfrm>
              <a:custGeom>
                <a:avLst/>
                <a:gdLst/>
                <a:ahLst/>
                <a:cxnLst/>
                <a:rect r="r" b="b" t="t" l="l"/>
                <a:pathLst>
                  <a:path h="7239000" w="20828000">
                    <a:moveTo>
                      <a:pt x="0" y="0"/>
                    </a:moveTo>
                    <a:lnTo>
                      <a:pt x="20828000" y="0"/>
                    </a:lnTo>
                    <a:lnTo>
                      <a:pt x="208280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0828000" cy="727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635000" y="3683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0B7A7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CEVAP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35000" y="1067816"/>
              <a:ext cx="19558000" cy="2551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76"/>
                </a:lnSpc>
              </a:pPr>
              <a:r>
                <a:rPr lang="en-US" sz="2850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Modeller verileri tensör olarak paralel işlediğinden, batch içindeki tüm dizilerin aynı boyutta olması gerekir; kısa diziler padding ile tamamlanır. attention_mask ise modele hangi token'ların gerçek veri (1), hangilerinin dolgu (0) olduğunu bildirir; modelin boş dolguları dikkate almasını engeller.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0500" cy="10287000"/>
            <a:chOff x="0" y="0"/>
            <a:chExt cx="25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7A7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4762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0B7A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BİZİM SORULARIMIZ ·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019175"/>
            <a:ext cx="16459200" cy="101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AutoModel ile AutoModelForSequenceClassification arasındaki temel fark nedir?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2303526"/>
            <a:ext cx="16459200" cy="19050"/>
            <a:chOff x="0" y="0"/>
            <a:chExt cx="219456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D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3500" y="3333750"/>
            <a:ext cx="15621000" cy="5429250"/>
            <a:chOff x="0" y="0"/>
            <a:chExt cx="20828000" cy="7239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0828000" cy="7239000"/>
              <a:chOff x="0" y="0"/>
              <a:chExt cx="20828000" cy="7239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828000" cy="7239000"/>
              </a:xfrm>
              <a:custGeom>
                <a:avLst/>
                <a:gdLst/>
                <a:ahLst/>
                <a:cxnLst/>
                <a:rect r="r" b="b" t="t" l="l"/>
                <a:pathLst>
                  <a:path h="7239000" w="20828000">
                    <a:moveTo>
                      <a:pt x="0" y="0"/>
                    </a:moveTo>
                    <a:lnTo>
                      <a:pt x="20828000" y="0"/>
                    </a:lnTo>
                    <a:lnTo>
                      <a:pt x="208280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0828000" cy="727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635000" y="3683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0B7A7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CEVAP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04247" y="1027448"/>
              <a:ext cx="19558000" cy="3199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76"/>
                </a:lnSpc>
              </a:pPr>
              <a:r>
                <a:rPr lang="en-US" sz="2850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AutoModel: Temel Transformer gövdesini yükler ve gizli durumları (hidden states) çıktı olarak verir.</a:t>
              </a:r>
            </a:p>
            <a:p>
              <a:pPr algn="l">
                <a:lnSpc>
                  <a:spcPts val="3876"/>
                </a:lnSpc>
              </a:pPr>
            </a:p>
            <a:p>
              <a:pPr algn="l">
                <a:lnSpc>
                  <a:spcPts val="3876"/>
                </a:lnSpc>
              </a:pPr>
              <a:r>
                <a:rPr lang="en-US" sz="2850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AutoModelForSequenceClassification: Temel modelin üzerine sınıflandırma katmanı (head) eklenmiş halidir; doğrudan sınıf skorlarını (logits) üretir.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0500" cy="10287000"/>
            <a:chOff x="0" y="0"/>
            <a:chExt cx="25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7A7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4762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0B7A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BİZİM SORULARIMIZ ·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019175"/>
            <a:ext cx="16459200" cy="101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600" b="true">
                <a:solidFill>
                  <a:srgbClr val="1421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Metin üretiminde temperature parametresi neyi kontrol eder? Değeri düşürmek çıktıyı nasıl etkiler?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2303526"/>
            <a:ext cx="16459200" cy="19050"/>
            <a:chOff x="0" y="0"/>
            <a:chExt cx="219456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D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3500" y="3333750"/>
            <a:ext cx="15621000" cy="5429250"/>
            <a:chOff x="0" y="0"/>
            <a:chExt cx="20828000" cy="7239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0828000" cy="7239000"/>
              <a:chOff x="0" y="0"/>
              <a:chExt cx="20828000" cy="7239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828000" cy="7239000"/>
              </a:xfrm>
              <a:custGeom>
                <a:avLst/>
                <a:gdLst/>
                <a:ahLst/>
                <a:cxnLst/>
                <a:rect r="r" b="b" t="t" l="l"/>
                <a:pathLst>
                  <a:path h="7239000" w="20828000">
                    <a:moveTo>
                      <a:pt x="0" y="0"/>
                    </a:moveTo>
                    <a:lnTo>
                      <a:pt x="20828000" y="0"/>
                    </a:lnTo>
                    <a:lnTo>
                      <a:pt x="208280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DEDB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0828000" cy="727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635000" y="368300"/>
              <a:ext cx="330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0B7A7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CEVAP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35000" y="965941"/>
              <a:ext cx="19558000" cy="19039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76"/>
                </a:lnSpc>
              </a:pPr>
              <a:r>
                <a:rPr lang="en-US" sz="2850">
                  <a:solidFill>
                    <a:srgbClr val="1421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temperature, modelin token seçimindeki rastlantısallığı ve yaratıcılığı kontrol eder. Değer düştükçe (0'a yaklaştıkça) üretim daha kararlı, tahmin edilebilir ve kuralcı hale gelir; değer yükseldikçe çeşitlilik ve rastlantısallık artar.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DAHX7Dn2u2I</dc:identifier>
  <dcterms:modified xsi:type="dcterms:W3CDTF">2011-08-01T06:04:30Z</dcterms:modified>
  <cp:revision>1</cp:revision>
  <dc:title>Akademik Sunum: Dil Model Soruları</dc:title>
</cp:coreProperties>
</file>